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304" r:id="rId3"/>
    <p:sldId id="307" r:id="rId4"/>
    <p:sldId id="312" r:id="rId5"/>
    <p:sldId id="267" r:id="rId6"/>
    <p:sldId id="295" r:id="rId7"/>
    <p:sldId id="311" r:id="rId8"/>
    <p:sldId id="300" r:id="rId9"/>
    <p:sldId id="296" r:id="rId10"/>
    <p:sldId id="297" r:id="rId11"/>
    <p:sldId id="29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80713" autoAdjust="0"/>
  </p:normalViewPr>
  <p:slideViewPr>
    <p:cSldViewPr snapToGrid="0">
      <p:cViewPr varScale="1">
        <p:scale>
          <a:sx n="89" d="100"/>
          <a:sy n="89" d="100"/>
        </p:scale>
        <p:origin x="1464" y="9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AC9FE0-629E-4AD6-9B9D-F1CB1C78EF4E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37A94-AE67-41C2-93AC-D858C72304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317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C4875-8523-436E-AFC9-E015484AB16B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45413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probability (mass) can only be meaningfully defined for an interval of values, based on the idea of measuring mass by probability </a:t>
            </a:r>
            <a:r>
              <a:rPr lang="en-US" i="1" dirty="0"/>
              <a:t>density</a:t>
            </a:r>
            <a:r>
              <a:rPr lang="en-US" dirty="0"/>
              <a:t> × </a:t>
            </a:r>
            <a:r>
              <a:rPr lang="en-US" i="1" dirty="0"/>
              <a:t>length of the interval—which is equal to the area under the probability density </a:t>
            </a:r>
            <a:endParaRPr lang="en-SG" i="1" dirty="0"/>
          </a:p>
          <a:p>
            <a:endParaRPr lang="en-S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While the RV can only take value between zero and ten, the probability of a single point is </a:t>
            </a:r>
            <a:r>
              <a:rPr lang="en-US" b="1" i="1" dirty="0"/>
              <a:t>zero, </a:t>
            </a:r>
            <a:r>
              <a:rPr lang="en-US" dirty="0"/>
              <a:t>because there are uncountably many points between zero and ten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37A94-AE67-41C2-93AC-D858C72304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5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probability (mass) can only be meaningfully defined for an interval of values, based on the idea of measuring mass by probability </a:t>
            </a:r>
            <a:r>
              <a:rPr lang="en-US" i="1" dirty="0"/>
              <a:t>density</a:t>
            </a:r>
            <a:r>
              <a:rPr lang="en-US" dirty="0"/>
              <a:t> × </a:t>
            </a:r>
            <a:r>
              <a:rPr lang="en-US" i="1" dirty="0"/>
              <a:t>length of the interval—which is equal to the area under the probability density </a:t>
            </a:r>
            <a:endParaRPr lang="en-SG" i="1" dirty="0"/>
          </a:p>
          <a:p>
            <a:endParaRPr lang="en-S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While the RV can only take value between zero and ten, the probability of a single point is </a:t>
            </a:r>
            <a:r>
              <a:rPr lang="en-US" b="1" i="1" dirty="0"/>
              <a:t>zero, </a:t>
            </a:r>
            <a:r>
              <a:rPr lang="en-US" dirty="0"/>
              <a:t>because there are uncountably many points between zero and ten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37A94-AE67-41C2-93AC-D858C72304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16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37A94-AE67-41C2-93AC-D858C72304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971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E287C-6EAE-4F9B-8152-585C701A5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35A4A-B887-407A-9FD1-9ADF72FED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6C758-6E36-4CC7-AD9C-7924C0600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E2774-C9E6-46A3-B4D4-6FC942C2D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A94FB-1268-4D52-AA6F-2F9684A8D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35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A12C5-8109-48B9-8119-F85B21AB2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F51A-3BA6-4632-AE68-9C1A1DE8E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F956D-8726-4A6A-9D35-4F2C01D5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FBD31-DD74-458D-B814-03DC50BBD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FF28-DCE7-42D9-8EDF-9B0A2764C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7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A2C4E-CAD6-4055-99F8-FA619B1D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1B201-80A7-4F9D-BEDD-2BE6B26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ECEC-58FD-4CAE-97C9-773374A71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753CC-16AE-4035-BD4B-12E6D0845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55B59E-F555-450A-9286-131E3AD76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7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EBFE-D223-4DED-AC1D-F2D7CF93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71D2-9257-4381-984E-A14A15AF9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2838-B118-4A45-93FF-028B31BCD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F80843-66C6-44BA-8B2A-46A358048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76B9-17AA-4E3A-9220-DE416895B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45492-7FA4-4815-80B0-49F45F7A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46FF-8C48-4F51-8F1F-1CF399B57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1F9CD-B0E5-4031-9728-8B59B6DD4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74174-581D-470F-90D2-B41676AA1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52485-4BB2-40B5-824A-F20CF6BFAB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84B6DE-9ED4-4F93-8A42-F7BEB65BE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F97094-1D50-4864-9623-C47FDE3F8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DFCD70-994A-456B-B41B-23F59E27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2168-5017-45BA-9394-FD8F7F67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3B92-78A0-49FA-B49B-8F7E7874A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56162-0109-4475-869A-416DFB54F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FEA20-6220-4E5C-BC71-906692BB5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3F2955-D744-473A-8F58-AEAD31AA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31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9E777-752A-4291-9DA0-6EFAE03C6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AE8086-5952-4290-8FF4-8C9AC25A3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B59C3-E89D-42F1-8CD6-8E482A41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22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8A6B5-B74F-4C68-9069-F05A7DEEB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C9BE-D42E-49A5-9A42-F7EBA64F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D7B45-7022-4B45-9816-9A47856DB9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A92F3-A0A7-48FC-B6A3-AD41339A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30098-F070-4F88-845A-37ACB4EC1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0FCA4D-CB78-4E7C-9632-EA8AD015C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9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B4986-B049-4D24-AAFD-1C7DFE05E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8B25DD-CE4F-43CD-A0AC-92453E8854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F6009-31EC-40BA-8D90-28FE6859B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C67D9-2599-41B5-A59D-F9C9CED7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7E4D9-296D-43E7-82F5-4686E260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21FD23-915B-4D30-8605-5803ED60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C30D7-86A6-49EE-9EA5-B9E5E72EE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9545C4-A51E-4BE0-A47C-E167937F5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B942C-D828-4C44-9BAD-C0EC6AADE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08201-9E3E-4389-8730-C064C78A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9F554-2B8E-4B2E-A0D5-314D690A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2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887551-C2CF-4AA7-8714-B33707A4DD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95081A-7203-4C78-8ED4-02C523A99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6E4FF-7E7D-4760-9EFC-2A165685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8DC08-84F4-4DEF-856F-16FF4F9C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ACAC4-EE1E-4011-9015-ABFFF118D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6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032D6-894C-443C-9F40-6B359B0D5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4FB6-2E47-43B5-8DCD-E32A06AB2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5056A-AED4-4E62-8EF5-590303868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223E1-0F29-4815-AEED-0FB78E8DF392}" type="datetimeFigureOut">
              <a:rPr lang="en-US" smtClean="0"/>
              <a:t>7/6/2023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962BAC-B842-4A96-8FC9-E83E6D47B4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408A-BFE4-471F-B3EF-63C5E37DC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44B64-E6B0-4730-B814-B546C3DD2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03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DD1F0B6-3928-44F0-8191-E10BAF4B6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Continuous random variables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AD5BB-EACA-457A-8A70-DAE13AC3E9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 descr="NTU_PP_slide_Footer_sized.png">
            <a:extLst>
              <a:ext uri="{FF2B5EF4-FFF2-40B4-BE49-F238E27FC236}">
                <a16:creationId xmlns:a16="http://schemas.microsoft.com/office/drawing/2014/main" id="{F0BE4941-908B-48D8-94C8-67A52AD2037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327909"/>
            <a:ext cx="12192000" cy="53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87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777" y="3264188"/>
            <a:ext cx="5408023" cy="35778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Probability accounting for discrete RV’s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289612" y="4259482"/>
                <a:ext cx="3763723" cy="17543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 25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=0.5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𝑓𝑜𝑟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SG" dirty="0"/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r>
                  <a:rPr lang="en-SG" dirty="0"/>
                  <a:t>=0 elsewhere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9612" y="4259482"/>
                <a:ext cx="3763723" cy="175432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 rot="10800000">
            <a:off x="529883" y="4155310"/>
            <a:ext cx="627017" cy="1602818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838200" y="1835054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For a discrete RV, the total probability mass (=1.0) is distributed to countably many points. Thus, we can tabulate the probability of its distribution “point-by-point”</a:t>
            </a:r>
          </a:p>
          <a:p>
            <a:endParaRPr lang="en-US" dirty="0"/>
          </a:p>
          <a:p>
            <a:endParaRPr lang="en-SG" i="1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26473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464"/>
    </mc:Choice>
    <mc:Fallback xmlns="">
      <p:transition spd="slow" advTm="9246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858" y="4220132"/>
            <a:ext cx="3987218" cy="26378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Probability for continuous RV’s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Bc</a:t>
                </a:r>
                <a:r>
                  <a:rPr lang="en-US" dirty="0"/>
                  <a:t> a continuous RV can take on uncountably many values, the probability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SG" dirty="0"/>
                  <a:t> for any arbitrary </a:t>
                </a:r>
                <a14:m>
                  <m:oMath xmlns:m="http://schemas.openxmlformats.org/officeDocument/2006/math">
                    <m:r>
                      <a:rPr lang="en-SG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dirty="0"/>
                  <a:t> </a:t>
                </a:r>
                <a:r>
                  <a:rPr lang="en-SG" sz="2000" dirty="0"/>
                  <a:t>(since we must spread the probability mass (=1) to </a:t>
                </a:r>
                <a:r>
                  <a:rPr lang="en-US" sz="2000" dirty="0"/>
                  <a:t>unaccountably many points)</a:t>
                </a:r>
                <a:r>
                  <a:rPr lang="en-SG" dirty="0"/>
                  <a:t>.</a:t>
                </a:r>
              </a:p>
              <a:p>
                <a:r>
                  <a:rPr lang="en-SG" dirty="0"/>
                  <a:t>Probability for a continuous RV is defined over a range of values and is measured by the area under the density curve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7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223639" y="6105389"/>
            <a:ext cx="660333" cy="2065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/>
          <p:cNvSpPr/>
          <p:nvPr/>
        </p:nvSpPr>
        <p:spPr>
          <a:xfrm>
            <a:off x="5422753" y="6080104"/>
            <a:ext cx="1279261" cy="231796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2047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8478"/>
    </mc:Choice>
    <mc:Fallback xmlns="">
      <p:transition spd="slow" advTm="29847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858" y="4220132"/>
            <a:ext cx="3987218" cy="263786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Probability for continuous RV’s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The f(x) is now called the probability density function (pdf)</a:t>
            </a:r>
          </a:p>
          <a:p>
            <a:r>
              <a:rPr lang="en-SG" dirty="0"/>
              <a:t>The f(x) value is not probability. Instead, it reflects the relative likelihood of the values over a range</a:t>
            </a:r>
            <a:r>
              <a:rPr lang="zh-TW" altLang="en-US" dirty="0"/>
              <a:t> </a:t>
            </a:r>
            <a:r>
              <a:rPr lang="en-SG" altLang="zh-TW" dirty="0"/>
              <a:t>and it is scaled to make the total area under the curve = 1.0</a:t>
            </a:r>
            <a:endParaRPr lang="en-SG" dirty="0"/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1084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3252"/>
    </mc:Choice>
    <mc:Fallback xmlns="">
      <p:transition spd="slow" advTm="1932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48B4-AF18-468E-A4FF-8B6256F5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distributions (Gaussian distribution)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492" y="1449106"/>
            <a:ext cx="8166061" cy="5402511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492" y="1449106"/>
            <a:ext cx="7824732" cy="5176695"/>
          </a:xfr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428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720"/>
    </mc:Choice>
    <mc:Fallback xmlns="">
      <p:transition spd="slow" advTm="1177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B7E6-8953-4044-B0E4-978C7B9A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properties of </a:t>
            </a:r>
            <a:r>
              <a:rPr lang="en-US" dirty="0" err="1"/>
              <a:t>p.d.f</a:t>
            </a:r>
            <a:r>
              <a:rPr lang="en-US" dirty="0"/>
              <a:t>. and </a:t>
            </a:r>
            <a:r>
              <a:rPr lang="en-US" dirty="0" err="1"/>
              <a:t>c.d.f</a:t>
            </a:r>
            <a:r>
              <a:rPr lang="en-US" dirty="0"/>
              <a:t>. for continuous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17F715-8A73-4AF4-A951-28025980C8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09240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SG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SG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Cambria Math" panose="02040503050406030204" pitchFamily="18" charset="0"/>
                  </a:rPr>
                  <a:t>must be </a:t>
                </a:r>
                <a:r>
                  <a:rPr lang="en-US" b="0" i="1" dirty="0">
                    <a:latin typeface="Cambria Math" panose="02040503050406030204" pitchFamily="18" charset="0"/>
                  </a:rPr>
                  <a:t>nonnegative</a:t>
                </a:r>
                <a:r>
                  <a:rPr lang="en-US" b="0" dirty="0">
                    <a:latin typeface="Cambria Math" panose="02040503050406030204" pitchFamily="18" charset="0"/>
                  </a:rPr>
                  <a:t> for any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SG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SG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nondecreasing in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, </a:t>
                </a:r>
                <a:r>
                  <a:rPr lang="en-US" dirty="0">
                    <a:latin typeface="Cambria Math" panose="02040503050406030204" pitchFamily="18" charset="0"/>
                  </a:rPr>
                  <a:t>and will be 1 when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 </a:t>
                </a:r>
                <a:endParaRPr lang="en-US" i="1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E17F715-8A73-4AF4-A951-28025980C8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092402"/>
              </a:xfrm>
              <a:prstGeom prst="rect">
                <a:avLst/>
              </a:prstGeom>
              <a:blipFill>
                <a:blip r:embed="rId5"/>
                <a:stretch>
                  <a:fillRect t="-26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82688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352"/>
    </mc:Choice>
    <mc:Fallback xmlns="">
      <p:transition spd="slow" advTm="643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 commands for 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SG" dirty="0"/>
                  <a:t>f(1)=</a:t>
                </a:r>
                <a:r>
                  <a:rPr lang="en-SG" dirty="0" err="1"/>
                  <a:t>dnorm</a:t>
                </a:r>
                <a:r>
                  <a:rPr lang="en-SG" dirty="0"/>
                  <a:t>(1, mean =  0 , </a:t>
                </a:r>
                <a:r>
                  <a:rPr lang="en-SG" dirty="0" err="1"/>
                  <a:t>sd</a:t>
                </a:r>
                <a:r>
                  <a:rPr lang="en-SG" dirty="0"/>
                  <a:t> = 1   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=0.2419707</m:t>
                    </m:r>
                  </m:oMath>
                </a14:m>
                <a:endParaRPr lang="en-SG" dirty="0"/>
              </a:p>
              <a:p>
                <a:r>
                  <a:rPr lang="en-SG" dirty="0"/>
                  <a:t>F(-1)=</a:t>
                </a:r>
                <a:r>
                  <a:rPr lang="en-SG" dirty="0" err="1"/>
                  <a:t>pnorm</a:t>
                </a:r>
                <a:r>
                  <a:rPr lang="en-SG" dirty="0"/>
                  <a:t>(-1, mean =  0 , </a:t>
                </a:r>
                <a:r>
                  <a:rPr lang="en-SG" dirty="0" err="1"/>
                  <a:t>sd</a:t>
                </a:r>
                <a:r>
                  <a:rPr lang="en-SG" dirty="0"/>
                  <a:t> = 1 )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=0.1586553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4726" y="2930837"/>
            <a:ext cx="6025179" cy="378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48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039"/>
    </mc:Choice>
    <mc:Fallback xmlns="">
      <p:transition spd="slow" advTm="18503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48B4-AF18-468E-A4FF-8B6256F5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Normal distributions 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965" y="2754430"/>
            <a:ext cx="6536994" cy="4103570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B3A230-6654-479B-AABA-1985D949041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i="1" dirty="0"/>
              <a:t>X </a:t>
            </a:r>
            <a:r>
              <a:rPr lang="en-SG" dirty="0"/>
              <a:t>follows a standard normal distribution. (a) Show graphically the probability that X&lt;1. (b) Calculate its probability 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967959" y="3880942"/>
            <a:ext cx="335665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/>
              <a:t>(b) </a:t>
            </a:r>
          </a:p>
          <a:p>
            <a:r>
              <a:rPr lang="en-SG" sz="2800" dirty="0"/>
              <a:t>&gt;</a:t>
            </a:r>
            <a:r>
              <a:rPr lang="da-DK" sz="2800" dirty="0"/>
              <a:t>pnorm(1,0,1)</a:t>
            </a:r>
          </a:p>
          <a:p>
            <a:r>
              <a:rPr lang="da-DK" sz="2800" dirty="0"/>
              <a:t>=0.8413447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10125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5353"/>
    </mc:Choice>
    <mc:Fallback xmlns="">
      <p:transition spd="slow" advTm="14535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48B4-AF18-468E-A4FF-8B6256F5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Continuous uniform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3A230-6654-479B-AABA-1985D9490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i="1" dirty="0"/>
              <a:t>X </a:t>
            </a:r>
            <a:r>
              <a:rPr lang="en-SG" dirty="0"/>
              <a:t>is uniformly distributed over [0</a:t>
            </a:r>
            <a:r>
              <a:rPr lang="en-SG" i="1" dirty="0"/>
              <a:t>, </a:t>
            </a:r>
            <a:r>
              <a:rPr lang="en-SG" dirty="0"/>
              <a:t>10]. calculate the probability that (a) </a:t>
            </a:r>
            <a:r>
              <a:rPr lang="en-SG" i="1" dirty="0"/>
              <a:t>X&lt;=</a:t>
            </a:r>
            <a:r>
              <a:rPr lang="en-SG" dirty="0"/>
              <a:t>3, (b) </a:t>
            </a:r>
            <a:r>
              <a:rPr lang="en-SG" i="1" dirty="0"/>
              <a:t>X&gt;=</a:t>
            </a:r>
            <a:r>
              <a:rPr lang="en-SG" dirty="0"/>
              <a:t>7, (c) 1</a:t>
            </a:r>
            <a:r>
              <a:rPr lang="en-SG" i="1" dirty="0"/>
              <a:t>&lt;=X&lt;=</a:t>
            </a:r>
            <a:r>
              <a:rPr lang="en-SG" dirty="0"/>
              <a:t>6 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39" y="2971800"/>
            <a:ext cx="5940938" cy="372939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0" y="3452679"/>
            <a:ext cx="547868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lphaLcParenBoth"/>
            </a:pPr>
            <a:r>
              <a:rPr lang="en-SG" sz="2800" dirty="0" err="1"/>
              <a:t>Pr</a:t>
            </a:r>
            <a:r>
              <a:rPr lang="en-SG" sz="2800" dirty="0"/>
              <a:t>(X&lt;=3) can be found using the command</a:t>
            </a:r>
          </a:p>
          <a:p>
            <a:r>
              <a:rPr lang="en-SG" sz="2800" dirty="0" err="1"/>
              <a:t>punif</a:t>
            </a:r>
            <a:r>
              <a:rPr lang="en-SG" sz="2800" dirty="0"/>
              <a:t>(x, min =  a, max = b).</a:t>
            </a:r>
          </a:p>
          <a:p>
            <a:endParaRPr lang="en-SG" sz="2800" dirty="0"/>
          </a:p>
          <a:p>
            <a:r>
              <a:rPr lang="en-SG" sz="2800" dirty="0"/>
              <a:t>&gt;</a:t>
            </a:r>
            <a:r>
              <a:rPr lang="da-DK" sz="2800" dirty="0"/>
              <a:t>punif(3, min = 0, max = 10)</a:t>
            </a:r>
          </a:p>
          <a:p>
            <a:r>
              <a:rPr lang="da-DK" sz="2800" dirty="0"/>
              <a:t>=0.3</a:t>
            </a:r>
            <a:endParaRPr lang="en-SG" sz="2800" dirty="0"/>
          </a:p>
          <a:p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4164002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1458"/>
    </mc:Choice>
    <mc:Fallback xmlns="">
      <p:transition spd="slow" advTm="8145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48B4-AF18-468E-A4FF-8B6256F5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Continuous uniform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3A230-6654-479B-AABA-1985D9490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i="1" dirty="0"/>
              <a:t>X </a:t>
            </a:r>
            <a:r>
              <a:rPr lang="en-SG" dirty="0"/>
              <a:t>is uniformly distributed over [0</a:t>
            </a:r>
            <a:r>
              <a:rPr lang="en-SG" i="1" dirty="0"/>
              <a:t>, </a:t>
            </a:r>
            <a:r>
              <a:rPr lang="en-SG" dirty="0"/>
              <a:t>10]. calculate the probability that (a) </a:t>
            </a:r>
            <a:r>
              <a:rPr lang="en-SG" i="1" dirty="0"/>
              <a:t>X&lt;=</a:t>
            </a:r>
            <a:r>
              <a:rPr lang="en-SG" dirty="0"/>
              <a:t>3, (b) </a:t>
            </a:r>
            <a:r>
              <a:rPr lang="en-SG" i="1" dirty="0"/>
              <a:t>X&gt;=</a:t>
            </a:r>
            <a:r>
              <a:rPr lang="en-SG" dirty="0"/>
              <a:t>7, (c) 1</a:t>
            </a:r>
            <a:r>
              <a:rPr lang="en-SG" i="1" dirty="0"/>
              <a:t>&lt;=X&lt;=</a:t>
            </a:r>
            <a:r>
              <a:rPr lang="en-SG" dirty="0"/>
              <a:t>6 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491" y="3050238"/>
            <a:ext cx="5503398" cy="34547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0" y="3452679"/>
            <a:ext cx="547868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/>
              <a:t>(b)</a:t>
            </a:r>
          </a:p>
          <a:p>
            <a:r>
              <a:rPr lang="en-SG" sz="2800" dirty="0"/>
              <a:t>&gt;1-</a:t>
            </a:r>
            <a:r>
              <a:rPr lang="da-DK" sz="2800" dirty="0"/>
              <a:t>punif(7, min = 0, max = 10)</a:t>
            </a:r>
          </a:p>
          <a:p>
            <a:r>
              <a:rPr lang="da-DK" sz="2800" dirty="0"/>
              <a:t>=0.3</a:t>
            </a:r>
            <a:endParaRPr lang="en-SG" sz="2800" dirty="0"/>
          </a:p>
          <a:p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03776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5064"/>
    </mc:Choice>
    <mc:Fallback xmlns="">
      <p:transition spd="slow" advTm="10506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948B4-AF18-468E-A4FF-8B6256F5E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Continuous uniform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B3A230-6654-479B-AABA-1985D9490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i="1" dirty="0"/>
              <a:t>X </a:t>
            </a:r>
            <a:r>
              <a:rPr lang="en-SG" dirty="0"/>
              <a:t>is uniformly distributed over [0</a:t>
            </a:r>
            <a:r>
              <a:rPr lang="en-SG" i="1" dirty="0"/>
              <a:t>, </a:t>
            </a:r>
            <a:r>
              <a:rPr lang="en-SG" dirty="0"/>
              <a:t>10]. calculate the probability that (a) </a:t>
            </a:r>
            <a:r>
              <a:rPr lang="en-SG" i="1" dirty="0"/>
              <a:t>X&lt;=</a:t>
            </a:r>
            <a:r>
              <a:rPr lang="en-SG" dirty="0"/>
              <a:t>3, (b) </a:t>
            </a:r>
            <a:r>
              <a:rPr lang="en-SG" i="1" dirty="0"/>
              <a:t>X&gt;=</a:t>
            </a:r>
            <a:r>
              <a:rPr lang="en-SG" dirty="0"/>
              <a:t>7, (c) 1</a:t>
            </a:r>
            <a:r>
              <a:rPr lang="en-SG" i="1" dirty="0"/>
              <a:t>&lt;=X&lt;=</a:t>
            </a:r>
            <a:r>
              <a:rPr lang="en-SG" dirty="0"/>
              <a:t>6 </a:t>
            </a:r>
            <a:endParaRPr lang="en-US" dirty="0"/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0" y="3452679"/>
            <a:ext cx="547868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800" dirty="0"/>
              <a:t>(b) </a:t>
            </a:r>
          </a:p>
          <a:p>
            <a:r>
              <a:rPr lang="en-SG" sz="2800" dirty="0"/>
              <a:t>&gt;</a:t>
            </a:r>
            <a:r>
              <a:rPr lang="da-DK" sz="2800" dirty="0"/>
              <a:t>punif(6, min = 0, max = 10) - punif(1, min = 0, max = 10) </a:t>
            </a:r>
          </a:p>
          <a:p>
            <a:r>
              <a:rPr lang="da-DK" sz="2800" dirty="0"/>
              <a:t>=0.5</a:t>
            </a:r>
            <a:endParaRPr lang="en-SG" sz="2800" dirty="0"/>
          </a:p>
          <a:p>
            <a:endParaRPr lang="en-SG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10663ED-A723-4F01-9A3C-FB443439D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81" y="3029600"/>
            <a:ext cx="5048393" cy="316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5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979"/>
    </mc:Choice>
    <mc:Fallback xmlns="">
      <p:transition spd="slow" advTm="91979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5|143.3|4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1.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37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|25.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1239</TotalTime>
  <Words>674</Words>
  <Application>Microsoft Office PowerPoint</Application>
  <PresentationFormat>Widescreen</PresentationFormat>
  <Paragraphs>64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Continuous random variables </vt:lpstr>
      <vt:lpstr>Probability accounting for discrete RV’s</vt:lpstr>
      <vt:lpstr>Probability for continuous RV’s</vt:lpstr>
      <vt:lpstr>Probability for continuous RV’s</vt:lpstr>
      <vt:lpstr>Normal distributions (Gaussian distribution) </vt:lpstr>
      <vt:lpstr>Basic properties of p.d.f. and c.d.f. for continuous distributions</vt:lpstr>
      <vt:lpstr>R commands for random variables</vt:lpstr>
      <vt:lpstr>Example: Normal distributions  </vt:lpstr>
      <vt:lpstr>Example: Continuous uniform distributions</vt:lpstr>
      <vt:lpstr>Example: Continuous uniform distributions</vt:lpstr>
      <vt:lpstr>Example: Continuous uniform distributions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3.1 Discrete and continuous random variables</dc:title>
  <dc:creator>Chien-Ming Chen</dc:creator>
  <cp:lastModifiedBy>Chen Chien-Ming (Assoc Prof)</cp:lastModifiedBy>
  <cp:revision>121</cp:revision>
  <dcterms:created xsi:type="dcterms:W3CDTF">2019-03-01T06:02:05Z</dcterms:created>
  <dcterms:modified xsi:type="dcterms:W3CDTF">2023-07-06T06:17:27Z</dcterms:modified>
</cp:coreProperties>
</file>
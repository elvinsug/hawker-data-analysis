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305" r:id="rId2"/>
    <p:sldId id="307" r:id="rId3"/>
    <p:sldId id="285" r:id="rId4"/>
    <p:sldId id="286" r:id="rId5"/>
    <p:sldId id="302" r:id="rId6"/>
    <p:sldId id="289" r:id="rId7"/>
    <p:sldId id="273" r:id="rId8"/>
    <p:sldId id="264" r:id="rId9"/>
    <p:sldId id="293" r:id="rId10"/>
    <p:sldId id="294" r:id="rId11"/>
    <p:sldId id="309" r:id="rId12"/>
    <p:sldId id="303" r:id="rId13"/>
    <p:sldId id="277" r:id="rId14"/>
    <p:sldId id="311" r:id="rId15"/>
    <p:sldId id="310" r:id="rId16"/>
    <p:sldId id="312" r:id="rId17"/>
    <p:sldId id="313" r:id="rId18"/>
    <p:sldId id="306" r:id="rId19"/>
    <p:sldId id="30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7C93B9-51CE-4ADA-BE06-9E7C9B861CE7}" v="1" dt="2023-03-14T03:04:25.171"/>
    <p1510:client id="{59AF58D0-91ED-F389-448E-A6E900F4630F}" v="30" dt="2023-03-14T03:03:58.0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7" autoAdjust="0"/>
    <p:restoredTop sz="75020" autoAdjust="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en Chien-Ming (Assoc Prof)" userId="S::cmchen@staff.main.ntu.edu.sg::eaa76335-e5f0-4758-ac68-e68b30e478da" providerId="AD" clId="Web-{59AF58D0-91ED-F389-448E-A6E900F4630F}"/>
    <pc:docChg chg="addSld modSld">
      <pc:chgData name="Chen Chien-Ming (Assoc Prof)" userId="S::cmchen@staff.main.ntu.edu.sg::eaa76335-e5f0-4758-ac68-e68b30e478da" providerId="AD" clId="Web-{59AF58D0-91ED-F389-448E-A6E900F4630F}" dt="2023-03-14T03:03:58.079" v="29" actId="20577"/>
      <pc:docMkLst>
        <pc:docMk/>
      </pc:docMkLst>
      <pc:sldChg chg="modSp">
        <pc:chgData name="Chen Chien-Ming (Assoc Prof)" userId="S::cmchen@staff.main.ntu.edu.sg::eaa76335-e5f0-4758-ac68-e68b30e478da" providerId="AD" clId="Web-{59AF58D0-91ED-F389-448E-A6E900F4630F}" dt="2023-03-14T03:03:58.079" v="29" actId="20577"/>
        <pc:sldMkLst>
          <pc:docMk/>
          <pc:sldMk cId="3938373170" sldId="273"/>
        </pc:sldMkLst>
        <pc:spChg chg="mod">
          <ac:chgData name="Chen Chien-Ming (Assoc Prof)" userId="S::cmchen@staff.main.ntu.edu.sg::eaa76335-e5f0-4758-ac68-e68b30e478da" providerId="AD" clId="Web-{59AF58D0-91ED-F389-448E-A6E900F4630F}" dt="2023-03-14T03:03:58.079" v="29" actId="20577"/>
          <ac:spMkLst>
            <pc:docMk/>
            <pc:sldMk cId="3938373170" sldId="273"/>
            <ac:spMk id="3" creationId="{9EEAC954-45EE-4C04-BE72-FCAAA60F7351}"/>
          </ac:spMkLst>
        </pc:spChg>
      </pc:sldChg>
      <pc:sldChg chg="mod modShow">
        <pc:chgData name="Chen Chien-Ming (Assoc Prof)" userId="S::cmchen@staff.main.ntu.edu.sg::eaa76335-e5f0-4758-ac68-e68b30e478da" providerId="AD" clId="Web-{59AF58D0-91ED-F389-448E-A6E900F4630F}" dt="2023-03-14T02:58:50.058" v="1"/>
        <pc:sldMkLst>
          <pc:docMk/>
          <pc:sldMk cId="1144181136" sldId="299"/>
        </pc:sldMkLst>
      </pc:sldChg>
      <pc:sldChg chg="modSp add replId">
        <pc:chgData name="Chen Chien-Ming (Assoc Prof)" userId="S::cmchen@staff.main.ntu.edu.sg::eaa76335-e5f0-4758-ac68-e68b30e478da" providerId="AD" clId="Web-{59AF58D0-91ED-F389-448E-A6E900F4630F}" dt="2023-03-14T02:59:44.277" v="3" actId="20577"/>
        <pc:sldMkLst>
          <pc:docMk/>
          <pc:sldMk cId="838099574" sldId="306"/>
        </pc:sldMkLst>
        <pc:spChg chg="mod">
          <ac:chgData name="Chen Chien-Ming (Assoc Prof)" userId="S::cmchen@staff.main.ntu.edu.sg::eaa76335-e5f0-4758-ac68-e68b30e478da" providerId="AD" clId="Web-{59AF58D0-91ED-F389-448E-A6E900F4630F}" dt="2023-03-14T02:59:44.277" v="3" actId="20577"/>
          <ac:spMkLst>
            <pc:docMk/>
            <pc:sldMk cId="838099574" sldId="306"/>
            <ac:spMk id="2" creationId="{00000000-0000-0000-0000-000000000000}"/>
          </ac:spMkLst>
        </pc:spChg>
      </pc:sldChg>
    </pc:docChg>
  </pc:docChgLst>
  <pc:docChgLst>
    <pc:chgData name="Chen Chien-Ming (Assoc Prof)" userId="eaa76335-e5f0-4758-ac68-e68b30e478da" providerId="ADAL" clId="{257C93B9-51CE-4ADA-BE06-9E7C9B861CE7}"/>
    <pc:docChg chg="modSld">
      <pc:chgData name="Chen Chien-Ming (Assoc Prof)" userId="eaa76335-e5f0-4758-ac68-e68b30e478da" providerId="ADAL" clId="{257C93B9-51CE-4ADA-BE06-9E7C9B861CE7}" dt="2023-03-14T03:04:25.169" v="0" actId="20577"/>
      <pc:docMkLst>
        <pc:docMk/>
      </pc:docMkLst>
      <pc:sldChg chg="modSp modAnim">
        <pc:chgData name="Chen Chien-Ming (Assoc Prof)" userId="eaa76335-e5f0-4758-ac68-e68b30e478da" providerId="ADAL" clId="{257C93B9-51CE-4ADA-BE06-9E7C9B861CE7}" dt="2023-03-14T03:04:25.169" v="0" actId="20577"/>
        <pc:sldMkLst>
          <pc:docMk/>
          <pc:sldMk cId="838099574" sldId="306"/>
        </pc:sldMkLst>
        <pc:spChg chg="mod">
          <ac:chgData name="Chen Chien-Ming (Assoc Prof)" userId="eaa76335-e5f0-4758-ac68-e68b30e478da" providerId="ADAL" clId="{257C93B9-51CE-4ADA-BE06-9E7C9B861CE7}" dt="2023-03-14T03:04:25.169" v="0" actId="20577"/>
          <ac:spMkLst>
            <pc:docMk/>
            <pc:sldMk cId="838099574" sldId="306"/>
            <ac:spMk id="3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OneDrive\Teaching\Statistics%20-%20S1AY2023\Revamp\course%20materials\Raw\PPT's%20and%20data%20files_raw\Week%202-%20Condtional%20probabilities\distribution%20of%20X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'1'!$B$1:$L$1</c:f>
              <c:numCache>
                <c:formatCode>General</c:formatCode>
                <c:ptCount val="11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11</c:v>
                </c:pt>
                <c:pt idx="10">
                  <c:v>12</c:v>
                </c:pt>
              </c:numCache>
            </c:numRef>
          </c:cat>
          <c:val>
            <c:numRef>
              <c:f>'1'!$B$7:$L$7</c:f>
              <c:numCache>
                <c:formatCode>General</c:formatCode>
                <c:ptCount val="11"/>
                <c:pt idx="0">
                  <c:v>2.7777777777777776E-2</c:v>
                </c:pt>
                <c:pt idx="1">
                  <c:v>5.5555555555555552E-2</c:v>
                </c:pt>
                <c:pt idx="2">
                  <c:v>8.3333333333333329E-2</c:v>
                </c:pt>
                <c:pt idx="3">
                  <c:v>0.1111111111111111</c:v>
                </c:pt>
                <c:pt idx="4">
                  <c:v>0.1388888888888889</c:v>
                </c:pt>
                <c:pt idx="5">
                  <c:v>0.16666666666666666</c:v>
                </c:pt>
                <c:pt idx="6">
                  <c:v>0.1388888888888889</c:v>
                </c:pt>
                <c:pt idx="7">
                  <c:v>0.1111111111111111</c:v>
                </c:pt>
                <c:pt idx="8">
                  <c:v>8.3333333333333329E-2</c:v>
                </c:pt>
                <c:pt idx="9">
                  <c:v>5.5555555555555552E-2</c:v>
                </c:pt>
                <c:pt idx="10">
                  <c:v>2.7777777777777776E-2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2C-4468-B2EE-71961ECB49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39636015"/>
        <c:axId val="1139624495"/>
      </c:barChart>
      <c:catAx>
        <c:axId val="113963601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X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9624495"/>
        <c:crosses val="autoZero"/>
        <c:auto val="1"/>
        <c:lblAlgn val="ctr"/>
        <c:lblOffset val="100"/>
        <c:noMultiLvlLbl val="0"/>
      </c:catAx>
      <c:valAx>
        <c:axId val="11396244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probability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96360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lt1"/>
    </a:solidFill>
    <a:ln w="12700" cap="flat" cmpd="sng" algn="ctr">
      <a:solidFill>
        <a:schemeClr val="dk1"/>
      </a:solidFill>
      <a:prstDash val="solid"/>
      <a:miter lim="800000"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AC9FE0-629E-4AD6-9B9D-F1CB1C78EF4E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437A94-AE67-41C2-93AC-D858C72304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317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2C4875-8523-436E-AFC9-E015484AB16B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176619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37A94-AE67-41C2-93AC-D858C723040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2715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37A94-AE67-41C2-93AC-D858C723040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1223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37A94-AE67-41C2-93AC-D858C723040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1549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37A94-AE67-41C2-93AC-D858C723040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6842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37A94-AE67-41C2-93AC-D858C723040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6972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E287C-6EAE-4F9B-8152-585C701A5C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235A4A-B887-407A-9FD1-9ADF72FED0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6C758-6E36-4CC7-AD9C-7924C0600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E2774-C9E6-46A3-B4D4-6FC942C2D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A94FB-1268-4D52-AA6F-2F9684A8D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735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A12C5-8109-48B9-8119-F85B21AB2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8F51A-3BA6-4632-AE68-9C1A1DE8E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F956D-8726-4A6A-9D35-4F2C01D5D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FBD31-DD74-458D-B814-03DC50BBD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1FF28-DCE7-42D9-8EDF-9B0A2764C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670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A2C4E-CAD6-4055-99F8-FA619B1DA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1B201-80A7-4F9D-BEDD-2BE6B2615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5ECEC-58FD-4CAE-97C9-773374A71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753CC-16AE-4035-BD4B-12E6D0845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5B59E-F555-450A-9286-131E3AD76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978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9EBFE-D223-4DED-AC1D-F2D7CF935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971D2-9257-4381-984E-A14A15AF97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F42838-B118-4A45-93FF-028B31BCDA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F80843-66C6-44BA-8B2A-46A358048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EC76B9-17AA-4E3A-9220-DE416895B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545492-7FA4-4815-80B0-49F45F7A0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68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046FF-8C48-4F51-8F1F-1CF399B57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B1F9CD-B0E5-4031-9728-8B59B6DD4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C74174-581D-470F-90D2-B41676AA15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C52485-4BB2-40B5-824A-F20CF6BFAB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84B6DE-9ED4-4F93-8A42-F7BEB65BE2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F97094-1D50-4864-9623-C47FDE3F8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DFCD70-994A-456B-B41B-23F59E27D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4C2168-5017-45BA-9394-FD8F7F67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866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D3B92-78A0-49FA-B49B-8F7E7874A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D56162-0109-4475-869A-416DFB54F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6FEA20-6220-4E5C-BC71-906692BB5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3F2955-D744-473A-8F58-AEAD31AA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931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A9E777-752A-4291-9DA0-6EFAE03C6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AE8086-5952-4290-8FF4-8C9AC25A3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5B59C3-E89D-42F1-8CD6-8E482A41C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22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8A6B5-B74F-4C68-9069-F05A7DEEB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6C9BE-D42E-49A5-9A42-F7EBA64F4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D7B45-7022-4B45-9816-9A47856DB9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DA92F3-A0A7-48FC-B6A3-AD41339AA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330098-F070-4F88-845A-37ACB4EC1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0FCA4D-CB78-4E7C-9632-EA8AD015C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699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B4986-B049-4D24-AAFD-1C7DFE05E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8B25DD-CE4F-43CD-A0AC-92453E8854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2F6009-31EC-40BA-8D90-28FE6859B2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EC67D9-2599-41B5-A59D-F9C9CED79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7E4D9-296D-43E7-82F5-4686E2609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21FD23-915B-4D30-8605-5803ED605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412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C30D7-86A6-49EE-9EA5-B9E5E72EE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9545C4-A51E-4BE0-A47C-E167937F51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B942C-D828-4C44-9BAD-C0EC6AADE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08201-9E3E-4389-8730-C064C78A1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9F554-2B8E-4B2E-A0D5-314D690A4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42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887551-C2CF-4AA7-8714-B33707A4DD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95081A-7203-4C78-8ED4-02C523A99E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6E4FF-7E7D-4760-9EFC-2A1656853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8DC08-84F4-4DEF-856F-16FF4F9C3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ACAC4-EE1E-4011-9015-ABFFF118D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661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D032D6-894C-443C-9F40-6B359B0D5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F04FB6-2E47-43B5-8DCD-E32A06AB2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5056A-AED4-4E62-8EF5-590303868A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62BAC-B842-4A96-8FC9-E83E6D47B4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8408A-BFE4-471F-B3EF-63C5E37DC1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903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5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6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7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8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5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5" Type="http://schemas.openxmlformats.org/officeDocument/2006/relationships/image" Target="../media/image31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DD1F0B6-3928-44F0-8191-E10BAF4B61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Discrete random variables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BAD5BB-EACA-457A-8A70-DAE13AC3E9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9" name="Picture 8" descr="NTU_PP_slide_Footer_sized.png">
            <a:extLst>
              <a:ext uri="{FF2B5EF4-FFF2-40B4-BE49-F238E27FC236}">
                <a16:creationId xmlns:a16="http://schemas.microsoft.com/office/drawing/2014/main" id="{F0BE4941-908B-48D8-94C8-67A52AD2037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327909"/>
            <a:ext cx="12192000" cy="537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230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2DD3E8B-63C7-06D0-B73A-9FCD9CE88D39}"/>
              </a:ext>
            </a:extLst>
          </p:cNvPr>
          <p:cNvSpPr txBox="1"/>
          <p:nvPr/>
        </p:nvSpPr>
        <p:spPr>
          <a:xfrm>
            <a:off x="323737" y="4209938"/>
            <a:ext cx="1858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Random variables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EC2AAA6-0079-312D-1AC9-B054D51C0241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2181746" y="2397739"/>
            <a:ext cx="1230247" cy="19968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08AA30D-8F36-F121-785E-04590A5FCAB1}"/>
              </a:ext>
            </a:extLst>
          </p:cNvPr>
          <p:cNvSpPr txBox="1"/>
          <p:nvPr/>
        </p:nvSpPr>
        <p:spPr>
          <a:xfrm>
            <a:off x="3197237" y="3230637"/>
            <a:ext cx="2625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Discrete random variables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B82A5E-070E-4EAF-59C4-BFB834CC2E0C}"/>
              </a:ext>
            </a:extLst>
          </p:cNvPr>
          <p:cNvSpPr txBox="1"/>
          <p:nvPr/>
        </p:nvSpPr>
        <p:spPr>
          <a:xfrm>
            <a:off x="3277086" y="5908427"/>
            <a:ext cx="2933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Continuous random variables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BB9DF0A-BEB1-B00B-6741-152BBA0788B3}"/>
              </a:ext>
            </a:extLst>
          </p:cNvPr>
          <p:cNvCxnSpPr>
            <a:cxnSpLocks/>
            <a:stCxn id="4" idx="3"/>
            <a:endCxn id="1026" idx="1"/>
          </p:cNvCxnSpPr>
          <p:nvPr/>
        </p:nvCxnSpPr>
        <p:spPr>
          <a:xfrm>
            <a:off x="2181746" y="4394604"/>
            <a:ext cx="1603557" cy="8044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6A68576-A278-8843-4D68-8DEEB8AED54D}"/>
              </a:ext>
            </a:extLst>
          </p:cNvPr>
          <p:cNvSpPr txBox="1"/>
          <p:nvPr/>
        </p:nvSpPr>
        <p:spPr>
          <a:xfrm>
            <a:off x="6115674" y="2241000"/>
            <a:ext cx="2171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Bernoulli distribution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85A4DA-35BA-675D-4899-0CE940AC3DA1}"/>
              </a:ext>
            </a:extLst>
          </p:cNvPr>
          <p:cNvSpPr txBox="1"/>
          <p:nvPr/>
        </p:nvSpPr>
        <p:spPr>
          <a:xfrm>
            <a:off x="6115674" y="2765299"/>
            <a:ext cx="2148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Binomial distribution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C45A3F-4080-7EB1-D58B-D203D2A5A6CD}"/>
              </a:ext>
            </a:extLst>
          </p:cNvPr>
          <p:cNvSpPr txBox="1"/>
          <p:nvPr/>
        </p:nvSpPr>
        <p:spPr>
          <a:xfrm>
            <a:off x="6148439" y="3268378"/>
            <a:ext cx="2038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Poisson distribution</a:t>
            </a:r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378B37FC-F934-6E30-41C0-1B47DA3EAE65}"/>
              </a:ext>
            </a:extLst>
          </p:cNvPr>
          <p:cNvSpPr/>
          <p:nvPr/>
        </p:nvSpPr>
        <p:spPr>
          <a:xfrm>
            <a:off x="5703074" y="1659116"/>
            <a:ext cx="586596" cy="194957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Left Brace 16">
            <a:extLst>
              <a:ext uri="{FF2B5EF4-FFF2-40B4-BE49-F238E27FC236}">
                <a16:creationId xmlns:a16="http://schemas.microsoft.com/office/drawing/2014/main" id="{89429BBC-6AF0-60A1-6309-5989C3DF721E}"/>
              </a:ext>
            </a:extLst>
          </p:cNvPr>
          <p:cNvSpPr/>
          <p:nvPr/>
        </p:nvSpPr>
        <p:spPr>
          <a:xfrm>
            <a:off x="5709645" y="4025272"/>
            <a:ext cx="586596" cy="194957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834DAA-C4C6-9DBA-16FE-8C749F7D96D1}"/>
              </a:ext>
            </a:extLst>
          </p:cNvPr>
          <p:cNvSpPr txBox="1"/>
          <p:nvPr/>
        </p:nvSpPr>
        <p:spPr>
          <a:xfrm>
            <a:off x="6062759" y="4067598"/>
            <a:ext cx="2025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Normal distribution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5FA83A-F67A-26E2-8159-FFFAA3D2A38A}"/>
              </a:ext>
            </a:extLst>
          </p:cNvPr>
          <p:cNvSpPr txBox="1"/>
          <p:nvPr/>
        </p:nvSpPr>
        <p:spPr>
          <a:xfrm>
            <a:off x="6062759" y="4507219"/>
            <a:ext cx="2100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Uniform distribution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A795BC93-A2C9-558A-EE77-5FE5C6A89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Classifications of random variables</a:t>
            </a:r>
          </a:p>
        </p:txBody>
      </p:sp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CB9306EC-9D11-AF3F-E4C1-16C0D68EC14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56540730"/>
              </p:ext>
            </p:extLst>
          </p:nvPr>
        </p:nvGraphicFramePr>
        <p:xfrm>
          <a:off x="3658825" y="1838838"/>
          <a:ext cx="1813242" cy="12583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026" name="Picture 2" descr="1.3.6.6.1. Normal Distribution">
            <a:extLst>
              <a:ext uri="{FF2B5EF4-FFF2-40B4-BE49-F238E27FC236}">
                <a16:creationId xmlns:a16="http://schemas.microsoft.com/office/drawing/2014/main" id="{BBB13C64-9B95-E6F7-DA92-50A9A92A0B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5303" y="4563821"/>
            <a:ext cx="1724315" cy="1270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7E16C569-551B-00FD-DA58-E02E9E165C26}"/>
              </a:ext>
            </a:extLst>
          </p:cNvPr>
          <p:cNvSpPr txBox="1"/>
          <p:nvPr/>
        </p:nvSpPr>
        <p:spPr>
          <a:xfrm>
            <a:off x="6082011" y="1640432"/>
            <a:ext cx="2892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Discrete uniform distribution</a:t>
            </a:r>
          </a:p>
        </p:txBody>
      </p:sp>
    </p:spTree>
    <p:extLst>
      <p:ext uri="{BB962C8B-B14F-4D97-AF65-F5344CB8AC3E}">
        <p14:creationId xmlns:p14="http://schemas.microsoft.com/office/powerpoint/2010/main" val="1733306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6483"/>
    </mc:Choice>
    <mc:Fallback xmlns="">
      <p:transition spd="slow" advTm="23648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Probabilities for a discrete RV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SG" dirty="0"/>
                  <a:t>The probability distribution of a discrete RV X, is called, a </a:t>
                </a:r>
                <a:r>
                  <a:rPr lang="en-SG" dirty="0">
                    <a:solidFill>
                      <a:srgbClr val="FF0000"/>
                    </a:solidFill>
                  </a:rPr>
                  <a:t>probability mass function (</a:t>
                </a:r>
                <a:r>
                  <a:rPr lang="en-SG" dirty="0" err="1">
                    <a:solidFill>
                      <a:srgbClr val="FF0000"/>
                    </a:solidFill>
                  </a:rPr>
                  <a:t>p.m.f</a:t>
                </a:r>
                <a:r>
                  <a:rPr lang="en-SG" dirty="0">
                    <a:solidFill>
                      <a:srgbClr val="FF0000"/>
                    </a:solidFill>
                  </a:rPr>
                  <a:t>) </a:t>
                </a:r>
                <a:r>
                  <a:rPr lang="en-SG" dirty="0"/>
                  <a:t>of X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SG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SG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SG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𝑃𝑟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SG" dirty="0"/>
                  <a:t>, for different values of x</a:t>
                </a:r>
              </a:p>
              <a:p>
                <a:endParaRPr lang="en-SG" dirty="0"/>
              </a:p>
              <a:p>
                <a:endParaRPr lang="en-SG" dirty="0"/>
              </a:p>
              <a:p>
                <a:r>
                  <a:rPr lang="en-SG" dirty="0"/>
                  <a:t>We define a </a:t>
                </a:r>
                <a:r>
                  <a:rPr lang="en-SG" dirty="0">
                    <a:solidFill>
                      <a:srgbClr val="FF0000"/>
                    </a:solidFill>
                  </a:rPr>
                  <a:t>cumulative distribution function (</a:t>
                </a:r>
                <a:r>
                  <a:rPr lang="en-SG" dirty="0" err="1">
                    <a:solidFill>
                      <a:srgbClr val="FF0000"/>
                    </a:solidFill>
                  </a:rPr>
                  <a:t>c.d.f</a:t>
                </a:r>
                <a:r>
                  <a:rPr lang="en-SG" dirty="0">
                    <a:solidFill>
                      <a:srgbClr val="FF0000"/>
                    </a:solidFill>
                  </a:rPr>
                  <a:t>) </a:t>
                </a:r>
                <a:r>
                  <a:rPr lang="en-SG" dirty="0"/>
                  <a:t>for X as</a:t>
                </a:r>
              </a:p>
              <a:p>
                <a:endParaRPr lang="en-S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SG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SG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SG" i="1">
                          <a:latin typeface="Cambria Math" panose="02040503050406030204" pitchFamily="18" charset="0"/>
                        </a:rPr>
                        <m:t>𝑃𝑟</m:t>
                      </m:r>
                      <m:d>
                        <m:dPr>
                          <m:ctrlPr>
                            <a:rPr lang="en-SG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SG" dirty="0"/>
              </a:p>
              <a:p>
                <a:pPr marL="0" indent="0" algn="ctr">
                  <a:buNone/>
                </a:pPr>
                <a:endParaRPr lang="en-SG" dirty="0"/>
              </a:p>
              <a:p>
                <a:pPr marL="0" indent="0" algn="ctr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2891742" y="3226716"/>
            <a:ext cx="6408515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i="1" dirty="0"/>
              <a:t>For a random variable X, we use </a:t>
            </a:r>
            <a:r>
              <a:rPr lang="en-US" i="1" dirty="0" err="1"/>
              <a:t>Pr</a:t>
            </a:r>
            <a:r>
              <a:rPr lang="en-US" i="1" dirty="0"/>
              <a:t>(X=x) to denote the probability of X equal to x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76356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384"/>
    </mc:Choice>
    <mc:Fallback xmlns="">
      <p:transition spd="slow" advTm="20338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08" b="10764"/>
          <a:stretch/>
        </p:blipFill>
        <p:spPr>
          <a:xfrm>
            <a:off x="1171074" y="1123406"/>
            <a:ext cx="9347314" cy="4794315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AE4F089-B8EE-2868-FB7D-3E8EFD7E70D4}"/>
              </a:ext>
            </a:extLst>
          </p:cNvPr>
          <p:cNvSpPr txBox="1"/>
          <p:nvPr/>
        </p:nvSpPr>
        <p:spPr>
          <a:xfrm>
            <a:off x="5943554" y="5917721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058708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2640"/>
    </mc:Choice>
    <mc:Fallback xmlns="">
      <p:transition spd="slow" advTm="9264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88" b="10413"/>
          <a:stretch/>
        </p:blipFill>
        <p:spPr>
          <a:xfrm>
            <a:off x="838200" y="1169126"/>
            <a:ext cx="9889687" cy="5057504"/>
          </a:xfr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16536A2-9261-5016-436F-F1AD72B73112}"/>
              </a:ext>
            </a:extLst>
          </p:cNvPr>
          <p:cNvSpPr txBox="1"/>
          <p:nvPr/>
        </p:nvSpPr>
        <p:spPr>
          <a:xfrm>
            <a:off x="5622472" y="6204089"/>
            <a:ext cx="1122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Value of X</a:t>
            </a:r>
          </a:p>
        </p:txBody>
      </p:sp>
    </p:spTree>
    <p:extLst>
      <p:ext uri="{BB962C8B-B14F-4D97-AF65-F5344CB8AC3E}">
        <p14:creationId xmlns:p14="http://schemas.microsoft.com/office/powerpoint/2010/main" val="699149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0800"/>
    </mc:Choice>
    <mc:Fallback xmlns="">
      <p:transition spd="slow" advTm="1608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FB7E6-8953-4044-B0E4-978C7B9A6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properties of </a:t>
            </a:r>
            <a:r>
              <a:rPr lang="en-US" dirty="0" err="1"/>
              <a:t>p.m.f</a:t>
            </a:r>
            <a:r>
              <a:rPr lang="en-US" dirty="0"/>
              <a:t>. and </a:t>
            </a:r>
            <a:r>
              <a:rPr lang="en-US"/>
              <a:t>c.d.f.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E17F715-8A73-4AF4-A951-28025980C8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3060325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SG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SG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SG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</a:t>
                </a:r>
                <a:r>
                  <a:rPr lang="en-US" b="0" dirty="0">
                    <a:latin typeface="Cambria Math" panose="02040503050406030204" pitchFamily="18" charset="0"/>
                  </a:rPr>
                  <a:t>must be between zero and one for any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SG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SG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SG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is nondecreasing in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, </a:t>
                </a:r>
                <a:r>
                  <a:rPr lang="en-US" dirty="0">
                    <a:latin typeface="Cambria Math" panose="02040503050406030204" pitchFamily="18" charset="0"/>
                  </a:rPr>
                  <a:t>and will approach 1 when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</a:rPr>
                  <a:t> </a:t>
                </a:r>
              </a:p>
              <a:p>
                <a:pPr marL="0" indent="0">
                  <a:buNone/>
                </a:pPr>
                <a:endParaRPr lang="en-US" i="1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E17F715-8A73-4AF4-A951-28025980C8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3060325"/>
              </a:xfrm>
              <a:prstGeom prst="rect">
                <a:avLst/>
              </a:prstGeom>
              <a:blipFill>
                <a:blip r:embed="rId5"/>
                <a:stretch>
                  <a:fillRect t="-3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114506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2186"/>
    </mc:Choice>
    <mc:Fallback xmlns="">
      <p:transition spd="slow" advTm="22218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B31C0-FD51-4B71-B749-AE80DC72A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Discrete probability distributions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AC954-45EE-4C04-BE72-FCAAA60F73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Commonly used discrete distributions:</a:t>
            </a:r>
          </a:p>
          <a:p>
            <a:r>
              <a:rPr lang="en-US" dirty="0"/>
              <a:t>Discrete uniform distribution: multiple values; each with the same probability </a:t>
            </a:r>
            <a:endParaRPr lang="en-US" dirty="0">
              <a:cs typeface="Calibri" panose="020F0502020204030204"/>
            </a:endParaRPr>
          </a:p>
          <a:p>
            <a:r>
              <a:rPr lang="en-US" dirty="0"/>
              <a:t>Bernoulli distribution: an experiment that has only two possible outcomes</a:t>
            </a:r>
          </a:p>
          <a:p>
            <a:r>
              <a:rPr lang="en-US" dirty="0"/>
              <a:t>Binomial distribution: an experiment consists of a series of independent Bernoulli trials, the distribution of the number of successes follows a binominal distribution</a:t>
            </a:r>
          </a:p>
          <a:p>
            <a:r>
              <a:rPr lang="en-US" dirty="0">
                <a:cs typeface="Calibri" panose="020F0502020204030204"/>
              </a:rPr>
              <a:t>Poisson distribution: an experiment involves the number of instances over a period of times</a:t>
            </a:r>
          </a:p>
        </p:txBody>
      </p:sp>
    </p:spTree>
    <p:extLst>
      <p:ext uri="{BB962C8B-B14F-4D97-AF65-F5344CB8AC3E}">
        <p14:creationId xmlns:p14="http://schemas.microsoft.com/office/powerpoint/2010/main" val="3938373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2683"/>
    </mc:Choice>
    <mc:Fallback xmlns="">
      <p:transition spd="slow" advTm="82683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5F104-1E9A-4EA5-8E92-424761BD5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Bernoulli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34FBA3-EB1C-477B-8026-F4A68EC3BC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The experiment where the outcomes is either Success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and </a:t>
                </a:r>
                <a:r>
                  <a:rPr lang="en-US" dirty="0"/>
                  <a:t>Failure</a:t>
                </a:r>
                <a:r>
                  <a:rPr lang="zh-TW" altLang="en-US" dirty="0"/>
                  <a:t> </a:t>
                </a:r>
                <a:endParaRPr lang="en-US" altLang="zh-TW" dirty="0"/>
              </a:p>
              <a:p>
                <a:pPr marL="0" indent="0">
                  <a:buNone/>
                </a:pPr>
                <a:r>
                  <a:rPr lang="en-US" dirty="0"/>
                  <a:t>-E.g., Flip a coin; take the driver license test; test a product defect</a:t>
                </a:r>
              </a:p>
              <a:p>
                <a:r>
                  <a:rPr lang="en-US" dirty="0"/>
                  <a:t>The </a:t>
                </a:r>
                <a:r>
                  <a:rPr lang="en-US" dirty="0" err="1"/>
                  <a:t>Bernouli</a:t>
                </a:r>
                <a:r>
                  <a:rPr lang="en-US" dirty="0"/>
                  <a:t> </a:t>
                </a:r>
                <a:r>
                  <a:rPr lang="en-US" altLang="zh-TW" dirty="0"/>
                  <a:t>RV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takes </a:t>
                </a:r>
                <a:r>
                  <a:rPr lang="en-US" dirty="0"/>
                  <a:t>the value of “1” if {Success</a:t>
                </a:r>
                <a:r>
                  <a:rPr lang="en-US" altLang="zh-TW" dirty="0"/>
                  <a:t>}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occurs, and “0” if</a:t>
                </a:r>
                <a:r>
                  <a:rPr lang="en-US" dirty="0"/>
                  <a:t> {Failure</a:t>
                </a:r>
                <a:r>
                  <a:rPr lang="en-US" altLang="zh-TW" dirty="0"/>
                  <a:t>}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occurs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 probability distribution of this RV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can be written as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fName>
                      <m:e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if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,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        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=1 –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if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0, 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/>
                  <a:t>         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dirty="0"/>
                  <a:t>0 otherwise. </a:t>
                </a:r>
              </a:p>
              <a:p>
                <a:pPr marL="0" indent="0">
                  <a:buNone/>
                </a:pPr>
                <a:r>
                  <a:rPr lang="en-US" dirty="0"/>
                  <a:t>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is the known probability of the event {Success</a:t>
                </a:r>
                <a:r>
                  <a:rPr lang="en-US" altLang="zh-TW" dirty="0"/>
                  <a:t>}</a:t>
                </a:r>
                <a:r>
                  <a:rPr lang="zh-TW" altLang="en-US" dirty="0"/>
                  <a:t> 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34FBA3-EB1C-477B-8026-F4A68EC3BC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6"/>
                <a:stretch>
                  <a:fillRect l="-1043" t="-2801" r="-1913" b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249269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383"/>
    </mc:Choice>
    <mc:Fallback xmlns="">
      <p:transition spd="slow" advTm="20338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5F104-1E9A-4EA5-8E92-424761BD5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Bernoulli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34FBA3-EB1C-477B-8026-F4A68EC3BC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The success rate of the driver’s license test is known to be 0.4. We can model the experiment of a single test as a RV following the Bernoulli distribution: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0.4</m:t>
                    </m:r>
                  </m:oMath>
                </a14:m>
                <a:r>
                  <a:rPr lang="en-US" dirty="0"/>
                  <a:t> if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)=0.6</m:t>
                    </m:r>
                  </m:oMath>
                </a14:m>
                <a:r>
                  <a:rPr lang="en-US" dirty="0"/>
                  <a:t> if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altLang="zh-TW" b="0" i="0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𝑓</m:t>
                        </m:r>
                      </m:fName>
                      <m:e>
                        <m:d>
                          <m:d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otherwise</a:t>
                </a:r>
              </a:p>
              <a:p>
                <a:r>
                  <a:rPr lang="en-US" altLang="zh-TW" dirty="0"/>
                  <a:t>A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food manufacturer is required to test its products for food safety before shipping. The outcome of a test is either pass or no-pass. If t</a:t>
                </a:r>
                <a:r>
                  <a:rPr lang="en-US" dirty="0"/>
                  <a:t>he probability of pass is known to be 0.95, we can model the experiment of a single test as a RV following the Bernoulli distribution: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)=0.95</m:t>
                    </m:r>
                  </m:oMath>
                </a14:m>
                <a:r>
                  <a:rPr lang="en-US" dirty="0"/>
                  <a:t> if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)=0.05</m:t>
                    </m:r>
                  </m:oMath>
                </a14:m>
                <a:r>
                  <a:rPr lang="en-US" dirty="0"/>
                  <a:t> if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altLang="zh-TW" dirty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𝑓</m:t>
                        </m:r>
                      </m:fName>
                      <m:e>
                        <m:d>
                          <m:d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i="1" dirty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otherwise</a:t>
                </a:r>
              </a:p>
              <a:p>
                <a:pPr marL="0" indent="0">
                  <a:buNone/>
                </a:pPr>
                <a:r>
                  <a:rPr lang="en-US" dirty="0"/>
                  <a:t>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34FBA3-EB1C-477B-8026-F4A68EC3BC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6"/>
                <a:stretch>
                  <a:fillRect l="-1043" t="-3081" r="-156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639619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664"/>
    </mc:Choice>
    <mc:Fallback xmlns="">
      <p:transition spd="slow" advTm="736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5F104-1E9A-4EA5-8E92-424761BD5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Binomial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34FBA3-EB1C-477B-8026-F4A68EC3BC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An experiment consists of a series of </a:t>
                </a:r>
                <a:r>
                  <a:rPr lang="en-US" dirty="0">
                    <a:solidFill>
                      <a:srgbClr val="FF0000"/>
                    </a:solidFill>
                  </a:rPr>
                  <a:t>n </a:t>
                </a:r>
                <a:r>
                  <a:rPr lang="en-US" dirty="0"/>
                  <a:t>independent Bernoulli trials</a:t>
                </a:r>
                <a:endParaRPr lang="en-US" altLang="zh-TW" dirty="0"/>
              </a:p>
              <a:p>
                <a:pPr marL="0" indent="0">
                  <a:buNone/>
                </a:pPr>
                <a:r>
                  <a:rPr lang="en-US" dirty="0"/>
                  <a:t>-E.g., Flip a coin 100 times; 10 people take the driver license test; test defects among 1,000 sampled products</a:t>
                </a:r>
              </a:p>
              <a:p>
                <a:r>
                  <a:rPr lang="en-US" dirty="0"/>
                  <a:t>The </a:t>
                </a:r>
                <a:r>
                  <a:rPr lang="en-US" altLang="zh-TW" dirty="0"/>
                  <a:t>RV</a:t>
                </a: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/>
                  <a:t>that counts the total number of successes in the experiment will follow a </a:t>
                </a:r>
                <a:r>
                  <a:rPr lang="en-US" dirty="0"/>
                  <a:t>Binomial distribution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        </m:t>
                      </m:r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ctrlPr>
                            <a:rPr lang="pt-BR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t-BR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pt-BR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sSup>
                        <m:sSupPr>
                          <m:ctrlPr>
                            <a:rPr lang="pt-BR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pt-BR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=0,…,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is the known probability of the event {Success</a:t>
                </a:r>
                <a:r>
                  <a:rPr lang="en-US" altLang="zh-TW" dirty="0"/>
                  <a:t>}</a:t>
                </a:r>
                <a:r>
                  <a:rPr lang="zh-TW" altLang="en-US" dirty="0"/>
                  <a:t> </a:t>
                </a:r>
                <a:r>
                  <a:rPr lang="en-SG" altLang="zh-TW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34FBA3-EB1C-477B-8026-F4A68EC3BC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6"/>
                <a:stretch>
                  <a:fillRect l="-1217" t="-2241" r="-185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802051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1796"/>
    </mc:Choice>
    <mc:Fallback xmlns="">
      <p:transition spd="slow" advTm="10179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5F104-1E9A-4EA5-8E92-424761BD5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Binomial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34FBA3-EB1C-477B-8026-F4A68EC3BC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An experiment consists of a series of </a:t>
                </a:r>
                <a:r>
                  <a:rPr lang="en-US" dirty="0">
                    <a:solidFill>
                      <a:srgbClr val="FF0000"/>
                    </a:solidFill>
                  </a:rPr>
                  <a:t>n </a:t>
                </a:r>
                <a:r>
                  <a:rPr lang="en-US" dirty="0"/>
                  <a:t>independent Bernoulli trials</a:t>
                </a:r>
                <a:endParaRPr lang="en-US" altLang="zh-TW" dirty="0"/>
              </a:p>
              <a:p>
                <a:pPr marL="0" indent="0">
                  <a:buNone/>
                </a:pPr>
                <a:r>
                  <a:rPr lang="en-US" dirty="0"/>
                  <a:t>-E.g., Flip a coin 100 times; 10 people take the driver license test; test defects among 1,000 sampled products</a:t>
                </a:r>
              </a:p>
              <a:p>
                <a:r>
                  <a:rPr lang="en-US" dirty="0"/>
                  <a:t>The </a:t>
                </a:r>
                <a:r>
                  <a:rPr lang="en-US" altLang="zh-TW" dirty="0"/>
                  <a:t>RV</a:t>
                </a: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/>
                  <a:t>that counts the total number of successes in the experiment will follow a </a:t>
                </a:r>
                <a:r>
                  <a:rPr lang="en-US" dirty="0"/>
                  <a:t>Binomial distribution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        </m:t>
                      </m:r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ctrlPr>
                            <a:rPr lang="pt-BR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t-BR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pt-BR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sSup>
                        <m:sSupPr>
                          <m:ctrlPr>
                            <a:rPr lang="pt-BR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pt-BR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=0,…,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is the known probability of the event {Success</a:t>
                </a:r>
                <a:r>
                  <a:rPr lang="en-US" altLang="zh-TW" dirty="0"/>
                  <a:t>}</a:t>
                </a:r>
                <a:r>
                  <a:rPr lang="zh-TW" altLang="en-US" dirty="0"/>
                  <a:t> </a:t>
                </a:r>
                <a:r>
                  <a:rPr lang="en-SG" altLang="zh-TW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34FBA3-EB1C-477B-8026-F4A68EC3BC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6"/>
                <a:stretch>
                  <a:fillRect l="-1217" t="-2241" r="-185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116522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1176"/>
    </mc:Choice>
    <mc:Fallback xmlns="">
      <p:transition spd="slow" advTm="11117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5F104-1E9A-4EA5-8E92-424761BD5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Binomial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34FBA3-EB1C-477B-8026-F4A68EC3BC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10 people taking the driver license test (n=10)</a:t>
                </a:r>
              </a:p>
              <a:p>
                <a:pPr marL="0" indent="0">
                  <a:buNone/>
                </a:pPr>
                <a:r>
                  <a:rPr lang="en-US" dirty="0"/>
                  <a:t>The probability that each individual passing the test is independent and is 0.8</a:t>
                </a:r>
              </a:p>
              <a:p>
                <a:pPr marL="0" indent="0">
                  <a:buNone/>
                </a:pPr>
                <a:r>
                  <a:rPr lang="en-US" dirty="0"/>
                  <a:t>What is the probability that 3 people passed the test (f(3)=?)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fName>
                        <m:e>
                          <m:d>
                            <m:d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e>
                      </m:func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BR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t-BR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num>
                            <m:den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pt-BR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0.8</m:t>
                          </m:r>
                        </m:e>
                        <m:sup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sSup>
                        <m:sSupPr>
                          <m:ctrlPr>
                            <a:rPr lang="pt-BR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SG" b="0" i="1" dirty="0" smtClean="0">
                                  <a:latin typeface="Cambria Math" panose="02040503050406030204" pitchFamily="18" charset="0"/>
                                </a:rPr>
                                <m:t>02</m:t>
                              </m:r>
                            </m:e>
                          </m:d>
                        </m:e>
                        <m:sup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pt-BR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SG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SG" b="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 probability of observing an instance of “3 people passed the test “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0.8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1−0.8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There are C10,3 possible instances (different combinations of people passing the tests). As such, f(3) is equal to the product of the probability multiplied by the number of instances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34FBA3-EB1C-477B-8026-F4A68EC3BC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6"/>
                <a:stretch>
                  <a:fillRect l="-1043" t="-3501" r="-92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064357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2273"/>
    </mc:Choice>
    <mc:Fallback xmlns="">
      <p:transition spd="slow" advTm="13227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Examples: Binomial distributions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You are about to flip a </a:t>
                </a:r>
                <a:r>
                  <a:rPr lang="en-US" i="1" dirty="0"/>
                  <a:t>fair</a:t>
                </a:r>
                <a:r>
                  <a:rPr lang="en-US" dirty="0"/>
                  <a:t> coin 100 times. You want to know the probability of observing a certain number of heads. Let the total number of heads be a RV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follows a </a:t>
                </a:r>
                <a:r>
                  <a:rPr lang="en-SG" dirty="0"/>
                  <a:t>Binomial distribution.</a:t>
                </a:r>
                <a:r>
                  <a:rPr lang="en-US" dirty="0"/>
                  <a:t> </a:t>
                </a:r>
              </a:p>
              <a:p>
                <a:r>
                  <a:rPr lang="en-US" dirty="0"/>
                  <a:t>To calculate f(x), use </a:t>
                </a:r>
                <a:r>
                  <a:rPr lang="en-SG" dirty="0" err="1">
                    <a:solidFill>
                      <a:srgbClr val="FF0000"/>
                    </a:solidFill>
                  </a:rPr>
                  <a:t>d</a:t>
                </a:r>
                <a:r>
                  <a:rPr lang="en-SG" dirty="0" err="1">
                    <a:solidFill>
                      <a:srgbClr val="92D050"/>
                    </a:solidFill>
                  </a:rPr>
                  <a:t>binom</a:t>
                </a:r>
                <a:r>
                  <a:rPr lang="en-SG" dirty="0"/>
                  <a:t>(</a:t>
                </a:r>
                <a:r>
                  <a:rPr lang="en-SG" dirty="0" err="1"/>
                  <a:t>x,n,p</a:t>
                </a:r>
                <a:r>
                  <a:rPr lang="en-SG" dirty="0"/>
                  <a:t>)</a:t>
                </a:r>
              </a:p>
              <a:p>
                <a:pPr marL="0" indent="0">
                  <a:buNone/>
                </a:pPr>
                <a:r>
                  <a:rPr lang="en-SG" dirty="0"/>
                  <a:t>E.g.,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⁡(40)</m:t>
                    </m:r>
                  </m:oMath>
                </a14:m>
                <a:r>
                  <a:rPr lang="en-US" dirty="0"/>
                  <a:t> = </a:t>
                </a:r>
                <a:r>
                  <a:rPr lang="en-SG" dirty="0"/>
                  <a:t>dbinom(40,100,0.5) </a:t>
                </a:r>
                <a:r>
                  <a:rPr lang="en-US" dirty="0"/>
                  <a:t>= 0.01084387.</a:t>
                </a:r>
              </a:p>
              <a:p>
                <a:r>
                  <a:rPr lang="en-US" dirty="0"/>
                  <a:t>To calculate F(x), use </a:t>
                </a:r>
                <a:r>
                  <a:rPr lang="en-SG" dirty="0" err="1">
                    <a:solidFill>
                      <a:srgbClr val="FF0000"/>
                    </a:solidFill>
                  </a:rPr>
                  <a:t>p</a:t>
                </a:r>
                <a:r>
                  <a:rPr lang="en-SG" dirty="0" err="1">
                    <a:solidFill>
                      <a:srgbClr val="92D050"/>
                    </a:solidFill>
                  </a:rPr>
                  <a:t>binom</a:t>
                </a:r>
                <a:r>
                  <a:rPr lang="en-SG" dirty="0"/>
                  <a:t>(</a:t>
                </a:r>
                <a:r>
                  <a:rPr lang="en-SG" dirty="0" err="1"/>
                  <a:t>x,n,p</a:t>
                </a:r>
                <a:r>
                  <a:rPr lang="en-SG" dirty="0"/>
                  <a:t>)</a:t>
                </a:r>
              </a:p>
              <a:p>
                <a:pPr marL="0" indent="0">
                  <a:buNone/>
                </a:pPr>
                <a:r>
                  <a:rPr lang="en-SG" dirty="0"/>
                  <a:t>F(40) = </a:t>
                </a:r>
                <a:r>
                  <a:rPr lang="en-SG" dirty="0" err="1"/>
                  <a:t>pbinom</a:t>
                </a:r>
                <a:r>
                  <a:rPr lang="en-SG" dirty="0"/>
                  <a:t>(40,100,0.5) = 0.02844397</a:t>
                </a:r>
              </a:p>
              <a:p>
                <a:pPr marL="0" indent="0">
                  <a:buNone/>
                </a:pPr>
                <a:r>
                  <a:rPr lang="en-SG" dirty="0"/>
                  <a:t>F(39)= </a:t>
                </a:r>
                <a:r>
                  <a:rPr lang="en-SG" dirty="0" err="1"/>
                  <a:t>pbinom</a:t>
                </a:r>
                <a:r>
                  <a:rPr lang="en-SG" dirty="0"/>
                  <a:t>(39,100,0.5) = 0.0176001</a:t>
                </a:r>
              </a:p>
              <a:p>
                <a:pPr marL="0" indent="0">
                  <a:buNone/>
                </a:pPr>
                <a:r>
                  <a:rPr lang="en-SG" dirty="0"/>
                  <a:t>Notice F(40)-F(39)=f(40)</a:t>
                </a:r>
              </a:p>
              <a:p>
                <a:pPr marL="0" indent="0">
                  <a:buNone/>
                </a:pPr>
                <a:r>
                  <a:rPr lang="en-SG" dirty="0"/>
                  <a:t>Notice F(40) can also be obtained from sum(</a:t>
                </a:r>
                <a:r>
                  <a:rPr lang="en-SG" dirty="0" err="1"/>
                  <a:t>dbinom</a:t>
                </a:r>
                <a:r>
                  <a:rPr lang="en-SG" dirty="0"/>
                  <a:t>(0:40,100,0.5))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1043" t="-2801" r="-133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3593850" y="4644871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SG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40045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9556"/>
    </mc:Choice>
    <mc:Fallback xmlns="">
      <p:transition spd="slow" advTm="38955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E73F1-FE9F-83CC-7D61-B22E01562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Poisson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4B6F00-710F-D72A-1469-B129974A49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Poisson distribution can represent the number of times an event occurs within a time interval.</a:t>
                </a:r>
              </a:p>
              <a:p>
                <a:pPr marL="0" indent="0">
                  <a:buNone/>
                </a:pPr>
                <a:r>
                  <a:rPr lang="en-US" dirty="0"/>
                  <a:t>E.g., the number of car accidents, the number of customer arrivals at a store, and the number of defects in a batch of products.</a:t>
                </a:r>
              </a:p>
              <a:p>
                <a:r>
                  <a:rPr lang="en-US" dirty="0"/>
                  <a:t>The Poisson distribution has a single parameter, λ (lambda), the average occurrence rate in a given time interval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= (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 ∗ </m:t>
                    </m:r>
                    <m:sSup>
                      <m:sSupPr>
                        <m:ctrlPr>
                          <a:rPr lang="en-US" i="1" dirty="0" err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) /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!, </m:t>
                    </m:r>
                  </m:oMath>
                </a14:m>
                <a:r>
                  <a:rPr lang="en-US" dirty="0"/>
                  <a:t>where k is a non-negative integer, and e is natural exponential function (about = 2.718). </a:t>
                </a:r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4B6F00-710F-D72A-1469-B129974A49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217" t="-2241" r="-52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8526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9038"/>
    </mc:Choice>
    <mc:Fallback xmlns="">
      <p:transition spd="slow" advTm="249038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E73F1-FE9F-83CC-7D61-B22E01562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Conditions for </a:t>
            </a:r>
            <a:r>
              <a:rPr lang="en-SG" dirty="0"/>
              <a:t>Poisson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B6F00-710F-D72A-1469-B129974A49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SG" dirty="0"/>
              <a:t>The event occurrences should not be strongly dependent</a:t>
            </a:r>
          </a:p>
          <a:p>
            <a:pPr marL="0" indent="0">
              <a:buNone/>
            </a:pPr>
            <a:r>
              <a:rPr lang="en-US" altLang="zh-TW" dirty="0"/>
              <a:t>E.g., </a:t>
            </a:r>
            <a:r>
              <a:rPr lang="en-US" dirty="0"/>
              <a:t>customers arrival should  be “random”</a:t>
            </a:r>
          </a:p>
          <a:p>
            <a:pPr marL="0" indent="0">
              <a:buNone/>
            </a:pPr>
            <a:r>
              <a:rPr lang="en-US" dirty="0"/>
              <a:t>2. The average rate should be a constant</a:t>
            </a:r>
          </a:p>
          <a:p>
            <a:pPr marL="0" indent="0">
              <a:buNone/>
            </a:pPr>
            <a:r>
              <a:rPr lang="en-US" dirty="0"/>
              <a:t>E.g., cannot use the same </a:t>
            </a:r>
            <a:r>
              <a:rPr lang="en-US" dirty="0" err="1"/>
              <a:t>rv</a:t>
            </a:r>
            <a:r>
              <a:rPr lang="en-US" dirty="0"/>
              <a:t> for both peek-hour and off-peak hour traffic</a:t>
            </a:r>
          </a:p>
          <a:p>
            <a:pPr marL="0" indent="0">
              <a:buNone/>
            </a:pPr>
            <a:r>
              <a:rPr lang="en-US" dirty="0"/>
              <a:t>3. Two or more events cannot happen at the same time   </a:t>
            </a:r>
            <a:endParaRPr lang="en-SG" dirty="0"/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741059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085"/>
    </mc:Choice>
    <mc:Fallback xmlns="">
      <p:transition spd="slow" advTm="37085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E73F1-FE9F-83CC-7D61-B22E01562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Conditions for </a:t>
            </a:r>
            <a:r>
              <a:rPr lang="en-SG" dirty="0"/>
              <a:t>Poisson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B6F00-710F-D72A-1469-B129974A49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SG" dirty="0"/>
              <a:t>The event occurrences should not be strongly dependent</a:t>
            </a:r>
          </a:p>
          <a:p>
            <a:pPr marL="0" indent="0">
              <a:buNone/>
            </a:pPr>
            <a:r>
              <a:rPr lang="en-US" altLang="zh-TW" dirty="0"/>
              <a:t>E.g., </a:t>
            </a:r>
            <a:r>
              <a:rPr lang="en-US" dirty="0"/>
              <a:t>customers arrival should  be “random”</a:t>
            </a:r>
          </a:p>
          <a:p>
            <a:pPr marL="0" indent="0">
              <a:buNone/>
            </a:pPr>
            <a:r>
              <a:rPr lang="en-SG" dirty="0"/>
              <a:t> </a:t>
            </a:r>
          </a:p>
          <a:p>
            <a:pPr marL="0" indent="0">
              <a:buNone/>
            </a:pPr>
            <a:endParaRPr lang="en-SG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3BC929E-9C1C-3590-3860-8623C568B77B}"/>
              </a:ext>
            </a:extLst>
          </p:cNvPr>
          <p:cNvSpPr/>
          <p:nvPr/>
        </p:nvSpPr>
        <p:spPr>
          <a:xfrm>
            <a:off x="5805456" y="3154929"/>
            <a:ext cx="3567249" cy="169272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dirty="0"/>
              <a:t>Store</a:t>
            </a:r>
          </a:p>
        </p:txBody>
      </p:sp>
      <p:pic>
        <p:nvPicPr>
          <p:cNvPr id="36" name="Graphic 35" descr="Smiling face outline outline">
            <a:extLst>
              <a:ext uri="{FF2B5EF4-FFF2-40B4-BE49-F238E27FC236}">
                <a16:creationId xmlns:a16="http://schemas.microsoft.com/office/drawing/2014/main" id="{C3B9FC29-8B33-D047-FBDE-C0FC0C9E26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0612" y="5067742"/>
            <a:ext cx="914400" cy="914400"/>
          </a:xfrm>
          <a:prstGeom prst="rect">
            <a:avLst/>
          </a:prstGeom>
        </p:spPr>
      </p:pic>
      <p:pic>
        <p:nvPicPr>
          <p:cNvPr id="37" name="Graphic 36" descr="Smiling face outline outline">
            <a:extLst>
              <a:ext uri="{FF2B5EF4-FFF2-40B4-BE49-F238E27FC236}">
                <a16:creationId xmlns:a16="http://schemas.microsoft.com/office/drawing/2014/main" id="{6FD35DAC-C4E3-40B3-D1D4-F02B9EAE31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52830" y="5073627"/>
            <a:ext cx="914400" cy="914400"/>
          </a:xfrm>
          <a:prstGeom prst="rect">
            <a:avLst/>
          </a:prstGeom>
        </p:spPr>
      </p:pic>
      <p:pic>
        <p:nvPicPr>
          <p:cNvPr id="38" name="Graphic 37" descr="Smiling face outline outline">
            <a:extLst>
              <a:ext uri="{FF2B5EF4-FFF2-40B4-BE49-F238E27FC236}">
                <a16:creationId xmlns:a16="http://schemas.microsoft.com/office/drawing/2014/main" id="{5603C0DF-294B-221D-E9CC-CC98BBE5E5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9642" y="5067742"/>
            <a:ext cx="914400" cy="914400"/>
          </a:xfrm>
          <a:prstGeom prst="rect">
            <a:avLst/>
          </a:prstGeom>
        </p:spPr>
      </p:pic>
      <p:pic>
        <p:nvPicPr>
          <p:cNvPr id="39" name="Graphic 38" descr="Smiling face outline outline">
            <a:extLst>
              <a:ext uri="{FF2B5EF4-FFF2-40B4-BE49-F238E27FC236}">
                <a16:creationId xmlns:a16="http://schemas.microsoft.com/office/drawing/2014/main" id="{33B420DB-9D40-25EE-D6E4-326FD43EE1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98109" y="5058308"/>
            <a:ext cx="914400" cy="914400"/>
          </a:xfrm>
          <a:prstGeom prst="rect">
            <a:avLst/>
          </a:prstGeom>
        </p:spPr>
      </p:pic>
      <p:pic>
        <p:nvPicPr>
          <p:cNvPr id="40" name="Graphic 39" descr="Smiling face outline outline">
            <a:extLst>
              <a:ext uri="{FF2B5EF4-FFF2-40B4-BE49-F238E27FC236}">
                <a16:creationId xmlns:a16="http://schemas.microsoft.com/office/drawing/2014/main" id="{27B86CEE-EF10-741A-2A25-6D36FD66E9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12509" y="5067742"/>
            <a:ext cx="914400" cy="914400"/>
          </a:xfrm>
          <a:prstGeom prst="rect">
            <a:avLst/>
          </a:prstGeom>
        </p:spPr>
      </p:pic>
      <p:sp>
        <p:nvSpPr>
          <p:cNvPr id="64" name="Speech Bubble: Oval 63">
            <a:extLst>
              <a:ext uri="{FF2B5EF4-FFF2-40B4-BE49-F238E27FC236}">
                <a16:creationId xmlns:a16="http://schemas.microsoft.com/office/drawing/2014/main" id="{610C083C-945E-C3B2-089C-C85665B85247}"/>
              </a:ext>
            </a:extLst>
          </p:cNvPr>
          <p:cNvSpPr/>
          <p:nvPr/>
        </p:nvSpPr>
        <p:spPr>
          <a:xfrm>
            <a:off x="550382" y="3374571"/>
            <a:ext cx="2813304" cy="1564482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Make my own decision? Or see whether others enter or not</a:t>
            </a:r>
          </a:p>
        </p:txBody>
      </p:sp>
    </p:spTree>
    <p:extLst>
      <p:ext uri="{BB962C8B-B14F-4D97-AF65-F5344CB8AC3E}">
        <p14:creationId xmlns:p14="http://schemas.microsoft.com/office/powerpoint/2010/main" val="587263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4236"/>
    </mc:Choice>
    <mc:Fallback xmlns="">
      <p:transition spd="slow" advTm="144236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E73F1-FE9F-83CC-7D61-B22E01562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Conditions for </a:t>
            </a:r>
            <a:r>
              <a:rPr lang="en-SG" dirty="0"/>
              <a:t>Poisson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B6F00-710F-D72A-1469-B129974A49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SG" dirty="0"/>
              <a:t>The event occurrences should not be strongly dependent</a:t>
            </a:r>
          </a:p>
          <a:p>
            <a:pPr marL="0" indent="0">
              <a:buNone/>
            </a:pPr>
            <a:r>
              <a:rPr lang="en-US" altLang="zh-TW" dirty="0"/>
              <a:t>E.g., </a:t>
            </a:r>
            <a:r>
              <a:rPr lang="en-US" dirty="0"/>
              <a:t>customers arrival should  be “random”</a:t>
            </a:r>
          </a:p>
          <a:p>
            <a:pPr marL="0" indent="0">
              <a:buNone/>
            </a:pPr>
            <a:r>
              <a:rPr lang="en-US" dirty="0"/>
              <a:t>2. The average rate should be a constant</a:t>
            </a:r>
          </a:p>
          <a:p>
            <a:pPr marL="0" indent="0">
              <a:buNone/>
            </a:pPr>
            <a:r>
              <a:rPr lang="en-US" dirty="0"/>
              <a:t>E.g., cannot use the same </a:t>
            </a:r>
            <a:r>
              <a:rPr lang="en-US" dirty="0" err="1"/>
              <a:t>rv</a:t>
            </a:r>
            <a:r>
              <a:rPr lang="en-US" dirty="0"/>
              <a:t> for both peek-hour and off-peak hour traffic</a:t>
            </a:r>
          </a:p>
          <a:p>
            <a:pPr marL="0" indent="0">
              <a:buNone/>
            </a:pPr>
            <a:r>
              <a:rPr lang="en-US" dirty="0"/>
              <a:t>3. Two or more events cannot happen at the same time   </a:t>
            </a:r>
            <a:endParaRPr lang="en-SG" dirty="0"/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343650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4667"/>
    </mc:Choice>
    <mc:Fallback xmlns="">
      <p:transition spd="slow" advTm="74667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Examples: </a:t>
            </a:r>
            <a:r>
              <a:rPr lang="en-SG"/>
              <a:t>Poisson distributions 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 website on average is visited by 20 browsers / min. </a:t>
                </a:r>
              </a:p>
              <a:p>
                <a:r>
                  <a:rPr lang="en-US" dirty="0"/>
                  <a:t>We can use a Poisson RV to calculate the probability of the number of arrivals</a:t>
                </a:r>
              </a:p>
              <a:p>
                <a:pPr marL="0" indent="0">
                  <a:buNone/>
                </a:pPr>
                <a:r>
                  <a:rPr lang="en-US" dirty="0"/>
                  <a:t>Assume X to be a Poisson RV. Then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&gt;25</m:t>
                            </m:r>
                          </m:e>
                        </m:d>
                      </m:e>
                    </m:fun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=1−</m:t>
                    </m:r>
                    <m:func>
                      <m:func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≤25</m:t>
                            </m:r>
                          </m:e>
                        </m:d>
                      </m:e>
                    </m:fun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=1−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𝑝𝑝𝑜𝑖𝑠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(25,20) </m:t>
                    </m:r>
                  </m:oMath>
                </a14:m>
                <a:r>
                  <a:rPr lang="en-US" dirty="0"/>
                  <a:t>=0.112185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1217" t="-2241" r="-133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3593850" y="4644871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SG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38099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1111"/>
    </mc:Choice>
    <mc:Fallback xmlns="">
      <p:transition spd="slow" advTm="21111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93594-2F51-953D-5C68-DF50A0440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42EF6-2375-C016-F386-299B2B5BF3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probability mass function (f(x)) and distribution function (F(x))</a:t>
            </a:r>
          </a:p>
          <a:p>
            <a:r>
              <a:rPr lang="en-US" dirty="0"/>
              <a:t>Three common </a:t>
            </a:r>
            <a:r>
              <a:rPr lang="en-US"/>
              <a:t>discrete RV’s</a:t>
            </a:r>
            <a:endParaRPr lang="en-US" dirty="0"/>
          </a:p>
          <a:p>
            <a:r>
              <a:rPr lang="en-US" dirty="0"/>
              <a:t>R commands to calculate </a:t>
            </a:r>
            <a:r>
              <a:rPr lang="en-US" dirty="0" err="1"/>
              <a:t>pmf</a:t>
            </a:r>
            <a:r>
              <a:rPr lang="en-US" dirty="0"/>
              <a:t> and </a:t>
            </a:r>
            <a:r>
              <a:rPr lang="en-US" dirty="0" err="1"/>
              <a:t>cdf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4347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5210"/>
    </mc:Choice>
    <mc:Fallback xmlns="">
      <p:transition spd="slow" advTm="5521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3|150.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8|2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9|62|33.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9|0.9|21.9|21.3|24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3|34.3|40.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.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1|10.1|21.1|7.8|11|2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9|93.8|116|37.7|44.4|35.3|2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38|2.6|1.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1184</TotalTime>
  <Words>1245</Words>
  <Application>Microsoft Office PowerPoint</Application>
  <PresentationFormat>Widescreen</PresentationFormat>
  <Paragraphs>122</Paragraphs>
  <Slides>19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Office Theme</vt:lpstr>
      <vt:lpstr>Discrete random variables </vt:lpstr>
      <vt:lpstr>Classifications of random variables</vt:lpstr>
      <vt:lpstr>Probabilities for a discrete RV</vt:lpstr>
      <vt:lpstr>PowerPoint Presentation</vt:lpstr>
      <vt:lpstr>PowerPoint Presentation</vt:lpstr>
      <vt:lpstr>Basic properties of p.m.f. and c.d.f. </vt:lpstr>
      <vt:lpstr>Discrete probability distributions</vt:lpstr>
      <vt:lpstr>Bernoulli distribution</vt:lpstr>
      <vt:lpstr>Example: Bernoulli distribution</vt:lpstr>
      <vt:lpstr>Binomial distribution</vt:lpstr>
      <vt:lpstr>Binomial distribution</vt:lpstr>
      <vt:lpstr>Binomial distribution</vt:lpstr>
      <vt:lpstr>Examples: Binomial distributions</vt:lpstr>
      <vt:lpstr>Poisson distribution</vt:lpstr>
      <vt:lpstr>Conditions for Poisson distribution</vt:lpstr>
      <vt:lpstr>Conditions for Poisson distribution</vt:lpstr>
      <vt:lpstr>Conditions for Poisson distribution</vt:lpstr>
      <vt:lpstr>Examples: Poisson distributions 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3.1 Discrete and continuous random variables</dc:title>
  <dc:creator>Chien-Ming Chen</dc:creator>
  <cp:lastModifiedBy>Chen Chien-Ming (Assoc Prof)</cp:lastModifiedBy>
  <cp:revision>150</cp:revision>
  <dcterms:created xsi:type="dcterms:W3CDTF">2019-03-01T06:02:05Z</dcterms:created>
  <dcterms:modified xsi:type="dcterms:W3CDTF">2023-07-06T06:17:09Z</dcterms:modified>
</cp:coreProperties>
</file>
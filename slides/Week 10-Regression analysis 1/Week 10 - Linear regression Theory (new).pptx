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0" r:id="rId2"/>
    <p:sldId id="279" r:id="rId3"/>
    <p:sldId id="281" r:id="rId4"/>
    <p:sldId id="283" r:id="rId5"/>
    <p:sldId id="285" r:id="rId6"/>
    <p:sldId id="284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80744" autoAdjust="0"/>
  </p:normalViewPr>
  <p:slideViewPr>
    <p:cSldViewPr snapToGrid="0">
      <p:cViewPr varScale="1">
        <p:scale>
          <a:sx n="92" d="100"/>
          <a:sy n="92" d="100"/>
        </p:scale>
        <p:origin x="12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7AFFB-A049-45D6-BC36-5C672D25B3F9}" type="datetimeFigureOut">
              <a:rPr lang="en-SG" smtClean="0"/>
              <a:t>10/7/2021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DF5B5-306B-4C9E-BE31-583D0821E9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341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F5B5-306B-4C9E-BE31-583D0821E90C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386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.jpg"/><Relationship Id="rId5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9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2400"/>
            <a:ext cx="9144000" cy="2628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From hypothesis testing to Linear Regression: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Basic concepts</a:t>
            </a:r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39322" y="797414"/>
                <a:ext cx="7157422" cy="5710962"/>
              </a:xfrm>
            </p:spPr>
            <p:txBody>
              <a:bodyPr/>
              <a:lstStyle/>
              <a:p>
                <a:r>
                  <a:rPr lang="en-SG" dirty="0"/>
                  <a:t>In W8 &amp; W9, our target of inferences is the population mean,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SG" dirty="0"/>
                  <a:t> E.g., Y is the RV for the spending of a customer in the customer population</a:t>
                </a:r>
              </a:p>
              <a:p>
                <a:endParaRPr lang="en-SG" dirty="0"/>
              </a:p>
              <a:p>
                <a:r>
                  <a:rPr lang="en-SG" dirty="0"/>
                  <a:t>This unconditional expectation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is the average of </a:t>
                </a:r>
                <a:r>
                  <a:rPr lang="en-SG" u="sng" dirty="0"/>
                  <a:t>everyone in the population</a:t>
                </a:r>
              </a:p>
              <a:p>
                <a:pPr marL="0" indent="0">
                  <a:buNone/>
                </a:pPr>
                <a:endParaRPr lang="en-SG" u="sng" dirty="0"/>
              </a:p>
              <a:p>
                <a:r>
                  <a:rPr lang="en-SG" dirty="0"/>
                  <a:t>In the business world,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SG" dirty="0"/>
                  <a:t> often is not of primary interest. People are more interested in its conditional expectations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9322" y="797414"/>
                <a:ext cx="7157422" cy="5710962"/>
              </a:xfrm>
              <a:blipFill>
                <a:blip r:embed="rId5"/>
                <a:stretch>
                  <a:fillRect l="-1533" t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雲朵形 5">
            <a:extLst>
              <a:ext uri="{FF2B5EF4-FFF2-40B4-BE49-F238E27FC236}">
                <a16:creationId xmlns:a16="http://schemas.microsoft.com/office/drawing/2014/main" id="{FA219209-4483-49D0-AF1E-6F4B1D90FDDE}"/>
              </a:ext>
            </a:extLst>
          </p:cNvPr>
          <p:cNvSpPr/>
          <p:nvPr/>
        </p:nvSpPr>
        <p:spPr>
          <a:xfrm>
            <a:off x="432720" y="901478"/>
            <a:ext cx="3727010" cy="3806982"/>
          </a:xfrm>
          <a:prstGeom prst="cloud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C60CB0-41D3-4CCB-94EF-2B24DA7D9D89}"/>
              </a:ext>
            </a:extLst>
          </p:cNvPr>
          <p:cNvSpPr txBox="1"/>
          <p:nvPr/>
        </p:nvSpPr>
        <p:spPr>
          <a:xfrm>
            <a:off x="1300984" y="316703"/>
            <a:ext cx="199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Population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1BE6D74-19D4-4EDB-90A6-9C1FFF1A5B2A}"/>
                  </a:ext>
                </a:extLst>
              </p:cNvPr>
              <p:cNvSpPr/>
              <p:nvPr/>
            </p:nvSpPr>
            <p:spPr>
              <a:xfrm>
                <a:off x="1194119" y="5725544"/>
                <a:ext cx="180921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1BE6D74-19D4-4EDB-90A6-9C1FFF1A5B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119" y="5725544"/>
                <a:ext cx="1809213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B6BD908-8775-4CC5-BDA3-A9EB924E38E1}"/>
              </a:ext>
            </a:extLst>
          </p:cNvPr>
          <p:cNvCxnSpPr>
            <a:cxnSpLocks/>
          </p:cNvCxnSpPr>
          <p:nvPr/>
        </p:nvCxnSpPr>
        <p:spPr>
          <a:xfrm>
            <a:off x="595256" y="3894268"/>
            <a:ext cx="994896" cy="1914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718A9A3B-B006-4EC0-A578-BB739F505056}"/>
              </a:ext>
            </a:extLst>
          </p:cNvPr>
          <p:cNvCxnSpPr>
            <a:cxnSpLocks/>
          </p:cNvCxnSpPr>
          <p:nvPr/>
        </p:nvCxnSpPr>
        <p:spPr>
          <a:xfrm flipH="1">
            <a:off x="2624866" y="3894268"/>
            <a:ext cx="990981" cy="20116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1871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89561" y="316703"/>
                <a:ext cx="6748254" cy="571096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For example, a retailer may find it more important to know how much its female customers spend vs male counterparts</a:t>
                </a:r>
              </a:p>
              <a:p>
                <a:pPr marL="0" indent="0">
                  <a:buNone/>
                </a:pPr>
                <a:r>
                  <a:rPr lang="en-US" dirty="0"/>
                  <a:t>(Now “female” as a Bernoulli RV,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Thus, instead of E(Y), we want to estimate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1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The retailer may also want to understand how the average spending of a customer changes as the customer’s income changes </a:t>
                </a:r>
              </a:p>
              <a:p>
                <a:pPr marL="0" indent="0">
                  <a:buNone/>
                </a:pPr>
                <a:r>
                  <a:rPr lang="en-US" dirty="0"/>
                  <a:t>(Now “income” as a RV,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All included, instead of E(Y), we want to estimate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sSub>
                      <m:sSub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SG" dirty="0"/>
                  <a:t>for different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SG" dirty="0"/>
                  <a:t> 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89561" y="316703"/>
                <a:ext cx="6748254" cy="5710962"/>
              </a:xfrm>
              <a:blipFill>
                <a:blip r:embed="rId5"/>
                <a:stretch>
                  <a:fillRect l="-1807" t="-2455" r="-2168" b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雲朵形 5">
            <a:extLst>
              <a:ext uri="{FF2B5EF4-FFF2-40B4-BE49-F238E27FC236}">
                <a16:creationId xmlns:a16="http://schemas.microsoft.com/office/drawing/2014/main" id="{FA219209-4483-49D0-AF1E-6F4B1D90FDDE}"/>
              </a:ext>
            </a:extLst>
          </p:cNvPr>
          <p:cNvSpPr/>
          <p:nvPr/>
        </p:nvSpPr>
        <p:spPr>
          <a:xfrm>
            <a:off x="432720" y="901478"/>
            <a:ext cx="3727010" cy="3806982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C60CB0-41D3-4CCB-94EF-2B24DA7D9D89}"/>
              </a:ext>
            </a:extLst>
          </p:cNvPr>
          <p:cNvSpPr txBox="1"/>
          <p:nvPr/>
        </p:nvSpPr>
        <p:spPr>
          <a:xfrm>
            <a:off x="1300984" y="316703"/>
            <a:ext cx="199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Population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1BE6D74-19D4-4EDB-90A6-9C1FFF1A5B2A}"/>
                  </a:ext>
                </a:extLst>
              </p:cNvPr>
              <p:cNvSpPr/>
              <p:nvPr/>
            </p:nvSpPr>
            <p:spPr>
              <a:xfrm>
                <a:off x="1194119" y="5725544"/>
                <a:ext cx="180921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1BE6D74-19D4-4EDB-90A6-9C1FFF1A5B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119" y="5725544"/>
                <a:ext cx="1809213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B6BD908-8775-4CC5-BDA3-A9EB924E38E1}"/>
              </a:ext>
            </a:extLst>
          </p:cNvPr>
          <p:cNvCxnSpPr>
            <a:cxnSpLocks/>
          </p:cNvCxnSpPr>
          <p:nvPr/>
        </p:nvCxnSpPr>
        <p:spPr>
          <a:xfrm>
            <a:off x="595256" y="3894268"/>
            <a:ext cx="994896" cy="1914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718A9A3B-B006-4EC0-A578-BB739F505056}"/>
              </a:ext>
            </a:extLst>
          </p:cNvPr>
          <p:cNvCxnSpPr>
            <a:cxnSpLocks/>
          </p:cNvCxnSpPr>
          <p:nvPr/>
        </p:nvCxnSpPr>
        <p:spPr>
          <a:xfrm flipH="1">
            <a:off x="2624866" y="3894268"/>
            <a:ext cx="990981" cy="20116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手繪多邊形: 圖案 1">
            <a:extLst>
              <a:ext uri="{FF2B5EF4-FFF2-40B4-BE49-F238E27FC236}">
                <a16:creationId xmlns:a16="http://schemas.microsoft.com/office/drawing/2014/main" id="{9436289A-80F3-4269-8A88-68967FCCB03D}"/>
              </a:ext>
            </a:extLst>
          </p:cNvPr>
          <p:cNvSpPr/>
          <p:nvPr/>
        </p:nvSpPr>
        <p:spPr>
          <a:xfrm>
            <a:off x="892885" y="1565306"/>
            <a:ext cx="3065929" cy="898195"/>
          </a:xfrm>
          <a:custGeom>
            <a:avLst/>
            <a:gdLst>
              <a:gd name="connsiteX0" fmla="*/ 0 w 3065929"/>
              <a:gd name="connsiteY0" fmla="*/ 5310 h 898195"/>
              <a:gd name="connsiteX1" fmla="*/ 946673 w 3065929"/>
              <a:gd name="connsiteY1" fmla="*/ 80614 h 898195"/>
              <a:gd name="connsiteX2" fmla="*/ 1344706 w 3065929"/>
              <a:gd name="connsiteY2" fmla="*/ 564708 h 898195"/>
              <a:gd name="connsiteX3" fmla="*/ 2076226 w 3065929"/>
              <a:gd name="connsiteY3" fmla="*/ 112887 h 898195"/>
              <a:gd name="connsiteX4" fmla="*/ 2700169 w 3065929"/>
              <a:gd name="connsiteY4" fmla="*/ 790619 h 898195"/>
              <a:gd name="connsiteX5" fmla="*/ 3065929 w 3065929"/>
              <a:gd name="connsiteY5" fmla="*/ 898195 h 898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65929" h="898195">
                <a:moveTo>
                  <a:pt x="0" y="5310"/>
                </a:moveTo>
                <a:cubicBezTo>
                  <a:pt x="361277" y="-3655"/>
                  <a:pt x="722555" y="-12619"/>
                  <a:pt x="946673" y="80614"/>
                </a:cubicBezTo>
                <a:cubicBezTo>
                  <a:pt x="1170791" y="173847"/>
                  <a:pt x="1156447" y="559329"/>
                  <a:pt x="1344706" y="564708"/>
                </a:cubicBezTo>
                <a:cubicBezTo>
                  <a:pt x="1532965" y="570087"/>
                  <a:pt x="1850316" y="75235"/>
                  <a:pt x="2076226" y="112887"/>
                </a:cubicBezTo>
                <a:cubicBezTo>
                  <a:pt x="2302137" y="150539"/>
                  <a:pt x="2535219" y="659734"/>
                  <a:pt x="2700169" y="790619"/>
                </a:cubicBezTo>
                <a:cubicBezTo>
                  <a:pt x="2865119" y="921504"/>
                  <a:pt x="3037242" y="853372"/>
                  <a:pt x="3065929" y="898195"/>
                </a:cubicBezTo>
              </a:path>
            </a:pathLst>
          </a:cu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A7BD513-5693-4659-A4B7-AAB56EB7F3D5}"/>
                  </a:ext>
                </a:extLst>
              </p:cNvPr>
              <p:cNvSpPr txBox="1"/>
              <p:nvPr/>
            </p:nvSpPr>
            <p:spPr>
              <a:xfrm>
                <a:off x="1879091" y="1301587"/>
                <a:ext cx="1891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TW" b="1" i="1" dirty="0"/>
                  <a:t> (Female)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A7BD513-5693-4659-A4B7-AAB56EB7F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091" y="1301587"/>
                <a:ext cx="1891543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32E33B1-A933-421F-82A8-544D8D2E3FE6}"/>
                  </a:ext>
                </a:extLst>
              </p:cNvPr>
              <p:cNvSpPr txBox="1"/>
              <p:nvPr/>
            </p:nvSpPr>
            <p:spPr>
              <a:xfrm>
                <a:off x="1382920" y="2667650"/>
                <a:ext cx="1585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b="1" i="1" dirty="0"/>
                  <a:t> (Male)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32E33B1-A933-421F-82A8-544D8D2E3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920" y="2667650"/>
                <a:ext cx="1585627" cy="369332"/>
              </a:xfrm>
              <a:prstGeom prst="rect">
                <a:avLst/>
              </a:prstGeom>
              <a:blipFill>
                <a:blip r:embed="rId8"/>
                <a:stretch>
                  <a:fillRect t="-10000" r="-269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5277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4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BE608A-3118-4701-9988-C5CAEB34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the conditional expectation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F2034C9-41E2-4CD4-8AA8-D28B6A9B1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usual, we must make certain modeling assumptions to get going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Linearity: We assume that conditional mean of Y is a linear function of all X’s: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endChr m:val="|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some constants to be estimated from data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our conditions, so their values will be given </a:t>
                </a:r>
                <a:r>
                  <a:rPr lang="en-US" i="1" dirty="0"/>
                  <a:t>a priori</a:t>
                </a:r>
                <a:r>
                  <a:rPr lang="en-US" dirty="0"/>
                  <a:t> and thus not random 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F2034C9-41E2-4CD4-8AA8-D28B6A9B1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6858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雲朵形 5">
            <a:extLst>
              <a:ext uri="{FF2B5EF4-FFF2-40B4-BE49-F238E27FC236}">
                <a16:creationId xmlns:a16="http://schemas.microsoft.com/office/drawing/2014/main" id="{FB713177-CD76-4DCA-9199-AF39FD5743C5}"/>
              </a:ext>
            </a:extLst>
          </p:cNvPr>
          <p:cNvSpPr/>
          <p:nvPr/>
        </p:nvSpPr>
        <p:spPr>
          <a:xfrm>
            <a:off x="432720" y="901478"/>
            <a:ext cx="3727010" cy="3806982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7">
                <a:extLst>
                  <a:ext uri="{FF2B5EF4-FFF2-40B4-BE49-F238E27FC236}">
                    <a16:creationId xmlns:a16="http://schemas.microsoft.com/office/drawing/2014/main" id="{96DAB111-D1AE-4060-A7A5-23436C0D6288}"/>
                  </a:ext>
                </a:extLst>
              </p:cNvPr>
              <p:cNvSpPr/>
              <p:nvPr/>
            </p:nvSpPr>
            <p:spPr>
              <a:xfrm>
                <a:off x="1194119" y="5725544"/>
                <a:ext cx="180921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SG" sz="5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5" name="矩形 7">
                <a:extLst>
                  <a:ext uri="{FF2B5EF4-FFF2-40B4-BE49-F238E27FC236}">
                    <a16:creationId xmlns:a16="http://schemas.microsoft.com/office/drawing/2014/main" id="{96DAB111-D1AE-4060-A7A5-23436C0D6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119" y="5725544"/>
                <a:ext cx="1809213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10">
            <a:extLst>
              <a:ext uri="{FF2B5EF4-FFF2-40B4-BE49-F238E27FC236}">
                <a16:creationId xmlns:a16="http://schemas.microsoft.com/office/drawing/2014/main" id="{7B01F73F-0B87-4765-BBE0-890E684B0863}"/>
              </a:ext>
            </a:extLst>
          </p:cNvPr>
          <p:cNvCxnSpPr>
            <a:cxnSpLocks/>
          </p:cNvCxnSpPr>
          <p:nvPr/>
        </p:nvCxnSpPr>
        <p:spPr>
          <a:xfrm>
            <a:off x="595256" y="3894268"/>
            <a:ext cx="994896" cy="1914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12">
            <a:extLst>
              <a:ext uri="{FF2B5EF4-FFF2-40B4-BE49-F238E27FC236}">
                <a16:creationId xmlns:a16="http://schemas.microsoft.com/office/drawing/2014/main" id="{E81E9F02-7EF9-41E4-A375-1667B461FBE6}"/>
              </a:ext>
            </a:extLst>
          </p:cNvPr>
          <p:cNvCxnSpPr>
            <a:cxnSpLocks/>
          </p:cNvCxnSpPr>
          <p:nvPr/>
        </p:nvCxnSpPr>
        <p:spPr>
          <a:xfrm flipH="1">
            <a:off x="2624866" y="3894268"/>
            <a:ext cx="990981" cy="20116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: 圖案 1">
            <a:extLst>
              <a:ext uri="{FF2B5EF4-FFF2-40B4-BE49-F238E27FC236}">
                <a16:creationId xmlns:a16="http://schemas.microsoft.com/office/drawing/2014/main" id="{CB16F259-CC93-47EF-8C07-0F2788A126BB}"/>
              </a:ext>
            </a:extLst>
          </p:cNvPr>
          <p:cNvSpPr/>
          <p:nvPr/>
        </p:nvSpPr>
        <p:spPr>
          <a:xfrm>
            <a:off x="892885" y="1565306"/>
            <a:ext cx="3065929" cy="898195"/>
          </a:xfrm>
          <a:custGeom>
            <a:avLst/>
            <a:gdLst>
              <a:gd name="connsiteX0" fmla="*/ 0 w 3065929"/>
              <a:gd name="connsiteY0" fmla="*/ 5310 h 898195"/>
              <a:gd name="connsiteX1" fmla="*/ 946673 w 3065929"/>
              <a:gd name="connsiteY1" fmla="*/ 80614 h 898195"/>
              <a:gd name="connsiteX2" fmla="*/ 1344706 w 3065929"/>
              <a:gd name="connsiteY2" fmla="*/ 564708 h 898195"/>
              <a:gd name="connsiteX3" fmla="*/ 2076226 w 3065929"/>
              <a:gd name="connsiteY3" fmla="*/ 112887 h 898195"/>
              <a:gd name="connsiteX4" fmla="*/ 2700169 w 3065929"/>
              <a:gd name="connsiteY4" fmla="*/ 790619 h 898195"/>
              <a:gd name="connsiteX5" fmla="*/ 3065929 w 3065929"/>
              <a:gd name="connsiteY5" fmla="*/ 898195 h 898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65929" h="898195">
                <a:moveTo>
                  <a:pt x="0" y="5310"/>
                </a:moveTo>
                <a:cubicBezTo>
                  <a:pt x="361277" y="-3655"/>
                  <a:pt x="722555" y="-12619"/>
                  <a:pt x="946673" y="80614"/>
                </a:cubicBezTo>
                <a:cubicBezTo>
                  <a:pt x="1170791" y="173847"/>
                  <a:pt x="1156447" y="559329"/>
                  <a:pt x="1344706" y="564708"/>
                </a:cubicBezTo>
                <a:cubicBezTo>
                  <a:pt x="1532965" y="570087"/>
                  <a:pt x="1850316" y="75235"/>
                  <a:pt x="2076226" y="112887"/>
                </a:cubicBezTo>
                <a:cubicBezTo>
                  <a:pt x="2302137" y="150539"/>
                  <a:pt x="2535219" y="659734"/>
                  <a:pt x="2700169" y="790619"/>
                </a:cubicBezTo>
                <a:cubicBezTo>
                  <a:pt x="2865119" y="921504"/>
                  <a:pt x="3037242" y="853372"/>
                  <a:pt x="3065929" y="898195"/>
                </a:cubicBezTo>
              </a:path>
            </a:pathLst>
          </a:cu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3">
                <a:extLst>
                  <a:ext uri="{FF2B5EF4-FFF2-40B4-BE49-F238E27FC236}">
                    <a16:creationId xmlns:a16="http://schemas.microsoft.com/office/drawing/2014/main" id="{3D890B73-3162-4771-966C-BC312B423803}"/>
                  </a:ext>
                </a:extLst>
              </p:cNvPr>
              <p:cNvSpPr txBox="1"/>
              <p:nvPr/>
            </p:nvSpPr>
            <p:spPr>
              <a:xfrm>
                <a:off x="1879091" y="1301587"/>
                <a:ext cx="1891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TW" b="1" i="1" dirty="0"/>
                  <a:t> (Female)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9" name="文字方塊 3">
                <a:extLst>
                  <a:ext uri="{FF2B5EF4-FFF2-40B4-BE49-F238E27FC236}">
                    <a16:creationId xmlns:a16="http://schemas.microsoft.com/office/drawing/2014/main" id="{3D890B73-3162-4771-966C-BC312B423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091" y="1301587"/>
                <a:ext cx="1891543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D66A864-7190-47F8-BF5C-22BCDA5BC749}"/>
                  </a:ext>
                </a:extLst>
              </p:cNvPr>
              <p:cNvSpPr txBox="1"/>
              <p:nvPr/>
            </p:nvSpPr>
            <p:spPr>
              <a:xfrm>
                <a:off x="1382920" y="2667650"/>
                <a:ext cx="1585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b="1" i="1" dirty="0"/>
                  <a:t> (Male)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D66A864-7190-47F8-BF5C-22BCDA5BC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920" y="2667650"/>
                <a:ext cx="1585627" cy="369332"/>
              </a:xfrm>
              <a:prstGeom prst="rect">
                <a:avLst/>
              </a:prstGeom>
              <a:blipFill>
                <a:blip r:embed="rId6"/>
                <a:stretch>
                  <a:fillRect t="-10000" r="-269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C6D10C8-4A8C-4857-95D6-B1480714C82C}"/>
                  </a:ext>
                </a:extLst>
              </p:cNvPr>
              <p:cNvSpPr/>
              <p:nvPr/>
            </p:nvSpPr>
            <p:spPr>
              <a:xfrm>
                <a:off x="4485273" y="362193"/>
                <a:ext cx="6238957" cy="34163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 1: For a male with $4k monthly income, we assume his average spending is: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endChr m:val="|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TW" sz="2400" b="1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1" i="1" dirty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∗0+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∗4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(we will explain the meaning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in the next video; for now, think of it part of the formula)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C6D10C8-4A8C-4857-95D6-B1480714C8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273" y="362193"/>
                <a:ext cx="6238957" cy="3416320"/>
              </a:xfrm>
              <a:prstGeom prst="rect">
                <a:avLst/>
              </a:prstGeom>
              <a:blipFill>
                <a:blip r:embed="rId7"/>
                <a:stretch>
                  <a:fillRect l="-1463" t="-1243" r="-1659" b="-2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78AB2B-9D1D-4B73-B833-183D21811722}"/>
                  </a:ext>
                </a:extLst>
              </p:cNvPr>
              <p:cNvSpPr/>
              <p:nvPr/>
            </p:nvSpPr>
            <p:spPr>
              <a:xfrm>
                <a:off x="4442856" y="3839339"/>
                <a:ext cx="6333093" cy="258532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dirty="0"/>
                  <a:t>Example 2: For a female with $5k monthly income, we assume his average spending is: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endChr m:val="|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</a:t>
                </a:r>
              </a:p>
              <a:p>
                <a:r>
                  <a:rPr lang="en-US" i="1" dirty="0"/>
                  <a:t>Once we use a sample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, we can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i="1" dirty="0"/>
                  <a:t> to estimate/predict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78AB2B-9D1D-4B73-B833-183D21811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856" y="3839339"/>
                <a:ext cx="6333093" cy="2585323"/>
              </a:xfrm>
              <a:prstGeom prst="rect">
                <a:avLst/>
              </a:prstGeom>
              <a:blipFill>
                <a:blip r:embed="rId8"/>
                <a:stretch>
                  <a:fillRect l="-768" t="-1174" r="-576" b="-2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76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A79571-0A64-48C7-AE29-C33C470826B5}"/>
              </a:ext>
            </a:extLst>
          </p:cNvPr>
          <p:cNvSpPr/>
          <p:nvPr/>
        </p:nvSpPr>
        <p:spPr>
          <a:xfrm>
            <a:off x="628650" y="4921250"/>
            <a:ext cx="10515600" cy="1860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BE608A-3118-4701-9988-C5CAEB34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the conditional expectation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F2034C9-41E2-4CD4-8AA8-D28B6A9B1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2. Normality assumption: Assume that Y follows a normal distribution, given the X’s  (to keep notation clean, I use </a:t>
                </a:r>
                <a14:m>
                  <m:oMath xmlns:m="http://schemas.openxmlformats.org/officeDocument/2006/math">
                    <m:r>
                      <a:rPr lang="en-US" altLang="zh-TW" b="1" i="0" dirty="0" smtClean="0">
                        <a:latin typeface="Cambria Math" panose="02040503050406030204" pitchFamily="18" charset="0"/>
                      </a:rPr>
                      <m:t>"|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b="1" dirty="0"/>
                  <a:t> to represent </a:t>
                </a:r>
                <a14:m>
                  <m:oMath xmlns:m="http://schemas.openxmlformats.org/officeDocument/2006/math">
                    <m:r>
                      <a:rPr lang="en-US" altLang="zh-TW" b="1" dirty="0">
                        <a:latin typeface="Cambria Math" panose="02040503050406030204" pitchFamily="18" charset="0"/>
                      </a:rPr>
                      <m:t>"|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b="1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This in effect means </a:t>
                </a:r>
                <a14:m>
                  <m:oMath xmlns:m="http://schemas.openxmlformats.org/officeDocument/2006/math">
                    <m:d>
                      <m:dPr>
                        <m:endChr m:val="|"/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sSub>
                      <m:sSubPr>
                        <m:ctrlP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),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endChr m:val="|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endChr m:val="|"/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i="1" dirty="0"/>
                  <a:t>(EXAMPLE: </a:t>
                </a:r>
                <a:r>
                  <a:rPr lang="en-US" b="0" i="1" dirty="0">
                    <a:solidFill>
                      <a:srgbClr val="FF0000"/>
                    </a:solidFill>
                  </a:rPr>
                  <a:t>spending of a random male customer with $4k income</a:t>
                </a:r>
              </a:p>
              <a:p>
                <a:pPr marL="0" indent="0">
                  <a:buNone/>
                </a:pPr>
                <a:r>
                  <a:rPr lang="en-US" i="1" dirty="0"/>
                  <a:t>m</a:t>
                </a:r>
                <a:r>
                  <a:rPr lang="en-US" b="0" i="1" dirty="0"/>
                  <a:t>inus </a:t>
                </a:r>
                <a:r>
                  <a:rPr lang="en-US" b="0" i="1" dirty="0">
                    <a:solidFill>
                      <a:schemeClr val="accent1"/>
                    </a:solidFill>
                  </a:rPr>
                  <a:t>the avg spending </a:t>
                </a:r>
                <a:r>
                  <a:rPr lang="en-US" i="1" dirty="0">
                    <a:solidFill>
                      <a:schemeClr val="accent1"/>
                    </a:solidFill>
                  </a:rPr>
                  <a:t>of all male customers with $4k income</a:t>
                </a:r>
                <a:r>
                  <a:rPr lang="en-US" i="1" dirty="0"/>
                  <a:t>)</a:t>
                </a:r>
                <a:endParaRPr lang="en-US" b="0" i="1" dirty="0"/>
              </a:p>
              <a:p>
                <a:r>
                  <a:rPr lang="en-US" dirty="0"/>
                  <a:t>By Assumption 1,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Thus, </a:t>
                </a:r>
                <a14:m>
                  <m:oMath xmlns:m="http://schemas.openxmlformats.org/officeDocument/2006/math">
                    <m:d>
                      <m:dPr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Hoo…finally, we take the conditioning on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TW" dirty="0"/>
                  <a:t>s</a:t>
                </a:r>
                <a:r>
                  <a:rPr lang="zh-TW" altLang="en-US" dirty="0"/>
                  <a:t> </a:t>
                </a:r>
                <a:r>
                  <a:rPr lang="en-US" dirty="0"/>
                  <a:t>as implicitly given and simplify the expression, then we arrive at: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(the population model)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F2034C9-41E2-4CD4-8AA8-D28B6A9B1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6"/>
                <a:stretch>
                  <a:fillRect l="-928" t="-2785" b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6710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999A-EF5F-49A6-9AD7-CB706CBA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998BA-6210-4AD7-BEEC-B12DC455C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but important! </a:t>
            </a:r>
          </a:p>
          <a:p>
            <a:pPr marL="0" indent="0">
              <a:buNone/>
            </a:pPr>
            <a:r>
              <a:rPr lang="en-US" dirty="0"/>
              <a:t>Linear regression is built on estimating/predicting the conditional expectation of “Y”</a:t>
            </a:r>
          </a:p>
          <a:p>
            <a:r>
              <a:rPr lang="en-US" dirty="0"/>
              <a:t>Two assumptions: Linearity and Normality </a:t>
            </a:r>
          </a:p>
          <a:p>
            <a:pPr marL="0" indent="0">
              <a:buNone/>
            </a:pPr>
            <a:r>
              <a:rPr lang="en-US" dirty="0"/>
              <a:t>(there are actually more underlying assumptions...but these two are the key ones for our purposes) </a:t>
            </a:r>
          </a:p>
        </p:txBody>
      </p:sp>
    </p:spTree>
    <p:extLst>
      <p:ext uri="{BB962C8B-B14F-4D97-AF65-F5344CB8AC3E}">
        <p14:creationId xmlns:p14="http://schemas.microsoft.com/office/powerpoint/2010/main" val="29046331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1|0.9|39.1|2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3|6.5|34.8|31.5|3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5|5.8|19|17.4|4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17.3|27.3|40.2|21.6|16.3|34.2|29.5|29.2|1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</TotalTime>
  <Words>715</Words>
  <Application>Microsoft Office PowerPoint</Application>
  <PresentationFormat>寬螢幕</PresentationFormat>
  <Paragraphs>62</Paragraphs>
  <Slides>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From hypothesis testing to Linear Regression: Basic concepts</vt:lpstr>
      <vt:lpstr>PowerPoint 簡報</vt:lpstr>
      <vt:lpstr>PowerPoint 簡報</vt:lpstr>
      <vt:lpstr>Model the conditional expectation </vt:lpstr>
      <vt:lpstr>PowerPoint 簡報</vt:lpstr>
      <vt:lpstr>Model the conditional expectation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229</cp:revision>
  <dcterms:created xsi:type="dcterms:W3CDTF">2018-07-30T07:45:11Z</dcterms:created>
  <dcterms:modified xsi:type="dcterms:W3CDTF">2021-07-10T12:03:56Z</dcterms:modified>
</cp:coreProperties>
</file>
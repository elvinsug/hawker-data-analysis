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0" r:id="rId2"/>
    <p:sldId id="281" r:id="rId3"/>
    <p:sldId id="282" r:id="rId4"/>
    <p:sldId id="277" r:id="rId5"/>
    <p:sldId id="278" r:id="rId6"/>
    <p:sldId id="272" r:id="rId7"/>
    <p:sldId id="276" r:id="rId8"/>
    <p:sldId id="274" r:id="rId9"/>
    <p:sldId id="275" r:id="rId10"/>
    <p:sldId id="260" r:id="rId11"/>
    <p:sldId id="261" r:id="rId12"/>
    <p:sldId id="262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7" autoAdjust="0"/>
    <p:restoredTop sz="80744" autoAdjust="0"/>
  </p:normalViewPr>
  <p:slideViewPr>
    <p:cSldViewPr snapToGrid="0">
      <p:cViewPr varScale="1">
        <p:scale>
          <a:sx n="92" d="100"/>
          <a:sy n="92" d="100"/>
        </p:scale>
        <p:origin x="12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79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07AFFB-A049-45D6-BC36-5C672D25B3F9}" type="datetimeFigureOut">
              <a:rPr lang="en-SG" smtClean="0"/>
              <a:t>10/7/2021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DF5B5-306B-4C9E-BE31-583D0821E90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43413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4541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5DF5B5-306B-4C9E-BE31-583D0821E90C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83092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SG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It is called linear regression as Y is a linear function of the coefficients:</a:t>
                </a:r>
                <a:endParaRPr lang="en-SG" dirty="0"/>
              </a:p>
              <a:p>
                <a:pPr marL="0" indent="0">
                  <a:buNone/>
                </a:pPr>
                <a:r>
                  <a:rPr lang="en-SG" b="0" i="0" smtClean="0">
                    <a:latin typeface="Cambria Math" panose="02040503050406030204" pitchFamily="18" charset="0"/>
                  </a:rPr>
                  <a:t>⇒Y=𝛽_0+𝛽_1 𝑋_1+𝛽_2 𝑋_2+…</a:t>
                </a:r>
                <a:r>
                  <a:rPr lang="en-SG" dirty="0"/>
                  <a:t>+error</a:t>
                </a:r>
              </a:p>
              <a:p>
                <a:pPr marL="0" indent="0">
                  <a:buNone/>
                </a:pPr>
                <a:r>
                  <a:rPr lang="en-SG" dirty="0"/>
                  <a:t>(i.e., you won’t see </a:t>
                </a:r>
                <a:r>
                  <a:rPr lang="en-SG" i="0">
                    <a:latin typeface="Cambria Math" panose="02040503050406030204" pitchFamily="18" charset="0"/>
                  </a:rPr>
                  <a:t>𝛽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_</a:t>
                </a:r>
                <a:r>
                  <a:rPr lang="en-SG" i="0">
                    <a:latin typeface="Cambria Math" panose="02040503050406030204" pitchFamily="18" charset="0"/>
                  </a:rPr>
                  <a:t>1^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2 𝑋_1,√(</a:t>
                </a:r>
                <a:r>
                  <a:rPr lang="en-SG" i="0">
                    <a:latin typeface="Cambria Math" panose="02040503050406030204" pitchFamily="18" charset="0"/>
                  </a:rPr>
                  <a:t>𝛽_1 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) 𝑋_1</a:t>
                </a:r>
                <a:r>
                  <a:rPr lang="en-SG" dirty="0"/>
                  <a:t>, etc.)</a:t>
                </a:r>
              </a:p>
              <a:p>
                <a:endParaRPr lang="en-SG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5DF5B5-306B-4C9E-BE31-583D0821E90C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65373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87C-6EAE-4F9B-8152-585C701A5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35A4A-B887-407A-9FD1-9ADF72FE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6C758-6E36-4CC7-AD9C-7924C06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2774-C9E6-46A3-B4D4-6FC942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94FB-1268-4D52-AA6F-2F9684A8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12C5-8109-48B9-8119-F85B21AB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F51A-3BA6-4632-AE68-9C1A1DE8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956D-8726-4A6A-9D35-4F2C01D5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BD31-DD74-458D-B814-03DC50BB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1FF28-DCE7-42D9-8EDF-9B0A2764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C4E-CAD6-4055-99F8-FA619B1D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1B201-80A7-4F9D-BEDD-2BE6B26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5ECEC-58FD-4CAE-97C9-773374A7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53CC-16AE-4035-BD4B-12E6D084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B59E-F555-450A-9286-131E3AD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EBFE-D223-4DED-AC1D-F2D7CF9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71D2-9257-4381-984E-A14A15AF9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2838-B118-4A45-93FF-028B31BC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0843-66C6-44BA-8B2A-46A35804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76B9-17AA-4E3A-9220-DE416895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45492-7FA4-4815-80B0-49F45F7A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6FF-8C48-4F51-8F1F-1CF399B5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F9CD-B0E5-4031-9728-8B59B6DD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74174-581D-470F-90D2-B41676AA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52485-4BB2-40B5-824A-F20CF6BFA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4B6DE-9ED4-4F93-8A42-F7BEB65BE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97094-1D50-4864-9623-C47FDE3F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FCD70-994A-456B-B41B-23F59E27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2168-5017-45BA-9394-FD8F7F6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3B92-78A0-49FA-B49B-8F7E7874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56162-0109-4475-869A-416DFB54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FEA20-6220-4E5C-BC71-906692BB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2955-D744-473A-8F58-AEAD31AA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3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E777-752A-4291-9DA0-6EFAE03C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E8086-5952-4290-8FF4-8C9AC25A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59C3-E89D-42F1-8CD6-8E482A41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A6B5-B74F-4C68-9069-F05A7DEE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C9BE-D42E-49A5-9A42-F7EBA64F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D7B45-7022-4B45-9816-9A47856DB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A92F3-A0A7-48FC-B6A3-AD41339A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30098-F070-4F88-845A-37ACB4EC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FCA4D-CB78-4E7C-9632-EA8AD015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4986-B049-4D24-AAFD-1C7DFE05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B25DD-CE4F-43CD-A0AC-92453E885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F6009-31EC-40BA-8D90-28FE6859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C67D9-2599-41B5-A59D-F9C9CED7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7E4D9-296D-43E7-82F5-4686E260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FD23-915B-4D30-8605-5803ED60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30D7-86A6-49EE-9EA5-B9E5E72E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545C4-A51E-4BE0-A47C-E167937F5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942C-D828-4C44-9BAD-C0EC6AA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08201-9E3E-4389-8730-C064C78A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9F554-2B8E-4B2E-A0D5-314D690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87551-C2CF-4AA7-8714-B33707A4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5081A-7203-4C78-8ED4-02C523A9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E4FF-7E7D-4760-9EFC-2A165685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DC08-84F4-4DEF-856F-16FF4F9C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CAC4-EE1E-4011-9015-ABFFF118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032D6-894C-443C-9F40-6B359B0D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4FB6-2E47-43B5-8DCD-E32A06AB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056A-AED4-4E62-8EF5-590303868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223E1-0F29-4815-AEED-0FB78E8DF392}" type="datetimeFigureOut">
              <a:rPr lang="en-US" smtClean="0"/>
              <a:t>7/10/2021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2BAC-B842-4A96-8FC9-E83E6D47B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408A-BFE4-471F-B3EF-63C5E37DC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23.png"/><Relationship Id="rId5" Type="http://schemas.openxmlformats.org/officeDocument/2006/relationships/image" Target="../media/image2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181.png"/><Relationship Id="rId5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Linear regression: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implementations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AD5BB-EACA-457A-8A70-DAE13AC3E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551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4634-C361-4294-8F38-C7DF1406D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Purpose of regression analysis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49F0A-B40E-4392-BAD3-6453BBDC35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We are interested in understanding how and how much one RV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) depends on other RV’s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0" indent="0">
                  <a:buNone/>
                </a:pPr>
                <a:r>
                  <a:rPr lang="en-US" dirty="0"/>
                  <a:t>-How much do sales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) depend on advertisement expenses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), and customer service ratings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SG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-How much does work performance(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dirty="0"/>
                  <a:t>) depend on salary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), experience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and education level of an employee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SG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r>
                  <a:rPr lang="en-SG" dirty="0"/>
                  <a:t>To do this, we think of regression as a “formula” that relates a random variable Y, with relevant random variables X’s </a:t>
                </a:r>
                <a:r>
                  <a:rPr lang="en-US" dirty="0"/>
                  <a:t> </a:t>
                </a:r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 lang="en-SG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SG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SG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SG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SG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SG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SG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SG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SG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SG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SG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SG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SG" i="1">
                          <a:latin typeface="Cambria Math" panose="02040503050406030204" pitchFamily="18" charset="0"/>
                        </a:rPr>
                        <m:t>+…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SG" dirty="0"/>
                  <a:t> is called the </a:t>
                </a:r>
                <a:r>
                  <a:rPr lang="en-SG" i="1" dirty="0"/>
                  <a:t>Dependent variable (DV), and X’s are called Independent variables (IV);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SG" dirty="0"/>
                  <a:t>’s are called the coefficients (are unknown parameters).</a:t>
                </a:r>
              </a:p>
              <a:p>
                <a:pPr marL="0" indent="0">
                  <a:buNone/>
                </a:pPr>
                <a:r>
                  <a:rPr lang="en-SG" i="1" dirty="0"/>
                  <a:t>The purpose of regression analysis is to estimate these coefficients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SG" i="1" dirty="0"/>
                  <a:t> (using a random sample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SG" i="1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SG" i="1" dirty="0"/>
                  <a:t>)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049F0A-B40E-4392-BAD3-6453BBDC35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5"/>
                <a:stretch>
                  <a:fillRect l="-1043" t="-3264" r="-115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85913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/>
              <a:t>Linear regression </a:t>
            </a:r>
            <a:r>
              <a:rPr lang="en-SG" dirty="0"/>
              <a:t>model: An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42614"/>
                <a:ext cx="10515600" cy="5097883"/>
              </a:xfrm>
            </p:spPr>
            <p:txBody>
              <a:bodyPr>
                <a:normAutofit/>
              </a:bodyPr>
              <a:lstStyle/>
              <a:p>
                <a:r>
                  <a:rPr lang="en-SG" dirty="0"/>
                  <a:t>Let Y be a student’s Uni GPA,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SG" dirty="0"/>
                  <a:t> be the # hrs studying/year,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SG" dirty="0"/>
                  <a:t> the student’s pre-Uni GPA. An (fictitious) final regression model can look like:  </a:t>
                </a:r>
                <a:endParaRPr lang="en-SG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>
                        <a:latin typeface="Cambria Math" panose="02040503050406030204" pitchFamily="18" charset="0"/>
                      </a:rPr>
                      <m:t>Y</m:t>
                    </m:r>
                    <m:r>
                      <a:rPr lang="en-SG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a:rPr lang="en-SG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0.001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0.8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SG" dirty="0"/>
                  <a:t>+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r>
                  <a:rPr lang="en-SG" i="1" dirty="0"/>
                  <a:t>Note that the error term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i="1" dirty="0"/>
                  <a:t>is a random variable that represent </a:t>
                </a:r>
                <a:r>
                  <a:rPr lang="en-SG" b="1" i="1" dirty="0"/>
                  <a:t>all the other </a:t>
                </a:r>
                <a:r>
                  <a:rPr lang="en-SG" i="1" dirty="0"/>
                  <a:t>independent variables related to Y—no formula can provide 100% correct prediction</a:t>
                </a:r>
                <a:endParaRPr lang="en-SG" dirty="0"/>
              </a:p>
              <a:p>
                <a:pPr marL="0" indent="0">
                  <a:buNone/>
                </a:pPr>
                <a:r>
                  <a:rPr lang="en-SG" dirty="0"/>
                  <a:t>Once estimated, this model allows us to predict a student’s Uni GPA given the student’s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SG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SG" dirty="0"/>
                  <a:t>; it also shows the effect sizes of the two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SG" i="1" dirty="0"/>
                  <a:t> </a:t>
                </a:r>
                <a:r>
                  <a:rPr lang="en-SG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SG" i="1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42614"/>
                <a:ext cx="10515600" cy="5097883"/>
              </a:xfrm>
              <a:blipFill>
                <a:blip r:embed="rId6"/>
                <a:stretch>
                  <a:fillRect l="-1217" t="-1914" r="-191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24505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Linear Regression: Estimating the 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73373"/>
                <a:ext cx="10515600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SG" dirty="0"/>
                  <a:t>How does R “find” the right coefficients? </a:t>
                </a:r>
              </a:p>
              <a:p>
                <a:pPr marL="0" indent="0">
                  <a:buNone/>
                </a:pPr>
                <a:r>
                  <a:rPr lang="en-SG" dirty="0"/>
                  <a:t>With the data of X’s and Y, we can estimate the coefficients by using an algorithm called “the ordinary least square (OLS)” method.</a:t>
                </a:r>
              </a:p>
              <a:p>
                <a:pPr marL="0" indent="0">
                  <a:buNone/>
                </a:pPr>
                <a:r>
                  <a:rPr lang="en-SG" dirty="0"/>
                  <a:t>The algorithm chooses the parameter values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SG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SG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SG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SG" dirty="0"/>
                  <a:t>,…) that minimize the sum of squared errors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∑</m:t>
                        </m:r>
                        <m:d>
                          <m:dPr>
                            <m:ctrlPr>
                              <a:rPr lang="en-SG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SG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SG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SG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SG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SG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SG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SG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SG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∑</m:t>
                        </m:r>
                        <m:d>
                          <m:dPr>
                            <m:ctrlPr>
                              <a:rPr lang="en-SG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𝑒𝑟𝑟𝑜</m:t>
                            </m:r>
                            <m:sSub>
                              <m:sSubPr>
                                <m:ctrlPr>
                                  <a:rPr lang="en-SG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SG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SG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SG" dirty="0"/>
                  <a:t>, 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SG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SG" dirty="0"/>
                  <a:t> is the predicted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dirty="0"/>
                  <a:t>based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., </m:t>
                    </m:r>
                    <m:sSubSup>
                      <m:sSubSup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SG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SG" dirty="0"/>
                  <a:t> is the value of RHS without the error term).</a:t>
                </a:r>
              </a:p>
              <a:p>
                <a:pPr marL="0" indent="0">
                  <a:buNone/>
                </a:pPr>
                <a:r>
                  <a:rPr lang="en-SG" dirty="0"/>
                  <a:t>Suppose I have data from 200 graduates and use R to obtain the following: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>
                        <a:latin typeface="Cambria Math" panose="02040503050406030204" pitchFamily="18" charset="0"/>
                      </a:rPr>
                      <m:t>Y</m:t>
                    </m:r>
                    <m:r>
                      <a:rPr lang="en-SG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a:rPr lang="en-SG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0.001</m:t>
                    </m:r>
                    <m:sSub>
                      <m:sSubPr>
                        <m:ctrlPr>
                          <a:rPr lang="en-SG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SG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0.8</m:t>
                    </m:r>
                    <m:sSub>
                      <m:sSubPr>
                        <m:ctrlPr>
                          <a:rPr lang="en-SG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SG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SG" dirty="0"/>
                  <a:t>+errors</a:t>
                </a:r>
              </a:p>
              <a:p>
                <a:pPr marL="0" indent="0">
                  <a:buNone/>
                </a:pPr>
                <a:r>
                  <a:rPr lang="en-SG" dirty="0"/>
                  <a:t>Then (0.1,0.001,0.8) will be the values that minimize the sum of square errors across for the 200 data points</a:t>
                </a:r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73373"/>
                <a:ext cx="10515600" cy="4351338"/>
              </a:xfrm>
              <a:blipFill>
                <a:blip r:embed="rId6"/>
                <a:stretch>
                  <a:fillRect l="-1043" t="-2101" b="-238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960080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ylinder 3">
            <a:extLst>
              <a:ext uri="{FF2B5EF4-FFF2-40B4-BE49-F238E27FC236}">
                <a16:creationId xmlns:a16="http://schemas.microsoft.com/office/drawing/2014/main" id="{504A4207-A595-4E6D-9C2B-B0D752F4DA87}"/>
              </a:ext>
            </a:extLst>
          </p:cNvPr>
          <p:cNvSpPr/>
          <p:nvPr/>
        </p:nvSpPr>
        <p:spPr>
          <a:xfrm>
            <a:off x="843379" y="1091953"/>
            <a:ext cx="1624613" cy="2201663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Random sample (</a:t>
            </a:r>
            <a:r>
              <a:rPr lang="en-SG" dirty="0"/>
              <a:t>X’s and Y)</a:t>
            </a:r>
            <a:endParaRPr lang="en-US" dirty="0"/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8617B163-1C81-4C41-A96A-472A0548A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920" y="3915053"/>
            <a:ext cx="2820346" cy="1952208"/>
          </a:xfrm>
          <a:prstGeom prst="rect">
            <a:avLst/>
          </a:prstGeom>
        </p:spPr>
      </p:pic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94660D3B-F65F-481C-8FD8-6B5A6A12049C}"/>
              </a:ext>
            </a:extLst>
          </p:cNvPr>
          <p:cNvCxnSpPr>
            <a:stCxn id="4" idx="4"/>
            <a:endCxn id="6" idx="0"/>
          </p:cNvCxnSpPr>
          <p:nvPr/>
        </p:nvCxnSpPr>
        <p:spPr>
          <a:xfrm>
            <a:off x="2467992" y="2192785"/>
            <a:ext cx="2141101" cy="17222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picture containing object&#10;&#10;Description automatically generated">
            <a:extLst>
              <a:ext uri="{FF2B5EF4-FFF2-40B4-BE49-F238E27FC236}">
                <a16:creationId xmlns:a16="http://schemas.microsoft.com/office/drawing/2014/main" id="{C739A1D4-C28D-46B6-8B38-9432379ABF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706" y="3610183"/>
            <a:ext cx="2173652" cy="25619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C619FC1-EFC8-41E7-BEAD-A4F5B15872A2}"/>
              </a:ext>
            </a:extLst>
          </p:cNvPr>
          <p:cNvSpPr txBox="1"/>
          <p:nvPr/>
        </p:nvSpPr>
        <p:spPr>
          <a:xfrm>
            <a:off x="3444536" y="6134470"/>
            <a:ext cx="2639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Computer algorithm (OLS)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peech Bubble: Oval 12">
                <a:extLst>
                  <a:ext uri="{FF2B5EF4-FFF2-40B4-BE49-F238E27FC236}">
                    <a16:creationId xmlns:a16="http://schemas.microsoft.com/office/drawing/2014/main" id="{C3DF4805-8A83-4E14-9018-F8A498D643C1}"/>
                  </a:ext>
                </a:extLst>
              </p:cNvPr>
              <p:cNvSpPr/>
              <p:nvPr/>
            </p:nvSpPr>
            <p:spPr>
              <a:xfrm>
                <a:off x="4844454" y="705169"/>
                <a:ext cx="3562904" cy="2383856"/>
              </a:xfrm>
              <a:prstGeom prst="wedgeEllipseCallout">
                <a:avLst>
                  <a:gd name="adj1" fmla="val 21027"/>
                  <a:gd name="adj2" fmla="val 80026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SG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SG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SG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SG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are estimated to be 0.1, 0.001, and 0.8 respectively.</a:t>
                </a:r>
              </a:p>
            </p:txBody>
          </p:sp>
        </mc:Choice>
        <mc:Fallback xmlns="">
          <p:sp>
            <p:nvSpPr>
              <p:cNvPr id="13" name="Speech Bubble: Oval 12">
                <a:extLst>
                  <a:ext uri="{FF2B5EF4-FFF2-40B4-BE49-F238E27FC236}">
                    <a16:creationId xmlns:a16="http://schemas.microsoft.com/office/drawing/2014/main" id="{C3DF4805-8A83-4E14-9018-F8A498D643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4454" y="705169"/>
                <a:ext cx="3562904" cy="2383856"/>
              </a:xfrm>
              <a:prstGeom prst="wedgeEllipseCallout">
                <a:avLst>
                  <a:gd name="adj1" fmla="val 21027"/>
                  <a:gd name="adj2" fmla="val 80026"/>
                </a:avLst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peech Bubble: Oval 13">
            <a:extLst>
              <a:ext uri="{FF2B5EF4-FFF2-40B4-BE49-F238E27FC236}">
                <a16:creationId xmlns:a16="http://schemas.microsoft.com/office/drawing/2014/main" id="{E0F22BFA-07BA-48F1-9E4C-CDA4EDCE136F}"/>
              </a:ext>
            </a:extLst>
          </p:cNvPr>
          <p:cNvSpPr/>
          <p:nvPr/>
        </p:nvSpPr>
        <p:spPr>
          <a:xfrm>
            <a:off x="8407358" y="1366757"/>
            <a:ext cx="3562904" cy="2383856"/>
          </a:xfrm>
          <a:prstGeom prst="wedgeEllipseCallout">
            <a:avLst>
              <a:gd name="adj1" fmla="val -59205"/>
              <a:gd name="adj2" fmla="val 86211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 also estimated the sample standard deviations of these three coefficient, which you may use for statistical inference (i.e., CI or HT)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621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Use X to predict Y in a regression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4293062"/>
              </p:ext>
            </p:extLst>
          </p:nvPr>
        </p:nvGraphicFramePr>
        <p:xfrm>
          <a:off x="838200" y="1666240"/>
          <a:ext cx="105156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25243983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9292679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8823006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96803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Rolls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Dice #1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Dice #2 (Z)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 Y (#1+#2)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9090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61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4751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29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864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7919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094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883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010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444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56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939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0210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9088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Scatter plot of X and Y from the 12 rolls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495" y="1494699"/>
            <a:ext cx="8498145" cy="5633998"/>
          </a:xfrm>
        </p:spPr>
      </p:pic>
    </p:spTree>
    <p:extLst>
      <p:ext uri="{BB962C8B-B14F-4D97-AF65-F5344CB8AC3E}">
        <p14:creationId xmlns:p14="http://schemas.microsoft.com/office/powerpoint/2010/main" val="1363391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D2136414-95EE-4531-B010-F22573667D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737" y="1796242"/>
            <a:ext cx="6736093" cy="4909357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OLS coefficients:</a:t>
            </a:r>
            <a:r>
              <a:rPr lang="en-US" dirty="0"/>
              <a:t> predicted values and errors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3795DF2-0834-4FD1-A0BC-9C83A0A33DAC}"/>
                  </a:ext>
                </a:extLst>
              </p:cNvPr>
              <p:cNvSpPr txBox="1"/>
              <p:nvPr/>
            </p:nvSpPr>
            <p:spPr>
              <a:xfrm rot="21201241">
                <a:off x="2920556" y="4082660"/>
                <a:ext cx="22611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 dirty="0">
                    <a:solidFill>
                      <a:srgbClr val="FF000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SG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en-SG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=5.93+0.593</m:t>
                    </m:r>
                    <m:r>
                      <a:rPr lang="en-SG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SG" dirty="0">
                    <a:solidFill>
                      <a:srgbClr val="FF000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3795DF2-0834-4FD1-A0BC-9C83A0A33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201241">
                <a:off x="2920556" y="4082660"/>
                <a:ext cx="2261132" cy="369332"/>
              </a:xfrm>
              <a:prstGeom prst="rect">
                <a:avLst/>
              </a:prstGeom>
              <a:blipFill>
                <a:blip r:embed="rId6"/>
                <a:stretch>
                  <a:fillRect l="-2122" b="-1538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01A70E1-A71C-457D-B47A-86CA65D27CD1}"/>
              </a:ext>
            </a:extLst>
          </p:cNvPr>
          <p:cNvSpPr txBox="1"/>
          <p:nvPr/>
        </p:nvSpPr>
        <p:spPr>
          <a:xfrm>
            <a:off x="7560685" y="2394472"/>
            <a:ext cx="391857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800" dirty="0">
                <a:solidFill>
                  <a:srgbClr val="0000FF"/>
                </a:solidFill>
              </a:rPr>
              <a:t>Identify:</a:t>
            </a:r>
          </a:p>
          <a:p>
            <a:r>
              <a:rPr lang="en-SG" sz="2800" dirty="0">
                <a:solidFill>
                  <a:srgbClr val="0000FF"/>
                </a:solidFill>
              </a:rPr>
              <a:t>What are the predicted values of Y?</a:t>
            </a:r>
          </a:p>
          <a:p>
            <a:endParaRPr lang="en-SG" sz="2800" dirty="0">
              <a:solidFill>
                <a:srgbClr val="0000FF"/>
              </a:solidFill>
            </a:endParaRPr>
          </a:p>
          <a:p>
            <a:r>
              <a:rPr lang="en-SG" sz="2800" dirty="0">
                <a:solidFill>
                  <a:srgbClr val="0000FF"/>
                </a:solidFill>
              </a:rPr>
              <a:t>Where are the prediction errors?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8507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151" y="1159004"/>
            <a:ext cx="7718859" cy="51173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The coefficients are statistics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 rot="21201241">
                <a:off x="1262109" y="2960461"/>
                <a:ext cx="40743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 dirty="0">
                    <a:solidFill>
                      <a:srgbClr val="FF0000"/>
                    </a:solidFill>
                  </a:rPr>
                  <a:t>(estimated formula: </a:t>
                </a:r>
                <a14:m>
                  <m:oMath xmlns:m="http://schemas.openxmlformats.org/officeDocument/2006/math">
                    <m:r>
                      <a:rPr lang="en-SG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en-SG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=5.93+0.593</m:t>
                    </m:r>
                    <m:r>
                      <a:rPr lang="en-SG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SG" dirty="0">
                    <a:solidFill>
                      <a:srgbClr val="FF0000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1201241">
                <a:off x="1262109" y="2960461"/>
                <a:ext cx="4074385" cy="369332"/>
              </a:xfrm>
              <a:prstGeom prst="rect">
                <a:avLst/>
              </a:prstGeom>
              <a:blipFill>
                <a:blip r:embed="rId7"/>
                <a:stretch>
                  <a:fillRect l="-1190" b="-11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 rot="20805219">
                <a:off x="1223589" y="3864126"/>
                <a:ext cx="43691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 dirty="0">
                    <a:solidFill>
                      <a:srgbClr val="0000FF"/>
                    </a:solidFill>
                  </a:rPr>
                  <a:t>(theoretically correct formula: </a:t>
                </a:r>
                <a14:m>
                  <m:oMath xmlns:m="http://schemas.openxmlformats.org/officeDocument/2006/math">
                    <m:r>
                      <a:rPr lang="en-SG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SG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′=3.5+</m:t>
                    </m:r>
                    <m:r>
                      <a:rPr lang="en-SG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SG" dirty="0">
                    <a:solidFill>
                      <a:srgbClr val="0000FF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805219">
                <a:off x="1223589" y="3864126"/>
                <a:ext cx="4369145" cy="369332"/>
              </a:xfrm>
              <a:prstGeom prst="rect">
                <a:avLst/>
              </a:prstGeom>
              <a:blipFill>
                <a:blip r:embed="rId8"/>
                <a:stretch>
                  <a:fillRect l="-1264" b="-758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751996" y="1409358"/>
                <a:ext cx="4285286" cy="2585323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SG" dirty="0">
                    <a:solidFill>
                      <a:srgbClr val="0000FF"/>
                    </a:solidFill>
                  </a:rPr>
                  <a:t>Theoretical true formula: 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SG" b="0" i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SG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en-SG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SG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SG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SG" b="0" i="1" dirty="0">
                    <a:solidFill>
                      <a:srgbClr val="0000FF"/>
                    </a:solidFill>
                    <a:latin typeface="Cambria Math" panose="020405030504060302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SG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SG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SG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SG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e>
                        <m:r>
                          <a:rPr lang="en-SG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SG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SG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SG" b="0" dirty="0">
                    <a:solidFill>
                      <a:srgbClr val="0000FF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SG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SG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e>
                        <m:r>
                          <a:rPr lang="en-SG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SG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SG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SG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SG" b="0" dirty="0">
                    <a:solidFill>
                      <a:srgbClr val="0000FF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SG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SG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SG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SG" dirty="0">
                    <a:solidFill>
                      <a:srgbClr val="0000FF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SG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SG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3.5</m:t>
                    </m:r>
                    <m:r>
                      <a:rPr lang="en-SG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SG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SG" dirty="0">
                    <a:solidFill>
                      <a:srgbClr val="0000FF"/>
                    </a:solidFill>
                  </a:rPr>
                  <a:t> </a:t>
                </a:r>
              </a:p>
              <a:p>
                <a:r>
                  <a:rPr lang="en-SG" dirty="0">
                    <a:solidFill>
                      <a:srgbClr val="0000FF"/>
                    </a:solidFill>
                  </a:rPr>
                  <a:t>(We know this correct formula only because this is a toy example. Thus, we know X and Z are independent and we know </a:t>
                </a:r>
                <a14:m>
                  <m:oMath xmlns:m="http://schemas.openxmlformats.org/officeDocument/2006/math">
                    <m:r>
                      <a:rPr lang="en-SG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SG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</m:oMath>
                </a14:m>
                <a:r>
                  <a:rPr lang="en-SG" dirty="0">
                    <a:solidFill>
                      <a:srgbClr val="0000FF"/>
                    </a:solidFill>
                  </a:rPr>
                  <a:t>!)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1996" y="1409358"/>
                <a:ext cx="4285286" cy="2585323"/>
              </a:xfrm>
              <a:prstGeom prst="rect">
                <a:avLst/>
              </a:prstGeom>
              <a:blipFill>
                <a:blip r:embed="rId9"/>
                <a:stretch>
                  <a:fillRect l="-1135" t="-939" r="-1844" b="-2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7736616" y="4391250"/>
            <a:ext cx="3918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0000FF"/>
                </a:solidFill>
              </a:rPr>
              <a:t>Why the estimated line/formula is different from the true one?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1117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SG" dirty="0"/>
                  <a:t>Interpretations of the coefficients </a:t>
                </a:r>
                <a14:m>
                  <m:oMath xmlns:m="http://schemas.openxmlformats.org/officeDocument/2006/math">
                    <m:r>
                      <a:rPr lang="en-SG">
                        <a:latin typeface="Cambria Math" panose="02040503050406030204" pitchFamily="18" charset="0"/>
                      </a:rPr>
                      <m:t>"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"</m:t>
                    </m:r>
                  </m:oMath>
                </a14:m>
                <a:r>
                  <a:rPr lang="en-SG" dirty="0"/>
                  <a:t>: m</a:t>
                </a:r>
                <a:r>
                  <a:rPr lang="en-US" dirty="0"/>
                  <a:t>onthly earnings</a:t>
                </a:r>
                <a:endParaRPr lang="en-SG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5"/>
                <a:stretch>
                  <a:fillRect l="-2377" t="-13364" b="-2119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SG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is an individual’s monthly earning. Three independent variables are considered: years of education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years of work experience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and years with current employer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G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SG" dirty="0">
                    <a:latin typeface="Cambria Math" panose="02040503050406030204" pitchFamily="18" charset="0"/>
                  </a:rPr>
                  <a:t>The regression function is:</a:t>
                </a:r>
                <a:endParaRPr lang="en-SG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𝐸𝑎𝑟𝑛𝑖𝑛𝑔𝑠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b="0" i="1" smtClean="0">
                        <a:latin typeface="Cambria Math" panose="02040503050406030204" pitchFamily="18" charset="0"/>
                      </a:rPr>
                      <m:t>𝐸𝑑𝑢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b="0" i="1" smtClean="0">
                        <a:latin typeface="Cambria Math" panose="02040503050406030204" pitchFamily="18" charset="0"/>
                      </a:rPr>
                      <m:t>𝐸𝑥𝑝</m:t>
                    </m:r>
                    <m:r>
                      <a:rPr lang="en-SG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SG" b="0" i="1" smtClean="0">
                        <a:latin typeface="Cambria Math" panose="02040503050406030204" pitchFamily="18" charset="0"/>
                      </a:rPr>
                      <m:t>𝑇𝑒𝑛𝑢𝑟𝑒</m:t>
                    </m:r>
                  </m:oMath>
                </a14:m>
                <a:r>
                  <a:rPr lang="en-US" dirty="0"/>
                  <a:t>+</a:t>
                </a:r>
                <a14:m>
                  <m:oMath xmlns:m="http://schemas.openxmlformats.org/officeDocument/2006/math">
                    <m:r>
                      <a:rPr lang="en-SG" b="0" i="1" dirty="0" smtClean="0">
                        <a:latin typeface="Cambria Math" panose="02040503050406030204" pitchFamily="18" charset="0"/>
                      </a:rPr>
                      <m:t>𝑒𝑟𝑟𝑜𝑟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Our goal is to use a sample to estimate the values of the coefficients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188069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SG" dirty="0"/>
                  <a:t>Interpretations of the coefficients </a:t>
                </a:r>
                <a14:m>
                  <m:oMath xmlns:m="http://schemas.openxmlformats.org/officeDocument/2006/math">
                    <m:r>
                      <a:rPr lang="en-SG" b="0" i="0" smtClean="0">
                        <a:latin typeface="Cambria Math" panose="02040503050406030204" pitchFamily="18" charset="0"/>
                      </a:rPr>
                      <m:t>"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"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5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SG" i="1" smtClean="0">
                        <a:latin typeface="Cambria Math" panose="02040503050406030204" pitchFamily="18" charset="0"/>
                      </a:rPr>
                      <m:t>𝐸𝑎𝑟𝑛𝑖𝑛𝑔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𝐸𝑑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𝐸𝑥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SG" i="1">
                        <a:latin typeface="Cambria Math" panose="02040503050406030204" pitchFamily="18" charset="0"/>
                      </a:rPr>
                      <m:t>𝑇𝑒𝑛𝑢𝑟</m:t>
                    </m:r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 dirty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SG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SG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(intercept): The average earning of an individual who has zero education, work experience and tenure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SG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: “Everything else equal,” the change in avg earnings associated with 1 unit increase in education (in this case, a year)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: “Everything else equal,” the change in avg earnings associated with 1 unit  increase in work experience (in this case, a year)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SG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: “Everything else equal,” the change in avg earnings associated with 1 unit increase in tenure (in this case, a year) </a:t>
                </a:r>
              </a:p>
              <a:p>
                <a:pPr marL="0" indent="0">
                  <a:buNone/>
                </a:pPr>
                <a:r>
                  <a:rPr lang="en-SG" sz="1900" i="1" dirty="0"/>
                  <a:t>&lt;The error term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19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1900" i="1" dirty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SG" sz="19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900" i="1" dirty="0"/>
                  <a:t> is not relevant for our purpose&gt;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SG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043" t="-2801" r="-2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325539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Linear regression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>
                <a:solidFill>
                  <a:schemeClr val="accent1">
                    <a:lumMod val="75000"/>
                  </a:schemeClr>
                </a:solidFill>
              </a:rPr>
              <a:t>#install the package that has the dataset “wage2”</a:t>
            </a:r>
          </a:p>
          <a:p>
            <a:pPr marL="0" indent="0">
              <a:buNone/>
            </a:pPr>
            <a:r>
              <a:rPr lang="en-SG" dirty="0"/>
              <a:t>&gt;</a:t>
            </a:r>
            <a:r>
              <a:rPr lang="en-SG" dirty="0" err="1"/>
              <a:t>install.packages</a:t>
            </a:r>
            <a:r>
              <a:rPr lang="en-SG" dirty="0"/>
              <a:t>(“</a:t>
            </a:r>
            <a:r>
              <a:rPr lang="en-SG" dirty="0" err="1"/>
              <a:t>wooldridge</a:t>
            </a:r>
            <a:r>
              <a:rPr lang="en-SG" dirty="0"/>
              <a:t>”)</a:t>
            </a:r>
          </a:p>
          <a:p>
            <a:pPr marL="0" indent="0">
              <a:buNone/>
            </a:pPr>
            <a:r>
              <a:rPr lang="en-SG" dirty="0"/>
              <a:t>&gt;library(</a:t>
            </a:r>
            <a:r>
              <a:rPr lang="en-SG" dirty="0" err="1"/>
              <a:t>wooldridge</a:t>
            </a:r>
            <a:r>
              <a:rPr lang="en-SG" dirty="0"/>
              <a:t>)</a:t>
            </a:r>
          </a:p>
          <a:p>
            <a:pPr marL="0" indent="0">
              <a:buNone/>
            </a:pPr>
            <a:r>
              <a:rPr lang="en-SG" dirty="0"/>
              <a:t>&gt;</a:t>
            </a:r>
            <a:r>
              <a:rPr lang="en-SG" dirty="0" err="1"/>
              <a:t>reg.results</a:t>
            </a:r>
            <a:r>
              <a:rPr lang="en-SG" dirty="0"/>
              <a:t> &lt;-lm(wage ~ </a:t>
            </a:r>
            <a:r>
              <a:rPr lang="en-SG" dirty="0" err="1"/>
              <a:t>educ</a:t>
            </a:r>
            <a:r>
              <a:rPr lang="en-SG" dirty="0"/>
              <a:t> + </a:t>
            </a:r>
            <a:r>
              <a:rPr lang="en-SG" dirty="0" err="1"/>
              <a:t>exper</a:t>
            </a:r>
            <a:r>
              <a:rPr lang="en-SG" dirty="0"/>
              <a:t> +tenure, data= wage2)</a:t>
            </a:r>
          </a:p>
          <a:p>
            <a:pPr marL="0" indent="0">
              <a:buNone/>
            </a:pPr>
            <a:r>
              <a:rPr lang="en-SG" dirty="0"/>
              <a:t>&gt;summary(</a:t>
            </a:r>
            <a:r>
              <a:rPr lang="en-SG" dirty="0" err="1"/>
              <a:t>reg.results</a:t>
            </a:r>
            <a:r>
              <a:rPr lang="en-SG" dirty="0"/>
              <a:t>)</a:t>
            </a:r>
          </a:p>
          <a:p>
            <a:pPr marL="0" indent="0">
              <a:buNone/>
            </a:pP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4716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Interpreting the coefficients</a:t>
            </a:r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20" r="2723" b="17995"/>
          <a:stretch/>
        </p:blipFill>
        <p:spPr>
          <a:xfrm>
            <a:off x="838200" y="1690688"/>
            <a:ext cx="6685800" cy="20520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F211320-75FE-4161-8A75-B4A9793562BB}"/>
              </a:ext>
            </a:extLst>
          </p:cNvPr>
          <p:cNvSpPr txBox="1"/>
          <p:nvPr/>
        </p:nvSpPr>
        <p:spPr>
          <a:xfrm>
            <a:off x="734401" y="3966983"/>
            <a:ext cx="115128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dirty="0"/>
              <a:t>Run the regression</a:t>
            </a:r>
          </a:p>
          <a:p>
            <a:pPr marL="342900" indent="-342900">
              <a:buAutoNum type="arabicPeriod"/>
            </a:pPr>
            <a:r>
              <a:rPr lang="en-US" sz="3200" dirty="0"/>
              <a:t>Interpret the coefficient estimates: their values (practical significance) and hypothesis test results (statistical sig)</a:t>
            </a:r>
          </a:p>
          <a:p>
            <a:pPr marL="342900" indent="-342900">
              <a:buAutoNum type="arabicPeriod"/>
            </a:pPr>
            <a:r>
              <a:rPr lang="en-US" sz="3200" dirty="0"/>
              <a:t>You may use the coefficients to predict Y based on X (if you wish)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9996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9|49.9|42|39.8|11.9|40.7|14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|52|105.8|14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2|0.4|28.1|91.7|12.6|75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7.4|10|19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4|17.7|24.7|22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3|20.9|0.8|17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|7.9|76.2|85.8|1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5.4|9.1|1.7|89.8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1504</TotalTime>
  <Words>998</Words>
  <Application>Microsoft Office PowerPoint</Application>
  <PresentationFormat>寬螢幕</PresentationFormat>
  <Paragraphs>124</Paragraphs>
  <Slides>13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Linear regression: implementations</vt:lpstr>
      <vt:lpstr>Purpose of regression analysis</vt:lpstr>
      <vt:lpstr>Linear regression model: An example</vt:lpstr>
      <vt:lpstr>Linear Regression: Estimating the coefficients</vt:lpstr>
      <vt:lpstr>PowerPoint 簡報</vt:lpstr>
      <vt:lpstr>Use X to predict Y in a regression</vt:lpstr>
      <vt:lpstr>Scatter plot of X and Y from the 12 rolls</vt:lpstr>
      <vt:lpstr>OLS coefficients: predicted values and errors</vt:lpstr>
      <vt:lpstr>The coefficients are statistics</vt:lpstr>
      <vt:lpstr>Interpretations of the coefficients "β": monthly earnings</vt:lpstr>
      <vt:lpstr>Interpretations of the coefficients "β"</vt:lpstr>
      <vt:lpstr>Linear regression in R</vt:lpstr>
      <vt:lpstr>Interpreting the coefficients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Chien-Ming Chen</dc:creator>
  <cp:lastModifiedBy>Chen Chien-Ming (Assoc Prof)</cp:lastModifiedBy>
  <cp:revision>183</cp:revision>
  <dcterms:created xsi:type="dcterms:W3CDTF">2018-07-30T07:45:11Z</dcterms:created>
  <dcterms:modified xsi:type="dcterms:W3CDTF">2021-07-10T12:01:08Z</dcterms:modified>
</cp:coreProperties>
</file>
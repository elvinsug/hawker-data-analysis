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80" r:id="rId2"/>
    <p:sldId id="263" r:id="rId3"/>
    <p:sldId id="267" r:id="rId4"/>
    <p:sldId id="266" r:id="rId5"/>
    <p:sldId id="257" r:id="rId6"/>
    <p:sldId id="268" r:id="rId7"/>
    <p:sldId id="285" r:id="rId8"/>
    <p:sldId id="287" r:id="rId9"/>
    <p:sldId id="289" r:id="rId10"/>
    <p:sldId id="290" r:id="rId11"/>
    <p:sldId id="286" r:id="rId12"/>
    <p:sldId id="27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43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023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61D80F-F4BF-4C88-8EDB-91390393F31A}" type="datetimeFigureOut">
              <a:rPr lang="en-SG" smtClean="0"/>
              <a:t>22/6/2020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B858E2-5723-48C1-92B5-5E70BF696A6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71929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this video, I will introduce a few important basic concepts underlying probability theories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2C4875-8523-436E-AFC9-E015484AB16B}" type="slidenum">
              <a:rPr lang="en-SG" smtClean="0"/>
              <a:t>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245413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same coding method can also be used to code “ordinal” variables, variables that you can use to rank observations but cannot compare the pairwise differences (or distances)</a:t>
            </a:r>
          </a:p>
          <a:p>
            <a:pPr marL="0" indent="0">
              <a:buNone/>
            </a:pPr>
            <a:r>
              <a:rPr lang="en-US" dirty="0"/>
              <a:t>E.g., educational experiences (primary, high school, </a:t>
            </a:r>
            <a:r>
              <a:rPr lang="en-US" dirty="0" err="1"/>
              <a:t>Uni</a:t>
            </a:r>
            <a:r>
              <a:rPr lang="en-US" dirty="0"/>
              <a:t>, etc.), app ratings (5-star, 4-star, etc.) </a:t>
            </a:r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858E2-5723-48C1-92B5-5E70BF696A62}" type="slidenum">
              <a:rPr lang="en-SG" smtClean="0"/>
              <a:t>12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066138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E287C-6EAE-4F9B-8152-585C701A5C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235A4A-B887-407A-9FD1-9ADF72FED0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F6C758-6E36-4CC7-AD9C-7924C0600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6/22/2020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FE2774-C9E6-46A3-B4D4-6FC942C2D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A94FB-1268-4D52-AA6F-2F9684A8D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735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A12C5-8109-48B9-8119-F85B21AB2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8F51A-3BA6-4632-AE68-9C1A1DE8E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DF956D-8726-4A6A-9D35-4F2C01D5D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6/22/2020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FBD31-DD74-458D-B814-03DC50BBD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81FF28-DCE7-42D9-8EDF-9B0A2764C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670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A2C4E-CAD6-4055-99F8-FA619B1DA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1B201-80A7-4F9D-BEDD-2BE6B26156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85ECEC-58FD-4CAE-97C9-773374A71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6/22/2020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753CC-16AE-4035-BD4B-12E6D0845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55B59E-F555-450A-9286-131E3AD76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978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9EBFE-D223-4DED-AC1D-F2D7CF935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971D2-9257-4381-984E-A14A15AF97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F42838-B118-4A45-93FF-028B31BCDA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F80843-66C6-44BA-8B2A-46A358048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6/22/2020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EC76B9-17AA-4E3A-9220-DE416895B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545492-7FA4-4815-80B0-49F45F7A0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68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046FF-8C48-4F51-8F1F-1CF399B57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B1F9CD-B0E5-4031-9728-8B59B6DD4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C74174-581D-470F-90D2-B41676AA15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C52485-4BB2-40B5-824A-F20CF6BFAB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84B6DE-9ED4-4F93-8A42-F7BEB65BE2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F97094-1D50-4864-9623-C47FDE3F8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6/22/2020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DFCD70-994A-456B-B41B-23F59E27D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4C2168-5017-45BA-9394-FD8F7F67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866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D3B92-78A0-49FA-B49B-8F7E7874A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D56162-0109-4475-869A-416DFB54F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6/22/2020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6FEA20-6220-4E5C-BC71-906692BB5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3F2955-D744-473A-8F58-AEAD31AA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931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A9E777-752A-4291-9DA0-6EFAE03C6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6/22/2020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AE8086-5952-4290-8FF4-8C9AC25A3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5B59C3-E89D-42F1-8CD6-8E482A41C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22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8A6B5-B74F-4C68-9069-F05A7DEEB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6C9BE-D42E-49A5-9A42-F7EBA64F4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D7B45-7022-4B45-9816-9A47856DB9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DA92F3-A0A7-48FC-B6A3-AD41339AA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6/22/2020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330098-F070-4F88-845A-37ACB4EC1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0FCA4D-CB78-4E7C-9632-EA8AD015C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699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B4986-B049-4D24-AAFD-1C7DFE05E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8B25DD-CE4F-43CD-A0AC-92453E8854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2F6009-31EC-40BA-8D90-28FE6859B2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EC67D9-2599-41B5-A59D-F9C9CED79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6/22/2020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7E4D9-296D-43E7-82F5-4686E2609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21FD23-915B-4D30-8605-5803ED605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412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C30D7-86A6-49EE-9EA5-B9E5E72EE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9545C4-A51E-4BE0-A47C-E167937F51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6B942C-D828-4C44-9BAD-C0EC6AADE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6/22/2020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B08201-9E3E-4389-8730-C064C78A1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E9F554-2B8E-4B2E-A0D5-314D690A4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42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887551-C2CF-4AA7-8714-B33707A4DD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95081A-7203-4C78-8ED4-02C523A99E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F6E4FF-7E7D-4760-9EFC-2A1656853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6/22/2020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D8DC08-84F4-4DEF-856F-16FF4F9C3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ACAC4-EE1E-4011-9015-ABFFF118D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661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D032D6-894C-443C-9F40-6B359B0D5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F04FB6-2E47-43B5-8DCD-E32A06AB21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5056A-AED4-4E62-8EF5-590303868A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A223E1-0F29-4815-AEED-0FB78E8DF392}" type="datetimeFigureOut">
              <a:rPr lang="en-US" smtClean="0"/>
              <a:t>6/22/2020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62BAC-B842-4A96-8FC9-E83E6D47B4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98408A-BFE4-471F-B3EF-63C5E37DC1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903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5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mp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5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5" Type="http://schemas.openxmlformats.org/officeDocument/2006/relationships/image" Target="../media/image8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5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mp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mp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DD1F0B6-3928-44F0-8191-E10BAF4B61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Linear regression</a:t>
            </a:r>
            <a:r>
              <a:rPr lang="en-US"/>
              <a:t>: </a:t>
            </a:r>
            <a:br>
              <a:rPr lang="en-US"/>
            </a:br>
            <a:r>
              <a:rPr lang="en-US"/>
              <a:t>categorical variables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BAD5BB-EACA-457A-8A70-DAE13AC3E9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Picture 8" descr="NTU_PP_slide_Footer_sized.png">
            <a:extLst>
              <a:ext uri="{FF2B5EF4-FFF2-40B4-BE49-F238E27FC236}">
                <a16:creationId xmlns:a16="http://schemas.microsoft.com/office/drawing/2014/main" id="{F0BE4941-908B-48D8-94C8-67A52AD2037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327909"/>
            <a:ext cx="12192000" cy="537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5518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5200" y="1027906"/>
            <a:ext cx="1278510" cy="100482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Categorical variables as IVs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798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SG" dirty="0"/>
                  <a:t>Consider the earning study again. An individual’s gender can also influence his/her earning and thus we want to examine its effect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SG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Gender is an example of </a:t>
                </a:r>
                <a:r>
                  <a:rPr lang="en-SG" i="1" dirty="0"/>
                  <a:t>categorical variables</a:t>
                </a:r>
                <a:r>
                  <a:rPr lang="en-SG" dirty="0"/>
                  <a:t> </a:t>
                </a:r>
              </a:p>
              <a:p>
                <a:r>
                  <a:rPr lang="en-SG" dirty="0">
                    <a:latin typeface="Cambria Math" panose="02040503050406030204" pitchFamily="18" charset="0"/>
                  </a:rPr>
                  <a:t> Levels in categorical variables: For gender, we need to the variable to represent two levels (male and female). For other categories, the variable(s) can represent a higher number of levels</a:t>
                </a:r>
              </a:p>
              <a:p>
                <a:pPr marL="0" indent="0">
                  <a:buNone/>
                </a:pPr>
                <a:r>
                  <a:rPr lang="en-US" dirty="0"/>
                  <a:t>For example, employment status (two levels), days of week (7 levels),  different brands (multiple levels).</a:t>
                </a:r>
              </a:p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dirty="0"/>
                  <a:t>Our goal is to estimate the effect of a change in the categories on the DV</a:t>
                </a:r>
                <a:endParaRPr lang="en-SG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798375"/>
              </a:xfrm>
              <a:blipFill>
                <a:blip r:embed="rId6"/>
                <a:stretch>
                  <a:fillRect l="-1217" t="-2030" r="-156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Picture 19"/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3820" y="67118"/>
            <a:ext cx="1622580" cy="85692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084822" y="434717"/>
            <a:ext cx="182293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4000" dirty="0"/>
              <a:t>DV</a:t>
            </a:r>
          </a:p>
          <a:p>
            <a:r>
              <a:rPr lang="en-SG" sz="4000" dirty="0"/>
              <a:t>(health)</a:t>
            </a:r>
          </a:p>
        </p:txBody>
      </p:sp>
      <p:cxnSp>
        <p:nvCxnSpPr>
          <p:cNvPr id="28" name="Straight Arrow Connector 27"/>
          <p:cNvCxnSpPr>
            <a:stCxn id="20" idx="3"/>
          </p:cNvCxnSpPr>
          <p:nvPr/>
        </p:nvCxnSpPr>
        <p:spPr>
          <a:xfrm>
            <a:off x="9446400" y="495581"/>
            <a:ext cx="638422" cy="4404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21" idx="3"/>
            <a:endCxn id="26" idx="1"/>
          </p:cNvCxnSpPr>
          <p:nvPr/>
        </p:nvCxnSpPr>
        <p:spPr>
          <a:xfrm flipV="1">
            <a:off x="9373710" y="1096437"/>
            <a:ext cx="711112" cy="4338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040725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C5A10-DA63-4E42-A7F6-29110EB78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Coding a categorical variable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5A9397-8F4A-4B3A-B051-297232FE15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The common practice is to use binary variables (aka 0-1, dummy, indicator variables) as the </a:t>
                </a:r>
                <a:r>
                  <a:rPr lang="en-US"/>
                  <a:t>categorical variable </a:t>
                </a:r>
                <a:r>
                  <a:rPr lang="en-US" dirty="0"/>
                  <a:t>to code the categories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For example, gender has only two levels (male female). We only need one binary variable: we can code a 0-1 variable, where by </a:t>
                </a:r>
                <a14:m>
                  <m:oMath xmlns:m="http://schemas.openxmlformats.org/officeDocument/2006/math">
                    <m:r>
                      <a:rPr lang="en-SG" b="0" i="1" smtClean="0">
                        <a:latin typeface="Cambria Math" panose="02040503050406030204" pitchFamily="18" charset="0"/>
                      </a:rPr>
                      <m:t>𝑓𝑒𝑚𝑎𝑙𝑒</m:t>
                    </m:r>
                  </m:oMath>
                </a14:m>
                <a:r>
                  <a:rPr lang="en-US" dirty="0"/>
                  <a:t>=1 for the females in our sample and female=0 for males</a:t>
                </a:r>
              </a:p>
              <a:p>
                <a:pPr marL="0" indent="0">
                  <a:buNone/>
                </a:pPr>
                <a:r>
                  <a:rPr lang="en-US" dirty="0"/>
                  <a:t>Then the regression function for average earning would be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i="1">
                          <a:latin typeface="Cambria Math" panose="02040503050406030204" pitchFamily="18" charset="0"/>
                        </a:rPr>
                        <m:t>𝐸𝑎𝑟𝑛𝑖𝑛𝑔</m:t>
                      </m:r>
                      <m:r>
                        <a:rPr lang="en-SG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SG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SG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SG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SG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SG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SG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SG" i="1">
                          <a:latin typeface="Cambria Math" panose="02040503050406030204" pitchFamily="18" charset="0"/>
                        </a:rPr>
                        <m:t>𝐸𝑑</m:t>
                      </m:r>
                      <m:r>
                        <a:rPr lang="en-SG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SG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SG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SG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SG" i="1">
                          <a:latin typeface="Cambria Math" panose="02040503050406030204" pitchFamily="18" charset="0"/>
                        </a:rPr>
                        <m:t>𝐸𝑥</m:t>
                      </m:r>
                      <m:r>
                        <a:rPr lang="en-SG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SG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SG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SG" i="1">
                          <a:latin typeface="Cambria Math" panose="02040503050406030204" pitchFamily="18" charset="0"/>
                        </a:rPr>
                        <m:t>𝑇𝑒𝑛𝑢𝑟</m:t>
                      </m:r>
                      <m:r>
                        <a:rPr lang="en-SG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SG" b="0" i="1" smtClean="0">
                          <a:latin typeface="Cambria Math" panose="02040503050406030204" pitchFamily="18" charset="0"/>
                        </a:rPr>
                        <m:t>𝑓𝑒𝑚𝑎𝑙𝑒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5A9397-8F4A-4B3A-B051-297232FE15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035047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6157" y="64489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SG" dirty="0">
                <a:solidFill>
                  <a:schemeClr val="accent1">
                    <a:lumMod val="75000"/>
                  </a:schemeClr>
                </a:solidFill>
              </a:rPr>
              <a:t># use wage1 from Wooldridge. DV is hourly earning </a:t>
            </a:r>
          </a:p>
          <a:p>
            <a:pPr marL="0" indent="0">
              <a:buNone/>
            </a:pPr>
            <a:r>
              <a:rPr lang="en-SG" dirty="0"/>
              <a:t>&gt;library(</a:t>
            </a:r>
            <a:r>
              <a:rPr lang="en-SG" dirty="0" err="1"/>
              <a:t>wooldridge</a:t>
            </a:r>
            <a:r>
              <a:rPr lang="en-SG" dirty="0"/>
              <a:t>)</a:t>
            </a:r>
          </a:p>
          <a:p>
            <a:pPr marL="0" indent="0">
              <a:buNone/>
            </a:pPr>
            <a:r>
              <a:rPr lang="en-SG" dirty="0">
                <a:solidFill>
                  <a:schemeClr val="accent1">
                    <a:lumMod val="75000"/>
                  </a:schemeClr>
                </a:solidFill>
              </a:rPr>
              <a:t># check out the categorial variable first; </a:t>
            </a:r>
          </a:p>
          <a:p>
            <a:pPr marL="0" indent="0">
              <a:buNone/>
            </a:pPr>
            <a:r>
              <a:rPr lang="en-SG" dirty="0"/>
              <a:t>&gt; View(wage1$female)</a:t>
            </a:r>
          </a:p>
          <a:p>
            <a:pPr marL="0" indent="0">
              <a:buNone/>
            </a:pPr>
            <a:r>
              <a:rPr lang="en-SG" dirty="0"/>
              <a:t>&gt;reg.results.wage1 &lt;-lm(wage ~ </a:t>
            </a:r>
            <a:r>
              <a:rPr lang="en-SG" dirty="0" err="1"/>
              <a:t>educ</a:t>
            </a:r>
            <a:r>
              <a:rPr lang="en-SG" dirty="0"/>
              <a:t> + </a:t>
            </a:r>
            <a:r>
              <a:rPr lang="en-SG" dirty="0" err="1"/>
              <a:t>exper</a:t>
            </a:r>
            <a:r>
              <a:rPr lang="en-SG" dirty="0"/>
              <a:t> + tenure + female, data= wage1)</a:t>
            </a:r>
          </a:p>
          <a:p>
            <a:pPr marL="0" indent="0">
              <a:buNone/>
            </a:pPr>
            <a:r>
              <a:rPr lang="en-SG" dirty="0"/>
              <a:t>&gt;summary(reg.results.wage1)</a:t>
            </a:r>
          </a:p>
        </p:txBody>
      </p:sp>
      <p:pic>
        <p:nvPicPr>
          <p:cNvPr id="5" name="Picture 4" descr="A picture containing photo, text&#10;&#10;Description automatically generated">
            <a:extLst>
              <a:ext uri="{FF2B5EF4-FFF2-40B4-BE49-F238E27FC236}">
                <a16:creationId xmlns:a16="http://schemas.microsoft.com/office/drawing/2014/main" id="{3322037B-B443-4D00-90CC-A1C2ABA55D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857" y="4059902"/>
            <a:ext cx="6850974" cy="264436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19679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693C27-3E4D-4BD7-827B-22CEBB67DB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452760"/>
                <a:ext cx="10515600" cy="6405240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Cambria Math" panose="02040503050406030204" pitchFamily="18" charset="0"/>
                  </a:rPr>
                  <a:t>The regression result shows the average hourly wage as a function of  Edu, Exp, Tenure, and Female.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Cambria Math" panose="02040503050406030204" pitchFamily="18" charset="0"/>
                  </a:rPr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Houly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mtClean="0">
                          <a:latin typeface="Cambria Math" panose="02040503050406030204" pitchFamily="18" charset="0"/>
                        </a:rPr>
                        <m:t>w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age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−1.57</m:t>
                      </m:r>
                      <m:r>
                        <a:rPr lang="en-SG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.57∗</m:t>
                      </m:r>
                      <m:r>
                        <a:rPr lang="en-SG" i="1">
                          <a:latin typeface="Cambria Math" panose="02040503050406030204" pitchFamily="18" charset="0"/>
                        </a:rPr>
                        <m:t>𝐸𝑑</m:t>
                      </m:r>
                      <m:r>
                        <a:rPr lang="en-SG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SG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.02∗</m:t>
                      </m:r>
                      <m:r>
                        <a:rPr lang="en-SG" i="1">
                          <a:latin typeface="Cambria Math" panose="02040503050406030204" pitchFamily="18" charset="0"/>
                        </a:rPr>
                        <m:t>𝐸𝑥</m:t>
                      </m:r>
                      <m:r>
                        <a:rPr lang="en-SG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SG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.14∗</m:t>
                      </m:r>
                      <m:r>
                        <a:rPr lang="en-SG" i="1">
                          <a:latin typeface="Cambria Math" panose="02040503050406030204" pitchFamily="18" charset="0"/>
                        </a:rPr>
                        <m:t>𝑇𝑒𝑛𝑢𝑟</m:t>
                      </m:r>
                      <m:r>
                        <a:rPr lang="en-SG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−1.81∗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𝐹𝑒𝑚𝑎𝑙𝑒</m:t>
                      </m:r>
                      <m:r>
                        <a:rPr lang="en-SG" b="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Females’ average earning is (a)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𝟓𝟕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.57∗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𝐸𝑑</m:t>
                    </m:r>
                    <m:r>
                      <a:rPr lang="en-SG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.02∗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𝐸𝑥</m:t>
                    </m:r>
                    <m:r>
                      <a:rPr lang="en-SG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.14∗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𝑇𝑒𝑛𝑢𝑟</m:t>
                    </m:r>
                    <m:r>
                      <a:rPr lang="en-SG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−1.81∗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Males’ average earning is (b)=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𝟓𝟕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.57∗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𝐸𝑑</m:t>
                    </m:r>
                    <m:r>
                      <a:rPr lang="en-SG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.02∗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𝐸𝑥</m:t>
                    </m:r>
                    <m:r>
                      <a:rPr lang="en-SG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.14∗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𝑇𝑒𝑛𝑢𝑟</m:t>
                    </m:r>
                    <m:r>
                      <a:rPr lang="en-SG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−1.81∗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For arbitrary levels of education, experience and tenure, the wage difference between a female and male is (a)-(b) = -$1.81 </a:t>
                </a:r>
              </a:p>
              <a:p>
                <a:pPr marL="0" indent="0">
                  <a:buNone/>
                </a:pPr>
                <a:r>
                  <a:rPr lang="en-US" dirty="0"/>
                  <a:t>This way,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dirty="0"/>
                  <a:t>=-1.81 is the avg difference in hourly earnings between a female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𝐹𝑒𝑚𝑎𝑙𝑒</m:t>
                    </m:r>
                  </m:oMath>
                </a14:m>
                <a:r>
                  <a:rPr lang="en-US" dirty="0"/>
                  <a:t>=1) and male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𝐹𝑒𝑚𝑎𝑙𝑒</m:t>
                    </m:r>
                  </m:oMath>
                </a14:m>
                <a:r>
                  <a:rPr lang="en-US" dirty="0"/>
                  <a:t>=0) groups, “ESBE.”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NOTE that you can also choose to code male as “1.” The coefficient would be the same but only in the opposite sign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693C27-3E4D-4BD7-827B-22CEBB67DB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52760"/>
                <a:ext cx="10515600" cy="6405240"/>
              </a:xfrm>
              <a:blipFill>
                <a:blip r:embed="rId5"/>
                <a:stretch>
                  <a:fillRect l="-1043" t="-2664" r="-87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98903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D18F6-78A7-4F44-A960-FEA2CD342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Categorical variables with more than 2 levels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5EA21B-EE57-47C0-8A47-212C832EAA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With each additional level, we must incorporate one additional binary variable (0-1) in the coding scheme</a:t>
                </a:r>
              </a:p>
              <a:p>
                <a:pPr marL="0" indent="0">
                  <a:buNone/>
                </a:pPr>
                <a:r>
                  <a:rPr lang="en-US" dirty="0"/>
                  <a:t>Consider a study where the DV is the monthly spending and the two IV’s considered are the cohort effect in terms of Years in NBS (3 levels: Years 1 – 3) and a student’s gender (2 levels: male or female)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 </a:t>
                </a:r>
                <a:r>
                  <a:rPr lang="en-US" dirty="0"/>
                  <a:t>Since the “gender” has two levels, we need only one binary variable to code it (say Female) </a:t>
                </a:r>
                <a:r>
                  <a:rPr lang="en-US" b="0" dirty="0">
                    <a:latin typeface="Cambria Math" panose="02040503050406030204" pitchFamily="18" charset="0"/>
                  </a:rPr>
                  <a:t>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Since the “Years” has three levels, we need two binary variables (say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dirty="0"/>
                  <a:t>) for coding it</a:t>
                </a:r>
              </a:p>
              <a:p>
                <a:pPr marL="0" indent="0">
                  <a:buNone/>
                </a:pPr>
                <a:r>
                  <a:rPr lang="en-US" dirty="0"/>
                  <a:t>Note that by coding Years as categories, we assume the numerical value doesn’t measure the qualitative differences among categories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5EA21B-EE57-47C0-8A47-212C832EAA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5"/>
                <a:stretch>
                  <a:fillRect l="-1217" t="-1937" r="-34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4004135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28E1C-B238-4774-A147-85D8B10F0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coding a three-level categorical variable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79DE03-356E-4F97-877D-630CDA932F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48552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For Year-1 students, their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2=0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3=0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For Year-2 students, their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For Year-3 students, their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 regression function would be like:</a:t>
                </a:r>
              </a:p>
              <a:p>
                <a:pPr marL="0" indent="0">
                  <a:buNone/>
                </a:pPr>
                <a:r>
                  <a:rPr lang="en-US" dirty="0"/>
                  <a:t>Avg spending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𝐹𝑒𝑚𝑎𝑙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2+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3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: the additional average spending of Y2 students, compared with that of Year-1 students (“ELBE”, </a:t>
                </a:r>
                <a:r>
                  <a:rPr lang="en-US" dirty="0" err="1"/>
                  <a:t>avg</a:t>
                </a:r>
                <a:r>
                  <a:rPr lang="en-US" dirty="0"/>
                  <a:t> year-2 spending – </a:t>
                </a:r>
                <a:r>
                  <a:rPr lang="en-US" dirty="0" err="1"/>
                  <a:t>avg</a:t>
                </a:r>
                <a:r>
                  <a:rPr lang="en-US" dirty="0"/>
                  <a:t> year-1 spending)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: the additional average spending of Y3 students, compared with that of Year-1 students (“ELBE”, </a:t>
                </a:r>
                <a:r>
                  <a:rPr lang="en-US" dirty="0" err="1"/>
                  <a:t>avg</a:t>
                </a:r>
                <a:r>
                  <a:rPr lang="en-US" dirty="0"/>
                  <a:t> year-3 spending – </a:t>
                </a:r>
                <a:r>
                  <a:rPr lang="en-US" dirty="0" err="1"/>
                  <a:t>avg</a:t>
                </a:r>
                <a:r>
                  <a:rPr lang="en-US" dirty="0"/>
                  <a:t> year-1 spending)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Like </a:t>
                </a:r>
                <a:r>
                  <a:rPr lang="en-US" dirty="0"/>
                  <a:t>before,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&amp;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 show the change in the </a:t>
                </a:r>
                <a:r>
                  <a:rPr lang="en-US" dirty="0" err="1"/>
                  <a:t>avg</a:t>
                </a:r>
                <a:r>
                  <a:rPr lang="en-US" dirty="0"/>
                  <a:t> of DV compared to the baseline group  (Year-1)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79DE03-356E-4F97-877D-630CDA932F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48552"/>
              </a:xfrm>
              <a:blipFill>
                <a:blip r:embed="rId5"/>
                <a:stretch>
                  <a:fillRect l="-1043" t="-314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612872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C892F-3C09-4EDC-8556-503BF63519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7645"/>
            <a:ext cx="10515600" cy="580931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# Load the fake data called “student_spending.csv”</a:t>
            </a:r>
          </a:p>
          <a:p>
            <a:pPr marL="0" indent="0">
              <a:buNone/>
            </a:pPr>
            <a:r>
              <a:rPr lang="en-US" dirty="0"/>
              <a:t>&gt; </a:t>
            </a:r>
            <a:r>
              <a:rPr lang="en-US" dirty="0" err="1"/>
              <a:t>fake_data</a:t>
            </a:r>
            <a:r>
              <a:rPr lang="en-US" dirty="0"/>
              <a:t>=read.csv(</a:t>
            </a:r>
            <a:r>
              <a:rPr lang="en-US" dirty="0" err="1"/>
              <a:t>file.choose</a:t>
            </a:r>
            <a:r>
              <a:rPr lang="en-US" dirty="0"/>
              <a:t>(),header = T) </a:t>
            </a:r>
          </a:p>
          <a:p>
            <a:pPr marL="0" indent="0">
              <a:buNone/>
            </a:pPr>
            <a:r>
              <a:rPr lang="en-US" dirty="0"/>
              <a:t># convert “year” from a regular type of variable to a factor type</a:t>
            </a:r>
          </a:p>
          <a:p>
            <a:pPr marL="0" indent="0">
              <a:buNone/>
            </a:pPr>
            <a:r>
              <a:rPr lang="en-US" dirty="0"/>
              <a:t>&gt; </a:t>
            </a:r>
            <a:r>
              <a:rPr lang="en-US" dirty="0" err="1"/>
              <a:t>fake_data$year.factor</a:t>
            </a:r>
            <a:r>
              <a:rPr lang="en-US" dirty="0"/>
              <a:t> = factor(</a:t>
            </a:r>
            <a:r>
              <a:rPr lang="en-US" dirty="0" err="1"/>
              <a:t>fake_data$year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&gt; </a:t>
            </a:r>
            <a:r>
              <a:rPr lang="en-US" dirty="0" err="1"/>
              <a:t>reg_cat</a:t>
            </a:r>
            <a:r>
              <a:rPr lang="en-US" dirty="0"/>
              <a:t> = lm(</a:t>
            </a:r>
            <a:r>
              <a:rPr lang="en-US" dirty="0" err="1"/>
              <a:t>spending~female</a:t>
            </a:r>
            <a:r>
              <a:rPr lang="en-US" dirty="0"/>
              <a:t>+ </a:t>
            </a:r>
            <a:r>
              <a:rPr lang="en-US" dirty="0" err="1"/>
              <a:t>year.factor</a:t>
            </a:r>
            <a:r>
              <a:rPr lang="en-US" dirty="0"/>
              <a:t> data= </a:t>
            </a:r>
            <a:r>
              <a:rPr lang="en-US" dirty="0" err="1"/>
              <a:t>fake_data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&gt; summary</a:t>
            </a:r>
            <a:r>
              <a:rPr lang="en-US" altLang="zh-TW" dirty="0"/>
              <a:t>(</a:t>
            </a:r>
            <a:r>
              <a:rPr lang="en-US" dirty="0" err="1"/>
              <a:t>reg_cat</a:t>
            </a:r>
            <a:r>
              <a:rPr lang="en-US" altLang="zh-TW" dirty="0"/>
              <a:t>)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66200" y="5784345"/>
            <a:ext cx="99754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Year is treated as a categorical variable. Thus, the interpretation is: “Y2 students’ </a:t>
            </a:r>
            <a:r>
              <a:rPr lang="en-US" sz="18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avg</a:t>
            </a:r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monthly spending is  $44.31 higher than that of Y1 students,” “Y3 students…..$50.48 higher than Y1 students.</a:t>
            </a:r>
          </a:p>
          <a:p>
            <a:r>
              <a:rPr lang="en-US" dirty="0"/>
              <a:t>Your justification is that a group in the analysis represents one specific (qualitative) situation </a:t>
            </a:r>
            <a:endParaRPr lang="en-US" sz="18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968370-3F67-4D24-977C-78B7526E26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4074" y="3307315"/>
            <a:ext cx="7178662" cy="237764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23860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C968370-3F67-4D24-977C-78B7526E26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4074" y="3307315"/>
            <a:ext cx="7178662" cy="237764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C892F-3C09-4EDC-8556-503BF63519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7645"/>
            <a:ext cx="10515600" cy="580931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# Load the fake data called “student_spending.csv”</a:t>
            </a:r>
          </a:p>
          <a:p>
            <a:pPr marL="0" indent="0">
              <a:buNone/>
            </a:pPr>
            <a:r>
              <a:rPr lang="en-US" dirty="0"/>
              <a:t>&gt; </a:t>
            </a:r>
            <a:r>
              <a:rPr lang="en-US" dirty="0" err="1"/>
              <a:t>fake_data</a:t>
            </a:r>
            <a:r>
              <a:rPr lang="en-US" dirty="0"/>
              <a:t>=read.csv(</a:t>
            </a:r>
            <a:r>
              <a:rPr lang="en-US" dirty="0" err="1"/>
              <a:t>file.choose</a:t>
            </a:r>
            <a:r>
              <a:rPr lang="en-US" dirty="0"/>
              <a:t>(),header = T) </a:t>
            </a:r>
          </a:p>
          <a:p>
            <a:pPr marL="0" indent="0">
              <a:buNone/>
            </a:pPr>
            <a:r>
              <a:rPr lang="en-US" dirty="0"/>
              <a:t># convert “year” from a regular type of variable to a factor type</a:t>
            </a:r>
          </a:p>
          <a:p>
            <a:pPr marL="0" indent="0">
              <a:buNone/>
            </a:pPr>
            <a:r>
              <a:rPr lang="en-US" dirty="0"/>
              <a:t>&gt; </a:t>
            </a:r>
            <a:r>
              <a:rPr lang="en-US" dirty="0" err="1"/>
              <a:t>fake_data$year.factor</a:t>
            </a:r>
            <a:r>
              <a:rPr lang="en-US" dirty="0"/>
              <a:t> = factor(</a:t>
            </a:r>
            <a:r>
              <a:rPr lang="en-US" dirty="0" err="1"/>
              <a:t>fake_data$year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&gt; </a:t>
            </a:r>
            <a:r>
              <a:rPr lang="en-US" dirty="0" err="1"/>
              <a:t>reg_cat</a:t>
            </a:r>
            <a:r>
              <a:rPr lang="en-US" dirty="0"/>
              <a:t> = lm(</a:t>
            </a:r>
            <a:r>
              <a:rPr lang="en-US" dirty="0" err="1"/>
              <a:t>spending~female</a:t>
            </a:r>
            <a:r>
              <a:rPr lang="en-US" dirty="0"/>
              <a:t>+ </a:t>
            </a:r>
            <a:r>
              <a:rPr lang="en-US" dirty="0" err="1"/>
              <a:t>year.factor</a:t>
            </a:r>
            <a:r>
              <a:rPr lang="en-US" dirty="0"/>
              <a:t>, data= </a:t>
            </a:r>
            <a:r>
              <a:rPr lang="en-US" dirty="0" err="1"/>
              <a:t>fake_data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&gt; summary</a:t>
            </a:r>
            <a:r>
              <a:rPr lang="en-US" altLang="zh-TW" dirty="0"/>
              <a:t>(</a:t>
            </a:r>
            <a:r>
              <a:rPr lang="en-US" dirty="0" err="1"/>
              <a:t>reg_cat</a:t>
            </a:r>
            <a:r>
              <a:rPr lang="en-US" altLang="zh-TW" dirty="0"/>
              <a:t>)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66200" y="5690745"/>
            <a:ext cx="99754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Year is treated as a categorical variable. Thus, the interpretation is: “Y2 students’ </a:t>
            </a:r>
            <a:r>
              <a:rPr lang="en-US" sz="18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avg</a:t>
            </a:r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monthly spending is  $44.31 higher than that of Y1 students (ELBE),” “Y3 students…..$50.48 higher than that of Y1 students (ELBE).”</a:t>
            </a:r>
          </a:p>
          <a:p>
            <a:r>
              <a:rPr lang="en-US" dirty="0"/>
              <a:t>Your justification should be that a group in the analysis represents one specific (qualitative) situation </a:t>
            </a:r>
            <a:endParaRPr lang="en-US" sz="18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36088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Years as categories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4789" y="1249070"/>
            <a:ext cx="2838730" cy="1889530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0107" y="1027906"/>
            <a:ext cx="3265621" cy="233185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4154" y="3907709"/>
            <a:ext cx="4039785" cy="268267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705941" y="3261378"/>
            <a:ext cx="13249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3600" dirty="0"/>
              <a:t>Year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5756" y="3327298"/>
            <a:ext cx="13249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3600" dirty="0"/>
              <a:t>Year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03519" y="6267213"/>
            <a:ext cx="13249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3600" dirty="0"/>
              <a:t>Year 3</a:t>
            </a:r>
          </a:p>
        </p:txBody>
      </p:sp>
    </p:spTree>
    <p:extLst>
      <p:ext uri="{BB962C8B-B14F-4D97-AF65-F5344CB8AC3E}">
        <p14:creationId xmlns:p14="http://schemas.microsoft.com/office/powerpoint/2010/main" val="29839067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C892F-3C09-4EDC-8556-503BF63519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7645"/>
            <a:ext cx="10515600" cy="580931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# Load the fake data called “student_spending.csv”</a:t>
            </a:r>
          </a:p>
          <a:p>
            <a:pPr marL="0" indent="0">
              <a:buNone/>
            </a:pPr>
            <a:r>
              <a:rPr lang="en-US" dirty="0"/>
              <a:t>&gt; </a:t>
            </a:r>
            <a:r>
              <a:rPr lang="en-US" dirty="0" err="1"/>
              <a:t>fake_data</a:t>
            </a:r>
            <a:r>
              <a:rPr lang="en-US" dirty="0"/>
              <a:t>=read.csv(</a:t>
            </a:r>
            <a:r>
              <a:rPr lang="en-US" dirty="0" err="1"/>
              <a:t>file.choose</a:t>
            </a:r>
            <a:r>
              <a:rPr lang="en-US" dirty="0"/>
              <a:t>(),header = T) </a:t>
            </a:r>
          </a:p>
          <a:p>
            <a:pPr marL="0" indent="0">
              <a:buNone/>
            </a:pPr>
            <a:r>
              <a:rPr lang="en-US" dirty="0"/>
              <a:t>&gt; </a:t>
            </a:r>
            <a:r>
              <a:rPr lang="en-US" dirty="0" err="1"/>
              <a:t>reg_continuous</a:t>
            </a:r>
            <a:r>
              <a:rPr lang="en-US" dirty="0"/>
              <a:t> = lm(</a:t>
            </a:r>
            <a:r>
              <a:rPr lang="en-US" dirty="0" err="1"/>
              <a:t>spending~female+year,data</a:t>
            </a:r>
            <a:r>
              <a:rPr lang="en-US" dirty="0"/>
              <a:t>= </a:t>
            </a:r>
            <a:r>
              <a:rPr lang="en-US" dirty="0" err="1"/>
              <a:t>fake_data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&gt; summary</a:t>
            </a:r>
            <a:r>
              <a:rPr lang="en-US" altLang="zh-TW" dirty="0"/>
              <a:t>(</a:t>
            </a:r>
            <a:r>
              <a:rPr lang="en-US" dirty="0" err="1"/>
              <a:t>reg_continuous</a:t>
            </a:r>
            <a:r>
              <a:rPr lang="en-US" altLang="zh-TW" dirty="0"/>
              <a:t>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189277E-3D44-471F-89A8-11357974AB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824" y="2620652"/>
            <a:ext cx="8947821" cy="285589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766200" y="5646024"/>
            <a:ext cx="99754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Year is treated as a continuous variable. Thus, the interpretation is: “with each additional year in the program, a student’s </a:t>
            </a:r>
            <a:r>
              <a:rPr lang="en-US" sz="18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avg</a:t>
            </a:r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monthly spending will increase by $25.34 (ELBE).”</a:t>
            </a:r>
          </a:p>
          <a:p>
            <a:r>
              <a:rPr lang="en-US" dirty="0"/>
              <a:t>Your justification is that Year in the analysis represents some kind of cumulated effects in the program </a:t>
            </a:r>
            <a:endParaRPr lang="en-US" sz="18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825862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8F110-7D14-4F2E-961C-1B51C0631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Bibliographical notes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6CDD6E-6591-44E3-AADC-A43B507BF6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96262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The categorical </a:t>
                </a:r>
                <a:r>
                  <a:rPr lang="en-US"/>
                  <a:t>variable estimates </a:t>
                </a:r>
                <a:r>
                  <a:rPr lang="en-US" dirty="0"/>
                  <a:t>the differences in group means </a:t>
                </a:r>
                <a:r>
                  <a:rPr lang="en-US"/>
                  <a:t>in DV, </a:t>
                </a:r>
                <a:r>
                  <a:rPr lang="en-US" dirty="0"/>
                  <a:t>“ESBE.” </a:t>
                </a:r>
              </a:p>
              <a:p>
                <a:pPr marL="0" indent="0">
                  <a:buNone/>
                </a:pPr>
                <a:r>
                  <a:rPr lang="en-US" dirty="0"/>
                  <a:t>You may see hypothesis tests related to differences in group means:</a:t>
                </a:r>
              </a:p>
              <a:p>
                <a:pPr marL="0" indent="0">
                  <a:buNone/>
                </a:pPr>
                <a:r>
                  <a:rPr lang="en-US" dirty="0"/>
                  <a:t>A two-level categorical variable: </a:t>
                </a:r>
                <a:r>
                  <a:rPr lang="en-US" i="1" dirty="0"/>
                  <a:t>the two-sample t-tests </a:t>
                </a:r>
              </a:p>
              <a:p>
                <a:pPr marL="0" indent="0">
                  <a:buNone/>
                </a:pPr>
                <a:r>
                  <a:rPr lang="en-US" dirty="0"/>
                  <a:t>A categorical variable with more than two levels: </a:t>
                </a:r>
                <a:r>
                  <a:rPr lang="en-US" i="1" dirty="0"/>
                  <a:t>one-way ANOVA tests</a:t>
                </a:r>
              </a:p>
              <a:p>
                <a:pPr marL="0" indent="0">
                  <a:buNone/>
                </a:pPr>
                <a:r>
                  <a:rPr lang="en-US" dirty="0"/>
                  <a:t>These tests in their primitive form does not “ESBE” and thus the result can be biased (refer to the W5 video and tutorial on </a:t>
                </a:r>
                <a:r>
                  <a:rPr lang="en-US" i="1" dirty="0"/>
                  <a:t>Correlation)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SG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When you want to compare differences in group averages, use regression whenever possible to tease out the real, ELBE, differences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6CDD6E-6591-44E3-AADC-A43B507BF6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96262"/>
              </a:xfrm>
              <a:blipFill>
                <a:blip r:embed="rId5"/>
                <a:stretch>
                  <a:fillRect l="-1217" t="-1990" r="-11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337839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5.3|24.7|15.7|12|27.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7|34.7|50.8|6.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7|5.9|17.5|23.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5|9.9|1.2|53.9|36.3|28.8|35.6|38.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3|16.1|37.4|10.7|22.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4|33.3|7.5|31.2|7.5|47.1|69.7|2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67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.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1765</TotalTime>
  <Words>1352</Words>
  <Application>Microsoft Office PowerPoint</Application>
  <PresentationFormat>寬螢幕</PresentationFormat>
  <Paragraphs>86</Paragraphs>
  <Slides>12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Wingdings</vt:lpstr>
      <vt:lpstr>Office Theme</vt:lpstr>
      <vt:lpstr>Linear regression:  categorical variables</vt:lpstr>
      <vt:lpstr>Categorical variables as IVs</vt:lpstr>
      <vt:lpstr>Coding a categorical variable</vt:lpstr>
      <vt:lpstr>PowerPoint 簡報</vt:lpstr>
      <vt:lpstr>PowerPoint 簡報</vt:lpstr>
      <vt:lpstr>Categorical variables with more than 2 levels</vt:lpstr>
      <vt:lpstr>Example: coding a three-level categorical variable</vt:lpstr>
      <vt:lpstr>PowerPoint 簡報</vt:lpstr>
      <vt:lpstr>PowerPoint 簡報</vt:lpstr>
      <vt:lpstr>Years as categories</vt:lpstr>
      <vt:lpstr>PowerPoint 簡報</vt:lpstr>
      <vt:lpstr>Bibliographical notes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Chien-Ming Chen</dc:creator>
  <cp:lastModifiedBy>Chen Chien-Ming (Assoc Prof)</cp:lastModifiedBy>
  <cp:revision>227</cp:revision>
  <dcterms:created xsi:type="dcterms:W3CDTF">2018-07-30T07:45:11Z</dcterms:created>
  <dcterms:modified xsi:type="dcterms:W3CDTF">2020-06-22T14:05:37Z</dcterms:modified>
</cp:coreProperties>
</file>
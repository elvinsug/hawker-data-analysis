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68" r:id="rId2"/>
    <p:sldId id="288" r:id="rId3"/>
    <p:sldId id="289" r:id="rId4"/>
    <p:sldId id="290" r:id="rId5"/>
    <p:sldId id="291" r:id="rId6"/>
    <p:sldId id="295" r:id="rId7"/>
    <p:sldId id="262" r:id="rId8"/>
    <p:sldId id="294" r:id="rId9"/>
    <p:sldId id="2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9D6BD-C34B-4278-9EAD-711AA36B9377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5FC68-76A2-4A95-8AF2-294BBD7B1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63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59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097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43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611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181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361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9268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9016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832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800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065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1E607-7E0C-418D-BA36-FA42D1537C35}" type="datetimeFigureOut">
              <a:rPr lang="en-SG" smtClean="0"/>
              <a:t>27/4/2023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7FB4C-B047-4D8A-B429-E95851B0AB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828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00.png"/><Relationship Id="rId5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expected value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1C59-4162-428F-AB7D-575EE470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this: 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34C3D-7547-4A4B-B3DF-A7E067613E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5627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𝑅𝑒𝑑</m:t>
                        </m:r>
                      </m:e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𝑎𝑙𝑙</m:t>
                        </m:r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𝑅𝑒𝑑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𝐵𝑎𝑙𝑙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𝐵𝑎𝑙𝑙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34C3D-7547-4A4B-B3DF-A7E067613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5627"/>
                <a:ext cx="10515600" cy="5032375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3DEFC4B-1F7C-4BB1-8CA6-F7B8D998B601}"/>
              </a:ext>
            </a:extLst>
          </p:cNvPr>
          <p:cNvSpPr txBox="1"/>
          <p:nvPr/>
        </p:nvSpPr>
        <p:spPr>
          <a:xfrm>
            <a:off x="470855" y="1746725"/>
            <a:ext cx="11523245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“Conditional on Ball” means that we filter out/ignore all outcomes </a:t>
            </a:r>
            <a:r>
              <a:rPr lang="en-US" sz="2800" b="1" u="sng" dirty="0"/>
              <a:t>not</a:t>
            </a:r>
            <a:r>
              <a:rPr lang="en-US" sz="2800" b="1" dirty="0"/>
              <a:t> in B (balls) 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191B98E-D8A6-4610-B457-C16E98ED8AC1}"/>
              </a:ext>
            </a:extLst>
          </p:cNvPr>
          <p:cNvSpPr/>
          <p:nvPr/>
        </p:nvSpPr>
        <p:spPr>
          <a:xfrm>
            <a:off x="7125321" y="3672438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D4A8C6-6813-449F-92A6-2DFCC0A64261}"/>
              </a:ext>
            </a:extLst>
          </p:cNvPr>
          <p:cNvSpPr/>
          <p:nvPr/>
        </p:nvSpPr>
        <p:spPr>
          <a:xfrm>
            <a:off x="8877924" y="3773472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EBB7503-A581-4609-950C-5A5658D7092D}"/>
              </a:ext>
            </a:extLst>
          </p:cNvPr>
          <p:cNvSpPr/>
          <p:nvPr/>
        </p:nvSpPr>
        <p:spPr>
          <a:xfrm>
            <a:off x="7704986" y="4083714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B54E0C2-1F78-4B3F-B6CD-EF889AD268A2}"/>
              </a:ext>
            </a:extLst>
          </p:cNvPr>
          <p:cNvSpPr/>
          <p:nvPr/>
        </p:nvSpPr>
        <p:spPr>
          <a:xfrm>
            <a:off x="7939028" y="4412667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298AF44-2CDE-4ACF-BFCE-F108C45E3C4C}"/>
              </a:ext>
            </a:extLst>
          </p:cNvPr>
          <p:cNvSpPr/>
          <p:nvPr/>
        </p:nvSpPr>
        <p:spPr>
          <a:xfrm>
            <a:off x="7786628" y="3454724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386BB58-FD9C-4BDD-AF04-1F75E77051B3}"/>
              </a:ext>
            </a:extLst>
          </p:cNvPr>
          <p:cNvSpPr/>
          <p:nvPr/>
        </p:nvSpPr>
        <p:spPr>
          <a:xfrm>
            <a:off x="8132250" y="3269666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CB7126E-7604-4960-9C75-3F54A59596C5}"/>
              </a:ext>
            </a:extLst>
          </p:cNvPr>
          <p:cNvSpPr/>
          <p:nvPr/>
        </p:nvSpPr>
        <p:spPr>
          <a:xfrm>
            <a:off x="9623592" y="4037220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B1F3560-867D-4B1A-ACF8-91C1DBC020AF}"/>
              </a:ext>
            </a:extLst>
          </p:cNvPr>
          <p:cNvSpPr/>
          <p:nvPr/>
        </p:nvSpPr>
        <p:spPr>
          <a:xfrm>
            <a:off x="8559512" y="4257885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09CABD08-B664-4C6B-BDF6-E1F755B98796}"/>
              </a:ext>
            </a:extLst>
          </p:cNvPr>
          <p:cNvSpPr/>
          <p:nvPr/>
        </p:nvSpPr>
        <p:spPr>
          <a:xfrm>
            <a:off x="9648084" y="3394857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00F643A0-076F-4DDF-904B-97A0EE0FE41C}"/>
              </a:ext>
            </a:extLst>
          </p:cNvPr>
          <p:cNvSpPr/>
          <p:nvPr/>
        </p:nvSpPr>
        <p:spPr>
          <a:xfrm>
            <a:off x="8190758" y="3720356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29">
            <a:extLst>
              <a:ext uri="{FF2B5EF4-FFF2-40B4-BE49-F238E27FC236}">
                <a16:creationId xmlns:a16="http://schemas.microsoft.com/office/drawing/2014/main" id="{15732F62-2DEF-4C2D-9D08-85A53237B3B3}"/>
              </a:ext>
            </a:extLst>
          </p:cNvPr>
          <p:cNvSpPr/>
          <p:nvPr/>
        </p:nvSpPr>
        <p:spPr>
          <a:xfrm>
            <a:off x="6948427" y="3033921"/>
            <a:ext cx="3516086" cy="18428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6814EE8-4FC8-4793-B2A0-F8879D76A922}"/>
              </a:ext>
            </a:extLst>
          </p:cNvPr>
          <p:cNvSpPr/>
          <p:nvPr/>
        </p:nvSpPr>
        <p:spPr>
          <a:xfrm>
            <a:off x="9011271" y="3190752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0FC4B910-9383-4BBC-8BC4-04B88F082819}"/>
              </a:ext>
            </a:extLst>
          </p:cNvPr>
          <p:cNvSpPr/>
          <p:nvPr/>
        </p:nvSpPr>
        <p:spPr>
          <a:xfrm>
            <a:off x="7185191" y="3181394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251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4" grpId="0" animBg="1"/>
      <p:bldP spid="25" grpId="0" animBg="1"/>
      <p:bldP spid="26" grpId="0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30" grpId="0" animBg="1"/>
      <p:bldP spid="31" grpId="0" animBg="1"/>
      <p:bldP spid="32" grpId="0" animBg="1"/>
      <p:bldP spid="32" grpId="1" animBg="1"/>
      <p:bldP spid="33" grpId="0" animBg="1"/>
      <p:bldP spid="33" grpId="1" animBg="1"/>
      <p:bldP spid="34" grpId="0" animBg="1"/>
      <p:bldP spid="35" grpId="0" animBg="1"/>
      <p:bldP spid="35" grpId="1" animBg="1"/>
      <p:bldP spid="36" grpId="0" animBg="1"/>
      <p:bldP spid="3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1C59-4162-428F-AB7D-575EE470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98624" cy="1325563"/>
          </a:xfrm>
        </p:spPr>
        <p:txBody>
          <a:bodyPr/>
          <a:lstStyle/>
          <a:p>
            <a:r>
              <a:rPr lang="en-US" dirty="0"/>
              <a:t>Conditional distribution (of a random variable)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34C3D-7547-4A4B-B3DF-A7E067613E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5627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are two random variables. The conditional distribution of a random variable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given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defined analogously as: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360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360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𝑎𝑙𝑙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34C3D-7547-4A4B-B3DF-A7E067613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5627"/>
                <a:ext cx="10515600" cy="5032375"/>
              </a:xfrm>
              <a:blipFill>
                <a:blip r:embed="rId5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82D387-B9DB-4744-ADD2-BF9FFEB8F49D}"/>
                  </a:ext>
                </a:extLst>
              </p:cNvPr>
              <p:cNvSpPr txBox="1"/>
              <p:nvPr/>
            </p:nvSpPr>
            <p:spPr>
              <a:xfrm>
                <a:off x="498150" y="4244265"/>
                <a:ext cx="11523245" cy="95410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“Conditional on “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b="1" dirty="0"/>
                  <a:t>” means that we filter out/ignore all outcomes whereby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b="1" dirty="0"/>
                  <a:t> is </a:t>
                </a:r>
                <a:r>
                  <a:rPr lang="en-US" sz="2800" b="1" u="sng" dirty="0"/>
                  <a:t>not</a:t>
                </a:r>
                <a:r>
                  <a:rPr lang="en-US" sz="2800" b="1" dirty="0"/>
                  <a:t> equal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b="1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82D387-B9DB-4744-ADD2-BF9FFEB8F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50" y="4244265"/>
                <a:ext cx="11523245" cy="954107"/>
              </a:xfrm>
              <a:prstGeom prst="rect">
                <a:avLst/>
              </a:prstGeom>
              <a:blipFill>
                <a:blip r:embed="rId6"/>
                <a:stretch>
                  <a:fillRect l="-1057" t="-5031" b="-163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6372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3EE6-11B3-4A6B-A0C1-79079E868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automobile theft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91B4B-E766-4CA5-9C68-20DB71848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440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Suppose an insurance company computes the bi-variate distribution of its customers’ car brands (Y) and the indicator of whether the car will be stolen (X)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6012CF-EAAA-4EAB-984A-E95367921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193835"/>
              </p:ext>
            </p:extLst>
          </p:nvPr>
        </p:nvGraphicFramePr>
        <p:xfrm>
          <a:off x="1720047" y="3368619"/>
          <a:ext cx="8457254" cy="26579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9042">
                  <a:extLst>
                    <a:ext uri="{9D8B030D-6E8A-4147-A177-3AD203B41FA5}">
                      <a16:colId xmlns:a16="http://schemas.microsoft.com/office/drawing/2014/main" val="1813235762"/>
                    </a:ext>
                  </a:extLst>
                </a:gridCol>
                <a:gridCol w="847834">
                  <a:extLst>
                    <a:ext uri="{9D8B030D-6E8A-4147-A177-3AD203B41FA5}">
                      <a16:colId xmlns:a16="http://schemas.microsoft.com/office/drawing/2014/main" val="3648880745"/>
                    </a:ext>
                  </a:extLst>
                </a:gridCol>
                <a:gridCol w="847834">
                  <a:extLst>
                    <a:ext uri="{9D8B030D-6E8A-4147-A177-3AD203B41FA5}">
                      <a16:colId xmlns:a16="http://schemas.microsoft.com/office/drawing/2014/main" val="1298485744"/>
                    </a:ext>
                  </a:extLst>
                </a:gridCol>
                <a:gridCol w="847834">
                  <a:extLst>
                    <a:ext uri="{9D8B030D-6E8A-4147-A177-3AD203B41FA5}">
                      <a16:colId xmlns:a16="http://schemas.microsoft.com/office/drawing/2014/main" val="3837720156"/>
                    </a:ext>
                  </a:extLst>
                </a:gridCol>
                <a:gridCol w="847834">
                  <a:extLst>
                    <a:ext uri="{9D8B030D-6E8A-4147-A177-3AD203B41FA5}">
                      <a16:colId xmlns:a16="http://schemas.microsoft.com/office/drawing/2014/main" val="1188339917"/>
                    </a:ext>
                  </a:extLst>
                </a:gridCol>
                <a:gridCol w="847834">
                  <a:extLst>
                    <a:ext uri="{9D8B030D-6E8A-4147-A177-3AD203B41FA5}">
                      <a16:colId xmlns:a16="http://schemas.microsoft.com/office/drawing/2014/main" val="1181734737"/>
                    </a:ext>
                  </a:extLst>
                </a:gridCol>
                <a:gridCol w="2109042">
                  <a:extLst>
                    <a:ext uri="{9D8B030D-6E8A-4147-A177-3AD203B41FA5}">
                      <a16:colId xmlns:a16="http://schemas.microsoft.com/office/drawing/2014/main" val="1851013761"/>
                    </a:ext>
                  </a:extLst>
                </a:gridCol>
              </a:tblGrid>
              <a:tr h="333953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Brand (Y)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4185591345"/>
                  </a:ext>
                </a:extLst>
              </a:tr>
              <a:tr h="333953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Total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636857810"/>
                  </a:ext>
                </a:extLst>
              </a:tr>
              <a:tr h="663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No (X=0)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0.129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0.298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0.161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0.280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>
                          <a:effectLst/>
                        </a:rPr>
                        <a:t>0.108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0.976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30280833"/>
                  </a:ext>
                </a:extLst>
              </a:tr>
              <a:tr h="663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Yes (X=1)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0.010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0.010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0.001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0.002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0.001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0.024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468055491"/>
                  </a:ext>
                </a:extLst>
              </a:tr>
              <a:tr h="663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0.139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0.308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0.162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0.282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0.109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79648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49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3EE6-11B3-4A6B-A0C1-79079E868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automobile theft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C91B4B-E766-4CA5-9C68-20DB718485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6383" y="1825625"/>
                <a:ext cx="1126622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It’s a common for an insurance company to set the premium according to the brand </a:t>
                </a:r>
              </a:p>
              <a:p>
                <a:pPr marL="0" indent="0">
                  <a:buNone/>
                </a:pPr>
                <a:r>
                  <a:rPr lang="en-US" dirty="0"/>
                  <a:t>For a brand “2” car owner, the probability of his car to be stolen is given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0.308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=0.032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also…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298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0.308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968</m:t>
                    </m:r>
                  </m:oMath>
                </a14:m>
                <a:r>
                  <a:rPr lang="en-US" dirty="0"/>
                  <a:t> (notice the two add up to 1.0)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C91B4B-E766-4CA5-9C68-20DB71848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6383" y="1825625"/>
                <a:ext cx="11266226" cy="4351338"/>
              </a:xfrm>
              <a:blipFill>
                <a:blip r:embed="rId2"/>
                <a:stretch>
                  <a:fillRect l="-113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6012CF-EAAA-4EAB-984A-E95367921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567562"/>
              </p:ext>
            </p:extLst>
          </p:nvPr>
        </p:nvGraphicFramePr>
        <p:xfrm>
          <a:off x="1826335" y="4772392"/>
          <a:ext cx="7454143" cy="18780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58889">
                  <a:extLst>
                    <a:ext uri="{9D8B030D-6E8A-4147-A177-3AD203B41FA5}">
                      <a16:colId xmlns:a16="http://schemas.microsoft.com/office/drawing/2014/main" val="1813235762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3648880745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298485744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3837720156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188339917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181734737"/>
                    </a:ext>
                  </a:extLst>
                </a:gridCol>
                <a:gridCol w="1858889">
                  <a:extLst>
                    <a:ext uri="{9D8B030D-6E8A-4147-A177-3AD203B41FA5}">
                      <a16:colId xmlns:a16="http://schemas.microsoft.com/office/drawing/2014/main" val="1851013761"/>
                    </a:ext>
                  </a:extLst>
                </a:gridCol>
              </a:tblGrid>
              <a:tr h="296648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Brand (Y)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4185591345"/>
                  </a:ext>
                </a:extLst>
              </a:tr>
              <a:tr h="27411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636857810"/>
                  </a:ext>
                </a:extLst>
              </a:tr>
              <a:tr h="344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No (X=0)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0.129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0.298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0.161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0.28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0.108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0.976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30280833"/>
                  </a:ext>
                </a:extLst>
              </a:tr>
              <a:tr h="36975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Yes (X=1)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0.01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0.001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0.002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0.001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0.024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468055491"/>
                  </a:ext>
                </a:extLst>
              </a:tr>
              <a:tr h="58923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0.139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0.308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0.162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0.282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0.109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79648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566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3215E1-5CE0-4E22-8FA0-C6EC95C47E8B}"/>
              </a:ext>
            </a:extLst>
          </p:cNvPr>
          <p:cNvSpPr txBox="1">
            <a:spLocks/>
          </p:cNvSpPr>
          <p:nvPr/>
        </p:nvSpPr>
        <p:spPr>
          <a:xfrm>
            <a:off x="838200" y="2762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Conditional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71648E8-B410-4019-ACB6-045A99F6C3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5864" y="213645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y=1,2,…,5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for x=0, 1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71648E8-B410-4019-ACB6-045A99F6C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64" y="213645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F757C1-DC64-4157-8043-8BDC9D178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895648"/>
              </p:ext>
            </p:extLst>
          </p:nvPr>
        </p:nvGraphicFramePr>
        <p:xfrm>
          <a:off x="4083121" y="2063312"/>
          <a:ext cx="5595254" cy="12888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58889">
                  <a:extLst>
                    <a:ext uri="{9D8B030D-6E8A-4147-A177-3AD203B41FA5}">
                      <a16:colId xmlns:a16="http://schemas.microsoft.com/office/drawing/2014/main" val="1813235762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3648880745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298485744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3837720156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188339917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181734737"/>
                    </a:ext>
                  </a:extLst>
                </a:gridCol>
              </a:tblGrid>
              <a:tr h="296648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Brand (Y)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591345"/>
                  </a:ext>
                </a:extLst>
              </a:tr>
              <a:tr h="27411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636857810"/>
                  </a:ext>
                </a:extLst>
              </a:tr>
              <a:tr h="344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No (X=0)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0.928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0.968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</a:t>
                      </a: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30280833"/>
                  </a:ext>
                </a:extLst>
              </a:tr>
              <a:tr h="36975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Yes (X=1)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0.072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0.032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</a:t>
                      </a: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46805549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FB83CB4-49ED-4B0B-9AF9-70B159068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13448"/>
              </p:ext>
            </p:extLst>
          </p:nvPr>
        </p:nvGraphicFramePr>
        <p:xfrm>
          <a:off x="3989861" y="4426649"/>
          <a:ext cx="5595254" cy="12888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58889">
                  <a:extLst>
                    <a:ext uri="{9D8B030D-6E8A-4147-A177-3AD203B41FA5}">
                      <a16:colId xmlns:a16="http://schemas.microsoft.com/office/drawing/2014/main" val="1813235762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3648880745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298485744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3837720156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188339917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181734737"/>
                    </a:ext>
                  </a:extLst>
                </a:gridCol>
              </a:tblGrid>
              <a:tr h="296648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Brand (Y)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591345"/>
                  </a:ext>
                </a:extLst>
              </a:tr>
              <a:tr h="27411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636857810"/>
                  </a:ext>
                </a:extLst>
              </a:tr>
              <a:tr h="344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No (X=0)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0.132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0.305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0.165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0.287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0.111</a:t>
                      </a: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30280833"/>
                  </a:ext>
                </a:extLst>
              </a:tr>
              <a:tr h="36975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Yes (X=1)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0.417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0.417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0.083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</a:t>
                      </a: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468055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299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conditional expected value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Conditional expected values combine the ideas of “conditional probabilities” and “expectation”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097723" y="3148506"/>
                <a:ext cx="6464911" cy="1431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𝑣𝑎𝑙𝑢𝑒𝑠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723" y="3148506"/>
                <a:ext cx="6464911" cy="14318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E7AB95D-39D7-42DE-BF73-6BBB11D64A16}"/>
                  </a:ext>
                </a:extLst>
              </p:cNvPr>
              <p:cNvSpPr/>
              <p:nvPr/>
            </p:nvSpPr>
            <p:spPr>
              <a:xfrm>
                <a:off x="2097723" y="4662734"/>
                <a:ext cx="7523663" cy="1431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𝑣𝑎𝑙𝑢𝑒𝑠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E7AB95D-39D7-42DE-BF73-6BBB11D64A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723" y="4662734"/>
                <a:ext cx="7523663" cy="14318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405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3EE6-11B3-4A6B-A0C1-79079E868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automobile theft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91B4B-E766-4CA5-9C68-20DB71848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07" y="1825625"/>
            <a:ext cx="1125940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Suppose the insurance company</a:t>
            </a:r>
            <a:r>
              <a:rPr lang="zh-TW" altLang="en-US" dirty="0"/>
              <a:t> </a:t>
            </a:r>
            <a:r>
              <a:rPr lang="en-US" altLang="zh-TW" dirty="0"/>
              <a:t>charges the Brand-2 car owner $200 premium, under the condition that the company</a:t>
            </a:r>
            <a:r>
              <a:rPr lang="en-US" dirty="0"/>
              <a:t> will pay $5000 if the car is stolen</a:t>
            </a:r>
          </a:p>
          <a:p>
            <a:pPr marL="0" indent="0">
              <a:buNone/>
            </a:pPr>
            <a:r>
              <a:rPr lang="en-US" dirty="0"/>
              <a:t>What is the expected profit of this insurance deal?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EB1080-2B88-430C-8280-6471F7194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072533"/>
              </p:ext>
            </p:extLst>
          </p:nvPr>
        </p:nvGraphicFramePr>
        <p:xfrm>
          <a:off x="751382" y="3680572"/>
          <a:ext cx="5595254" cy="12888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58889">
                  <a:extLst>
                    <a:ext uri="{9D8B030D-6E8A-4147-A177-3AD203B41FA5}">
                      <a16:colId xmlns:a16="http://schemas.microsoft.com/office/drawing/2014/main" val="1813235762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3648880745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298485744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3837720156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188339917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1181734737"/>
                    </a:ext>
                  </a:extLst>
                </a:gridCol>
              </a:tblGrid>
              <a:tr h="296648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Brand (Y)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591345"/>
                  </a:ext>
                </a:extLst>
              </a:tr>
              <a:tr h="27411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636857810"/>
                  </a:ext>
                </a:extLst>
              </a:tr>
              <a:tr h="344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No (X=0)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0.928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0.968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0.993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0.991</a:t>
                      </a: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30280833"/>
                  </a:ext>
                </a:extLst>
              </a:tr>
              <a:tr h="36975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Yes (X=1)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0.072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0.032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</a:t>
                      </a: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</a:t>
                      </a: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4680554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8F499AD-6C8A-4B13-94C2-407C8DD93B8A}"/>
                  </a:ext>
                </a:extLst>
              </p:cNvPr>
              <p:cNvSpPr/>
              <p:nvPr/>
            </p:nvSpPr>
            <p:spPr>
              <a:xfrm>
                <a:off x="146003" y="5086782"/>
                <a:ext cx="11686605" cy="15583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$200−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=$200−($5000∗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$0∗</m:t>
                      </m:r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</m:d>
                        </m:e>
                      </m:func>
                      <m:r>
                        <a:rPr lang="en-SG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=$200−$5000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∗0.032=$37.66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8F499AD-6C8A-4B13-94C2-407C8DD93B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3" y="5086782"/>
                <a:ext cx="11686605" cy="15583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BFA6D6-0F34-4E23-AE19-5288B8DE9FFA}"/>
                  </a:ext>
                </a:extLst>
              </p:cNvPr>
              <p:cNvSpPr txBox="1"/>
              <p:nvPr/>
            </p:nvSpPr>
            <p:spPr>
              <a:xfrm>
                <a:off x="4975129" y="5201148"/>
                <a:ext cx="33073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𝑝𝑎𝑦𝑜𝑢𝑡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𝑐𝑜𝑚𝑝𝑎𝑛𝑦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BFA6D6-0F34-4E23-AE19-5288B8DE9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129" y="5201148"/>
                <a:ext cx="3307316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9504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(FYI only) Calculating conditional expectations for a continuous variable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Conditional expectations combine the ideas of “conditional probabilities” and “expectation”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49035" y="2983676"/>
                <a:ext cx="6227666" cy="1154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SG" sz="32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035" y="2983676"/>
                <a:ext cx="6227666" cy="11548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030099" y="4603723"/>
                <a:ext cx="44346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99" y="4603723"/>
                <a:ext cx="4434676" cy="369332"/>
              </a:xfrm>
              <a:prstGeom prst="rect">
                <a:avLst/>
              </a:prstGeom>
              <a:blipFill>
                <a:blip r:embed="rId5"/>
                <a:stretch>
                  <a:fillRect l="-123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8416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1|18.1|10.2|13.6|8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9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Widescreen</PresentationFormat>
  <Paragraphs>163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Conditional expected value</vt:lpstr>
      <vt:lpstr>Recall this: Conditional probability</vt:lpstr>
      <vt:lpstr>Conditional distribution (of a random variable)</vt:lpstr>
      <vt:lpstr>Example: automobile theft</vt:lpstr>
      <vt:lpstr>Example: automobile theft</vt:lpstr>
      <vt:lpstr>PowerPoint Presentation</vt:lpstr>
      <vt:lpstr>Calculating conditional expected value</vt:lpstr>
      <vt:lpstr>Example: automobile theft (contd.)</vt:lpstr>
      <vt:lpstr>(FYI only) Calculating conditional expectations for a continuous variable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2021-07-10T11:51:14Z</dcterms:created>
  <dcterms:modified xsi:type="dcterms:W3CDTF">2023-04-27T08:17:10Z</dcterms:modified>
</cp:coreProperties>
</file>
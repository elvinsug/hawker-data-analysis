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79" r:id="rId3"/>
    <p:sldId id="278" r:id="rId4"/>
    <p:sldId id="265" r:id="rId5"/>
    <p:sldId id="283" r:id="rId6"/>
    <p:sldId id="284" r:id="rId7"/>
    <p:sldId id="285" r:id="rId8"/>
    <p:sldId id="300" r:id="rId9"/>
    <p:sldId id="286" r:id="rId10"/>
    <p:sldId id="280" r:id="rId11"/>
    <p:sldId id="269" r:id="rId12"/>
    <p:sldId id="2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84168" autoAdjust="0"/>
  </p:normalViewPr>
  <p:slideViewPr>
    <p:cSldViewPr snapToGrid="0">
      <p:cViewPr varScale="1">
        <p:scale>
          <a:sx n="93" d="100"/>
          <a:sy n="93" d="100"/>
        </p:scale>
        <p:origin x="10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en-Ming Chen" userId="2ed555a260ca561e" providerId="LiveId" clId="{F67F423B-E1B8-46B4-82A2-20E149273212}"/>
    <pc:docChg chg="addSld modSld">
      <pc:chgData name="Chien-Ming Chen" userId="2ed555a260ca561e" providerId="LiveId" clId="{F67F423B-E1B8-46B4-82A2-20E149273212}" dt="2023-07-03T07:14:33.613" v="1" actId="729"/>
      <pc:docMkLst>
        <pc:docMk/>
      </pc:docMkLst>
      <pc:sldChg chg="mod modShow">
        <pc:chgData name="Chien-Ming Chen" userId="2ed555a260ca561e" providerId="LiveId" clId="{F67F423B-E1B8-46B4-82A2-20E149273212}" dt="2023-07-03T07:14:33.613" v="1" actId="729"/>
        <pc:sldMkLst>
          <pc:docMk/>
          <pc:sldMk cId="2253371591" sldId="272"/>
        </pc:sldMkLst>
      </pc:sldChg>
      <pc:sldChg chg="mod modShow">
        <pc:chgData name="Chien-Ming Chen" userId="2ed555a260ca561e" providerId="LiveId" clId="{F67F423B-E1B8-46B4-82A2-20E149273212}" dt="2023-07-03T07:14:33.613" v="1" actId="729"/>
        <pc:sldMkLst>
          <pc:docMk/>
          <pc:sldMk cId="3995416165" sldId="298"/>
        </pc:sldMkLst>
      </pc:sldChg>
      <pc:sldChg chg="mod modShow">
        <pc:chgData name="Chien-Ming Chen" userId="2ed555a260ca561e" providerId="LiveId" clId="{F67F423B-E1B8-46B4-82A2-20E149273212}" dt="2023-07-03T07:14:33.613" v="1" actId="729"/>
        <pc:sldMkLst>
          <pc:docMk/>
          <pc:sldMk cId="2869578733" sldId="299"/>
        </pc:sldMkLst>
      </pc:sldChg>
      <pc:sldChg chg="mod modShow">
        <pc:chgData name="Chien-Ming Chen" userId="2ed555a260ca561e" providerId="LiveId" clId="{F67F423B-E1B8-46B4-82A2-20E149273212}" dt="2023-07-03T07:14:33.613" v="1" actId="729"/>
        <pc:sldMkLst>
          <pc:docMk/>
          <pc:sldMk cId="2181452757" sldId="301"/>
        </pc:sldMkLst>
      </pc:sldChg>
      <pc:sldChg chg="new mod modShow">
        <pc:chgData name="Chien-Ming Chen" userId="2ed555a260ca561e" providerId="LiveId" clId="{F67F423B-E1B8-46B4-82A2-20E149273212}" dt="2023-07-03T07:14:33.613" v="1" actId="729"/>
        <pc:sldMkLst>
          <pc:docMk/>
          <pc:sldMk cId="2695049121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9C1FB-B27C-4D3E-8793-D5585C4A97F8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8FF5D-364F-4470-BB3B-78E6B6C55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8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Exercise: produce sample means and ask students to compute sample </a:t>
                </a:r>
                <a:r>
                  <a:rPr lang="en-US" dirty="0" smtClean="0"/>
                  <a:t>covariance</a:t>
                </a:r>
              </a:p>
              <a:p>
                <a:endParaRPr lang="en-US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 smtClean="0"/>
                  <a:t>Empirically, </a:t>
                </a:r>
                <a:r>
                  <a:rPr lang="en-SG" i="0">
                    <a:latin typeface="Cambria Math" panose="02040503050406030204" pitchFamily="18" charset="0"/>
                  </a:rPr>
                  <a:t>𝜇_𝑋</a:t>
                </a:r>
                <a:r>
                  <a:rPr lang="en-SG" dirty="0"/>
                  <a:t> and </a:t>
                </a:r>
                <a:r>
                  <a:rPr lang="en-SG" i="0">
                    <a:latin typeface="Cambria Math" panose="02040503050406030204" pitchFamily="18" charset="0"/>
                  </a:rPr>
                  <a:t>𝜇_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𝑌</a:t>
                </a:r>
                <a:r>
                  <a:rPr lang="en-SG" dirty="0"/>
                  <a:t> are unknown parameters, which make </a:t>
                </a:r>
                <a:r>
                  <a:rPr lang="en-SG" i="0">
                    <a:latin typeface="Cambria Math" panose="02040503050406030204" pitchFamily="18" charset="0"/>
                  </a:rPr>
                  <a:t>𝐶</a:t>
                </a:r>
                <a:r>
                  <a:rPr lang="en-US" i="0">
                    <a:latin typeface="Cambria Math" panose="02040503050406030204" pitchFamily="18" charset="0"/>
                  </a:rPr>
                  <a:t>𝑜𝑣</a:t>
                </a:r>
                <a:r>
                  <a:rPr lang="en-SG" i="0">
                    <a:latin typeface="Cambria Math" panose="02040503050406030204" pitchFamily="18" charset="0"/>
                  </a:rPr>
                  <a:t>(𝑋,𝑌)</a:t>
                </a:r>
                <a:r>
                  <a:rPr lang="en-SG" dirty="0"/>
                  <a:t> itself an unknown population parameter as well. </a:t>
                </a:r>
                <a:r>
                  <a:rPr lang="en-US" altLang="zh-TW" dirty="0"/>
                  <a:t>W</a:t>
                </a:r>
                <a:r>
                  <a:rPr lang="en-SG" dirty="0"/>
                  <a:t>e can estimate </a:t>
                </a:r>
                <a:r>
                  <a:rPr lang="en-SG" i="0">
                    <a:latin typeface="Cambria Math" panose="02040503050406030204" pitchFamily="18" charset="0"/>
                  </a:rPr>
                  <a:t>𝜇_𝑋</a:t>
                </a:r>
                <a:r>
                  <a:rPr lang="en-SG" dirty="0"/>
                  <a:t> and </a:t>
                </a:r>
                <a:r>
                  <a:rPr lang="en-SG" i="0">
                    <a:latin typeface="Cambria Math" panose="02040503050406030204" pitchFamily="18" charset="0"/>
                  </a:rPr>
                  <a:t>𝜇_</a:t>
                </a:r>
                <a:r>
                  <a:rPr lang="en-US" i="0">
                    <a:latin typeface="Cambria Math" panose="02040503050406030204" pitchFamily="18" charset="0"/>
                  </a:rPr>
                  <a:t>𝑌</a:t>
                </a:r>
                <a:r>
                  <a:rPr lang="en-SG" dirty="0"/>
                  <a:t> by their sample means. With the sample means, we can proceed to calculate the </a:t>
                </a:r>
                <a:r>
                  <a:rPr lang="en-SG" b="1" i="1" dirty="0"/>
                  <a:t>sample covariance</a:t>
                </a:r>
                <a:r>
                  <a:rPr lang="en-SG" dirty="0"/>
                  <a:t> by using the above formula  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39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98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34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72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67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42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image" Target="../media/image190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.png"/><Relationship Id="rId12" Type="http://schemas.openxmlformats.org/officeDocument/2006/relationships/image" Target="../media/image130.png"/><Relationship Id="rId17" Type="http://schemas.openxmlformats.org/officeDocument/2006/relationships/image" Target="../media/image18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1.png"/><Relationship Id="rId1" Type="http://schemas.openxmlformats.org/officeDocument/2006/relationships/tags" Target="../tags/tag9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60.png"/><Relationship Id="rId10" Type="http://schemas.openxmlformats.org/officeDocument/2006/relationships/image" Target="../media/image110.png"/><Relationship Id="rId19" Type="http://schemas.openxmlformats.org/officeDocument/2006/relationships/image" Target="../media/image20.png"/><Relationship Id="rId4" Type="http://schemas.openxmlformats.org/officeDocument/2006/relationships/image" Target="../media/image4.png"/><Relationship Id="rId1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70.png"/><Relationship Id="rId5" Type="http://schemas.openxmlformats.org/officeDocument/2006/relationships/image" Target="../media/image2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Bivariate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-Covariances&amp; correlations</a:t>
            </a:r>
          </a:p>
          <a:p>
            <a:r>
              <a:rPr lang="en-US" dirty="0"/>
              <a:t>-Correlations &amp; causality</a:t>
            </a:r>
          </a:p>
          <a:p>
            <a:r>
              <a:rPr lang="en-US" dirty="0"/>
              <a:t>- Independence between RV’s</a:t>
            </a:r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7D2-E5F9-44DA-A986-16BAFD9E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bivariate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DD55-B72D-4135-A5DC-43494B582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87" y="15582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“Bi” means two. A bivariate distribution is the probability distribution of two random variables.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A NTU student’s height and weight</a:t>
            </a:r>
          </a:p>
          <a:p>
            <a:r>
              <a:rPr lang="en-US" dirty="0"/>
              <a:t>A company’s profit and size</a:t>
            </a:r>
          </a:p>
          <a:p>
            <a:r>
              <a:rPr lang="en-US" dirty="0"/>
              <a:t>A patients’ heart rate and blood pressure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7E6500F-16DD-F75E-9F62-3971F6D27F30}"/>
              </a:ext>
            </a:extLst>
          </p:cNvPr>
          <p:cNvSpPr/>
          <p:nvPr/>
        </p:nvSpPr>
        <p:spPr>
          <a:xfrm>
            <a:off x="372374" y="4572776"/>
            <a:ext cx="3537925" cy="2285224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639DA-B3C2-235A-4A11-F222B5CFBAE8}"/>
              </a:ext>
            </a:extLst>
          </p:cNvPr>
          <p:cNvSpPr txBox="1"/>
          <p:nvPr/>
        </p:nvSpPr>
        <p:spPr>
          <a:xfrm>
            <a:off x="168460" y="454096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Sample space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D20625-24CD-8C5A-02DD-E2CD71A05EEC}"/>
              </a:ext>
            </a:extLst>
          </p:cNvPr>
          <p:cNvCxnSpPr>
            <a:cxnSpLocks/>
          </p:cNvCxnSpPr>
          <p:nvPr/>
        </p:nvCxnSpPr>
        <p:spPr>
          <a:xfrm>
            <a:off x="5845410" y="5143026"/>
            <a:ext cx="43563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B0709B-0F7E-BE1D-C8B2-37EC4544D0C9}"/>
              </a:ext>
            </a:extLst>
          </p:cNvPr>
          <p:cNvSpPr txBox="1"/>
          <p:nvPr/>
        </p:nvSpPr>
        <p:spPr>
          <a:xfrm>
            <a:off x="6009312" y="5102889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   -1   0   1   2   3   4   5   6   7   8   9   10</a:t>
            </a: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FF0864CF-CC81-64C7-E848-2A50090C0304}"/>
              </a:ext>
            </a:extLst>
          </p:cNvPr>
          <p:cNvSpPr/>
          <p:nvPr/>
        </p:nvSpPr>
        <p:spPr>
          <a:xfrm>
            <a:off x="3787623" y="4557499"/>
            <a:ext cx="3160724" cy="5549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Graphic 8" descr="Slot Machine outline">
            <a:extLst>
              <a:ext uri="{FF2B5EF4-FFF2-40B4-BE49-F238E27FC236}">
                <a16:creationId xmlns:a16="http://schemas.microsoft.com/office/drawing/2014/main" id="{C83E2514-50EB-8A10-6915-A87B6A094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1177" y="4785399"/>
            <a:ext cx="554999" cy="554999"/>
          </a:xfrm>
          <a:prstGeom prst="rect">
            <a:avLst/>
          </a:prstGeom>
        </p:spPr>
      </p:pic>
      <p:pic>
        <p:nvPicPr>
          <p:cNvPr id="10" name="Graphic 9" descr="Slot Machine outline">
            <a:extLst>
              <a:ext uri="{FF2B5EF4-FFF2-40B4-BE49-F238E27FC236}">
                <a16:creationId xmlns:a16="http://schemas.microsoft.com/office/drawing/2014/main" id="{C9A5D23B-9685-072E-234A-E963ABBE4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2812" y="5913511"/>
            <a:ext cx="554999" cy="554999"/>
          </a:xfrm>
          <a:prstGeom prst="rect">
            <a:avLst/>
          </a:prstGeom>
        </p:spPr>
      </p:pic>
      <p:pic>
        <p:nvPicPr>
          <p:cNvPr id="11" name="Graphic 10" descr="Slot Machine outline">
            <a:extLst>
              <a:ext uri="{FF2B5EF4-FFF2-40B4-BE49-F238E27FC236}">
                <a16:creationId xmlns:a16="http://schemas.microsoft.com/office/drawing/2014/main" id="{CDE840D3-F9ED-F534-8A39-2B531DF5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9711" y="4950951"/>
            <a:ext cx="554999" cy="554999"/>
          </a:xfrm>
          <a:prstGeom prst="rect">
            <a:avLst/>
          </a:prstGeom>
        </p:spPr>
      </p:pic>
      <p:pic>
        <p:nvPicPr>
          <p:cNvPr id="12" name="Graphic 11" descr="Slot Machine outline">
            <a:extLst>
              <a:ext uri="{FF2B5EF4-FFF2-40B4-BE49-F238E27FC236}">
                <a16:creationId xmlns:a16="http://schemas.microsoft.com/office/drawing/2014/main" id="{CBEE2A22-6F40-4E12-D43A-033CA24C7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552" y="5815748"/>
            <a:ext cx="554999" cy="554999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03E8D06-4A4E-2C51-CFEA-9B34AA0FAFA8}"/>
              </a:ext>
            </a:extLst>
          </p:cNvPr>
          <p:cNvSpPr/>
          <p:nvPr/>
        </p:nvSpPr>
        <p:spPr>
          <a:xfrm>
            <a:off x="987294" y="4950951"/>
            <a:ext cx="1541054" cy="917934"/>
          </a:xfrm>
          <a:prstGeom prst="wedgeEllipse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Hello,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 am an outcome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37EA04-7D12-0ED2-D068-60E8BC578F1A}"/>
              </a:ext>
            </a:extLst>
          </p:cNvPr>
          <p:cNvSpPr txBox="1"/>
          <p:nvPr/>
        </p:nvSpPr>
        <p:spPr>
          <a:xfrm>
            <a:off x="4856346" y="4617229"/>
            <a:ext cx="1046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00B0F0"/>
                </a:solidFill>
              </a:rPr>
              <a:t>RV 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95C9F2-3AD6-565D-5744-F77145C61467}"/>
              </a:ext>
            </a:extLst>
          </p:cNvPr>
          <p:cNvCxnSpPr>
            <a:cxnSpLocks/>
          </p:cNvCxnSpPr>
          <p:nvPr/>
        </p:nvCxnSpPr>
        <p:spPr>
          <a:xfrm>
            <a:off x="5681873" y="6032898"/>
            <a:ext cx="43563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23A77C-8203-6724-1940-96C620065848}"/>
              </a:ext>
            </a:extLst>
          </p:cNvPr>
          <p:cNvSpPr txBox="1"/>
          <p:nvPr/>
        </p:nvSpPr>
        <p:spPr>
          <a:xfrm>
            <a:off x="6009311" y="5979988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   -1   0   1   2   3   4   5   6   7   8   9   10</a:t>
            </a: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25B6A691-EF01-AC20-3F0E-AD3BEB93D3DF}"/>
              </a:ext>
            </a:extLst>
          </p:cNvPr>
          <p:cNvSpPr/>
          <p:nvPr/>
        </p:nvSpPr>
        <p:spPr>
          <a:xfrm flipV="1">
            <a:off x="3672644" y="6236525"/>
            <a:ext cx="5065914" cy="580241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08D472-599A-47D8-47D1-F3952C37EE0B}"/>
              </a:ext>
            </a:extLst>
          </p:cNvPr>
          <p:cNvSpPr txBox="1"/>
          <p:nvPr/>
        </p:nvSpPr>
        <p:spPr>
          <a:xfrm>
            <a:off x="4648249" y="6165841"/>
            <a:ext cx="1046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00B0F0"/>
                </a:solidFill>
              </a:rPr>
              <a:t>RV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914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074"/>
    </mc:Choice>
    <mc:Fallback xmlns="">
      <p:transition spd="slow" advTm="98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448 -0.00972 L 0.02448 -0.00972 C 0.04649 -0.02939 0.03516 -0.02014 0.07891 -0.04629 C 0.1 -0.05879 0.12214 -0.07291 0.14466 -0.07639 C 0.15782 -0.07847 0.1711 -0.07731 0.18438 -0.07754 C 0.19571 -0.07476 0.20729 -0.07407 0.21823 -0.06875 C 0.22513 -0.06551 0.23138 -0.05902 0.23737 -0.05254 C 0.25443 -0.03426 0.27136 -0.01666 0.28477 0.00903 C 0.28998 0.01899 0.2918 0.02338 0.29401 0.03426 C 0.29427 0.03588 0.29453 0.0375 0.29466 0.03936 C 0.29584 0.04977 0.29545 0.04838 0.29545 0.06204 " pathEditMode="relative" ptsTypes="AAAAAAAAAAA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12 -0.0368 L 0.00612 -0.03657 C 0.01146 -0.04375 0.01667 -0.05092 0.02227 -0.05717 C 0.04167 -0.07778 0.05925 -0.09467 0.07891 -0.1125 C 0.09375 -0.12592 0.11953 -0.14907 0.13412 -0.15903 C 0.14571 -0.16713 0.15703 -0.17616 0.16875 -0.1831 C 0.18138 -0.19028 0.19414 -0.19653 0.20703 -0.20185 C 0.2168 -0.20579 0.25834 -0.21967 0.27357 -0.22199 C 0.28568 -0.22407 0.29857 -0.22454 0.31107 -0.22569 C 0.32943 -0.22292 0.34818 -0.22384 0.36628 -0.2169 C 0.37656 -0.21319 0.38581 -0.20254 0.39531 -0.19444 C 0.40391 -0.18657 0.4125 -0.17824 0.42071 -0.16921 C 0.42318 -0.16643 0.42513 -0.16273 0.42709 -0.15903 C 0.43047 -0.15301 0.43477 -0.14421 0.43698 -0.13634 C 0.43998 -0.12639 0.44115 -0.11829 0.44271 -0.10741 C 0.44323 -0.1037 0.44362 -0.09977 0.44401 -0.09606 C 0.44453 -0.09282 0.44492 -0.08935 0.44545 -0.08611 C 0.4461 -0.0831 0.44662 -0.08032 0.44688 -0.07731 C 0.44701 -0.07639 0.44688 -0.07546 0.44688 -0.07477 " pathEditMode="relative" rAng="0" ptsTypes="AAAAAAAAAAAAAAAAAAA">
                                      <p:cBhvr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31" y="-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2.5E-6 0.00023 C 0.00534 -0.00254 0.01067 -0.00555 0.0164 -0.00764 C 0.01836 -0.00856 0.06588 -0.02338 0.06614 -0.02361 C 0.0776 -0.02778 0.08815 -0.03379 0.10026 -0.03588 C 0.15521 -0.04467 0.13099 -0.04282 0.17278 -0.04375 L 0.22539 -0.04328 C 0.23151 -0.04282 0.23802 -0.0419 0.24375 -0.03958 C 0.26067 -0.03264 0.27747 -0.02453 0.2901 -0.01203 C 0.31067 0.00741 0.3082 0.00579 0.32161 0.02662 C 0.32304 0.02894 0.32474 0.03079 0.32591 0.03334 C 0.33047 0.04283 0.32656 0.03472 0.33125 0.0456 C 0.3319 0.04746 0.33307 0.04954 0.33372 0.05162 C 0.33424 0.05278 0.33437 0.05417 0.33476 0.05533 C 0.33489 0.05648 0.33515 0.05741 0.33554 0.05834 C 0.3358 0.05903 0.33646 0.06088 0.33646 0.06111 " pathEditMode="relative" rAng="0" ptsTypes="AAAAAAAAAAAAAAAA"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23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17 0.01736 L 0.02617 0.01759 C 0.03867 0.01111 0.04544 0.00764 0.06094 0.0037 L 0.06627 0.00486 C 0.0707 0.01505 0.075 0.02523 0.07943 0.03518 C 0.08073 0.03796 0.08138 0.04259 0.08333 0.04352 L 0.09023 0.0463 C 0.09857 0.04491 0.10677 0.04421 0.11497 0.04213 C 0.13177 0.03773 0.13411 0.03472 0.14752 0.02963 C 0.15547 0.02685 0.16341 0.02431 0.17148 0.02153 C 0.17578 0.02662 0.18086 0.03009 0.18463 0.03657 C 0.1862 0.03935 0.18476 0.04653 0.18698 0.04768 C 0.19088 0.04977 0.19518 0.04583 0.19935 0.04491 C 0.20794 0.0375 0.22344 0.02268 0.23411 0.01736 C 0.23633 0.0162 0.23867 0.01643 0.24101 0.01597 C 0.24388 0.01875 0.247 0.0206 0.24948 0.02431 C 0.25534 0.03241 0.2582 0.04583 0.26575 0.05046 C 0.26966 0.05278 0.27396 0.05116 0.27812 0.05162 C 0.28203 0.05046 0.2862 0.05069 0.28971 0.04768 C 0.29752 0.04074 0.30937 0.02106 0.31523 0.00903 C 0.33411 -0.0294 0.30924 0.01551 0.3237 -0.01019 C 0.32656 -0.00741 0.32956 -0.00509 0.33229 -0.00185 C 0.33594 0.00231 0.33932 0.00764 0.3431 0.01181 C 0.34531 0.01412 0.34779 0.01551 0.34987 0.01736 C 0.35338 0.0169 0.3569 0.01806 0.36016 0.01597 C 0.36406 0.01343 0.36719 0.00741 0.37096 0.0037 C 0.37578 -0.00139 0.38034 -0.00694 0.38555 -0.01019 C 0.39049 -0.01343 0.39583 -0.01389 0.40104 -0.01574 C 0.40989 -0.01042 0.40325 -0.01574 0.41341 0.00231 C 0.41471 0.00486 0.41614 0.0081 0.4181 0.00903 C 0.42331 0.01157 0.42891 0.01088 0.43437 0.01181 C 0.44258 0.00718 0.45104 0.0037 0.45911 -0.00185 C 0.47656 -0.01389 0.47917 -0.02245 0.49622 -0.02801 C 0.50078 -0.02963 0.50547 -0.02894 0.51002 -0.0294 C 0.51263 -0.02755 0.51549 -0.02662 0.51784 -0.02384 C 0.53893 -0.00023 0.50729 -0.02685 0.53476 0.00093 C 0.54141 0.00741 0.55495 0.00602 0.56029 0.00625 C 0.56224 0.00579 0.58594 -0.00208 0.59049 -0.00185 C 0.597 -0.00162 0.60976 0.00231 0.60976 0.00255 C 0.61471 0.00139 0.61979 0.00185 0.62448 -0.00046 C 0.63034 -0.00347 0.63398 -0.00833 0.63763 -0.01574 C 0.63893 -0.01829 0.64036 -0.02107 0.64154 -0.02384 C 0.64245 -0.02616 0.6431 -0.02847 0.64388 -0.03079 C 0.64414 -0.03264 0.6444 -0.03449 0.64466 -0.03634 C 0.64492 -0.03912 0.64505 -0.0419 0.64544 -0.04444 C 0.64557 -0.04607 0.64583 -0.04722 0.64609 -0.04861 C 0.64661 -0.05046 0.64752 -0.05208 0.64766 -0.05417 C 0.64805 -0.05787 0.64766 -0.06157 0.64766 -0.06505 " pathEditMode="relative" rAng="0" ptsTypes="AAAAAAAAAAAAAAAAAAAAAAAAAAAAAAAAAAAAAAAAAAAAAA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81" y="-2407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7D2-E5F9-44DA-A986-16BAFD9E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DD55-B72D-4135-A5DC-43494B582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87" y="15582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it turns out, RV1 and RV2 are “related” differently 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are RV’s that tend to move in the same direction.</a:t>
            </a:r>
          </a:p>
          <a:p>
            <a:r>
              <a:rPr lang="en-US" dirty="0"/>
              <a:t>There are RV’s that tend to move in the opposite direction.</a:t>
            </a:r>
          </a:p>
          <a:p>
            <a:r>
              <a:rPr lang="en-US" dirty="0"/>
              <a:t>There are RV’s that are not related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86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074"/>
    </mc:Choice>
    <mc:Fallback xmlns="">
      <p:transition spd="slow" advTm="98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Co-variance of X and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380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are two random variables,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SG" dirty="0"/>
                  <a:t>. </a:t>
                </a:r>
              </a:p>
              <a:p>
                <a:pPr marL="0" indent="0">
                  <a:buNone/>
                </a:pPr>
                <a:r>
                  <a:rPr lang="en-SG" dirty="0"/>
                  <a:t>The covariance between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is defined as: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dirty="0"/>
                  <a:t>: deviation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from its mean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dirty="0"/>
                  <a:t>: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from its mean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[.]: we weight the product of the above two deviations by their bi-variation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38065"/>
              </a:xfrm>
              <a:blipFill>
                <a:blip r:embed="rId6"/>
                <a:stretch>
                  <a:fillRect l="-1217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006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969"/>
    </mc:Choice>
    <mc:Fallback xmlns="">
      <p:transition spd="slow" advTm="719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559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If an </a:t>
                </a:r>
                <a:r>
                  <a:rPr lang="en-SG" dirty="0">
                    <a:solidFill>
                      <a:srgbClr val="FF0000"/>
                    </a:solidFill>
                  </a:rPr>
                  <a:t>upward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accent6">
                        <a:lumMod val="75000"/>
                      </a:schemeClr>
                    </a:solidFill>
                  </a:rPr>
                  <a:t>(</a:t>
                </a:r>
                <a:r>
                  <a:rPr lang="en-SG" i="1" dirty="0">
                    <a:solidFill>
                      <a:schemeClr val="accent6">
                        <a:lumMod val="75000"/>
                      </a:schemeClr>
                    </a:solidFill>
                  </a:rPr>
                  <a:t>downward</a:t>
                </a:r>
                <a:r>
                  <a:rPr lang="en-US" altLang="zh-TW" i="1" dirty="0">
                    <a:solidFill>
                      <a:schemeClr val="accent6">
                        <a:lumMod val="75000"/>
                      </a:schemeClr>
                    </a:solidFill>
                  </a:rPr>
                  <a:t>)</a:t>
                </a:r>
                <a:r>
                  <a:rPr lang="en-SG" dirty="0"/>
                  <a:t>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tend to be accompanied by an </a:t>
                </a:r>
                <a:r>
                  <a:rPr lang="en-SG" dirty="0">
                    <a:solidFill>
                      <a:srgbClr val="FF0000"/>
                    </a:solidFill>
                  </a:rPr>
                  <a:t>upward</a:t>
                </a:r>
                <a:r>
                  <a:rPr lang="en-SG" dirty="0"/>
                  <a:t> </a:t>
                </a:r>
                <a:r>
                  <a:rPr lang="en-US" altLang="zh-TW" i="1" dirty="0">
                    <a:solidFill>
                      <a:schemeClr val="accent6">
                        <a:lumMod val="75000"/>
                      </a:schemeClr>
                    </a:solidFill>
                  </a:rPr>
                  <a:t>(d</a:t>
                </a:r>
                <a:r>
                  <a:rPr lang="en-SG" i="1" dirty="0" err="1">
                    <a:solidFill>
                      <a:schemeClr val="accent6">
                        <a:lumMod val="75000"/>
                      </a:schemeClr>
                    </a:solidFill>
                  </a:rPr>
                  <a:t>ownward</a:t>
                </a:r>
                <a:r>
                  <a:rPr lang="en-US" altLang="zh-TW" i="1" dirty="0">
                    <a:solidFill>
                      <a:schemeClr val="accent6">
                        <a:lumMod val="75000"/>
                      </a:schemeClr>
                    </a:solidFill>
                  </a:rPr>
                  <a:t>) </a:t>
                </a:r>
                <a:r>
                  <a:rPr lang="en-SG" dirty="0"/>
                  <a:t>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SG" dirty="0"/>
                  <a:t> and we say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are positively correlated</a:t>
                </a:r>
              </a:p>
              <a:p>
                <a:pPr>
                  <a:buFontTx/>
                  <a:buChar char="-"/>
                </a:pPr>
                <a:r>
                  <a:rPr lang="en-SG" sz="2400" i="1" dirty="0">
                    <a:latin typeface="Cambria Math" panose="02040503050406030204" pitchFamily="18" charset="0"/>
                  </a:rPr>
                  <a:t>E.g., X : height, Y: weight. (X,Y) are in general positively correlated </a:t>
                </a:r>
              </a:p>
              <a:p>
                <a:pPr marL="0" indent="0">
                  <a:buNone/>
                </a:pPr>
                <a:endParaRPr lang="en-SG" sz="2400" dirty="0"/>
              </a:p>
              <a:p>
                <a:pPr>
                  <a:buFontTx/>
                  <a:buChar char="-"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55928"/>
              </a:xfrm>
              <a:blipFill>
                <a:blip r:embed="rId7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Positive correlation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791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094"/>
    </mc:Choice>
    <mc:Fallback xmlns="">
      <p:transition spd="slow" advTm="165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1077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If an </a:t>
                </a:r>
                <a:r>
                  <a:rPr lang="en-SG" dirty="0">
                    <a:solidFill>
                      <a:srgbClr val="FF0000"/>
                    </a:solidFill>
                  </a:rPr>
                  <a:t>upward</a:t>
                </a:r>
                <a:r>
                  <a:rPr lang="en-SG" dirty="0"/>
                  <a:t>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tend to be accompanied by a </a:t>
                </a:r>
                <a:r>
                  <a:rPr lang="en-SG" dirty="0">
                    <a:solidFill>
                      <a:schemeClr val="accent6">
                        <a:lumMod val="75000"/>
                      </a:schemeClr>
                    </a:solidFill>
                  </a:rPr>
                  <a:t>downward</a:t>
                </a:r>
                <a:r>
                  <a:rPr lang="en-SG" dirty="0"/>
                  <a:t>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SG" dirty="0"/>
                  <a:t> and we say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are negatively correlated</a:t>
                </a:r>
              </a:p>
              <a:p>
                <a:pPr>
                  <a:buFontTx/>
                  <a:buChar char="-"/>
                </a:pPr>
                <a:r>
                  <a:rPr lang="en-SG" sz="2400" i="1" dirty="0">
                    <a:latin typeface="Cambria Math" panose="02040503050406030204" pitchFamily="18" charset="0"/>
                  </a:rPr>
                  <a:t>E.g., X : Hr exercises, Y: bodyfat. (X,Y) are in general negatively correlated </a:t>
                </a:r>
              </a:p>
              <a:p>
                <a:pPr marL="0" indent="0">
                  <a:buNone/>
                </a:pPr>
                <a:endParaRPr lang="en-SG" sz="2400" dirty="0"/>
              </a:p>
              <a:p>
                <a:pPr>
                  <a:buFontTx/>
                  <a:buChar char="-"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10777" cy="4351338"/>
              </a:xfrm>
              <a:blipFill>
                <a:blip r:embed="rId6"/>
                <a:stretch>
                  <a:fillRect l="-9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Negative correlation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86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297"/>
    </mc:Choice>
    <mc:Fallback xmlns="">
      <p:transition spd="slow" advTm="652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1077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If a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is not accompanied by a systematic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 and we say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are uncorrelated</a:t>
                </a:r>
              </a:p>
              <a:p>
                <a:pPr>
                  <a:buFontTx/>
                  <a:buChar char="-"/>
                </a:pPr>
                <a:r>
                  <a:rPr lang="en-SG" sz="2400" i="1" dirty="0">
                    <a:latin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SG" sz="2400" i="1" dirty="0">
                    <a:latin typeface="Cambria Math" panose="02040503050406030204" pitchFamily="18" charset="0"/>
                  </a:rPr>
                  <a:t> are independent, they must also be uncorrelated</a:t>
                </a:r>
              </a:p>
              <a:p>
                <a:pPr marL="0" indent="0">
                  <a:buNone/>
                </a:pPr>
                <a:endParaRPr lang="en-SG" sz="2400" dirty="0"/>
              </a:p>
              <a:p>
                <a:pPr>
                  <a:buFontTx/>
                  <a:buChar char="-"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10777" cy="4351338"/>
              </a:xfrm>
              <a:blipFill>
                <a:blip r:embed="rId7"/>
                <a:stretch>
                  <a:fillRect l="-9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No correlation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276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68"/>
    </mc:Choice>
    <mc:Fallback xmlns="">
      <p:transition spd="slow" advTm="1366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1077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If a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is not accompanied by a systematic swing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 and we say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are uncorrelated</a:t>
                </a:r>
              </a:p>
              <a:p>
                <a:pPr>
                  <a:buFontTx/>
                  <a:buChar char="-"/>
                </a:pPr>
                <a:r>
                  <a:rPr lang="en-SG" sz="2400" i="1" dirty="0">
                    <a:latin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SG" sz="2400" i="1" dirty="0">
                    <a:latin typeface="Cambria Math" panose="02040503050406030204" pitchFamily="18" charset="0"/>
                  </a:rPr>
                  <a:t> are independent, they must also be uncorrelated</a:t>
                </a:r>
              </a:p>
              <a:p>
                <a:pPr marL="0" indent="0">
                  <a:buNone/>
                </a:pPr>
                <a:endParaRPr lang="en-SG" sz="2400" dirty="0"/>
              </a:p>
              <a:p>
                <a:pPr>
                  <a:buFontTx/>
                  <a:buChar char="-"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10777" cy="4351338"/>
              </a:xfrm>
              <a:blipFill>
                <a:blip r:embed="rId7"/>
                <a:stretch>
                  <a:fillRect l="-9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No correlation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368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664"/>
    </mc:Choice>
    <mc:Fallback xmlns="">
      <p:transition spd="slow" advTm="19666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Co-variance of X and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0611" y="1690688"/>
                <a:ext cx="1091077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SG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SG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r>
                  <a:rPr lang="en-SG" dirty="0"/>
                  <a:t>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is equal to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1" y="1690688"/>
                <a:ext cx="10910777" cy="4351338"/>
              </a:xfrm>
              <a:blipFill>
                <a:blip r:embed="rId5"/>
                <a:stretch>
                  <a:fillRect l="-100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88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96"/>
    </mc:Choice>
    <mc:Fallback xmlns="">
      <p:transition spd="slow" advTm="125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5415-EF07-4984-B6EA-994BE02F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Correlations explained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C37526-182D-4AE7-8600-46E4B56120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441" y="1780222"/>
                <a:ext cx="10515600" cy="4540567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dirty="0"/>
                  <a:t>, however, has a major limitation—its value depends on the units of measurement  </a:t>
                </a:r>
              </a:p>
              <a:p>
                <a:r>
                  <a:rPr lang="en-US" dirty="0"/>
                  <a:t>Correlation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en-US" dirty="0"/>
                  <a:t> is defined as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𝑜𝑣</m:t>
                          </m:r>
                          <m:d>
                            <m:d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b="0" dirty="0"/>
                  <a:t> are the standard deviation of X and Y, respectively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value between -1 and +1, independent of units of measurement of X and Y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C37526-182D-4AE7-8600-46E4B5612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441" y="1780222"/>
                <a:ext cx="10515600" cy="4540567"/>
              </a:xfrm>
              <a:blipFill>
                <a:blip r:embed="rId6"/>
                <a:stretch>
                  <a:fillRect l="-1217" t="-2953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081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710"/>
    </mc:Choice>
    <mc:Fallback xmlns="">
      <p:transition spd="slow" advTm="1217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E7EBD24-A741-4DB2-87E2-FB082CBF8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027" y="1156638"/>
            <a:ext cx="3447822" cy="2167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B5524D-E304-4760-846D-A039F0BDC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49" y="1137972"/>
            <a:ext cx="3358924" cy="21114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7B06A3-4BB6-4424-8F90-E5A698A57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759" y="1071867"/>
            <a:ext cx="3584701" cy="22533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93F28C-5885-48C1-B8F0-1142F9B1A8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618" y="3672543"/>
            <a:ext cx="3358924" cy="2111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DEB4BED-6612-4D3F-89FC-34894CF58281}"/>
                  </a:ext>
                </a:extLst>
              </p:cNvPr>
              <p:cNvSpPr/>
              <p:nvPr/>
            </p:nvSpPr>
            <p:spPr>
              <a:xfrm>
                <a:off x="911883" y="3848373"/>
                <a:ext cx="13719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=+0.7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DEB4BED-6612-4D3F-89FC-34894CF582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883" y="3848373"/>
                <a:ext cx="1371914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46D4BB1-E69E-46F4-99CB-BF44F979FE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9093" y="3514215"/>
            <a:ext cx="3688367" cy="2318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9FDABC-2AFB-4000-9749-5783D5531FD9}"/>
                  </a:ext>
                </a:extLst>
              </p:cNvPr>
              <p:cNvSpPr/>
              <p:nvPr/>
            </p:nvSpPr>
            <p:spPr>
              <a:xfrm>
                <a:off x="4814203" y="1289209"/>
                <a:ext cx="13719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=+0.3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9FDABC-2AFB-4000-9749-5783D5531F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203" y="1289209"/>
                <a:ext cx="1371914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D7DFD2E-A2A5-4883-8776-5CAE3A0B8E8C}"/>
                  </a:ext>
                </a:extLst>
              </p:cNvPr>
              <p:cNvSpPr/>
              <p:nvPr/>
            </p:nvSpPr>
            <p:spPr>
              <a:xfrm>
                <a:off x="5710189" y="3763528"/>
                <a:ext cx="13719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=−0.9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D7DFD2E-A2A5-4883-8776-5CAE3A0B8E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189" y="3763528"/>
                <a:ext cx="1371914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EDB0F31F-1BA7-41CC-B08A-739F5DC3F4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7423" y="3534046"/>
            <a:ext cx="3688367" cy="2318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8441D8-87C0-4F2F-9A67-E5A16F85AF4B}"/>
                  </a:ext>
                </a:extLst>
              </p:cNvPr>
              <p:cNvSpPr/>
              <p:nvPr/>
            </p:nvSpPr>
            <p:spPr>
              <a:xfrm>
                <a:off x="10060348" y="3848373"/>
                <a:ext cx="14360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=−0.9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8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8441D8-87C0-4F2F-9A67-E5A16F85A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348" y="3848373"/>
                <a:ext cx="1436034" cy="369332"/>
              </a:xfrm>
              <a:prstGeom prst="rect">
                <a:avLst/>
              </a:prstGeom>
              <a:blipFill>
                <a:blip r:embed="rId15"/>
                <a:stretch>
                  <a:fillRect t="-8197" r="-25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E6A135-380B-4B0F-9840-05C1CE1A6DC3}"/>
                  </a:ext>
                </a:extLst>
              </p:cNvPr>
              <p:cNvSpPr txBox="1"/>
              <p:nvPr/>
            </p:nvSpPr>
            <p:spPr>
              <a:xfrm>
                <a:off x="475711" y="376226"/>
                <a:ext cx="1124295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Each figure contains 1,000 computer-generated observations under a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en-US" sz="2400" dirty="0"/>
                  <a:t> value</a:t>
                </a:r>
              </a:p>
              <a:p>
                <a:endParaRPr lang="en-US" sz="20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E6A135-380B-4B0F-9840-05C1CE1A6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11" y="376226"/>
                <a:ext cx="11242950" cy="769441"/>
              </a:xfrm>
              <a:prstGeom prst="rect">
                <a:avLst/>
              </a:prstGeom>
              <a:blipFill>
                <a:blip r:embed="rId16"/>
                <a:stretch>
                  <a:fillRect l="-813" t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6120F45-5E2C-419B-BEE0-240FBDEEC212}"/>
                  </a:ext>
                </a:extLst>
              </p:cNvPr>
              <p:cNvSpPr/>
              <p:nvPr/>
            </p:nvSpPr>
            <p:spPr>
              <a:xfrm>
                <a:off x="1086610" y="1305857"/>
                <a:ext cx="10224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6120F45-5E2C-419B-BEE0-240FBDEEC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10" y="1305857"/>
                <a:ext cx="1022459" cy="369332"/>
              </a:xfrm>
              <a:prstGeom prst="rect">
                <a:avLst/>
              </a:prstGeom>
              <a:blipFill>
                <a:blip r:embed="rId1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28FA63E-FEE9-4C73-AAA6-332054A6FB97}"/>
                  </a:ext>
                </a:extLst>
              </p:cNvPr>
              <p:cNvSpPr txBox="1"/>
              <p:nvPr/>
            </p:nvSpPr>
            <p:spPr>
              <a:xfrm>
                <a:off x="585209" y="5976281"/>
                <a:ext cx="1160679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Observe that 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 is to 1, the more pronounced the linear relationship between X and Y is.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28FA63E-FEE9-4C73-AAA6-332054A6F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9" y="5976281"/>
                <a:ext cx="11606791" cy="830997"/>
              </a:xfrm>
              <a:prstGeom prst="rect">
                <a:avLst/>
              </a:prstGeom>
              <a:blipFill>
                <a:blip r:embed="rId18"/>
                <a:stretch>
                  <a:fillRect l="-840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D03241A-99E6-417D-A023-762484F9391F}"/>
                  </a:ext>
                </a:extLst>
              </p:cNvPr>
              <p:cNvSpPr/>
              <p:nvPr/>
            </p:nvSpPr>
            <p:spPr>
              <a:xfrm>
                <a:off x="8688434" y="1397495"/>
                <a:ext cx="13061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=+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0.5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D03241A-99E6-417D-A023-762484F939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434" y="1397495"/>
                <a:ext cx="1306191" cy="369332"/>
              </a:xfrm>
              <a:prstGeom prst="rect">
                <a:avLst/>
              </a:prstGeom>
              <a:blipFill>
                <a:blip r:embed="rId19"/>
                <a:stretch>
                  <a:fillRect t="-8197" r="-325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761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752"/>
    </mc:Choice>
    <mc:Fallback xmlns="">
      <p:transition spd="slow" advTm="1067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8" grpId="0"/>
      <p:bldP spid="20" grpId="0"/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8BA0-BEA0-4184-B0EC-FBA0FB1E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and variances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017A7-14D7-4068-A9FB-9B7E71EB7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these two properties: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now extend them to the following more general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997352E-4C6A-4C55-A178-D6ABFA0DB37B}"/>
                  </a:ext>
                </a:extLst>
              </p:cNvPr>
              <p:cNvSpPr/>
              <p:nvPr/>
            </p:nvSpPr>
            <p:spPr>
              <a:xfrm>
                <a:off x="838199" y="2933825"/>
                <a:ext cx="9878786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3: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997352E-4C6A-4C55-A178-D6ABFA0DB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933825"/>
                <a:ext cx="9878786" cy="461665"/>
              </a:xfrm>
              <a:prstGeom prst="rect">
                <a:avLst/>
              </a:prstGeom>
              <a:blipFill>
                <a:blip r:embed="rId5"/>
                <a:stretch>
                  <a:fillRect l="-370" t="-8974" b="-269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16FCF2-8E70-45A6-B93B-3F0972F15405}"/>
                  </a:ext>
                </a:extLst>
              </p:cNvPr>
              <p:cNvSpPr/>
              <p:nvPr/>
            </p:nvSpPr>
            <p:spPr>
              <a:xfrm>
                <a:off x="838201" y="5061333"/>
                <a:ext cx="10237546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16FCF2-8E70-45A6-B93B-3F0972F15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061333"/>
                <a:ext cx="10237546" cy="461665"/>
              </a:xfrm>
              <a:prstGeom prst="rect">
                <a:avLst/>
              </a:prstGeom>
              <a:blipFill>
                <a:blip r:embed="rId6"/>
                <a:stretch>
                  <a:fillRect l="-119" b="-153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A6EF4E-DB9C-477A-AE89-FEB1E39AF361}"/>
                  </a:ext>
                </a:extLst>
              </p:cNvPr>
              <p:cNvSpPr/>
              <p:nvPr/>
            </p:nvSpPr>
            <p:spPr>
              <a:xfrm>
                <a:off x="838199" y="2292777"/>
                <a:ext cx="5977473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2: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A6EF4E-DB9C-477A-AE89-FEB1E39AF3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292777"/>
                <a:ext cx="5977473" cy="461665"/>
              </a:xfrm>
              <a:prstGeom prst="rect">
                <a:avLst/>
              </a:prstGeom>
              <a:blipFill>
                <a:blip r:embed="rId7"/>
                <a:stretch>
                  <a:fillRect l="-610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0DEE0CF-BE9D-462E-8D5B-585DC38B63BB}"/>
                  </a:ext>
                </a:extLst>
              </p:cNvPr>
              <p:cNvSpPr/>
              <p:nvPr/>
            </p:nvSpPr>
            <p:spPr>
              <a:xfrm>
                <a:off x="838201" y="5680899"/>
                <a:ext cx="10237546" cy="500843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0DEE0CF-BE9D-462E-8D5B-585DC38B6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680899"/>
                <a:ext cx="10237546" cy="500843"/>
              </a:xfrm>
              <a:prstGeom prst="rect">
                <a:avLst/>
              </a:prstGeom>
              <a:blipFill>
                <a:blip r:embed="rId8"/>
                <a:stretch>
                  <a:fillRect t="-5952" b="-202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68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312"/>
    </mc:Choice>
    <mc:Fallback xmlns="">
      <p:transition spd="slow" advTm="10931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54.9|8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54.9|8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9|11.4|8.9|9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0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0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3|13.8|9.9|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3|0.3|0.3|0.3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|0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695</Words>
  <Application>Microsoft Office PowerPoint</Application>
  <PresentationFormat>Widescreen</PresentationFormat>
  <Paragraphs>110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Bivariate distributions</vt:lpstr>
      <vt:lpstr>A bivariate distribution</vt:lpstr>
      <vt:lpstr>Relationship between random variables</vt:lpstr>
      <vt:lpstr>Co-variance of X and Y</vt:lpstr>
      <vt:lpstr>Positive correlation</vt:lpstr>
      <vt:lpstr>Negative correlation</vt:lpstr>
      <vt:lpstr>No correlation</vt:lpstr>
      <vt:lpstr>No correlation</vt:lpstr>
      <vt:lpstr>Co-variance of X and X</vt:lpstr>
      <vt:lpstr>Correlations explained</vt:lpstr>
      <vt:lpstr>PowerPoint Presentation</vt:lpstr>
      <vt:lpstr>Correlation and variances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221</cp:revision>
  <dcterms:created xsi:type="dcterms:W3CDTF">2018-07-30T07:45:11Z</dcterms:created>
  <dcterms:modified xsi:type="dcterms:W3CDTF">2023-07-06T06:21:08Z</dcterms:modified>
</cp:coreProperties>
</file>
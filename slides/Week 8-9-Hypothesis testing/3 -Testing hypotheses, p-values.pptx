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01" r:id="rId2"/>
    <p:sldId id="324" r:id="rId3"/>
    <p:sldId id="325" r:id="rId4"/>
    <p:sldId id="326" r:id="rId5"/>
    <p:sldId id="335" r:id="rId6"/>
    <p:sldId id="327" r:id="rId7"/>
    <p:sldId id="328" r:id="rId8"/>
    <p:sldId id="351" r:id="rId9"/>
    <p:sldId id="355" r:id="rId10"/>
    <p:sldId id="359" r:id="rId11"/>
    <p:sldId id="362" r:id="rId12"/>
    <p:sldId id="356" r:id="rId13"/>
    <p:sldId id="354" r:id="rId14"/>
    <p:sldId id="336" r:id="rId15"/>
    <p:sldId id="365" r:id="rId16"/>
    <p:sldId id="334" r:id="rId17"/>
    <p:sldId id="363" r:id="rId18"/>
    <p:sldId id="340" r:id="rId19"/>
    <p:sldId id="357" r:id="rId20"/>
    <p:sldId id="3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9C5CCC-58B4-744A-B83E-F613AD894429}" v="20" dt="2024-05-21T12:46:15.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01" autoAdjust="0"/>
    <p:restoredTop sz="81058" autoAdjust="0"/>
  </p:normalViewPr>
  <p:slideViewPr>
    <p:cSldViewPr snapToGrid="0">
      <p:cViewPr varScale="1">
        <p:scale>
          <a:sx n="75" d="100"/>
          <a:sy n="75" d="100"/>
        </p:scale>
        <p:origin x="176" y="800"/>
      </p:cViewPr>
      <p:guideLst/>
    </p:cSldViewPr>
  </p:slideViewPr>
  <p:notesTextViewPr>
    <p:cViewPr>
      <p:scale>
        <a:sx n="1" d="1"/>
        <a:sy n="1" d="1"/>
      </p:scale>
      <p:origin x="0" y="0"/>
    </p:cViewPr>
  </p:notesTextViewPr>
  <p:sorterViewPr>
    <p:cViewPr varScale="1">
      <p:scale>
        <a:sx n="1" d="1"/>
        <a:sy n="1" d="1"/>
      </p:scale>
      <p:origin x="0" y="-128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ele Nguyen (Dr)" userId="72917947-4a4e-42ff-b4ec-a414eb8a1970" providerId="ADAL" clId="{D89C5CCC-58B4-744A-B83E-F613AD894429}"/>
    <pc:docChg chg="undo custSel addSld delSld modSld sldOrd">
      <pc:chgData name="Michele Nguyen (Dr)" userId="72917947-4a4e-42ff-b4ec-a414eb8a1970" providerId="ADAL" clId="{D89C5CCC-58B4-744A-B83E-F613AD894429}" dt="2024-05-21T12:46:15.414" v="69" actId="20577"/>
      <pc:docMkLst>
        <pc:docMk/>
      </pc:docMkLst>
      <pc:sldChg chg="addSp delSp modSp add del mod delAnim modAnim">
        <pc:chgData name="Michele Nguyen (Dr)" userId="72917947-4a4e-42ff-b4ec-a414eb8a1970" providerId="ADAL" clId="{D89C5CCC-58B4-744A-B83E-F613AD894429}" dt="2024-05-21T08:40:28.337" v="45" actId="2696"/>
        <pc:sldMkLst>
          <pc:docMk/>
          <pc:sldMk cId="1580665889" sldId="292"/>
        </pc:sldMkLst>
        <pc:spChg chg="mod">
          <ac:chgData name="Michele Nguyen (Dr)" userId="72917947-4a4e-42ff-b4ec-a414eb8a1970" providerId="ADAL" clId="{D89C5CCC-58B4-744A-B83E-F613AD894429}" dt="2024-05-21T08:37:47.624" v="42" actId="14100"/>
          <ac:spMkLst>
            <pc:docMk/>
            <pc:sldMk cId="1580665889" sldId="292"/>
            <ac:spMk id="3" creationId="{635FF920-14C7-4A1A-B6FC-71F8B04792FC}"/>
          </ac:spMkLst>
        </pc:spChg>
        <pc:spChg chg="add del mod">
          <ac:chgData name="Michele Nguyen (Dr)" userId="72917947-4a4e-42ff-b4ec-a414eb8a1970" providerId="ADAL" clId="{D89C5CCC-58B4-744A-B83E-F613AD894429}" dt="2024-05-21T08:37:47.206" v="41" actId="22"/>
          <ac:spMkLst>
            <pc:docMk/>
            <pc:sldMk cId="1580665889" sldId="292"/>
            <ac:spMk id="6" creationId="{C9988B82-50CF-4B0A-5D7C-8816997CF84B}"/>
          </ac:spMkLst>
        </pc:spChg>
        <pc:picChg chg="del">
          <ac:chgData name="Michele Nguyen (Dr)" userId="72917947-4a4e-42ff-b4ec-a414eb8a1970" providerId="ADAL" clId="{D89C5CCC-58B4-744A-B83E-F613AD894429}" dt="2024-05-21T08:36:38.996" v="33" actId="478"/>
          <ac:picMkLst>
            <pc:docMk/>
            <pc:sldMk cId="1580665889" sldId="292"/>
            <ac:picMk id="5" creationId="{4A342884-736C-BE18-13C3-B9E9E1BAE81C}"/>
          </ac:picMkLst>
        </pc:picChg>
      </pc:sldChg>
      <pc:sldChg chg="del">
        <pc:chgData name="Michele Nguyen (Dr)" userId="72917947-4a4e-42ff-b4ec-a414eb8a1970" providerId="ADAL" clId="{D89C5CCC-58B4-744A-B83E-F613AD894429}" dt="2024-05-21T08:35:12.780" v="0" actId="2696"/>
        <pc:sldMkLst>
          <pc:docMk/>
          <pc:sldMk cId="3882234239" sldId="317"/>
        </pc:sldMkLst>
      </pc:sldChg>
      <pc:sldChg chg="del">
        <pc:chgData name="Michele Nguyen (Dr)" userId="72917947-4a4e-42ff-b4ec-a414eb8a1970" providerId="ADAL" clId="{D89C5CCC-58B4-744A-B83E-F613AD894429}" dt="2024-05-21T08:35:12.780" v="0" actId="2696"/>
        <pc:sldMkLst>
          <pc:docMk/>
          <pc:sldMk cId="3910285437" sldId="318"/>
        </pc:sldMkLst>
      </pc:sldChg>
      <pc:sldChg chg="del">
        <pc:chgData name="Michele Nguyen (Dr)" userId="72917947-4a4e-42ff-b4ec-a414eb8a1970" providerId="ADAL" clId="{D89C5CCC-58B4-744A-B83E-F613AD894429}" dt="2024-05-21T08:35:12.780" v="0" actId="2696"/>
        <pc:sldMkLst>
          <pc:docMk/>
          <pc:sldMk cId="3629205158" sldId="329"/>
        </pc:sldMkLst>
      </pc:sldChg>
      <pc:sldChg chg="delSp modSp add del mod delAnim">
        <pc:chgData name="Michele Nguyen (Dr)" userId="72917947-4a4e-42ff-b4ec-a414eb8a1970" providerId="ADAL" clId="{D89C5CCC-58B4-744A-B83E-F613AD894429}" dt="2024-05-21T08:35:30.578" v="5" actId="2696"/>
        <pc:sldMkLst>
          <pc:docMk/>
          <pc:sldMk cId="3888761050" sldId="330"/>
        </pc:sldMkLst>
        <pc:picChg chg="del mod">
          <ac:chgData name="Michele Nguyen (Dr)" userId="72917947-4a4e-42ff-b4ec-a414eb8a1970" providerId="ADAL" clId="{D89C5CCC-58B4-744A-B83E-F613AD894429}" dt="2024-05-21T08:35:26.915" v="3" actId="478"/>
          <ac:picMkLst>
            <pc:docMk/>
            <pc:sldMk cId="3888761050" sldId="330"/>
            <ac:picMk id="6" creationId="{9A1C01D2-D431-8856-7691-F448E94ECBD5}"/>
          </ac:picMkLst>
        </pc:picChg>
      </pc:sldChg>
      <pc:sldChg chg="delSp add del mod delAnim">
        <pc:chgData name="Michele Nguyen (Dr)" userId="72917947-4a4e-42ff-b4ec-a414eb8a1970" providerId="ADAL" clId="{D89C5CCC-58B4-744A-B83E-F613AD894429}" dt="2024-05-21T08:36:24.532" v="27" actId="478"/>
        <pc:sldMkLst>
          <pc:docMk/>
          <pc:sldMk cId="2099646411" sldId="334"/>
        </pc:sldMkLst>
        <pc:picChg chg="del">
          <ac:chgData name="Michele Nguyen (Dr)" userId="72917947-4a4e-42ff-b4ec-a414eb8a1970" providerId="ADAL" clId="{D89C5CCC-58B4-744A-B83E-F613AD894429}" dt="2024-05-21T08:36:24.532" v="27" actId="478"/>
          <ac:picMkLst>
            <pc:docMk/>
            <pc:sldMk cId="2099646411" sldId="334"/>
            <ac:picMk id="5" creationId="{0FE19C8E-FA1B-79C2-F43B-F604C88BB535}"/>
          </ac:picMkLst>
        </pc:picChg>
      </pc:sldChg>
      <pc:sldChg chg="delSp modSp add del mod delAnim">
        <pc:chgData name="Michele Nguyen (Dr)" userId="72917947-4a4e-42ff-b4ec-a414eb8a1970" providerId="ADAL" clId="{D89C5CCC-58B4-744A-B83E-F613AD894429}" dt="2024-05-21T08:36:14.593" v="21" actId="478"/>
        <pc:sldMkLst>
          <pc:docMk/>
          <pc:sldMk cId="3379261302" sldId="336"/>
        </pc:sldMkLst>
        <pc:picChg chg="del mod">
          <ac:chgData name="Michele Nguyen (Dr)" userId="72917947-4a4e-42ff-b4ec-a414eb8a1970" providerId="ADAL" clId="{D89C5CCC-58B4-744A-B83E-F613AD894429}" dt="2024-05-21T08:36:14.593" v="21" actId="478"/>
          <ac:picMkLst>
            <pc:docMk/>
            <pc:sldMk cId="3379261302" sldId="336"/>
            <ac:picMk id="5" creationId="{AF366B90-B06F-8664-D242-63A3E63B7E71}"/>
          </ac:picMkLst>
        </pc:picChg>
      </pc:sldChg>
      <pc:sldChg chg="del">
        <pc:chgData name="Michele Nguyen (Dr)" userId="72917947-4a4e-42ff-b4ec-a414eb8a1970" providerId="ADAL" clId="{D89C5CCC-58B4-744A-B83E-F613AD894429}" dt="2024-05-21T08:35:12.780" v="0" actId="2696"/>
        <pc:sldMkLst>
          <pc:docMk/>
          <pc:sldMk cId="398578080" sldId="337"/>
        </pc:sldMkLst>
      </pc:sldChg>
      <pc:sldChg chg="del">
        <pc:chgData name="Michele Nguyen (Dr)" userId="72917947-4a4e-42ff-b4ec-a414eb8a1970" providerId="ADAL" clId="{D89C5CCC-58B4-744A-B83E-F613AD894429}" dt="2024-05-21T08:35:12.780" v="0" actId="2696"/>
        <pc:sldMkLst>
          <pc:docMk/>
          <pc:sldMk cId="3343419820" sldId="339"/>
        </pc:sldMkLst>
      </pc:sldChg>
      <pc:sldChg chg="delSp add del mod delAnim modNotesTx">
        <pc:chgData name="Michele Nguyen (Dr)" userId="72917947-4a4e-42ff-b4ec-a414eb8a1970" providerId="ADAL" clId="{D89C5CCC-58B4-744A-B83E-F613AD894429}" dt="2024-05-21T12:33:15.167" v="65" actId="20577"/>
        <pc:sldMkLst>
          <pc:docMk/>
          <pc:sldMk cId="1909071109" sldId="340"/>
        </pc:sldMkLst>
        <pc:picChg chg="del">
          <ac:chgData name="Michele Nguyen (Dr)" userId="72917947-4a4e-42ff-b4ec-a414eb8a1970" providerId="ADAL" clId="{D89C5CCC-58B4-744A-B83E-F613AD894429}" dt="2024-05-21T08:36:29.260" v="29" actId="478"/>
          <ac:picMkLst>
            <pc:docMk/>
            <pc:sldMk cId="1909071109" sldId="340"/>
            <ac:picMk id="4" creationId="{BAAD0FC7-488D-8201-8552-A1E6F027594C}"/>
          </ac:picMkLst>
        </pc:picChg>
      </pc:sldChg>
      <pc:sldChg chg="delSp add del mod delAnim">
        <pc:chgData name="Michele Nguyen (Dr)" userId="72917947-4a4e-42ff-b4ec-a414eb8a1970" providerId="ADAL" clId="{D89C5CCC-58B4-744A-B83E-F613AD894429}" dt="2024-05-21T08:36:36.969" v="32" actId="2696"/>
        <pc:sldMkLst>
          <pc:docMk/>
          <pc:sldMk cId="3770372599" sldId="341"/>
        </pc:sldMkLst>
        <pc:picChg chg="del">
          <ac:chgData name="Michele Nguyen (Dr)" userId="72917947-4a4e-42ff-b4ec-a414eb8a1970" providerId="ADAL" clId="{D89C5CCC-58B4-744A-B83E-F613AD894429}" dt="2024-05-21T08:36:31.826" v="30" actId="478"/>
          <ac:picMkLst>
            <pc:docMk/>
            <pc:sldMk cId="3770372599" sldId="341"/>
            <ac:picMk id="5" creationId="{A828CC34-5709-DE25-1C74-717574FB6F81}"/>
          </ac:picMkLst>
        </pc:picChg>
      </pc:sldChg>
      <pc:sldChg chg="delSp modSp add del mod delAnim">
        <pc:chgData name="Michele Nguyen (Dr)" userId="72917947-4a4e-42ff-b4ec-a414eb8a1970" providerId="ADAL" clId="{D89C5CCC-58B4-744A-B83E-F613AD894429}" dt="2024-05-21T08:36:18.838" v="24" actId="2696"/>
        <pc:sldMkLst>
          <pc:docMk/>
          <pc:sldMk cId="3760684444" sldId="344"/>
        </pc:sldMkLst>
        <pc:picChg chg="del mod">
          <ac:chgData name="Michele Nguyen (Dr)" userId="72917947-4a4e-42ff-b4ec-a414eb8a1970" providerId="ADAL" clId="{D89C5CCC-58B4-744A-B83E-F613AD894429}" dt="2024-05-21T08:36:16.359" v="23" actId="478"/>
          <ac:picMkLst>
            <pc:docMk/>
            <pc:sldMk cId="3760684444" sldId="344"/>
            <ac:picMk id="6" creationId="{D343FA5B-6115-16BA-12E3-472E30AC03B1}"/>
          </ac:picMkLst>
        </pc:picChg>
      </pc:sldChg>
      <pc:sldChg chg="del">
        <pc:chgData name="Michele Nguyen (Dr)" userId="72917947-4a4e-42ff-b4ec-a414eb8a1970" providerId="ADAL" clId="{D89C5CCC-58B4-744A-B83E-F613AD894429}" dt="2024-05-21T08:35:12.780" v="0" actId="2696"/>
        <pc:sldMkLst>
          <pc:docMk/>
          <pc:sldMk cId="2348625115" sldId="346"/>
        </pc:sldMkLst>
      </pc:sldChg>
      <pc:sldChg chg="del">
        <pc:chgData name="Michele Nguyen (Dr)" userId="72917947-4a4e-42ff-b4ec-a414eb8a1970" providerId="ADAL" clId="{D89C5CCC-58B4-744A-B83E-F613AD894429}" dt="2024-05-21T08:35:12.780" v="0" actId="2696"/>
        <pc:sldMkLst>
          <pc:docMk/>
          <pc:sldMk cId="3131354583" sldId="347"/>
        </pc:sldMkLst>
      </pc:sldChg>
      <pc:sldChg chg="delSp add del mod delAnim">
        <pc:chgData name="Michele Nguyen (Dr)" userId="72917947-4a4e-42ff-b4ec-a414eb8a1970" providerId="ADAL" clId="{D89C5CCC-58B4-744A-B83E-F613AD894429}" dt="2024-05-21T08:35:33.180" v="6" actId="2696"/>
        <pc:sldMkLst>
          <pc:docMk/>
          <pc:sldMk cId="1030887495" sldId="349"/>
        </pc:sldMkLst>
        <pc:picChg chg="del">
          <ac:chgData name="Michele Nguyen (Dr)" userId="72917947-4a4e-42ff-b4ec-a414eb8a1970" providerId="ADAL" clId="{D89C5CCC-58B4-744A-B83E-F613AD894429}" dt="2024-05-21T08:35:29.340" v="4" actId="478"/>
          <ac:picMkLst>
            <pc:docMk/>
            <pc:sldMk cId="1030887495" sldId="349"/>
            <ac:picMk id="4" creationId="{65422E31-CA47-4E11-6B74-5434C938880E}"/>
          </ac:picMkLst>
        </pc:picChg>
      </pc:sldChg>
      <pc:sldChg chg="add del">
        <pc:chgData name="Michele Nguyen (Dr)" userId="72917947-4a4e-42ff-b4ec-a414eb8a1970" providerId="ADAL" clId="{D89C5CCC-58B4-744A-B83E-F613AD894429}" dt="2024-05-21T08:35:34.891" v="7" actId="2696"/>
        <pc:sldMkLst>
          <pc:docMk/>
          <pc:sldMk cId="2326915582" sldId="350"/>
        </pc:sldMkLst>
      </pc:sldChg>
      <pc:sldChg chg="delSp add mod delAnim">
        <pc:chgData name="Michele Nguyen (Dr)" userId="72917947-4a4e-42ff-b4ec-a414eb8a1970" providerId="ADAL" clId="{D89C5CCC-58B4-744A-B83E-F613AD894429}" dt="2024-05-21T08:35:36.189" v="8" actId="478"/>
        <pc:sldMkLst>
          <pc:docMk/>
          <pc:sldMk cId="1293528469" sldId="351"/>
        </pc:sldMkLst>
        <pc:picChg chg="del">
          <ac:chgData name="Michele Nguyen (Dr)" userId="72917947-4a4e-42ff-b4ec-a414eb8a1970" providerId="ADAL" clId="{D89C5CCC-58B4-744A-B83E-F613AD894429}" dt="2024-05-21T08:35:36.189" v="8" actId="478"/>
          <ac:picMkLst>
            <pc:docMk/>
            <pc:sldMk cId="1293528469" sldId="351"/>
            <ac:picMk id="14" creationId="{100BE170-616A-760F-1DAB-5D607725C0C1}"/>
          </ac:picMkLst>
        </pc:picChg>
      </pc:sldChg>
      <pc:sldChg chg="delSp modSp add del mod delAnim">
        <pc:chgData name="Michele Nguyen (Dr)" userId="72917947-4a4e-42ff-b4ec-a414eb8a1970" providerId="ADAL" clId="{D89C5CCC-58B4-744A-B83E-F613AD894429}" dt="2024-05-21T08:35:48.991" v="11" actId="2696"/>
        <pc:sldMkLst>
          <pc:docMk/>
          <pc:sldMk cId="1414089270" sldId="352"/>
        </pc:sldMkLst>
        <pc:picChg chg="del mod">
          <ac:chgData name="Michele Nguyen (Dr)" userId="72917947-4a4e-42ff-b4ec-a414eb8a1970" providerId="ADAL" clId="{D89C5CCC-58B4-744A-B83E-F613AD894429}" dt="2024-05-21T08:35:43.497" v="10" actId="478"/>
          <ac:picMkLst>
            <pc:docMk/>
            <pc:sldMk cId="1414089270" sldId="352"/>
            <ac:picMk id="4" creationId="{C2334FA8-BD37-D469-4DE0-92623345CA67}"/>
          </ac:picMkLst>
        </pc:picChg>
      </pc:sldChg>
      <pc:sldChg chg="add del">
        <pc:chgData name="Michele Nguyen (Dr)" userId="72917947-4a4e-42ff-b4ec-a414eb8a1970" providerId="ADAL" clId="{D89C5CCC-58B4-744A-B83E-F613AD894429}" dt="2024-05-21T08:35:50.923" v="12" actId="2696"/>
        <pc:sldMkLst>
          <pc:docMk/>
          <pc:sldMk cId="2625082070" sldId="353"/>
        </pc:sldMkLst>
      </pc:sldChg>
      <pc:sldChg chg="addSp delSp modSp add mod delAnim modNotesTx">
        <pc:chgData name="Michele Nguyen (Dr)" userId="72917947-4a4e-42ff-b4ec-a414eb8a1970" providerId="ADAL" clId="{D89C5CCC-58B4-744A-B83E-F613AD894429}" dt="2024-05-21T12:33:52.037" v="68" actId="20577"/>
        <pc:sldMkLst>
          <pc:docMk/>
          <pc:sldMk cId="380385890" sldId="354"/>
        </pc:sldMkLst>
        <pc:spChg chg="add mod">
          <ac:chgData name="Michele Nguyen (Dr)" userId="72917947-4a4e-42ff-b4ec-a414eb8a1970" providerId="ADAL" clId="{D89C5CCC-58B4-744A-B83E-F613AD894429}" dt="2024-05-21T12:33:02.329" v="64"/>
          <ac:spMkLst>
            <pc:docMk/>
            <pc:sldMk cId="380385890" sldId="354"/>
            <ac:spMk id="3" creationId="{5354A620-0A18-9AFD-2DCB-116B7A8AB71A}"/>
          </ac:spMkLst>
        </pc:spChg>
        <pc:spChg chg="add mod">
          <ac:chgData name="Michele Nguyen (Dr)" userId="72917947-4a4e-42ff-b4ec-a414eb8a1970" providerId="ADAL" clId="{D89C5CCC-58B4-744A-B83E-F613AD894429}" dt="2024-05-21T12:33:02.329" v="64"/>
          <ac:spMkLst>
            <pc:docMk/>
            <pc:sldMk cId="380385890" sldId="354"/>
            <ac:spMk id="7" creationId="{6F4AB13B-B27F-3CB8-4BE9-7C58BD5796FC}"/>
          </ac:spMkLst>
        </pc:spChg>
        <pc:spChg chg="add mod">
          <ac:chgData name="Michele Nguyen (Dr)" userId="72917947-4a4e-42ff-b4ec-a414eb8a1970" providerId="ADAL" clId="{D89C5CCC-58B4-744A-B83E-F613AD894429}" dt="2024-05-21T12:33:02.329" v="64"/>
          <ac:spMkLst>
            <pc:docMk/>
            <pc:sldMk cId="380385890" sldId="354"/>
            <ac:spMk id="8" creationId="{2FB7B0B1-1559-3E78-3034-BD7A35A1E4F4}"/>
          </ac:spMkLst>
        </pc:spChg>
        <pc:spChg chg="add mod">
          <ac:chgData name="Michele Nguyen (Dr)" userId="72917947-4a4e-42ff-b4ec-a414eb8a1970" providerId="ADAL" clId="{D89C5CCC-58B4-744A-B83E-F613AD894429}" dt="2024-05-21T12:33:02.329" v="64"/>
          <ac:spMkLst>
            <pc:docMk/>
            <pc:sldMk cId="380385890" sldId="354"/>
            <ac:spMk id="10" creationId="{84FA4164-A7CF-3930-D7AE-3824376C9C2A}"/>
          </ac:spMkLst>
        </pc:spChg>
        <pc:picChg chg="del">
          <ac:chgData name="Michele Nguyen (Dr)" userId="72917947-4a4e-42ff-b4ec-a414eb8a1970" providerId="ADAL" clId="{D89C5CCC-58B4-744A-B83E-F613AD894429}" dt="2024-05-21T08:36:11.806" v="19" actId="478"/>
          <ac:picMkLst>
            <pc:docMk/>
            <pc:sldMk cId="380385890" sldId="354"/>
            <ac:picMk id="4" creationId="{8D97784B-3DB9-59B9-B179-C1FC6B913A31}"/>
          </ac:picMkLst>
        </pc:picChg>
        <pc:cxnChg chg="add mod">
          <ac:chgData name="Michele Nguyen (Dr)" userId="72917947-4a4e-42ff-b4ec-a414eb8a1970" providerId="ADAL" clId="{D89C5CCC-58B4-744A-B83E-F613AD894429}" dt="2024-05-21T12:33:02.329" v="64"/>
          <ac:cxnSpMkLst>
            <pc:docMk/>
            <pc:sldMk cId="380385890" sldId="354"/>
            <ac:cxnSpMk id="2" creationId="{E67963AE-FAE4-3A29-DE3F-2F06F1922EAD}"/>
          </ac:cxnSpMkLst>
        </pc:cxnChg>
        <pc:cxnChg chg="add mod">
          <ac:chgData name="Michele Nguyen (Dr)" userId="72917947-4a4e-42ff-b4ec-a414eb8a1970" providerId="ADAL" clId="{D89C5CCC-58B4-744A-B83E-F613AD894429}" dt="2024-05-21T12:33:02.329" v="64"/>
          <ac:cxnSpMkLst>
            <pc:docMk/>
            <pc:sldMk cId="380385890" sldId="354"/>
            <ac:cxnSpMk id="4" creationId="{C9D79101-DBBC-2920-E153-F31D23AF31DE}"/>
          </ac:cxnSpMkLst>
        </pc:cxnChg>
      </pc:sldChg>
      <pc:sldChg chg="delSp add del mod ord delAnim modNotesTx">
        <pc:chgData name="Michele Nguyen (Dr)" userId="72917947-4a4e-42ff-b4ec-a414eb8a1970" providerId="ADAL" clId="{D89C5CCC-58B4-744A-B83E-F613AD894429}" dt="2024-05-21T12:30:45.643" v="53" actId="20577"/>
        <pc:sldMkLst>
          <pc:docMk/>
          <pc:sldMk cId="1994571922" sldId="355"/>
        </pc:sldMkLst>
        <pc:picChg chg="del">
          <ac:chgData name="Michele Nguyen (Dr)" userId="72917947-4a4e-42ff-b4ec-a414eb8a1970" providerId="ADAL" clId="{D89C5CCC-58B4-744A-B83E-F613AD894429}" dt="2024-05-21T12:30:42.916" v="52" actId="478"/>
          <ac:picMkLst>
            <pc:docMk/>
            <pc:sldMk cId="1994571922" sldId="355"/>
            <ac:picMk id="11" creationId="{C5BACD48-E98A-C4B6-44EF-112B21F091C4}"/>
          </ac:picMkLst>
        </pc:picChg>
      </pc:sldChg>
      <pc:sldChg chg="addSp delSp modSp add mod delAnim modNotesTx">
        <pc:chgData name="Michele Nguyen (Dr)" userId="72917947-4a4e-42ff-b4ec-a414eb8a1970" providerId="ADAL" clId="{D89C5CCC-58B4-744A-B83E-F613AD894429}" dt="2024-05-21T12:46:15.414" v="69" actId="20577"/>
        <pc:sldMkLst>
          <pc:docMk/>
          <pc:sldMk cId="18919361" sldId="356"/>
        </pc:sldMkLst>
        <pc:spChg chg="add mod">
          <ac:chgData name="Michele Nguyen (Dr)" userId="72917947-4a4e-42ff-b4ec-a414eb8a1970" providerId="ADAL" clId="{D89C5CCC-58B4-744A-B83E-F613AD894429}" dt="2024-05-21T12:32:39.710" v="63"/>
          <ac:spMkLst>
            <pc:docMk/>
            <pc:sldMk cId="18919361" sldId="356"/>
            <ac:spMk id="4" creationId="{0831FDC6-CA83-5FA9-69C4-82ECB8775C2C}"/>
          </ac:spMkLst>
        </pc:spChg>
        <pc:spChg chg="add mod">
          <ac:chgData name="Michele Nguyen (Dr)" userId="72917947-4a4e-42ff-b4ec-a414eb8a1970" providerId="ADAL" clId="{D89C5CCC-58B4-744A-B83E-F613AD894429}" dt="2024-05-21T12:32:39.710" v="63"/>
          <ac:spMkLst>
            <pc:docMk/>
            <pc:sldMk cId="18919361" sldId="356"/>
            <ac:spMk id="11" creationId="{7A699C2E-1021-B173-351C-0B7616AED70B}"/>
          </ac:spMkLst>
        </pc:spChg>
        <pc:spChg chg="add mod">
          <ac:chgData name="Michele Nguyen (Dr)" userId="72917947-4a4e-42ff-b4ec-a414eb8a1970" providerId="ADAL" clId="{D89C5CCC-58B4-744A-B83E-F613AD894429}" dt="2024-05-21T12:32:39.710" v="63"/>
          <ac:spMkLst>
            <pc:docMk/>
            <pc:sldMk cId="18919361" sldId="356"/>
            <ac:spMk id="12" creationId="{D90D3ECC-3DC9-7836-BAC2-65676749EC6C}"/>
          </ac:spMkLst>
        </pc:spChg>
        <pc:spChg chg="mod">
          <ac:chgData name="Michele Nguyen (Dr)" userId="72917947-4a4e-42ff-b4ec-a414eb8a1970" providerId="ADAL" clId="{D89C5CCC-58B4-744A-B83E-F613AD894429}" dt="2024-05-21T12:46:15.414" v="69" actId="20577"/>
          <ac:spMkLst>
            <pc:docMk/>
            <pc:sldMk cId="18919361" sldId="356"/>
            <ac:spMk id="17" creationId="{0E96E2C1-3C13-6E1D-5CBC-7DA22D084291}"/>
          </ac:spMkLst>
        </pc:spChg>
        <pc:picChg chg="del">
          <ac:chgData name="Michele Nguyen (Dr)" userId="72917947-4a4e-42ff-b4ec-a414eb8a1970" providerId="ADAL" clId="{D89C5CCC-58B4-744A-B83E-F613AD894429}" dt="2024-05-21T08:36:08.242" v="18" actId="478"/>
          <ac:picMkLst>
            <pc:docMk/>
            <pc:sldMk cId="18919361" sldId="356"/>
            <ac:picMk id="11" creationId="{B0B858FD-5540-4AE5-9293-2B87286FD2F3}"/>
          </ac:picMkLst>
        </pc:picChg>
        <pc:cxnChg chg="add mod">
          <ac:chgData name="Michele Nguyen (Dr)" userId="72917947-4a4e-42ff-b4ec-a414eb8a1970" providerId="ADAL" clId="{D89C5CCC-58B4-744A-B83E-F613AD894429}" dt="2024-05-21T12:32:39.710" v="63"/>
          <ac:cxnSpMkLst>
            <pc:docMk/>
            <pc:sldMk cId="18919361" sldId="356"/>
            <ac:cxnSpMk id="13" creationId="{ED8C2F8E-48F3-E34C-D194-933A707B67E0}"/>
          </ac:cxnSpMkLst>
        </pc:cxnChg>
        <pc:cxnChg chg="add mod">
          <ac:chgData name="Michele Nguyen (Dr)" userId="72917947-4a4e-42ff-b4ec-a414eb8a1970" providerId="ADAL" clId="{D89C5CCC-58B4-744A-B83E-F613AD894429}" dt="2024-05-21T12:32:39.710" v="63"/>
          <ac:cxnSpMkLst>
            <pc:docMk/>
            <pc:sldMk cId="18919361" sldId="356"/>
            <ac:cxnSpMk id="14" creationId="{2A5650AE-B1F5-5A1A-8B25-835E00345047}"/>
          </ac:cxnSpMkLst>
        </pc:cxnChg>
      </pc:sldChg>
      <pc:sldChg chg="delSp modSp add mod delAnim">
        <pc:chgData name="Michele Nguyen (Dr)" userId="72917947-4a4e-42ff-b4ec-a414eb8a1970" providerId="ADAL" clId="{D89C5CCC-58B4-744A-B83E-F613AD894429}" dt="2024-05-21T09:15:56.773" v="49" actId="20577"/>
        <pc:sldMkLst>
          <pc:docMk/>
          <pc:sldMk cId="12266120" sldId="357"/>
        </pc:sldMkLst>
        <pc:spChg chg="mod">
          <ac:chgData name="Michele Nguyen (Dr)" userId="72917947-4a4e-42ff-b4ec-a414eb8a1970" providerId="ADAL" clId="{D89C5CCC-58B4-744A-B83E-F613AD894429}" dt="2024-05-21T09:15:56.773" v="49" actId="20577"/>
          <ac:spMkLst>
            <pc:docMk/>
            <pc:sldMk cId="12266120" sldId="357"/>
            <ac:spMk id="3" creationId="{D6F59BC1-1F44-49AD-AF16-934FF2263D12}"/>
          </ac:spMkLst>
        </pc:spChg>
        <pc:picChg chg="del">
          <ac:chgData name="Michele Nguyen (Dr)" userId="72917947-4a4e-42ff-b4ec-a414eb8a1970" providerId="ADAL" clId="{D89C5CCC-58B4-744A-B83E-F613AD894429}" dt="2024-05-21T08:36:36.242" v="31" actId="478"/>
          <ac:picMkLst>
            <pc:docMk/>
            <pc:sldMk cId="12266120" sldId="357"/>
            <ac:picMk id="5" creationId="{AF739422-FBD9-7F8B-46F7-C75268E3A911}"/>
          </ac:picMkLst>
        </pc:picChg>
      </pc:sldChg>
      <pc:sldChg chg="addSp delSp modSp add mod delAnim modNotesTx">
        <pc:chgData name="Michele Nguyen (Dr)" userId="72917947-4a4e-42ff-b4ec-a414eb8a1970" providerId="ADAL" clId="{D89C5CCC-58B4-744A-B83E-F613AD894429}" dt="2024-05-21T12:31:56.038" v="61"/>
        <pc:sldMkLst>
          <pc:docMk/>
          <pc:sldMk cId="1173693621" sldId="359"/>
        </pc:sldMkLst>
        <pc:spChg chg="add mod">
          <ac:chgData name="Michele Nguyen (Dr)" userId="72917947-4a4e-42ff-b4ec-a414eb8a1970" providerId="ADAL" clId="{D89C5CCC-58B4-744A-B83E-F613AD894429}" dt="2024-05-21T12:31:14.356" v="55"/>
          <ac:spMkLst>
            <pc:docMk/>
            <pc:sldMk cId="1173693621" sldId="359"/>
            <ac:spMk id="4" creationId="{15246370-AE8F-BADF-D29C-AC356EF5844B}"/>
          </ac:spMkLst>
        </pc:spChg>
        <pc:spChg chg="add mod">
          <ac:chgData name="Michele Nguyen (Dr)" userId="72917947-4a4e-42ff-b4ec-a414eb8a1970" providerId="ADAL" clId="{D89C5CCC-58B4-744A-B83E-F613AD894429}" dt="2024-05-21T12:31:14.356" v="55"/>
          <ac:spMkLst>
            <pc:docMk/>
            <pc:sldMk cId="1173693621" sldId="359"/>
            <ac:spMk id="11" creationId="{2F0AC83B-291D-0124-1F55-08DE1A0C7EBE}"/>
          </ac:spMkLst>
        </pc:spChg>
        <pc:spChg chg="add del mod">
          <ac:chgData name="Michele Nguyen (Dr)" userId="72917947-4a4e-42ff-b4ec-a414eb8a1970" providerId="ADAL" clId="{D89C5CCC-58B4-744A-B83E-F613AD894429}" dt="2024-05-21T12:31:45.400" v="60" actId="478"/>
          <ac:spMkLst>
            <pc:docMk/>
            <pc:sldMk cId="1173693621" sldId="359"/>
            <ac:spMk id="12" creationId="{DEF2908A-DBF1-1DDA-9A4F-9594A88D6830}"/>
          </ac:spMkLst>
        </pc:spChg>
        <pc:spChg chg="add mod">
          <ac:chgData name="Michele Nguyen (Dr)" userId="72917947-4a4e-42ff-b4ec-a414eb8a1970" providerId="ADAL" clId="{D89C5CCC-58B4-744A-B83E-F613AD894429}" dt="2024-05-21T12:31:56.038" v="61"/>
          <ac:spMkLst>
            <pc:docMk/>
            <pc:sldMk cId="1173693621" sldId="359"/>
            <ac:spMk id="19" creationId="{B246572A-5BCA-009E-7E5D-6E0FE04DD38F}"/>
          </ac:spMkLst>
        </pc:spChg>
        <pc:picChg chg="del">
          <ac:chgData name="Michele Nguyen (Dr)" userId="72917947-4a4e-42ff-b4ec-a414eb8a1970" providerId="ADAL" clId="{D89C5CCC-58B4-744A-B83E-F613AD894429}" dt="2024-05-21T08:35:55.683" v="14" actId="478"/>
          <ac:picMkLst>
            <pc:docMk/>
            <pc:sldMk cId="1173693621" sldId="359"/>
            <ac:picMk id="11" creationId="{7521E0CB-D434-3A76-3433-352989387862}"/>
          </ac:picMkLst>
        </pc:picChg>
        <pc:cxnChg chg="add del mod">
          <ac:chgData name="Michele Nguyen (Dr)" userId="72917947-4a4e-42ff-b4ec-a414eb8a1970" providerId="ADAL" clId="{D89C5CCC-58B4-744A-B83E-F613AD894429}" dt="2024-05-21T12:31:42.891" v="59" actId="478"/>
          <ac:cxnSpMkLst>
            <pc:docMk/>
            <pc:sldMk cId="1173693621" sldId="359"/>
            <ac:cxnSpMk id="13" creationId="{9E355878-B2CD-8B83-AF9B-72706ABA3AD4}"/>
          </ac:cxnSpMkLst>
        </pc:cxnChg>
        <pc:cxnChg chg="add mod">
          <ac:chgData name="Michele Nguyen (Dr)" userId="72917947-4a4e-42ff-b4ec-a414eb8a1970" providerId="ADAL" clId="{D89C5CCC-58B4-744A-B83E-F613AD894429}" dt="2024-05-21T12:31:20.428" v="56"/>
          <ac:cxnSpMkLst>
            <pc:docMk/>
            <pc:sldMk cId="1173693621" sldId="359"/>
            <ac:cxnSpMk id="14" creationId="{4A80F909-2000-347D-8165-EA45061C8F2C}"/>
          </ac:cxnSpMkLst>
        </pc:cxnChg>
        <pc:cxnChg chg="add mod">
          <ac:chgData name="Michele Nguyen (Dr)" userId="72917947-4a4e-42ff-b4ec-a414eb8a1970" providerId="ADAL" clId="{D89C5CCC-58B4-744A-B83E-F613AD894429}" dt="2024-05-21T12:31:27.246" v="57"/>
          <ac:cxnSpMkLst>
            <pc:docMk/>
            <pc:sldMk cId="1173693621" sldId="359"/>
            <ac:cxnSpMk id="16" creationId="{0A9D3FC9-1C42-61E9-4973-0CFB5A36E50C}"/>
          </ac:cxnSpMkLst>
        </pc:cxnChg>
        <pc:cxnChg chg="add del mod">
          <ac:chgData name="Michele Nguyen (Dr)" userId="72917947-4a4e-42ff-b4ec-a414eb8a1970" providerId="ADAL" clId="{D89C5CCC-58B4-744A-B83E-F613AD894429}" dt="2024-05-21T12:31:42.891" v="59" actId="478"/>
          <ac:cxnSpMkLst>
            <pc:docMk/>
            <pc:sldMk cId="1173693621" sldId="359"/>
            <ac:cxnSpMk id="18" creationId="{B544E177-E20B-0304-553C-5BC0D1B5B243}"/>
          </ac:cxnSpMkLst>
        </pc:cxnChg>
      </pc:sldChg>
      <pc:sldChg chg="add del">
        <pc:chgData name="Michele Nguyen (Dr)" userId="72917947-4a4e-42ff-b4ec-a414eb8a1970" providerId="ADAL" clId="{D89C5CCC-58B4-744A-B83E-F613AD894429}" dt="2024-05-21T08:36:02.210" v="15" actId="2696"/>
        <pc:sldMkLst>
          <pc:docMk/>
          <pc:sldMk cId="2650622913" sldId="361"/>
        </pc:sldMkLst>
      </pc:sldChg>
      <pc:sldChg chg="addSp delSp modSp add mod delAnim modNotesTx">
        <pc:chgData name="Michele Nguyen (Dr)" userId="72917947-4a4e-42ff-b4ec-a414eb8a1970" providerId="ADAL" clId="{D89C5CCC-58B4-744A-B83E-F613AD894429}" dt="2024-05-21T12:33:29.241" v="67" actId="20577"/>
        <pc:sldMkLst>
          <pc:docMk/>
          <pc:sldMk cId="2041980008" sldId="362"/>
        </pc:sldMkLst>
        <pc:spChg chg="add mod">
          <ac:chgData name="Michele Nguyen (Dr)" userId="72917947-4a4e-42ff-b4ec-a414eb8a1970" providerId="ADAL" clId="{D89C5CCC-58B4-744A-B83E-F613AD894429}" dt="2024-05-21T12:31:58.194" v="62"/>
          <ac:spMkLst>
            <pc:docMk/>
            <pc:sldMk cId="2041980008" sldId="362"/>
            <ac:spMk id="2" creationId="{36CBC012-1D82-9B6A-14F8-7021B1DAC902}"/>
          </ac:spMkLst>
        </pc:spChg>
        <pc:picChg chg="del mod">
          <ac:chgData name="Michele Nguyen (Dr)" userId="72917947-4a4e-42ff-b4ec-a414eb8a1970" providerId="ADAL" clId="{D89C5CCC-58B4-744A-B83E-F613AD894429}" dt="2024-05-21T08:36:04.211" v="17" actId="478"/>
          <ac:picMkLst>
            <pc:docMk/>
            <pc:sldMk cId="2041980008" sldId="362"/>
            <ac:picMk id="3" creationId="{F159ADEB-16C1-2130-3262-77B63E015578}"/>
          </ac:picMkLst>
        </pc:picChg>
      </pc:sldChg>
      <pc:sldChg chg="delSp add mod delAnim">
        <pc:chgData name="Michele Nguyen (Dr)" userId="72917947-4a4e-42ff-b4ec-a414eb8a1970" providerId="ADAL" clId="{D89C5CCC-58B4-744A-B83E-F613AD894429}" dt="2024-05-21T08:36:26.902" v="28" actId="478"/>
        <pc:sldMkLst>
          <pc:docMk/>
          <pc:sldMk cId="2651407125" sldId="363"/>
        </pc:sldMkLst>
        <pc:picChg chg="del">
          <ac:chgData name="Michele Nguyen (Dr)" userId="72917947-4a4e-42ff-b4ec-a414eb8a1970" providerId="ADAL" clId="{D89C5CCC-58B4-744A-B83E-F613AD894429}" dt="2024-05-21T08:36:26.902" v="28" actId="478"/>
          <ac:picMkLst>
            <pc:docMk/>
            <pc:sldMk cId="2651407125" sldId="363"/>
            <ac:picMk id="5" creationId="{AB74539D-B749-0B1A-B738-7AA90F0B0C77}"/>
          </ac:picMkLst>
        </pc:picChg>
      </pc:sldChg>
      <pc:sldChg chg="add del">
        <pc:chgData name="Michele Nguyen (Dr)" userId="72917947-4a4e-42ff-b4ec-a414eb8a1970" providerId="ADAL" clId="{D89C5CCC-58B4-744A-B83E-F613AD894429}" dt="2024-05-21T08:36:20.376" v="25" actId="2696"/>
        <pc:sldMkLst>
          <pc:docMk/>
          <pc:sldMk cId="357337237" sldId="364"/>
        </pc:sldMkLst>
      </pc:sldChg>
      <pc:sldChg chg="delSp add mod delAnim">
        <pc:chgData name="Michele Nguyen (Dr)" userId="72917947-4a4e-42ff-b4ec-a414eb8a1970" providerId="ADAL" clId="{D89C5CCC-58B4-744A-B83E-F613AD894429}" dt="2024-05-21T08:36:21.662" v="26" actId="478"/>
        <pc:sldMkLst>
          <pc:docMk/>
          <pc:sldMk cId="1368594516" sldId="365"/>
        </pc:sldMkLst>
        <pc:picChg chg="del">
          <ac:chgData name="Michele Nguyen (Dr)" userId="72917947-4a4e-42ff-b4ec-a414eb8a1970" providerId="ADAL" clId="{D89C5CCC-58B4-744A-B83E-F613AD894429}" dt="2024-05-21T08:36:21.662" v="26" actId="478"/>
          <ac:picMkLst>
            <pc:docMk/>
            <pc:sldMk cId="1368594516" sldId="365"/>
            <ac:picMk id="9" creationId="{A12D854D-3251-67D8-9EEB-5DCE98EE6283}"/>
          </ac:picMkLst>
        </pc:picChg>
      </pc:sldChg>
      <pc:sldChg chg="delSp add mod delAnim">
        <pc:chgData name="Michele Nguyen (Dr)" userId="72917947-4a4e-42ff-b4ec-a414eb8a1970" providerId="ADAL" clId="{D89C5CCC-58B4-744A-B83E-F613AD894429}" dt="2024-05-21T08:40:30.462" v="46" actId="478"/>
        <pc:sldMkLst>
          <pc:docMk/>
          <pc:sldMk cId="2233297620" sldId="366"/>
        </pc:sldMkLst>
        <pc:picChg chg="del">
          <ac:chgData name="Michele Nguyen (Dr)" userId="72917947-4a4e-42ff-b4ec-a414eb8a1970" providerId="ADAL" clId="{D89C5CCC-58B4-744A-B83E-F613AD894429}" dt="2024-05-21T08:40:30.462" v="46" actId="478"/>
          <ac:picMkLst>
            <pc:docMk/>
            <pc:sldMk cId="2233297620" sldId="366"/>
            <ac:picMk id="5" creationId="{4A342884-736C-BE18-13C3-B9E9E1BAE81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3505A4-D401-4980-A105-2D2F1A748297}" type="datetimeFigureOut">
              <a:rPr lang="en-US" smtClean="0"/>
              <a:t>5/21/24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EF7F5C-D765-41D4-8344-A1271E9A87CA}" type="slidenum">
              <a:rPr lang="en-US" smtClean="0"/>
              <a:t>‹#›</a:t>
            </a:fld>
            <a:endParaRPr lang="en-US"/>
          </a:p>
        </p:txBody>
      </p:sp>
    </p:spTree>
    <p:extLst>
      <p:ext uri="{BB962C8B-B14F-4D97-AF65-F5344CB8AC3E}">
        <p14:creationId xmlns:p14="http://schemas.microsoft.com/office/powerpoint/2010/main" val="2285982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2C4875-8523-436E-AFC9-E015484AB16B}" type="slidenum">
              <a:rPr lang="en-SG" smtClean="0"/>
              <a:t>1</a:t>
            </a:fld>
            <a:endParaRPr lang="en-SG"/>
          </a:p>
        </p:txBody>
      </p:sp>
    </p:spTree>
    <p:extLst>
      <p:ext uri="{BB962C8B-B14F-4D97-AF65-F5344CB8AC3E}">
        <p14:creationId xmlns:p14="http://schemas.microsoft.com/office/powerpoint/2010/main" val="824541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2</a:t>
            </a:fld>
            <a:endParaRPr lang="en-US"/>
          </a:p>
        </p:txBody>
      </p:sp>
    </p:spTree>
    <p:extLst>
      <p:ext uri="{BB962C8B-B14F-4D97-AF65-F5344CB8AC3E}">
        <p14:creationId xmlns:p14="http://schemas.microsoft.com/office/powerpoint/2010/main" val="984355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7</a:t>
            </a:fld>
            <a:endParaRPr lang="en-US"/>
          </a:p>
        </p:txBody>
      </p:sp>
    </p:spTree>
    <p:extLst>
      <p:ext uri="{BB962C8B-B14F-4D97-AF65-F5344CB8AC3E}">
        <p14:creationId xmlns:p14="http://schemas.microsoft.com/office/powerpoint/2010/main" val="2973805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8</a:t>
            </a:fld>
            <a:endParaRPr lang="en-US"/>
          </a:p>
        </p:txBody>
      </p:sp>
    </p:spTree>
    <p:extLst>
      <p:ext uri="{BB962C8B-B14F-4D97-AF65-F5344CB8AC3E}">
        <p14:creationId xmlns:p14="http://schemas.microsoft.com/office/powerpoint/2010/main" val="1228598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9</a:t>
            </a:fld>
            <a:endParaRPr lang="en-US"/>
          </a:p>
        </p:txBody>
      </p:sp>
    </p:spTree>
    <p:extLst>
      <p:ext uri="{BB962C8B-B14F-4D97-AF65-F5344CB8AC3E}">
        <p14:creationId xmlns:p14="http://schemas.microsoft.com/office/powerpoint/2010/main" val="1222860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10</a:t>
            </a:fld>
            <a:endParaRPr lang="en-US"/>
          </a:p>
        </p:txBody>
      </p:sp>
    </p:spTree>
    <p:extLst>
      <p:ext uri="{BB962C8B-B14F-4D97-AF65-F5344CB8AC3E}">
        <p14:creationId xmlns:p14="http://schemas.microsoft.com/office/powerpoint/2010/main" val="1345236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11</a:t>
            </a:fld>
            <a:endParaRPr lang="en-US"/>
          </a:p>
        </p:txBody>
      </p:sp>
    </p:spTree>
    <p:extLst>
      <p:ext uri="{BB962C8B-B14F-4D97-AF65-F5344CB8AC3E}">
        <p14:creationId xmlns:p14="http://schemas.microsoft.com/office/powerpoint/2010/main" val="455216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12</a:t>
            </a:fld>
            <a:endParaRPr lang="en-US"/>
          </a:p>
        </p:txBody>
      </p:sp>
    </p:spTree>
    <p:extLst>
      <p:ext uri="{BB962C8B-B14F-4D97-AF65-F5344CB8AC3E}">
        <p14:creationId xmlns:p14="http://schemas.microsoft.com/office/powerpoint/2010/main" val="3005630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13</a:t>
            </a:fld>
            <a:endParaRPr lang="en-US"/>
          </a:p>
        </p:txBody>
      </p:sp>
    </p:spTree>
    <p:extLst>
      <p:ext uri="{BB962C8B-B14F-4D97-AF65-F5344CB8AC3E}">
        <p14:creationId xmlns:p14="http://schemas.microsoft.com/office/powerpoint/2010/main" val="3068239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16</a:t>
            </a:fld>
            <a:endParaRPr lang="en-US"/>
          </a:p>
        </p:txBody>
      </p:sp>
    </p:spTree>
    <p:extLst>
      <p:ext uri="{BB962C8B-B14F-4D97-AF65-F5344CB8AC3E}">
        <p14:creationId xmlns:p14="http://schemas.microsoft.com/office/powerpoint/2010/main" val="1626148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17</a:t>
            </a:fld>
            <a:endParaRPr lang="en-US"/>
          </a:p>
        </p:txBody>
      </p:sp>
    </p:spTree>
    <p:extLst>
      <p:ext uri="{BB962C8B-B14F-4D97-AF65-F5344CB8AC3E}">
        <p14:creationId xmlns:p14="http://schemas.microsoft.com/office/powerpoint/2010/main" val="2958476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18</a:t>
            </a:fld>
            <a:endParaRPr lang="en-US"/>
          </a:p>
        </p:txBody>
      </p:sp>
    </p:spTree>
    <p:extLst>
      <p:ext uri="{BB962C8B-B14F-4D97-AF65-F5344CB8AC3E}">
        <p14:creationId xmlns:p14="http://schemas.microsoft.com/office/powerpoint/2010/main" val="1101210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19</a:t>
            </a:fld>
            <a:endParaRPr lang="en-US"/>
          </a:p>
        </p:txBody>
      </p:sp>
    </p:spTree>
    <p:extLst>
      <p:ext uri="{BB962C8B-B14F-4D97-AF65-F5344CB8AC3E}">
        <p14:creationId xmlns:p14="http://schemas.microsoft.com/office/powerpoint/2010/main" val="2039488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EF7F5C-D765-41D4-8344-A1271E9A87CA}" type="slidenum">
              <a:rPr lang="en-US" smtClean="0"/>
              <a:t>20</a:t>
            </a:fld>
            <a:endParaRPr lang="en-US"/>
          </a:p>
        </p:txBody>
      </p:sp>
    </p:spTree>
    <p:extLst>
      <p:ext uri="{BB962C8B-B14F-4D97-AF65-F5344CB8AC3E}">
        <p14:creationId xmlns:p14="http://schemas.microsoft.com/office/powerpoint/2010/main" val="3266841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E287C-6EAE-4F9B-8152-585C701A5C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235A4A-B887-407A-9FD1-9ADF72FED0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F6C758-6E36-4CC7-AD9C-7924C06002FF}"/>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5" name="Footer Placeholder 4">
            <a:extLst>
              <a:ext uri="{FF2B5EF4-FFF2-40B4-BE49-F238E27FC236}">
                <a16:creationId xmlns:a16="http://schemas.microsoft.com/office/drawing/2014/main" id="{83FE2774-C9E6-46A3-B4D4-6FC942C2D0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7A94FB-1268-4D52-AA6F-2F9684A8D1BE}"/>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3026735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A12C5-8109-48B9-8119-F85B21AB2E24}"/>
              </a:ext>
            </a:extLst>
          </p:cNvPr>
          <p:cNvSpPr>
            <a:spLocks noGrp="1"/>
          </p:cNvSpPr>
          <p:nvPr>
            <p:ph type="title"/>
          </p:nvPr>
        </p:nvSpPr>
        <p:spPr/>
        <p:txBody>
          <a:bodyPr/>
          <a:lstStyle>
            <a:lvl1pPr>
              <a:defRPr>
                <a:solidFill>
                  <a:schemeClr val="accent1">
                    <a:lumMod val="7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0D8F51A-3BA6-4632-AE68-9C1A1DE8E9F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DF956D-8726-4A6A-9D35-4F2C01D5D326}"/>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5" name="Footer Placeholder 4">
            <a:extLst>
              <a:ext uri="{FF2B5EF4-FFF2-40B4-BE49-F238E27FC236}">
                <a16:creationId xmlns:a16="http://schemas.microsoft.com/office/drawing/2014/main" id="{CC8FBD31-DD74-458D-B814-03DC50BBDB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1FF28-DCE7-42D9-8EDF-9B0A2764CB34}"/>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520670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A2C4E-CAD6-4055-99F8-FA619B1DAD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B1B201-80A7-4F9D-BEDD-2BE6B26156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B85ECEC-58FD-4CAE-97C9-773374A714AA}"/>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5" name="Footer Placeholder 4">
            <a:extLst>
              <a:ext uri="{FF2B5EF4-FFF2-40B4-BE49-F238E27FC236}">
                <a16:creationId xmlns:a16="http://schemas.microsoft.com/office/drawing/2014/main" id="{50B753CC-16AE-4035-BD4B-12E6D08455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55B59E-F555-450A-9286-131E3AD76FFA}"/>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3321978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9EBFE-D223-4DED-AC1D-F2D7CF9350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C971D2-9257-4381-984E-A14A15AF974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F42838-B118-4A45-93FF-028B31BCDAA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F80843-66C6-44BA-8B2A-46A358048835}"/>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6" name="Footer Placeholder 5">
            <a:extLst>
              <a:ext uri="{FF2B5EF4-FFF2-40B4-BE49-F238E27FC236}">
                <a16:creationId xmlns:a16="http://schemas.microsoft.com/office/drawing/2014/main" id="{04EC76B9-17AA-4E3A-9220-DE416895B2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545492-7FA4-4815-80B0-49F45F7A09B8}"/>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426868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046FF-8C48-4F51-8F1F-1CF399B57A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B1F9CD-B0E5-4031-9728-8B59B6DD4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4C74174-581D-470F-90D2-B41676AA15B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C52485-4BB2-40B5-824A-F20CF6BFAB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784B6DE-9ED4-4F93-8A42-F7BEB65BE24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F97094-1D50-4864-9623-C47FDE3F855E}"/>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8" name="Footer Placeholder 7">
            <a:extLst>
              <a:ext uri="{FF2B5EF4-FFF2-40B4-BE49-F238E27FC236}">
                <a16:creationId xmlns:a16="http://schemas.microsoft.com/office/drawing/2014/main" id="{55DFCD70-994A-456B-B41B-23F59E27D0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4C2168-5017-45BA-9394-FD8F7F67FBC6}"/>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2508866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3B92-78A0-49FA-B49B-8F7E7874A5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D56162-0109-4475-869A-416DFB54F892}"/>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4" name="Footer Placeholder 3">
            <a:extLst>
              <a:ext uri="{FF2B5EF4-FFF2-40B4-BE49-F238E27FC236}">
                <a16:creationId xmlns:a16="http://schemas.microsoft.com/office/drawing/2014/main" id="{EC6FEA20-6220-4E5C-BC71-906692BB55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3F2955-D744-473A-8F58-AEAD31AA401B}"/>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935931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A9E777-752A-4291-9DA0-6EFAE03C634B}"/>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3" name="Footer Placeholder 2">
            <a:extLst>
              <a:ext uri="{FF2B5EF4-FFF2-40B4-BE49-F238E27FC236}">
                <a16:creationId xmlns:a16="http://schemas.microsoft.com/office/drawing/2014/main" id="{1BAE8086-5952-4290-8FF4-8C9AC25A3E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5B59C3-E89D-42F1-8CD6-8E482A41C2D3}"/>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943422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8A6B5-B74F-4C68-9069-F05A7DEEBE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86C9BE-D42E-49A5-9A42-F7EBA64F49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DD7B45-7022-4B45-9816-9A47856DB9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DDA92F3-A0A7-48FC-B6A3-AD41339AAA96}"/>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6" name="Footer Placeholder 5">
            <a:extLst>
              <a:ext uri="{FF2B5EF4-FFF2-40B4-BE49-F238E27FC236}">
                <a16:creationId xmlns:a16="http://schemas.microsoft.com/office/drawing/2014/main" id="{D6330098-F070-4F88-845A-37ACB4EC13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0FCA4D-CB78-4E7C-9632-EA8AD015C197}"/>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2106699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B4986-B049-4D24-AAFD-1C7DFE05EB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8B25DD-CE4F-43CD-A0AC-92453E8854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2F6009-31EC-40BA-8D90-28FE6859B2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CEC67D9-2599-41B5-A59D-F9C9CED79E96}"/>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6" name="Footer Placeholder 5">
            <a:extLst>
              <a:ext uri="{FF2B5EF4-FFF2-40B4-BE49-F238E27FC236}">
                <a16:creationId xmlns:a16="http://schemas.microsoft.com/office/drawing/2014/main" id="{1977E4D9-296D-43E7-82F5-4686E26097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21FD23-915B-4D30-8605-5803ED60527B}"/>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3050412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C30D7-86A6-49EE-9EA5-B9E5E72EEC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9545C4-A51E-4BE0-A47C-E167937F518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6B942C-D828-4C44-9BAD-C0EC6AADE9D5}"/>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5" name="Footer Placeholder 4">
            <a:extLst>
              <a:ext uri="{FF2B5EF4-FFF2-40B4-BE49-F238E27FC236}">
                <a16:creationId xmlns:a16="http://schemas.microsoft.com/office/drawing/2014/main" id="{40B08201-9E3E-4389-8730-C064C78A14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E9F554-2B8E-4B2E-A0D5-314D690A4129}"/>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4043942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887551-C2CF-4AA7-8714-B33707A4DD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95081A-7203-4C78-8ED4-02C523A99EC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F6E4FF-7E7D-4760-9EFC-2A1656853765}"/>
              </a:ext>
            </a:extLst>
          </p:cNvPr>
          <p:cNvSpPr>
            <a:spLocks noGrp="1"/>
          </p:cNvSpPr>
          <p:nvPr>
            <p:ph type="dt" sz="half" idx="10"/>
          </p:nvPr>
        </p:nvSpPr>
        <p:spPr/>
        <p:txBody>
          <a:bodyPr/>
          <a:lstStyle/>
          <a:p>
            <a:fld id="{A4A223E1-0F29-4815-AEED-0FB78E8DF392}" type="datetimeFigureOut">
              <a:rPr lang="en-US" smtClean="0"/>
              <a:t>5/21/24</a:t>
            </a:fld>
            <a:endParaRPr lang="en-US"/>
          </a:p>
        </p:txBody>
      </p:sp>
      <p:sp>
        <p:nvSpPr>
          <p:cNvPr id="5" name="Footer Placeholder 4">
            <a:extLst>
              <a:ext uri="{FF2B5EF4-FFF2-40B4-BE49-F238E27FC236}">
                <a16:creationId xmlns:a16="http://schemas.microsoft.com/office/drawing/2014/main" id="{73D8DC08-84F4-4DEF-856F-16FF4F9C39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8ACAC4-EE1E-4011-9015-ABFFF118D764}"/>
              </a:ext>
            </a:extLst>
          </p:cNvPr>
          <p:cNvSpPr>
            <a:spLocks noGrp="1"/>
          </p:cNvSpPr>
          <p:nvPr>
            <p:ph type="sldNum" sz="quarter" idx="12"/>
          </p:nvPr>
        </p:nvSpPr>
        <p:spPr/>
        <p:txBody>
          <a:bodyPr/>
          <a:lstStyle/>
          <a:p>
            <a:fld id="{CDC44B64-E6B0-4730-B814-B546C3DD25CE}" type="slidenum">
              <a:rPr lang="en-US" smtClean="0"/>
              <a:t>‹#›</a:t>
            </a:fld>
            <a:endParaRPr lang="en-US"/>
          </a:p>
        </p:txBody>
      </p:sp>
    </p:spTree>
    <p:extLst>
      <p:ext uri="{BB962C8B-B14F-4D97-AF65-F5344CB8AC3E}">
        <p14:creationId xmlns:p14="http://schemas.microsoft.com/office/powerpoint/2010/main" val="433661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D032D6-894C-443C-9F40-6B359B0D51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F04FB6-2E47-43B5-8DCD-E32A06AB21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55056A-AED4-4E62-8EF5-590303868A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A223E1-0F29-4815-AEED-0FB78E8DF392}" type="datetimeFigureOut">
              <a:rPr lang="en-US" smtClean="0"/>
              <a:t>5/21/24</a:t>
            </a:fld>
            <a:endParaRPr lang="en-US"/>
          </a:p>
        </p:txBody>
      </p:sp>
      <p:sp>
        <p:nvSpPr>
          <p:cNvPr id="5" name="Footer Placeholder 4">
            <a:extLst>
              <a:ext uri="{FF2B5EF4-FFF2-40B4-BE49-F238E27FC236}">
                <a16:creationId xmlns:a16="http://schemas.microsoft.com/office/drawing/2014/main" id="{85962BAC-B842-4A96-8FC9-E83E6D47B4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98408A-BFE4-471F-B3EF-63C5E37DC1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C44B64-E6B0-4730-B814-B546C3DD25CE}" type="slidenum">
              <a:rPr lang="en-US" smtClean="0"/>
              <a:t>‹#›</a:t>
            </a:fld>
            <a:endParaRPr lang="en-US"/>
          </a:p>
        </p:txBody>
      </p:sp>
    </p:spTree>
    <p:extLst>
      <p:ext uri="{BB962C8B-B14F-4D97-AF65-F5344CB8AC3E}">
        <p14:creationId xmlns:p14="http://schemas.microsoft.com/office/powerpoint/2010/main" val="13529038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notesSlide" Target="../notesSlides/notesSlide2.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9.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8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10.png"/><Relationship Id="rId7"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30.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120.png"/><Relationship Id="rId7" Type="http://schemas.openxmlformats.org/officeDocument/2006/relationships/image" Target="../media/image110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12.png"/><Relationship Id="rId9" Type="http://schemas.openxmlformats.org/officeDocument/2006/relationships/image" Target="../media/image13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30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11.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1.png"/><Relationship Id="rId5" Type="http://schemas.openxmlformats.org/officeDocument/2006/relationships/image" Target="../media/image150.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22.jpe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DD1F0B6-3928-44F0-8191-E10BAF4B61BA}"/>
              </a:ext>
            </a:extLst>
          </p:cNvPr>
          <p:cNvSpPr>
            <a:spLocks noGrp="1"/>
          </p:cNvSpPr>
          <p:nvPr>
            <p:ph type="ctrTitle"/>
          </p:nvPr>
        </p:nvSpPr>
        <p:spPr/>
        <p:txBody>
          <a:bodyPr/>
          <a:lstStyle/>
          <a:p>
            <a:r>
              <a:rPr lang="en-US" dirty="0"/>
              <a:t>Testing a hypothesis</a:t>
            </a:r>
          </a:p>
        </p:txBody>
      </p:sp>
      <p:sp>
        <p:nvSpPr>
          <p:cNvPr id="3" name="Subtitle 2">
            <a:extLst>
              <a:ext uri="{FF2B5EF4-FFF2-40B4-BE49-F238E27FC236}">
                <a16:creationId xmlns:a16="http://schemas.microsoft.com/office/drawing/2014/main" id="{61BAD5BB-EACA-457A-8A70-DAE13AC3E96B}"/>
              </a:ext>
            </a:extLst>
          </p:cNvPr>
          <p:cNvSpPr>
            <a:spLocks noGrp="1"/>
          </p:cNvSpPr>
          <p:nvPr>
            <p:ph type="subTitle" idx="1"/>
          </p:nvPr>
        </p:nvSpPr>
        <p:spPr/>
        <p:txBody>
          <a:bodyPr/>
          <a:lstStyle/>
          <a:p>
            <a:endParaRPr lang="en-US" dirty="0"/>
          </a:p>
        </p:txBody>
      </p:sp>
      <p:pic>
        <p:nvPicPr>
          <p:cNvPr id="9" name="Picture 8" descr="NTU_PP_slide_Footer_sized.png">
            <a:extLst>
              <a:ext uri="{FF2B5EF4-FFF2-40B4-BE49-F238E27FC236}">
                <a16:creationId xmlns:a16="http://schemas.microsoft.com/office/drawing/2014/main" id="{F0BE4941-908B-48D8-94C8-67A52AD2037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6327909"/>
            <a:ext cx="12192000" cy="537882"/>
          </a:xfrm>
          <a:prstGeom prst="rect">
            <a:avLst/>
          </a:prstGeom>
        </p:spPr>
      </p:pic>
    </p:spTree>
    <p:extLst>
      <p:ext uri="{BB962C8B-B14F-4D97-AF65-F5344CB8AC3E}">
        <p14:creationId xmlns:p14="http://schemas.microsoft.com/office/powerpoint/2010/main" val="3464551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390D7-D3B0-4CD9-869C-33FAEA955DA7}"/>
              </a:ext>
            </a:extLst>
          </p:cNvPr>
          <p:cNvSpPr>
            <a:spLocks noGrp="1"/>
          </p:cNvSpPr>
          <p:nvPr>
            <p:ph type="title"/>
          </p:nvPr>
        </p:nvSpPr>
        <p:spPr/>
        <p:txBody>
          <a:bodyPr/>
          <a:lstStyle/>
          <a:p>
            <a:r>
              <a:rPr lang="en-US" dirty="0"/>
              <a:t>From the last videos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8D5CA5-A532-4AB0-89C5-9F2EA57CA586}"/>
                  </a:ext>
                </a:extLst>
              </p:cNvPr>
              <p:cNvSpPr>
                <a:spLocks noGrp="1"/>
              </p:cNvSpPr>
              <p:nvPr>
                <p:ph idx="1"/>
              </p:nvPr>
            </p:nvSpPr>
            <p:spPr>
              <a:xfrm>
                <a:off x="838200" y="1825624"/>
                <a:ext cx="10515600" cy="4810125"/>
              </a:xfrm>
            </p:spPr>
            <p:txBody>
              <a:bodyPr/>
              <a:lstStyle/>
              <a:p>
                <a:r>
                  <a:rPr lang="en-US" dirty="0"/>
                  <a:t>Here is what we do in HT</a:t>
                </a:r>
              </a:p>
              <a:p>
                <a:pPr marL="0" indent="0">
                  <a:buNone/>
                </a:pPr>
                <a:endParaRPr lang="en-US" dirty="0"/>
              </a:p>
              <a:p>
                <a:pPr marL="0" indent="0">
                  <a:buNone/>
                </a:pPr>
                <a:endParaRPr lang="en-US" dirty="0"/>
              </a:p>
              <a:p>
                <a:pPr marL="0" indent="0">
                  <a:buNone/>
                </a:pPr>
                <a:endParaRPr lang="en-US" dirty="0"/>
              </a:p>
              <a:p>
                <a:pPr marL="0" indent="0">
                  <a:buNone/>
                </a:pPr>
                <a:r>
                  <a:rPr lang="en-US" dirty="0"/>
                  <a:t>Looks perfect…Right </a:t>
                </a:r>
                <a:r>
                  <a:rPr lang="en-US" dirty="0">
                    <a:sym typeface="Wingdings" panose="05000000000000000000" pitchFamily="2" charset="2"/>
                  </a:rPr>
                  <a:t></a:t>
                </a:r>
                <a:r>
                  <a:rPr lang="en-US" dirty="0"/>
                  <a:t>?</a:t>
                </a:r>
              </a:p>
              <a:p>
                <a:pPr marL="0" indent="0">
                  <a:buNone/>
                </a:pPr>
                <a:r>
                  <a:rPr lang="en-US" dirty="0"/>
                  <a:t>Almost perfect… except, different studies have their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in different values and measurements (in kg, pounds, US$, Euro, S$ ). Then it’d be a nightmare to set the RR for each study and these RR’s are not that comparable across studies</a:t>
                </a:r>
              </a:p>
              <a:p>
                <a:pPr marL="0" indent="0">
                  <a:buNone/>
                </a:pPr>
                <a:r>
                  <a:rPr lang="en-US" i="1" dirty="0"/>
                  <a:t>Is there a better, universal solution? Yes, you bet!</a:t>
                </a:r>
              </a:p>
            </p:txBody>
          </p:sp>
        </mc:Choice>
        <mc:Fallback xmlns="">
          <p:sp>
            <p:nvSpPr>
              <p:cNvPr id="3" name="Content Placeholder 2">
                <a:extLst>
                  <a:ext uri="{FF2B5EF4-FFF2-40B4-BE49-F238E27FC236}">
                    <a16:creationId xmlns:a16="http://schemas.microsoft.com/office/drawing/2014/main" id="{278D5CA5-A532-4AB0-89C5-9F2EA57CA586}"/>
                  </a:ext>
                </a:extLst>
              </p:cNvPr>
              <p:cNvSpPr>
                <a:spLocks noGrp="1" noRot="1" noChangeAspect="1" noMove="1" noResize="1" noEditPoints="1" noAdjustHandles="1" noChangeArrowheads="1" noChangeShapeType="1" noTextEdit="1"/>
              </p:cNvSpPr>
              <p:nvPr>
                <p:ph idx="1"/>
              </p:nvPr>
            </p:nvSpPr>
            <p:spPr>
              <a:xfrm>
                <a:off x="838200" y="1825624"/>
                <a:ext cx="10515600" cy="4810125"/>
              </a:xfrm>
              <a:blipFill>
                <a:blip r:embed="rId6"/>
                <a:stretch>
                  <a:fillRect l="-1217" t="-2025" r="-1623" b="-11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5767D35-4356-44E3-8347-BDBC6E168F53}"/>
                  </a:ext>
                </a:extLst>
              </p:cNvPr>
              <p:cNvSpPr/>
              <p:nvPr/>
            </p:nvSpPr>
            <p:spPr>
              <a:xfrm>
                <a:off x="1016000" y="2286000"/>
                <a:ext cx="6262914"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514350" indent="-514350">
                  <a:buAutoNum type="arabicPeriod"/>
                </a:pPr>
                <a:r>
                  <a:rPr lang="en-US" dirty="0"/>
                  <a:t>Formulate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1</m:t>
                        </m:r>
                      </m:sub>
                    </m:sSub>
                  </m:oMath>
                </a14:m>
                <a:r>
                  <a:rPr lang="en-US" dirty="0"/>
                  <a:t> </a:t>
                </a:r>
              </a:p>
              <a:p>
                <a:pPr marL="514350" indent="-514350">
                  <a:buAutoNum type="arabicPeriod"/>
                </a:pPr>
                <a:r>
                  <a:rPr lang="en-US" dirty="0"/>
                  <a:t>Choose an acceptable type-I probability (</a:t>
                </a:r>
                <a14:m>
                  <m:oMath xmlns:m="http://schemas.openxmlformats.org/officeDocument/2006/math">
                    <m:r>
                      <a:rPr lang="en-US" i="1">
                        <a:latin typeface="Cambria Math" panose="02040503050406030204" pitchFamily="18" charset="0"/>
                      </a:rPr>
                      <m:t>𝛼</m:t>
                    </m:r>
                    <m:r>
                      <a:rPr lang="en-US" i="1">
                        <a:latin typeface="Cambria Math" panose="02040503050406030204" pitchFamily="18" charset="0"/>
                      </a:rPr>
                      <m:t>)</m:t>
                    </m:r>
                  </m:oMath>
                </a14:m>
                <a:r>
                  <a:rPr lang="en-US" dirty="0"/>
                  <a:t> 1%,5%, or 10%</a:t>
                </a:r>
                <a14:m>
                  <m:oMath xmlns:m="http://schemas.openxmlformats.org/officeDocument/2006/math">
                    <m:r>
                      <a:rPr lang="en-US" i="1" dirty="0">
                        <a:latin typeface="Cambria Math" panose="02040503050406030204" pitchFamily="18" charset="0"/>
                      </a:rPr>
                      <m:t>⇒</m:t>
                    </m:r>
                  </m:oMath>
                </a14:m>
                <a:r>
                  <a:rPr lang="en-US" dirty="0"/>
                  <a:t> Set the Rejection Region (RR) of the test statistic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oMath>
                </a14:m>
                <a:r>
                  <a:rPr lang="en-US" dirty="0"/>
                  <a:t> </a:t>
                </a:r>
              </a:p>
              <a:p>
                <a:pPr marL="514350" indent="-514350">
                  <a:buAutoNum type="arabicPeriod"/>
                </a:pPr>
                <a:r>
                  <a:rPr lang="en-US" dirty="0"/>
                  <a:t>Use a random sample to calculate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oMath>
                </a14:m>
                <a:r>
                  <a:rPr lang="en-US" dirty="0"/>
                  <a:t> </a:t>
                </a:r>
              </a:p>
              <a:p>
                <a:pPr marL="514350" indent="-514350">
                  <a:buAutoNum type="arabicPeriod"/>
                </a:pPr>
                <a:r>
                  <a:rPr lang="en-US" dirty="0"/>
                  <a:t>If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oMath>
                </a14:m>
                <a:r>
                  <a:rPr lang="en-US" dirty="0"/>
                  <a:t> is in the RR</a:t>
                </a:r>
                <a14:m>
                  <m:oMath xmlns:m="http://schemas.openxmlformats.org/officeDocument/2006/math">
                    <m:r>
                      <a:rPr lang="en-US" i="1" dirty="0">
                        <a:latin typeface="Cambria Math" panose="02040503050406030204" pitchFamily="18" charset="0"/>
                      </a:rPr>
                      <m:t>⇒</m:t>
                    </m:r>
                  </m:oMath>
                </a14:m>
                <a:r>
                  <a:rPr lang="en-US" dirty="0"/>
                  <a:t> Reject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r>
                      <a:rPr lang="en-US" i="1">
                        <a:latin typeface="Cambria Math" panose="02040503050406030204" pitchFamily="18" charset="0"/>
                      </a:rPr>
                      <m:t>!</m:t>
                    </m:r>
                  </m:oMath>
                </a14:m>
                <a:r>
                  <a:rPr lang="en-US" dirty="0"/>
                  <a:t> If not, don’t reject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a:t>
                </a:r>
              </a:p>
            </p:txBody>
          </p:sp>
        </mc:Choice>
        <mc:Fallback xmlns="">
          <p:sp>
            <p:nvSpPr>
              <p:cNvPr id="4" name="Rectangle 3">
                <a:extLst>
                  <a:ext uri="{FF2B5EF4-FFF2-40B4-BE49-F238E27FC236}">
                    <a16:creationId xmlns:a16="http://schemas.microsoft.com/office/drawing/2014/main" id="{C5767D35-4356-44E3-8347-BDBC6E168F53}"/>
                  </a:ext>
                </a:extLst>
              </p:cNvPr>
              <p:cNvSpPr>
                <a:spLocks noRot="1" noChangeAspect="1" noMove="1" noResize="1" noEditPoints="1" noAdjustHandles="1" noChangeArrowheads="1" noChangeShapeType="1" noTextEdit="1"/>
              </p:cNvSpPr>
              <p:nvPr/>
            </p:nvSpPr>
            <p:spPr>
              <a:xfrm>
                <a:off x="1016000" y="2286000"/>
                <a:ext cx="6262914" cy="1477328"/>
              </a:xfrm>
              <a:prstGeom prst="rect">
                <a:avLst/>
              </a:prstGeom>
              <a:blipFill>
                <a:blip r:embed="rId7"/>
                <a:stretch>
                  <a:fillRect l="-777" t="-1639" b="-5328"/>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E9779393-BF8B-4687-B7AD-137E1B3D703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84573" y="5559282"/>
            <a:ext cx="878749" cy="107646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53848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fade">
                                      <p:cBhvr>
                                        <p:cTn id="25"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60800-313E-47C8-B6D9-54747D24139F}"/>
              </a:ext>
            </a:extLst>
          </p:cNvPr>
          <p:cNvSpPr>
            <a:spLocks noGrp="1"/>
          </p:cNvSpPr>
          <p:nvPr>
            <p:ph type="title"/>
          </p:nvPr>
        </p:nvSpPr>
        <p:spPr>
          <a:xfrm>
            <a:off x="838200" y="352425"/>
            <a:ext cx="10515600" cy="1325563"/>
          </a:xfrm>
        </p:spPr>
        <p:txBody>
          <a:bodyPr/>
          <a:lstStyle/>
          <a:p>
            <a:r>
              <a:rPr lang="en-US" dirty="0"/>
              <a:t>Standardized to standard normal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F37E2D-4A9C-433A-BB8A-9F528D1CFBA4}"/>
                  </a:ext>
                </a:extLst>
              </p:cNvPr>
              <p:cNvSpPr>
                <a:spLocks noGrp="1"/>
              </p:cNvSpPr>
              <p:nvPr>
                <p:ph idx="1"/>
              </p:nvPr>
            </p:nvSpPr>
            <p:spPr>
              <a:xfrm>
                <a:off x="1022350" y="2886075"/>
                <a:ext cx="10515600" cy="2351990"/>
              </a:xfrm>
            </p:spPr>
            <p:style>
              <a:lnRef idx="2">
                <a:schemeClr val="accent1"/>
              </a:lnRef>
              <a:fillRef idx="1">
                <a:schemeClr val="lt1"/>
              </a:fillRef>
              <a:effectRef idx="0">
                <a:schemeClr val="accent1"/>
              </a:effectRef>
              <a:fontRef idx="minor">
                <a:schemeClr val="dk1"/>
              </a:fontRef>
            </p:style>
            <p:txBody>
              <a:bodyPr/>
              <a:lstStyle/>
              <a:p>
                <a:pPr marL="0" indent="0">
                  <a:buNone/>
                </a:pPr>
                <a:r>
                  <a:rPr lang="en-US" dirty="0"/>
                  <a:t>Suppose </a:t>
                </a:r>
                <a14:m>
                  <m:oMath xmlns:m="http://schemas.openxmlformats.org/officeDocument/2006/math">
                    <m:r>
                      <a:rPr lang="en-US" b="0" i="1" smtClean="0">
                        <a:latin typeface="Cambria Math" panose="02040503050406030204" pitchFamily="18" charset="0"/>
                      </a:rPr>
                      <m:t>𝑋</m:t>
                    </m:r>
                  </m:oMath>
                </a14:m>
                <a:r>
                  <a:rPr lang="en-US" dirty="0"/>
                  <a:t> is a RV with mean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𝜇</m:t>
                        </m:r>
                      </m:e>
                      <m:sub>
                        <m:r>
                          <a:rPr lang="en-US" i="1" dirty="0">
                            <a:latin typeface="Cambria Math" panose="02040503050406030204" pitchFamily="18" charset="0"/>
                          </a:rPr>
                          <m:t>0</m:t>
                        </m:r>
                      </m:sub>
                    </m:sSub>
                  </m:oMath>
                </a14:m>
                <a:r>
                  <a:rPr lang="en-US" dirty="0"/>
                  <a:t> and variance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oMath>
                </a14:m>
                <a:r>
                  <a:rPr lang="en-US" dirty="0"/>
                  <a:t>. Thus,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by CLT for a large enough n.</a:t>
                </a:r>
              </a:p>
              <a:p>
                <a:pPr marL="0" indent="0">
                  <a:buNone/>
                </a:pPr>
                <a:r>
                  <a:rPr lang="en-US" dirty="0"/>
                  <a:t>By the W4 Tut, we can transform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oMath>
                </a14:m>
                <a:r>
                  <a:rPr lang="en-US" dirty="0"/>
                  <a:t> to be a standard normal </a:t>
                </a:r>
                <a14:m>
                  <m:oMath xmlns:m="http://schemas.openxmlformats.org/officeDocument/2006/math">
                    <m:r>
                      <a:rPr lang="en-US" i="1">
                        <a:latin typeface="Cambria Math" panose="02040503050406030204" pitchFamily="18" charset="0"/>
                      </a:rPr>
                      <m:t>𝑍</m:t>
                    </m:r>
                    <m:r>
                      <a:rPr lang="en-US" i="1">
                        <a:latin typeface="Cambria Math" panose="02040503050406030204" pitchFamily="18" charset="0"/>
                      </a:rPr>
                      <m:t> </m:t>
                    </m:r>
                  </m:oMath>
                </a14:m>
                <a:r>
                  <a:rPr lang="en-US" dirty="0"/>
                  <a:t>, via:</a:t>
                </a: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m:t>
                      </m:r>
                      <m:f>
                        <m:fPr>
                          <m:ctrlPr>
                            <a:rPr lang="en-US" b="0" i="1" smtClean="0">
                              <a:latin typeface="Cambria Math" panose="02040503050406030204" pitchFamily="18" charset="0"/>
                            </a:rPr>
                          </m:ctrlPr>
                        </m:fPr>
                        <m:num>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num>
                        <m:den>
                          <m:rad>
                            <m:radPr>
                              <m:degHide m:val="on"/>
                              <m:ctrlPr>
                                <a:rPr lang="en-US" b="0" i="1" smtClean="0">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𝑛</m:t>
                              </m:r>
                            </m:e>
                          </m:rad>
                        </m:den>
                      </m:f>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(0,1)</m:t>
                      </m:r>
                    </m:oMath>
                  </m:oMathPara>
                </a14:m>
                <a:endParaRPr lang="en-US" b="0"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0F37E2D-4A9C-433A-BB8A-9F528D1CFBA4}"/>
                  </a:ext>
                </a:extLst>
              </p:cNvPr>
              <p:cNvSpPr>
                <a:spLocks noGrp="1" noRot="1" noChangeAspect="1" noMove="1" noResize="1" noEditPoints="1" noAdjustHandles="1" noChangeArrowheads="1" noChangeShapeType="1" noTextEdit="1"/>
              </p:cNvSpPr>
              <p:nvPr>
                <p:ph idx="1"/>
              </p:nvPr>
            </p:nvSpPr>
            <p:spPr>
              <a:xfrm>
                <a:off x="1022350" y="2886075"/>
                <a:ext cx="10515600" cy="2351990"/>
              </a:xfrm>
              <a:blipFill>
                <a:blip r:embed="rId5"/>
                <a:stretch>
                  <a:fillRect l="-1158" t="-38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8A78BD1-B6A1-4C3E-BC2C-364E6FDE8724}"/>
                  </a:ext>
                </a:extLst>
              </p:cNvPr>
              <p:cNvSpPr/>
              <p:nvPr/>
            </p:nvSpPr>
            <p:spPr>
              <a:xfrm>
                <a:off x="1022350" y="1619935"/>
                <a:ext cx="8305800" cy="1077218"/>
              </a:xfrm>
              <a:prstGeom prst="rect">
                <a:avLst/>
              </a:prstGeom>
            </p:spPr>
            <p:txBody>
              <a:bodyPr wrap="square">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0</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r>
                      <a:rPr lang="en-US" sz="3200" b="0" i="1" dirty="0" smtClean="0">
                        <a:latin typeface="Cambria Math" panose="02040503050406030204" pitchFamily="18" charset="0"/>
                      </a:rPr>
                      <m:t> </m:t>
                    </m:r>
                    <m:r>
                      <a:rPr lang="en-US" sz="3200" b="0" i="0" dirty="0" smtClean="0">
                        <a:solidFill>
                          <a:srgbClr val="FF0000"/>
                        </a:solidFill>
                        <a:latin typeface="Cambria Math" panose="02040503050406030204" pitchFamily="18" charset="0"/>
                      </a:rPr>
                      <m:t>(</m:t>
                    </m:r>
                    <m:r>
                      <a:rPr lang="en-US" sz="3200" b="0" i="1" dirty="0" smtClean="0">
                        <a:solidFill>
                          <a:srgbClr val="FF0000"/>
                        </a:solidFill>
                        <a:latin typeface="Cambria Math" panose="02040503050406030204" pitchFamily="18" charset="0"/>
                      </a:rPr>
                      <m:t>⇐</m:t>
                    </m:r>
                    <m:r>
                      <a:rPr lang="en-US" sz="3200" b="0" i="1" dirty="0" smtClean="0">
                        <a:solidFill>
                          <a:srgbClr val="FF0000"/>
                        </a:solidFill>
                        <a:latin typeface="Cambria Math" panose="02040503050406030204" pitchFamily="18" charset="0"/>
                      </a:rPr>
                      <m:t>𝑎</m:t>
                    </m:r>
                    <m:r>
                      <m:rPr>
                        <m:sty m:val="p"/>
                      </m:rPr>
                      <a:rPr lang="en-US" sz="3200" b="0" i="0" dirty="0" smtClean="0">
                        <a:solidFill>
                          <a:srgbClr val="FF0000"/>
                        </a:solidFill>
                        <a:latin typeface="Cambria Math" panose="02040503050406030204" pitchFamily="18" charset="0"/>
                      </a:rPr>
                      <m:t>ssume</m:t>
                    </m:r>
                    <m:r>
                      <a:rPr lang="en-US" sz="3200" b="0" i="0" dirty="0" smtClean="0">
                        <a:solidFill>
                          <a:srgbClr val="FF0000"/>
                        </a:solidFill>
                        <a:latin typeface="Cambria Math" panose="02040503050406030204" pitchFamily="18" charset="0"/>
                      </a:rPr>
                      <m:t> </m:t>
                    </m:r>
                    <m:sSup>
                      <m:sSupPr>
                        <m:ctrlPr>
                          <a:rPr lang="en-US" sz="3200" b="0" i="1" dirty="0" smtClean="0">
                            <a:solidFill>
                              <a:srgbClr val="FF0000"/>
                            </a:solidFill>
                            <a:latin typeface="Cambria Math" panose="02040503050406030204" pitchFamily="18" charset="0"/>
                          </a:rPr>
                        </m:ctrlPr>
                      </m:sSupPr>
                      <m:e>
                        <m:r>
                          <m:rPr>
                            <m:sty m:val="p"/>
                          </m:rPr>
                          <a:rPr lang="en-US" sz="3200" b="0" i="0" dirty="0" smtClean="0">
                            <a:solidFill>
                              <a:srgbClr val="FF0000"/>
                            </a:solidFill>
                            <a:latin typeface="Cambria Math" panose="02040503050406030204" pitchFamily="18" charset="0"/>
                          </a:rPr>
                          <m:t>it</m:t>
                        </m:r>
                      </m:e>
                      <m:sup>
                        <m:r>
                          <a:rPr lang="en-US" sz="3200" b="0" i="0" dirty="0" smtClean="0">
                            <a:solidFill>
                              <a:srgbClr val="FF0000"/>
                            </a:solidFill>
                            <a:latin typeface="Cambria Math" panose="02040503050406030204" pitchFamily="18" charset="0"/>
                          </a:rPr>
                          <m:t>′</m:t>
                        </m:r>
                      </m:sup>
                    </m:sSup>
                    <m:r>
                      <m:rPr>
                        <m:sty m:val="p"/>
                      </m:rPr>
                      <a:rPr lang="en-US" sz="3200" b="0" i="0" dirty="0" smtClean="0">
                        <a:solidFill>
                          <a:srgbClr val="FF0000"/>
                        </a:solidFill>
                        <a:latin typeface="Cambria Math" panose="02040503050406030204" pitchFamily="18" charset="0"/>
                      </a:rPr>
                      <m:t>s</m:t>
                    </m:r>
                    <m:r>
                      <a:rPr lang="en-US" sz="3200" b="0" i="0" dirty="0" smtClean="0">
                        <a:solidFill>
                          <a:srgbClr val="FF0000"/>
                        </a:solidFill>
                        <a:latin typeface="Cambria Math" panose="02040503050406030204" pitchFamily="18" charset="0"/>
                      </a:rPr>
                      <m:t> </m:t>
                    </m:r>
                    <m:r>
                      <m:rPr>
                        <m:sty m:val="p"/>
                      </m:rPr>
                      <a:rPr lang="en-US" sz="3200" b="0" i="0" dirty="0" smtClean="0">
                        <a:solidFill>
                          <a:srgbClr val="FF0000"/>
                        </a:solidFill>
                        <a:latin typeface="Cambria Math" panose="02040503050406030204" pitchFamily="18" charset="0"/>
                      </a:rPr>
                      <m:t>true</m:t>
                    </m:r>
                    <m:r>
                      <a:rPr lang="en-US" sz="3200" b="0" i="0" dirty="0" smtClean="0">
                        <a:solidFill>
                          <a:srgbClr val="FF0000"/>
                        </a:solidFill>
                        <a:latin typeface="Cambria Math" panose="02040503050406030204" pitchFamily="18" charset="0"/>
                      </a:rPr>
                      <m:t> </m:t>
                    </m:r>
                    <m:r>
                      <m:rPr>
                        <m:sty m:val="p"/>
                      </m:rPr>
                      <a:rPr lang="en-US" sz="3200" b="0" i="0" dirty="0" smtClean="0">
                        <a:solidFill>
                          <a:srgbClr val="FF0000"/>
                        </a:solidFill>
                        <a:latin typeface="Cambria Math" panose="02040503050406030204" pitchFamily="18" charset="0"/>
                      </a:rPr>
                      <m:t>for</m:t>
                    </m:r>
                    <m:r>
                      <a:rPr lang="en-US" sz="3200" b="0" i="0" dirty="0" smtClean="0">
                        <a:solidFill>
                          <a:srgbClr val="FF0000"/>
                        </a:solidFill>
                        <a:latin typeface="Cambria Math" panose="02040503050406030204" pitchFamily="18" charset="0"/>
                      </a:rPr>
                      <m:t> </m:t>
                    </m:r>
                    <m:r>
                      <m:rPr>
                        <m:sty m:val="p"/>
                      </m:rPr>
                      <a:rPr lang="en-US" sz="3200" b="0" i="0" dirty="0" smtClean="0">
                        <a:solidFill>
                          <a:srgbClr val="FF0000"/>
                        </a:solidFill>
                        <a:latin typeface="Cambria Math" panose="02040503050406030204" pitchFamily="18" charset="0"/>
                      </a:rPr>
                      <m:t>now</m:t>
                    </m:r>
                    <m:r>
                      <a:rPr lang="en-US" sz="3200" b="0" i="0" dirty="0" smtClean="0">
                        <a:solidFill>
                          <a:srgbClr val="FF0000"/>
                        </a:solidFill>
                        <a:latin typeface="Cambria Math" panose="02040503050406030204" pitchFamily="18" charset="0"/>
                      </a:rPr>
                      <m:t>)</m:t>
                    </m:r>
                  </m:oMath>
                </a14:m>
                <a:r>
                  <a:rPr lang="en-US" sz="3200" dirty="0">
                    <a:solidFill>
                      <a:srgbClr val="FF0000"/>
                    </a:solidFill>
                  </a:rPr>
                  <a:t>  </a:t>
                </a:r>
                <a:endParaRPr lang="en-US" sz="3200" dirty="0"/>
              </a:p>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1</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r>
                  <a:rPr lang="en-US" sz="3200" dirty="0"/>
                  <a:t> </a:t>
                </a:r>
              </a:p>
            </p:txBody>
          </p:sp>
        </mc:Choice>
        <mc:Fallback xmlns="">
          <p:sp>
            <p:nvSpPr>
              <p:cNvPr id="4" name="Rectangle 3">
                <a:extLst>
                  <a:ext uri="{FF2B5EF4-FFF2-40B4-BE49-F238E27FC236}">
                    <a16:creationId xmlns:a16="http://schemas.microsoft.com/office/drawing/2014/main" id="{08A78BD1-B6A1-4C3E-BC2C-364E6FDE8724}"/>
                  </a:ext>
                </a:extLst>
              </p:cNvPr>
              <p:cNvSpPr>
                <a:spLocks noRot="1" noChangeAspect="1" noMove="1" noResize="1" noEditPoints="1" noAdjustHandles="1" noChangeArrowheads="1" noChangeShapeType="1" noTextEdit="1"/>
              </p:cNvSpPr>
              <p:nvPr/>
            </p:nvSpPr>
            <p:spPr>
              <a:xfrm>
                <a:off x="1022350" y="1619935"/>
                <a:ext cx="8305800" cy="1077218"/>
              </a:xfrm>
              <a:prstGeom prst="rect">
                <a:avLst/>
              </a:prstGeom>
              <a:blipFill>
                <a:blip r:embed="rId6"/>
                <a:stretch>
                  <a:fillRect t="-6818" b="-18750"/>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EDC4E905-9609-41A2-AA24-70560122D733}"/>
              </a:ext>
            </a:extLst>
          </p:cNvPr>
          <p:cNvSpPr/>
          <p:nvPr/>
        </p:nvSpPr>
        <p:spPr>
          <a:xfrm>
            <a:off x="1022350" y="5288340"/>
            <a:ext cx="10515600" cy="1569660"/>
          </a:xfrm>
          <a:prstGeom prst="rect">
            <a:avLst/>
          </a:prstGeom>
        </p:spPr>
        <p:txBody>
          <a:bodyPr wrap="square">
            <a:spAutoFit/>
          </a:bodyPr>
          <a:lstStyle/>
          <a:p>
            <a:r>
              <a:rPr lang="en-US" sz="3200" dirty="0"/>
              <a:t>What this amounts to is, after this transformation, we can convert </a:t>
            </a:r>
            <a:r>
              <a:rPr lang="en-US" sz="3200" u="sng" dirty="0"/>
              <a:t>whichever test for population mean </a:t>
            </a:r>
            <a:r>
              <a:rPr lang="en-US" sz="3200" dirty="0"/>
              <a:t>to one under the standard normal! (given a large sample)</a:t>
            </a:r>
          </a:p>
        </p:txBody>
      </p:sp>
    </p:spTree>
    <p:custDataLst>
      <p:tags r:id="rId1"/>
    </p:custDataLst>
    <p:extLst>
      <p:ext uri="{BB962C8B-B14F-4D97-AF65-F5344CB8AC3E}">
        <p14:creationId xmlns:p14="http://schemas.microsoft.com/office/powerpoint/2010/main" val="404635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DEF66A-C564-4332-A740-0D155FB39C62}"/>
              </a:ext>
            </a:extLst>
          </p:cNvPr>
          <p:cNvPicPr>
            <a:picLocks noChangeAspect="1"/>
          </p:cNvPicPr>
          <p:nvPr/>
        </p:nvPicPr>
        <p:blipFill rotWithShape="1">
          <a:blip r:embed="rId2"/>
          <a:srcRect l="14874" t="24149" r="2848" b="7763"/>
          <a:stretch/>
        </p:blipFill>
        <p:spPr>
          <a:xfrm>
            <a:off x="7154518" y="1937657"/>
            <a:ext cx="4961379" cy="2514600"/>
          </a:xfrm>
          <a:prstGeom prst="rect">
            <a:avLst/>
          </a:prstGeom>
        </p:spPr>
      </p:pic>
      <mc:AlternateContent xmlns:mc="http://schemas.openxmlformats.org/markup-compatibility/2006" xmlns:a14="http://schemas.microsoft.com/office/drawing/2010/main">
        <mc:Choice Requires="a14">
          <p:sp>
            <p:nvSpPr>
              <p:cNvPr id="6" name="Arrow: Down 5">
                <a:extLst>
                  <a:ext uri="{FF2B5EF4-FFF2-40B4-BE49-F238E27FC236}">
                    <a16:creationId xmlns:a16="http://schemas.microsoft.com/office/drawing/2014/main" id="{B09EF0C0-7EB9-4338-9DBE-92CB86A218A8}"/>
                  </a:ext>
                </a:extLst>
              </p:cNvPr>
              <p:cNvSpPr/>
              <p:nvPr/>
            </p:nvSpPr>
            <p:spPr>
              <a:xfrm rot="16200000">
                <a:off x="4287980" y="2339779"/>
                <a:ext cx="3781425" cy="19516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𝑍</m:t>
                      </m:r>
                      <m:r>
                        <a:rPr lang="en-US" i="1" smtClean="0">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𝑛</m:t>
                              </m:r>
                            </m:e>
                          </m:rad>
                        </m:den>
                      </m:f>
                    </m:oMath>
                  </m:oMathPara>
                </a14:m>
                <a:endParaRPr lang="en-US" dirty="0"/>
              </a:p>
            </p:txBody>
          </p:sp>
        </mc:Choice>
        <mc:Fallback xmlns="">
          <p:sp>
            <p:nvSpPr>
              <p:cNvPr id="6" name="Arrow: Down 5">
                <a:extLst>
                  <a:ext uri="{FF2B5EF4-FFF2-40B4-BE49-F238E27FC236}">
                    <a16:creationId xmlns:a16="http://schemas.microsoft.com/office/drawing/2014/main" id="{B09EF0C0-7EB9-4338-9DBE-92CB86A218A8}"/>
                  </a:ext>
                </a:extLst>
              </p:cNvPr>
              <p:cNvSpPr>
                <a:spLocks noRot="1" noChangeAspect="1" noMove="1" noResize="1" noEditPoints="1" noAdjustHandles="1" noChangeArrowheads="1" noChangeShapeType="1" noTextEdit="1"/>
              </p:cNvSpPr>
              <p:nvPr/>
            </p:nvSpPr>
            <p:spPr>
              <a:xfrm rot="16200000">
                <a:off x="4287980" y="2339779"/>
                <a:ext cx="3781425" cy="1951652"/>
              </a:xfrm>
              <a:prstGeom prst="downArrow">
                <a:avLst/>
              </a:prstGeom>
              <a:blipFill>
                <a:blip r:embed="rId5"/>
                <a:stretch>
                  <a:fillRect/>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E73121E1-A384-4C65-BEE9-FC46406DD013}"/>
              </a:ext>
            </a:extLst>
          </p:cNvPr>
          <p:cNvPicPr>
            <a:picLocks noChangeAspect="1"/>
          </p:cNvPicPr>
          <p:nvPr/>
        </p:nvPicPr>
        <p:blipFill rotWithShape="1">
          <a:blip r:embed="rId6"/>
          <a:srcRect l="17041" t="26268" r="7154" b="5712"/>
          <a:stretch/>
        </p:blipFill>
        <p:spPr>
          <a:xfrm>
            <a:off x="0" y="1885949"/>
            <a:ext cx="5202866" cy="2859314"/>
          </a:xfrm>
          <a:prstGeom prst="rect">
            <a:avLst/>
          </a:prstGeom>
        </p:spPr>
      </p:pic>
      <p:sp>
        <p:nvSpPr>
          <p:cNvPr id="3" name="TextBox 2">
            <a:extLst>
              <a:ext uri="{FF2B5EF4-FFF2-40B4-BE49-F238E27FC236}">
                <a16:creationId xmlns:a16="http://schemas.microsoft.com/office/drawing/2014/main" id="{63C087DE-6197-4913-A35D-56C77B7B977C}"/>
              </a:ext>
            </a:extLst>
          </p:cNvPr>
          <p:cNvSpPr txBox="1"/>
          <p:nvPr/>
        </p:nvSpPr>
        <p:spPr>
          <a:xfrm>
            <a:off x="1538514" y="4637314"/>
            <a:ext cx="1784976" cy="369332"/>
          </a:xfrm>
          <a:prstGeom prst="rect">
            <a:avLst/>
          </a:prstGeom>
          <a:noFill/>
        </p:spPr>
        <p:txBody>
          <a:bodyPr wrap="none" rtlCol="0">
            <a:spAutoFit/>
          </a:bodyPr>
          <a:lstStyle/>
          <a:p>
            <a:r>
              <a:rPr lang="en-US" dirty="0"/>
              <a:t>(given H0 is true)</a:t>
            </a:r>
          </a:p>
        </p:txBody>
      </p:sp>
      <p:sp>
        <p:nvSpPr>
          <p:cNvPr id="4" name="Rectangle 3">
            <a:extLst>
              <a:ext uri="{FF2B5EF4-FFF2-40B4-BE49-F238E27FC236}">
                <a16:creationId xmlns:a16="http://schemas.microsoft.com/office/drawing/2014/main" id="{61E1E61D-8932-4E1B-80A4-311968C98817}"/>
              </a:ext>
            </a:extLst>
          </p:cNvPr>
          <p:cNvSpPr/>
          <p:nvPr/>
        </p:nvSpPr>
        <p:spPr>
          <a:xfrm>
            <a:off x="-383773" y="5372559"/>
            <a:ext cx="12270973" cy="923330"/>
          </a:xfrm>
          <a:prstGeom prst="rect">
            <a:avLst/>
          </a:prstGeom>
          <a:noFill/>
        </p:spPr>
        <p:txBody>
          <a:bodyPr wrap="square" lIns="91440" tIns="45720" rIns="91440" bIns="45720">
            <a:spAutoFit/>
          </a:bodyPr>
          <a:lstStyle/>
          <a:p>
            <a:pPr algn="ctr"/>
            <a:r>
              <a:rPr lang="en-US" sz="5400" b="1" i="1" dirty="0">
                <a:ln w="22225">
                  <a:solidFill>
                    <a:schemeClr val="accent2"/>
                  </a:solidFill>
                  <a:prstDash val="solid"/>
                </a:ln>
                <a:solidFill>
                  <a:schemeClr val="accent2">
                    <a:lumMod val="40000"/>
                    <a:lumOff val="60000"/>
                  </a:schemeClr>
                </a:solidFill>
              </a:rPr>
              <a:t>Let’s make some noise! CLT! CLT! </a:t>
            </a:r>
            <a:r>
              <a:rPr lang="en-US" sz="5400" b="1" i="1" dirty="0" err="1">
                <a:ln w="22225">
                  <a:solidFill>
                    <a:schemeClr val="accent2"/>
                  </a:solidFill>
                  <a:prstDash val="solid"/>
                </a:ln>
                <a:solidFill>
                  <a:schemeClr val="accent2">
                    <a:lumMod val="40000"/>
                    <a:lumOff val="60000"/>
                  </a:schemeClr>
                </a:solidFill>
              </a:rPr>
              <a:t>CLT</a:t>
            </a:r>
            <a:r>
              <a:rPr lang="en-US" sz="5400" b="1" i="1" dirty="0">
                <a:ln w="22225">
                  <a:solidFill>
                    <a:schemeClr val="accent2"/>
                  </a:solidFill>
                  <a:prstDash val="solid"/>
                </a:ln>
                <a:solidFill>
                  <a:schemeClr val="accent2">
                    <a:lumMod val="40000"/>
                    <a:lumOff val="60000"/>
                  </a:schemeClr>
                </a:solidFill>
              </a:rPr>
              <a:t>!</a:t>
            </a:r>
          </a:p>
        </p:txBody>
      </p:sp>
    </p:spTree>
    <p:extLst>
      <p:ext uri="{BB962C8B-B14F-4D97-AF65-F5344CB8AC3E}">
        <p14:creationId xmlns:p14="http://schemas.microsoft.com/office/powerpoint/2010/main" val="2748545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774A-5920-45FF-B2F9-1F2622D63CEB}"/>
              </a:ext>
            </a:extLst>
          </p:cNvPr>
          <p:cNvSpPr>
            <a:spLocks noGrp="1"/>
          </p:cNvSpPr>
          <p:nvPr>
            <p:ph type="title"/>
          </p:nvPr>
        </p:nvSpPr>
        <p:spPr/>
        <p:txBody>
          <a:bodyPr/>
          <a:lstStyle/>
          <a:p>
            <a:r>
              <a:rPr lang="en-US" dirty="0"/>
              <a:t>Simplified steps for HT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CAA6732-3058-43BF-9CA6-F1C34780B851}"/>
                  </a:ext>
                </a:extLst>
              </p:cNvPr>
              <p:cNvSpPr>
                <a:spLocks noGrp="1"/>
              </p:cNvSpPr>
              <p:nvPr>
                <p:ph idx="1"/>
              </p:nvPr>
            </p:nvSpPr>
            <p:spPr>
              <a:xfrm>
                <a:off x="838200" y="1825625"/>
                <a:ext cx="10515600" cy="4351961"/>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514350" indent="-514350">
                  <a:buAutoNum type="arabicPeriod"/>
                </a:pPr>
                <a:r>
                  <a:rPr lang="en-US" dirty="0"/>
                  <a:t>Formulate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1</m:t>
                        </m:r>
                      </m:sub>
                    </m:sSub>
                  </m:oMath>
                </a14:m>
                <a:r>
                  <a:rPr lang="en-US" dirty="0"/>
                  <a:t> </a:t>
                </a:r>
              </a:p>
              <a:p>
                <a:pPr marL="514350" indent="-514350">
                  <a:buAutoNum type="arabicPeriod"/>
                </a:pPr>
                <a:r>
                  <a:rPr lang="en-US" strike="sngStrike" dirty="0"/>
                  <a:t>Choose an acceptable type-I error probability (</a:t>
                </a:r>
                <a14:m>
                  <m:oMath xmlns:m="http://schemas.openxmlformats.org/officeDocument/2006/math">
                    <m:r>
                      <a:rPr lang="en-US" i="1" strike="sngStrike">
                        <a:latin typeface="Cambria Math" panose="02040503050406030204" pitchFamily="18" charset="0"/>
                      </a:rPr>
                      <m:t>𝛼</m:t>
                    </m:r>
                    <m:r>
                      <a:rPr lang="en-US" i="1" strike="sngStrike">
                        <a:latin typeface="Cambria Math" panose="02040503050406030204" pitchFamily="18" charset="0"/>
                      </a:rPr>
                      <m:t>)</m:t>
                    </m:r>
                  </m:oMath>
                </a14:m>
                <a:r>
                  <a:rPr lang="en-US" strike="sngStrike" dirty="0"/>
                  <a:t> </a:t>
                </a:r>
                <a14:m>
                  <m:oMath xmlns:m="http://schemas.openxmlformats.org/officeDocument/2006/math">
                    <m:r>
                      <a:rPr lang="en-US" i="1" strike="sngStrike" dirty="0">
                        <a:latin typeface="Cambria Math" panose="02040503050406030204" pitchFamily="18" charset="0"/>
                      </a:rPr>
                      <m:t>⇒</m:t>
                    </m:r>
                  </m:oMath>
                </a14:m>
                <a:r>
                  <a:rPr lang="en-US" strike="sngStrike" dirty="0"/>
                  <a:t> Rejection region (RR) of the test statistic </a:t>
                </a:r>
                <a14:m>
                  <m:oMath xmlns:m="http://schemas.openxmlformats.org/officeDocument/2006/math">
                    <m:acc>
                      <m:accPr>
                        <m:chr m:val="̅"/>
                        <m:ctrlPr>
                          <a:rPr lang="en-US" i="1" strike="sngStrike">
                            <a:latin typeface="Cambria Math" panose="02040503050406030204" pitchFamily="18" charset="0"/>
                          </a:rPr>
                        </m:ctrlPr>
                      </m:accPr>
                      <m:e>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𝑋</m:t>
                            </m:r>
                          </m:e>
                          <m:sub>
                            <m:r>
                              <a:rPr lang="en-US" i="1" strike="sngStrike">
                                <a:latin typeface="Cambria Math" panose="02040503050406030204" pitchFamily="18" charset="0"/>
                              </a:rPr>
                              <m:t>𝑛</m:t>
                            </m:r>
                          </m:sub>
                        </m:sSub>
                      </m:e>
                    </m:acc>
                  </m:oMath>
                </a14:m>
                <a:r>
                  <a:rPr lang="en-US" strike="sngStrike" dirty="0"/>
                  <a:t> </a:t>
                </a:r>
              </a:p>
              <a:p>
                <a:pPr marL="514350" indent="-514350">
                  <a:buAutoNum type="arabicPeriod"/>
                </a:pPr>
                <a:r>
                  <a:rPr lang="en-US" strike="sngStrike" dirty="0"/>
                  <a:t>Use a random sample and calculate </a:t>
                </a:r>
                <a14:m>
                  <m:oMath xmlns:m="http://schemas.openxmlformats.org/officeDocument/2006/math">
                    <m:acc>
                      <m:accPr>
                        <m:chr m:val="̅"/>
                        <m:ctrlPr>
                          <a:rPr lang="en-US" i="1" strike="sngStrike">
                            <a:latin typeface="Cambria Math" panose="02040503050406030204" pitchFamily="18" charset="0"/>
                          </a:rPr>
                        </m:ctrlPr>
                      </m:accPr>
                      <m:e>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𝑋</m:t>
                            </m:r>
                          </m:e>
                          <m:sub>
                            <m:r>
                              <a:rPr lang="en-US" i="1" strike="sngStrike">
                                <a:latin typeface="Cambria Math" panose="02040503050406030204" pitchFamily="18" charset="0"/>
                              </a:rPr>
                              <m:t>𝑛</m:t>
                            </m:r>
                          </m:sub>
                        </m:sSub>
                      </m:e>
                    </m:acc>
                  </m:oMath>
                </a14:m>
                <a:r>
                  <a:rPr lang="en-US" strike="sngStrike" dirty="0"/>
                  <a:t>=? </a:t>
                </a:r>
              </a:p>
              <a:p>
                <a:pPr marL="514350" indent="-514350">
                  <a:buAutoNum type="arabicPeriod"/>
                </a:pPr>
                <a:r>
                  <a:rPr lang="en-US" strike="sngStrike" dirty="0"/>
                  <a:t>If </a:t>
                </a:r>
                <a14:m>
                  <m:oMath xmlns:m="http://schemas.openxmlformats.org/officeDocument/2006/math">
                    <m:acc>
                      <m:accPr>
                        <m:chr m:val="̅"/>
                        <m:ctrlPr>
                          <a:rPr lang="en-US" i="1" strike="sngStrike">
                            <a:latin typeface="Cambria Math" panose="02040503050406030204" pitchFamily="18" charset="0"/>
                          </a:rPr>
                        </m:ctrlPr>
                      </m:accPr>
                      <m:e>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𝑋</m:t>
                            </m:r>
                          </m:e>
                          <m:sub>
                            <m:r>
                              <a:rPr lang="en-US" i="1" strike="sngStrike">
                                <a:latin typeface="Cambria Math" panose="02040503050406030204" pitchFamily="18" charset="0"/>
                              </a:rPr>
                              <m:t>𝑛</m:t>
                            </m:r>
                          </m:sub>
                        </m:sSub>
                      </m:e>
                    </m:acc>
                  </m:oMath>
                </a14:m>
                <a:r>
                  <a:rPr lang="en-US" strike="sngStrike" dirty="0"/>
                  <a:t> is in the RR</a:t>
                </a:r>
                <a14:m>
                  <m:oMath xmlns:m="http://schemas.openxmlformats.org/officeDocument/2006/math">
                    <m:r>
                      <a:rPr lang="en-US" i="1" strike="sngStrike" dirty="0">
                        <a:latin typeface="Cambria Math" panose="02040503050406030204" pitchFamily="18" charset="0"/>
                      </a:rPr>
                      <m:t>⇒</m:t>
                    </m:r>
                  </m:oMath>
                </a14:m>
                <a:r>
                  <a:rPr lang="en-US" strike="sngStrike" dirty="0"/>
                  <a:t> Reject </a:t>
                </a:r>
                <a14:m>
                  <m:oMath xmlns:m="http://schemas.openxmlformats.org/officeDocument/2006/math">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𝐻</m:t>
                        </m:r>
                      </m:e>
                      <m:sub>
                        <m:r>
                          <a:rPr lang="en-US" i="1" strike="sngStrike">
                            <a:latin typeface="Cambria Math" panose="02040503050406030204" pitchFamily="18" charset="0"/>
                          </a:rPr>
                          <m:t>0</m:t>
                        </m:r>
                      </m:sub>
                    </m:sSub>
                    <m:r>
                      <a:rPr lang="en-US" i="1" strike="sngStrike">
                        <a:latin typeface="Cambria Math" panose="02040503050406030204" pitchFamily="18" charset="0"/>
                      </a:rPr>
                      <m:t>!</m:t>
                    </m:r>
                  </m:oMath>
                </a14:m>
                <a:r>
                  <a:rPr lang="en-US" strike="sngStrike" dirty="0"/>
                  <a:t> </a:t>
                </a:r>
              </a:p>
              <a:p>
                <a:pPr marL="514350" indent="-514350">
                  <a:buFont typeface="+mj-lt"/>
                  <a:buAutoNum type="arabicPeriod" startAt="3"/>
                </a:pPr>
                <a:r>
                  <a:rPr lang="en-US" b="1" dirty="0">
                    <a:solidFill>
                      <a:srgbClr val="FF0000"/>
                    </a:solidFill>
                  </a:rPr>
                  <a:t>RR</a:t>
                </a:r>
                <a:r>
                  <a:rPr lang="en-US" dirty="0">
                    <a:solidFill>
                      <a:srgbClr val="FF0000"/>
                    </a:solidFill>
                  </a:rPr>
                  <a:t>: Choose an acceptable type-I probability (𝛼) ⇒ Rejection region (RR) in N(0,1) for Z</a:t>
                </a:r>
              </a:p>
              <a:p>
                <a:pPr marL="514350" indent="-514350">
                  <a:buFont typeface="+mj-lt"/>
                  <a:buAutoNum type="arabicPeriod" startAt="3"/>
                </a:pPr>
                <a:r>
                  <a:rPr lang="en-US" b="1" dirty="0">
                    <a:solidFill>
                      <a:srgbClr val="FF0000"/>
                    </a:solidFill>
                  </a:rPr>
                  <a:t>Test statistics</a:t>
                </a:r>
                <a:r>
                  <a:rPr lang="en-US" dirty="0">
                    <a:solidFill>
                      <a:srgbClr val="FF0000"/>
                    </a:solidFill>
                  </a:rPr>
                  <a:t>: calculate </a:t>
                </a:r>
                <a14:m>
                  <m:oMath xmlns:m="http://schemas.openxmlformats.org/officeDocument/2006/math">
                    <m:acc>
                      <m:accPr>
                        <m:chr m:val="̅"/>
                        <m:ctrlPr>
                          <a:rPr lang="en-US" i="1">
                            <a:solidFill>
                              <a:srgbClr val="FF0000"/>
                            </a:solidFill>
                            <a:latin typeface="Cambria Math" panose="02040503050406030204" pitchFamily="18" charset="0"/>
                          </a:rPr>
                        </m:ctrlPr>
                      </m:acc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𝑋</m:t>
                            </m:r>
                          </m:e>
                          <m:sub>
                            <m:r>
                              <a:rPr lang="en-US" i="1">
                                <a:solidFill>
                                  <a:srgbClr val="FF0000"/>
                                </a:solidFill>
                                <a:latin typeface="Cambria Math" panose="02040503050406030204" pitchFamily="18" charset="0"/>
                              </a:rPr>
                              <m:t>𝑛</m:t>
                            </m:r>
                          </m:sub>
                        </m:sSub>
                      </m:e>
                    </m:acc>
                  </m:oMath>
                </a14:m>
                <a:r>
                  <a:rPr lang="en-US" dirty="0">
                    <a:solidFill>
                      <a:srgbClr val="FF0000"/>
                    </a:solidFill>
                  </a:rPr>
                  <a:t>, and then convert it to Z</a:t>
                </a:r>
              </a:p>
              <a:p>
                <a:pPr marL="514350" indent="-514350">
                  <a:buFont typeface="Arial" panose="020B0604020202020204" pitchFamily="34" charset="0"/>
                  <a:buAutoNum type="arabicPeriod" startAt="3"/>
                </a:pPr>
                <a:r>
                  <a:rPr lang="en-US" b="1" dirty="0">
                    <a:solidFill>
                      <a:srgbClr val="FF0000"/>
                    </a:solidFill>
                  </a:rPr>
                  <a:t>Decision</a:t>
                </a:r>
                <a:r>
                  <a:rPr lang="en-US" dirty="0">
                    <a:solidFill>
                      <a:srgbClr val="FF0000"/>
                    </a:solidFill>
                  </a:rPr>
                  <a:t>: If the Z score is in RR </a:t>
                </a:r>
                <a14:m>
                  <m:oMath xmlns:m="http://schemas.openxmlformats.org/officeDocument/2006/math">
                    <m:r>
                      <a:rPr lang="en-US" i="1" dirty="0">
                        <a:solidFill>
                          <a:srgbClr val="FF0000"/>
                        </a:solidFill>
                        <a:latin typeface="Cambria Math" panose="02040503050406030204" pitchFamily="18" charset="0"/>
                      </a:rPr>
                      <m:t>⇒</m:t>
                    </m:r>
                  </m:oMath>
                </a14:m>
                <a:r>
                  <a:rPr lang="en-US" dirty="0">
                    <a:solidFill>
                      <a:srgbClr val="FF0000"/>
                    </a:solidFill>
                  </a:rPr>
                  <a:t> Reject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𝐻</m:t>
                        </m:r>
                      </m:e>
                      <m:sub>
                        <m:r>
                          <a:rPr lang="en-US" i="1">
                            <a:solidFill>
                              <a:srgbClr val="FF0000"/>
                            </a:solidFill>
                            <a:latin typeface="Cambria Math" panose="02040503050406030204" pitchFamily="18" charset="0"/>
                          </a:rPr>
                          <m:t>0</m:t>
                        </m:r>
                      </m:sub>
                    </m:sSub>
                    <m:r>
                      <a:rPr lang="en-US" i="1">
                        <a:solidFill>
                          <a:srgbClr val="FF0000"/>
                        </a:solidFill>
                        <a:latin typeface="Cambria Math" panose="02040503050406030204" pitchFamily="18" charset="0"/>
                      </a:rPr>
                      <m:t>!</m:t>
                    </m:r>
                  </m:oMath>
                </a14:m>
                <a:r>
                  <a:rPr lang="en-US" dirty="0">
                    <a:solidFill>
                      <a:srgbClr val="FF0000"/>
                    </a:solidFill>
                  </a:rPr>
                  <a:t> </a:t>
                </a:r>
                <a:endParaRPr lang="en-US" dirty="0"/>
              </a:p>
            </p:txBody>
          </p:sp>
        </mc:Choice>
        <mc:Fallback xmlns="">
          <p:sp>
            <p:nvSpPr>
              <p:cNvPr id="4" name="Content Placeholder 3">
                <a:extLst>
                  <a:ext uri="{FF2B5EF4-FFF2-40B4-BE49-F238E27FC236}">
                    <a16:creationId xmlns:a16="http://schemas.microsoft.com/office/drawing/2014/main" id="{DCAA6732-3058-43BF-9CA6-F1C34780B851}"/>
                  </a:ext>
                </a:extLst>
              </p:cNvPr>
              <p:cNvSpPr>
                <a:spLocks noGrp="1" noRot="1" noChangeAspect="1" noMove="1" noResize="1" noEditPoints="1" noAdjustHandles="1" noChangeArrowheads="1" noChangeShapeType="1" noTextEdit="1"/>
              </p:cNvSpPr>
              <p:nvPr>
                <p:ph idx="1"/>
              </p:nvPr>
            </p:nvSpPr>
            <p:spPr>
              <a:xfrm>
                <a:off x="838200" y="1825625"/>
                <a:ext cx="10515600" cy="4351961"/>
              </a:xfrm>
              <a:prstGeom prst="rect">
                <a:avLst/>
              </a:prstGeom>
              <a:blipFill>
                <a:blip r:embed="rId4"/>
                <a:stretch>
                  <a:fillRect l="-1158" t="-2235" b="-3073"/>
                </a:stretch>
              </a:blipFill>
            </p:spPr>
            <p:txBody>
              <a:bodyPr/>
              <a:lstStyle/>
              <a:p>
                <a:r>
                  <a:rPr lang="en-US">
                    <a:noFill/>
                  </a:rPr>
                  <a:t> </a:t>
                </a:r>
              </a:p>
            </p:txBody>
          </p:sp>
        </mc:Fallback>
      </mc:AlternateContent>
    </p:spTree>
    <p:extLst>
      <p:ext uri="{BB962C8B-B14F-4D97-AF65-F5344CB8AC3E}">
        <p14:creationId xmlns:p14="http://schemas.microsoft.com/office/powerpoint/2010/main" val="963963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B07B2-9331-45EC-808D-FFA56BF5BF29}"/>
              </a:ext>
            </a:extLst>
          </p:cNvPr>
          <p:cNvSpPr>
            <a:spLocks noGrp="1"/>
          </p:cNvSpPr>
          <p:nvPr>
            <p:ph type="title"/>
          </p:nvPr>
        </p:nvSpPr>
        <p:spPr/>
        <p:txBody>
          <a:bodyPr/>
          <a:lstStyle/>
          <a:p>
            <a:r>
              <a:rPr lang="en-US" dirty="0"/>
              <a:t>Example 1: Boston marathon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F59BC1-1F44-49AD-AF16-934FF2263D12}"/>
                  </a:ext>
                </a:extLst>
              </p:cNvPr>
              <p:cNvSpPr>
                <a:spLocks noGrp="1"/>
              </p:cNvSpPr>
              <p:nvPr>
                <p:ph idx="1"/>
              </p:nvPr>
            </p:nvSpPr>
            <p:spPr/>
            <p:txBody>
              <a:bodyPr/>
              <a:lstStyle/>
              <a:p>
                <a:pPr marL="0" indent="0">
                  <a:buNone/>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a:t>
                </a:r>
                <a14:m>
                  <m:oMath xmlns:m="http://schemas.openxmlformats.org/officeDocument/2006/math">
                    <m:r>
                      <a:rPr lang="en-US" i="1" dirty="0">
                        <a:latin typeface="Cambria Math" panose="02040503050406030204" pitchFamily="18" charset="0"/>
                      </a:rPr>
                      <m:t>𝜇</m:t>
                    </m:r>
                    <m:r>
                      <a:rPr lang="en-US" i="1" dirty="0">
                        <a:latin typeface="Cambria Math" panose="02040503050406030204" pitchFamily="18" charset="0"/>
                      </a:rPr>
                      <m:t>=3.97</m:t>
                    </m:r>
                  </m:oMath>
                </a14:m>
                <a:r>
                  <a:rPr lang="en-US" dirty="0"/>
                  <a:t> </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1</m:t>
                        </m:r>
                      </m:sub>
                    </m:sSub>
                  </m:oMath>
                </a14:m>
                <a:r>
                  <a:rPr lang="en-US" dirty="0"/>
                  <a:t>: </a:t>
                </a:r>
                <a14:m>
                  <m:oMath xmlns:m="http://schemas.openxmlformats.org/officeDocument/2006/math">
                    <m:r>
                      <a:rPr lang="en-US" i="1" dirty="0">
                        <a:latin typeface="Cambria Math" panose="02040503050406030204" pitchFamily="18" charset="0"/>
                      </a:rPr>
                      <m:t>𝜇</m:t>
                    </m:r>
                    <m:r>
                      <a:rPr lang="en-US" i="1" dirty="0">
                        <a:latin typeface="Cambria Math" panose="02040503050406030204" pitchFamily="18" charset="0"/>
                      </a:rPr>
                      <m:t>≠3.97</m:t>
                    </m:r>
                  </m:oMath>
                </a14:m>
                <a:r>
                  <a:rPr lang="en-US" dirty="0"/>
                  <a:t> </a:t>
                </a:r>
              </a:p>
              <a:p>
                <a:pPr marL="0" indent="0">
                  <a:buNone/>
                </a:pPr>
                <a:r>
                  <a:rPr lang="en-US" dirty="0"/>
                  <a:t>By assumption,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3.97,</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𝑛</m:t>
                            </m:r>
                          </m:den>
                        </m:f>
                      </m:e>
                    </m:d>
                    <m:r>
                      <a:rPr lang="en-US" b="0" i="1" smtClean="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𝑍</m:t>
                    </m:r>
                    <m:r>
                      <a:rPr lang="en-US" i="1">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r>
                          <a:rPr lang="en-US" i="1">
                            <a:latin typeface="Cambria Math" panose="02040503050406030204" pitchFamily="18" charset="0"/>
                          </a:rPr>
                          <m:t>−3.9</m:t>
                        </m:r>
                        <m:r>
                          <a:rPr lang="en-US" altLang="zh-TW" i="1">
                            <a:latin typeface="Cambria Math" panose="02040503050406030204" pitchFamily="18" charset="0"/>
                          </a:rPr>
                          <m:t>7</m:t>
                        </m:r>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𝑛</m:t>
                            </m:r>
                          </m:e>
                        </m:rad>
                      </m:den>
                    </m:f>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(0,1)</m:t>
                    </m:r>
                  </m:oMath>
                </a14:m>
                <a:endParaRPr lang="en-US" dirty="0"/>
              </a:p>
              <a:p>
                <a:pPr marL="0" indent="0">
                  <a:buNone/>
                </a:pPr>
                <a:r>
                  <a:rPr lang="en-US" dirty="0"/>
                  <a:t>Check: Let us take </a:t>
                </a:r>
                <a14:m>
                  <m:oMath xmlns:m="http://schemas.openxmlformats.org/officeDocument/2006/math">
                    <m:r>
                      <a:rPr lang="en-US" i="1">
                        <a:latin typeface="Cambria Math" panose="02040503050406030204" pitchFamily="18" charset="0"/>
                      </a:rPr>
                      <m:t>𝛼</m:t>
                    </m:r>
                  </m:oMath>
                </a14:m>
                <a:r>
                  <a:rPr lang="en-US" dirty="0"/>
                  <a:t>=10% or 0.1. What is our RR in N(0,1)?</a:t>
                </a:r>
              </a:p>
              <a:p>
                <a:pPr marL="0" indent="0">
                  <a:buNone/>
                </a:pPr>
                <a:r>
                  <a:rPr lang="en-US" dirty="0"/>
                  <a:t> </a:t>
                </a:r>
              </a:p>
            </p:txBody>
          </p:sp>
        </mc:Choice>
        <mc:Fallback xmlns="">
          <p:sp>
            <p:nvSpPr>
              <p:cNvPr id="3" name="Content Placeholder 2">
                <a:extLst>
                  <a:ext uri="{FF2B5EF4-FFF2-40B4-BE49-F238E27FC236}">
                    <a16:creationId xmlns:a16="http://schemas.microsoft.com/office/drawing/2014/main" id="{D6F59BC1-1F44-49AD-AF16-934FF2263D12}"/>
                  </a:ext>
                </a:extLst>
              </p:cNvPr>
              <p:cNvSpPr>
                <a:spLocks noGrp="1" noRot="1" noChangeAspect="1" noMove="1" noResize="1" noEditPoints="1" noAdjustHandles="1" noChangeArrowheads="1" noChangeShapeType="1" noTextEdit="1"/>
              </p:cNvSpPr>
              <p:nvPr>
                <p:ph idx="1"/>
              </p:nvPr>
            </p:nvSpPr>
            <p:spPr>
              <a:blipFill>
                <a:blip r:embed="rId4"/>
                <a:stretch>
                  <a:fillRect l="-1217" t="-224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F0C2205-412A-4249-B162-EB9048F6AC89}"/>
              </a:ext>
            </a:extLst>
          </p:cNvPr>
          <p:cNvPicPr>
            <a:picLocks noChangeAspect="1"/>
          </p:cNvPicPr>
          <p:nvPr/>
        </p:nvPicPr>
        <p:blipFill rotWithShape="1">
          <a:blip r:embed="rId5"/>
          <a:srcRect l="14874" t="24149" r="2848" b="7763"/>
          <a:stretch/>
        </p:blipFill>
        <p:spPr>
          <a:xfrm>
            <a:off x="3696081" y="4060150"/>
            <a:ext cx="4799838" cy="2432725"/>
          </a:xfrm>
          <a:prstGeom prst="rect">
            <a:avLst/>
          </a:prstGeom>
        </p:spPr>
      </p:pic>
    </p:spTree>
    <p:extLst>
      <p:ext uri="{BB962C8B-B14F-4D97-AF65-F5344CB8AC3E}">
        <p14:creationId xmlns:p14="http://schemas.microsoft.com/office/powerpoint/2010/main" val="2523241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B07B2-9331-45EC-808D-FFA56BF5BF29}"/>
              </a:ext>
            </a:extLst>
          </p:cNvPr>
          <p:cNvSpPr>
            <a:spLocks noGrp="1"/>
          </p:cNvSpPr>
          <p:nvPr>
            <p:ph type="title"/>
          </p:nvPr>
        </p:nvSpPr>
        <p:spPr/>
        <p:txBody>
          <a:bodyPr/>
          <a:lstStyle/>
          <a:p>
            <a:r>
              <a:rPr lang="en-US" dirty="0"/>
              <a:t>R calculations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F59BC1-1F44-49AD-AF16-934FF2263D12}"/>
                  </a:ext>
                </a:extLst>
              </p:cNvPr>
              <p:cNvSpPr>
                <a:spLocks noGrp="1"/>
              </p:cNvSpPr>
              <p:nvPr>
                <p:ph idx="1"/>
              </p:nvPr>
            </p:nvSpPr>
            <p:spPr/>
            <p:txBody>
              <a:bodyPr>
                <a:normAutofit/>
              </a:bodyPr>
              <a:lstStyle/>
              <a:p>
                <a:pPr marL="514350" indent="-514350">
                  <a:buFont typeface="+mj-lt"/>
                  <a:buAutoNum type="arabicPeriod"/>
                </a:pPr>
                <a:r>
                  <a:rPr lang="en-US" dirty="0"/>
                  <a:t>Setting the RR under Z: Suppose the population variance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oMath>
                </a14:m>
                <a:r>
                  <a:rPr lang="en-US" dirty="0"/>
                  <a:t> is </a:t>
                </a:r>
                <a14:m>
                  <m:oMath xmlns:m="http://schemas.openxmlformats.org/officeDocument/2006/math">
                    <m:r>
                      <a:rPr lang="en-US" i="1">
                        <a:latin typeface="Cambria Math" panose="02040503050406030204" pitchFamily="18" charset="0"/>
                      </a:rPr>
                      <m:t>1</m:t>
                    </m:r>
                  </m:oMath>
                </a14:m>
                <a:r>
                  <a:rPr lang="en-US" dirty="0"/>
                  <a:t> and </a:t>
                </a:r>
                <a14:m>
                  <m:oMath xmlns:m="http://schemas.openxmlformats.org/officeDocument/2006/math">
                    <m:r>
                      <a:rPr lang="en-US" i="1">
                        <a:latin typeface="Cambria Math" panose="02040503050406030204" pitchFamily="18" charset="0"/>
                      </a:rPr>
                      <m:t>𝛼</m:t>
                    </m:r>
                  </m:oMath>
                </a14:m>
                <a:r>
                  <a:rPr lang="en-US" dirty="0"/>
                  <a:t>=10%. What is the RR in Z?</a:t>
                </a:r>
              </a:p>
              <a:p>
                <a:pPr marL="514350" indent="-514350">
                  <a:buFont typeface="+mj-lt"/>
                  <a:buAutoNum type="arabicPeriod"/>
                </a:pPr>
                <a:r>
                  <a:rPr lang="en-US" dirty="0"/>
                  <a:t>Calculating test statistic value: Now load the provided data file into R and calculate the same mean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oMath>
                </a14:m>
                <a:r>
                  <a:rPr lang="en-US" dirty="0"/>
                  <a:t> and the sample size </a:t>
                </a:r>
                <a14:m>
                  <m:oMath xmlns:m="http://schemas.openxmlformats.org/officeDocument/2006/math">
                    <m:r>
                      <a:rPr lang="en-US" i="1">
                        <a:latin typeface="Cambria Math" panose="02040503050406030204" pitchFamily="18" charset="0"/>
                      </a:rPr>
                      <m:t>𝑛</m:t>
                    </m:r>
                  </m:oMath>
                </a14:m>
                <a:r>
                  <a:rPr lang="en-US" dirty="0"/>
                  <a:t>, would you? </a:t>
                </a:r>
              </a:p>
              <a:p>
                <a:pPr marL="514350" indent="-514350">
                  <a:buFont typeface="+mj-lt"/>
                  <a:buAutoNum type="arabicPeriod"/>
                </a:pPr>
                <a:r>
                  <a:rPr lang="en-US" dirty="0"/>
                  <a:t>Conclude the test: Is Z in the RR? Shall we reject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or not, under </a:t>
                </a:r>
                <a14:m>
                  <m:oMath xmlns:m="http://schemas.openxmlformats.org/officeDocument/2006/math">
                    <m:r>
                      <a:rPr lang="en-US" i="1">
                        <a:latin typeface="Cambria Math" panose="02040503050406030204" pitchFamily="18" charset="0"/>
                      </a:rPr>
                      <m:t>𝛼</m:t>
                    </m:r>
                  </m:oMath>
                </a14:m>
                <a:r>
                  <a:rPr lang="en-US" dirty="0"/>
                  <a:t>=10% ?</a:t>
                </a:r>
              </a:p>
            </p:txBody>
          </p:sp>
        </mc:Choice>
        <mc:Fallback xmlns="">
          <p:sp>
            <p:nvSpPr>
              <p:cNvPr id="3" name="Content Placeholder 2">
                <a:extLst>
                  <a:ext uri="{FF2B5EF4-FFF2-40B4-BE49-F238E27FC236}">
                    <a16:creationId xmlns:a16="http://schemas.microsoft.com/office/drawing/2014/main" id="{D6F59BC1-1F44-49AD-AF16-934FF2263D12}"/>
                  </a:ext>
                </a:extLst>
              </p:cNvPr>
              <p:cNvSpPr>
                <a:spLocks noGrp="1" noRot="1" noChangeAspect="1" noMove="1" noResize="1" noEditPoints="1" noAdjustHandles="1" noChangeArrowheads="1" noChangeShapeType="1" noTextEdit="1"/>
              </p:cNvSpPr>
              <p:nvPr>
                <p:ph idx="1"/>
              </p:nvPr>
            </p:nvSpPr>
            <p:spPr>
              <a:blipFill>
                <a:blip r:embed="rId5"/>
                <a:stretch>
                  <a:fillRect l="-1217" t="-2381"/>
                </a:stretch>
              </a:blipFill>
            </p:spPr>
            <p:txBody>
              <a:bodyPr/>
              <a:lstStyle/>
              <a:p>
                <a:r>
                  <a:rPr lang="en-US">
                    <a:noFill/>
                  </a:rPr>
                  <a:t> </a:t>
                </a:r>
              </a:p>
            </p:txBody>
          </p:sp>
        </mc:Fallback>
      </mc:AlternateContent>
    </p:spTree>
    <p:extLst>
      <p:ext uri="{BB962C8B-B14F-4D97-AF65-F5344CB8AC3E}">
        <p14:creationId xmlns:p14="http://schemas.microsoft.com/office/powerpoint/2010/main" val="608337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18D17-8655-444B-8B69-68E11A270EB1}"/>
              </a:ext>
            </a:extLst>
          </p:cNvPr>
          <p:cNvSpPr>
            <a:spLocks noGrp="1"/>
          </p:cNvSpPr>
          <p:nvPr>
            <p:ph type="title"/>
          </p:nvPr>
        </p:nvSpPr>
        <p:spPr/>
        <p:txBody>
          <a:bodyPr/>
          <a:lstStyle/>
          <a:p>
            <a:r>
              <a:rPr lang="en-US" dirty="0"/>
              <a:t>HT so far</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83C16D4-C73E-9E9F-9E86-CD22D07D5643}"/>
                  </a:ext>
                </a:extLst>
              </p:cNvPr>
              <p:cNvSpPr/>
              <p:nvPr/>
            </p:nvSpPr>
            <p:spPr>
              <a:xfrm>
                <a:off x="1222766" y="1519726"/>
                <a:ext cx="2773036" cy="1077218"/>
              </a:xfrm>
              <a:prstGeom prst="rect">
                <a:avLst/>
              </a:prstGeom>
            </p:spPr>
            <p:txBody>
              <a:bodyPr wrap="square">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0</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endParaRPr lang="en-US" sz="3200" dirty="0"/>
              </a:p>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1</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r>
                  <a:rPr lang="en-US" sz="3200" dirty="0"/>
                  <a:t> </a:t>
                </a:r>
              </a:p>
            </p:txBody>
          </p:sp>
        </mc:Choice>
        <mc:Fallback xmlns="">
          <p:sp>
            <p:nvSpPr>
              <p:cNvPr id="5" name="Rectangle 4">
                <a:extLst>
                  <a:ext uri="{FF2B5EF4-FFF2-40B4-BE49-F238E27FC236}">
                    <a16:creationId xmlns:a16="http://schemas.microsoft.com/office/drawing/2014/main" id="{383C16D4-C73E-9E9F-9E86-CD22D07D5643}"/>
                  </a:ext>
                </a:extLst>
              </p:cNvPr>
              <p:cNvSpPr>
                <a:spLocks noRot="1" noChangeAspect="1" noMove="1" noResize="1" noEditPoints="1" noAdjustHandles="1" noChangeArrowheads="1" noChangeShapeType="1" noTextEdit="1"/>
              </p:cNvSpPr>
              <p:nvPr/>
            </p:nvSpPr>
            <p:spPr>
              <a:xfrm>
                <a:off x="1222766" y="1519726"/>
                <a:ext cx="2773036" cy="1077218"/>
              </a:xfrm>
              <a:prstGeom prst="rect">
                <a:avLst/>
              </a:prstGeom>
              <a:blipFill>
                <a:blip r:embed="rId3"/>
                <a:stretch>
                  <a:fillRect l="-1826" t="-6977" b="-16279"/>
                </a:stretch>
              </a:blipFill>
            </p:spPr>
            <p:txBody>
              <a:bodyPr/>
              <a:lstStyle/>
              <a:p>
                <a:r>
                  <a:rPr lang="en-US">
                    <a:noFill/>
                  </a:rPr>
                  <a:t> </a:t>
                </a:r>
              </a:p>
            </p:txBody>
          </p:sp>
        </mc:Fallback>
      </mc:AlternateContent>
      <p:pic>
        <p:nvPicPr>
          <p:cNvPr id="9" name="Picture 8" descr="A graph of a function&#10;&#10;Description automatically generated">
            <a:extLst>
              <a:ext uri="{FF2B5EF4-FFF2-40B4-BE49-F238E27FC236}">
                <a16:creationId xmlns:a16="http://schemas.microsoft.com/office/drawing/2014/main" id="{F0190C9A-6A3B-AF71-E6CB-7BC0FA3593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719" y="2784835"/>
            <a:ext cx="3613083" cy="3613083"/>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2A0FDC8-5599-F77A-B51E-327FE6348D25}"/>
                  </a:ext>
                </a:extLst>
              </p:cNvPr>
              <p:cNvSpPr txBox="1"/>
              <p:nvPr/>
            </p:nvSpPr>
            <p:spPr>
              <a:xfrm>
                <a:off x="3460316" y="3155567"/>
                <a:ext cx="6093912" cy="1137171"/>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𝑍</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acc>
                            <m:accPr>
                              <m:chr m:val="̅"/>
                              <m:ctrlPr>
                                <a:rPr lang="en-US" sz="2800" i="1">
                                  <a:latin typeface="Cambria Math" panose="02040503050406030204" pitchFamily="18" charset="0"/>
                                </a:rPr>
                              </m:ctrlPr>
                            </m:accPr>
                            <m:e>
                              <m:sSub>
                                <m:sSubPr>
                                  <m:ctrlPr>
                                    <a:rPr lang="en-US" sz="2800" i="1">
                                      <a:latin typeface="Cambria Math" panose="02040503050406030204" pitchFamily="18" charset="0"/>
                                    </a:rPr>
                                  </m:ctrlPr>
                                </m:sSubPr>
                                <m:e>
                                  <m:r>
                                    <a:rPr lang="en-US" sz="2800" i="1">
                                      <a:latin typeface="Cambria Math" panose="02040503050406030204" pitchFamily="18" charset="0"/>
                                    </a:rPr>
                                    <m:t>𝑋</m:t>
                                  </m:r>
                                </m:e>
                                <m:sub>
                                  <m:r>
                                    <a:rPr lang="en-US" sz="2800" i="1">
                                      <a:latin typeface="Cambria Math" panose="02040503050406030204" pitchFamily="18" charset="0"/>
                                    </a:rPr>
                                    <m:t>𝑛</m:t>
                                  </m:r>
                                </m:sub>
                              </m:sSub>
                            </m:e>
                          </m:acc>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𝜇</m:t>
                              </m:r>
                            </m:e>
                            <m:sub>
                              <m:r>
                                <a:rPr lang="en-US" sz="2800" b="0" i="1" smtClean="0">
                                  <a:latin typeface="Cambria Math" panose="02040503050406030204" pitchFamily="18" charset="0"/>
                                </a:rPr>
                                <m:t>0</m:t>
                              </m:r>
                            </m:sub>
                          </m:sSub>
                        </m:num>
                        <m:den>
                          <m:rad>
                            <m:radPr>
                              <m:degHide m:val="on"/>
                              <m:ctrlPr>
                                <a:rPr lang="en-US" sz="2800" b="0" i="1" smtClean="0">
                                  <a:latin typeface="Cambria Math" panose="02040503050406030204" pitchFamily="18" charset="0"/>
                                </a:rPr>
                              </m:ctrlPr>
                            </m:radPr>
                            <m:deg/>
                            <m:e>
                              <m:sSup>
                                <m:sSupPr>
                                  <m:ctrlPr>
                                    <a:rPr lang="en-US" sz="2800" i="1">
                                      <a:latin typeface="Cambria Math" panose="02040503050406030204" pitchFamily="18" charset="0"/>
                                    </a:rPr>
                                  </m:ctrlPr>
                                </m:sSupPr>
                                <m:e>
                                  <m:r>
                                    <a:rPr lang="en-US" sz="2800" i="1">
                                      <a:latin typeface="Cambria Math" panose="02040503050406030204" pitchFamily="18" charset="0"/>
                                    </a:rPr>
                                    <m:t>𝜎</m:t>
                                  </m:r>
                                </m:e>
                                <m:sup>
                                  <m:r>
                                    <a:rPr lang="en-US" sz="2800" i="1">
                                      <a:latin typeface="Cambria Math" panose="02040503050406030204" pitchFamily="18" charset="0"/>
                                    </a:rPr>
                                    <m:t>2</m:t>
                                  </m:r>
                                </m:sup>
                              </m:sSup>
                              <m:r>
                                <a:rPr lang="en-US" sz="2800" i="1">
                                  <a:latin typeface="Cambria Math" panose="02040503050406030204" pitchFamily="18" charset="0"/>
                                </a:rPr>
                                <m:t>/</m:t>
                              </m:r>
                              <m:r>
                                <a:rPr lang="en-US" sz="2800" i="1">
                                  <a:latin typeface="Cambria Math" panose="02040503050406030204" pitchFamily="18" charset="0"/>
                                </a:rPr>
                                <m:t>𝑛</m:t>
                              </m:r>
                            </m:e>
                          </m:rad>
                        </m:den>
                      </m:f>
                      <m:r>
                        <a:rPr lang="en-US" sz="2800" b="0" i="1" smtClean="0">
                          <a:latin typeface="Cambria Math" panose="02040503050406030204" pitchFamily="18" charset="0"/>
                        </a:rPr>
                        <m:t>~</m:t>
                      </m:r>
                      <m:r>
                        <a:rPr lang="en-US" sz="2800" b="0" i="1" smtClean="0">
                          <a:latin typeface="Cambria Math" panose="02040503050406030204" pitchFamily="18" charset="0"/>
                        </a:rPr>
                        <m:t>𝑁</m:t>
                      </m:r>
                      <m:r>
                        <a:rPr lang="en-US" sz="2800" b="0" i="1" smtClean="0">
                          <a:latin typeface="Cambria Math" panose="02040503050406030204" pitchFamily="18" charset="0"/>
                        </a:rPr>
                        <m:t>(0,1)</m:t>
                      </m:r>
                    </m:oMath>
                  </m:oMathPara>
                </a14:m>
                <a:endParaRPr lang="en-US" sz="2800" b="0" dirty="0"/>
              </a:p>
            </p:txBody>
          </p:sp>
        </mc:Choice>
        <mc:Fallback xmlns="">
          <p:sp>
            <p:nvSpPr>
              <p:cNvPr id="11" name="TextBox 10">
                <a:extLst>
                  <a:ext uri="{FF2B5EF4-FFF2-40B4-BE49-F238E27FC236}">
                    <a16:creationId xmlns:a16="http://schemas.microsoft.com/office/drawing/2014/main" id="{22A0FDC8-5599-F77A-B51E-327FE6348D25}"/>
                  </a:ext>
                </a:extLst>
              </p:cNvPr>
              <p:cNvSpPr txBox="1">
                <a:spLocks noRot="1" noChangeAspect="1" noMove="1" noResize="1" noEditPoints="1" noAdjustHandles="1" noChangeArrowheads="1" noChangeShapeType="1" noTextEdit="1"/>
              </p:cNvSpPr>
              <p:nvPr/>
            </p:nvSpPr>
            <p:spPr>
              <a:xfrm>
                <a:off x="3460316" y="3155567"/>
                <a:ext cx="6093912" cy="1137171"/>
              </a:xfrm>
              <a:prstGeom prst="rect">
                <a:avLst/>
              </a:prstGeom>
              <a:blipFill>
                <a:blip r:embed="rId5"/>
                <a:stretch>
                  <a:fillRect b="-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6AA22-B819-66BB-BC26-A101A22F4B0D}"/>
                  </a:ext>
                </a:extLst>
              </p:cNvPr>
              <p:cNvSpPr txBox="1"/>
              <p:nvPr/>
            </p:nvSpPr>
            <p:spPr>
              <a:xfrm>
                <a:off x="4971178" y="4663470"/>
                <a:ext cx="7569463" cy="1815882"/>
              </a:xfrm>
              <a:prstGeom prst="rect">
                <a:avLst/>
              </a:prstGeom>
              <a:noFill/>
            </p:spPr>
            <p:txBody>
              <a:bodyPr wrap="square">
                <a:spAutoFit/>
              </a:bodyPr>
              <a:lstStyle/>
              <a:p>
                <a:r>
                  <a:rPr lang="en-US" sz="2800" dirty="0">
                    <a:solidFill>
                      <a:schemeClr val="accent1"/>
                    </a:solidFill>
                  </a:rPr>
                  <a:t>Significance level 𝛼 </a:t>
                </a:r>
              </a:p>
              <a:p>
                <a:r>
                  <a:rPr lang="en-US" sz="2800" dirty="0">
                    <a:solidFill>
                      <a:schemeClr val="tx1"/>
                    </a:solidFill>
                  </a:rPr>
                  <a:t>= maximum Type-I probability we would accept</a:t>
                </a:r>
              </a:p>
              <a:p>
                <a:endParaRPr lang="en-US" sz="2800" dirty="0">
                  <a:solidFill>
                    <a:schemeClr val="tx1"/>
                  </a:solidFill>
                </a:endParaRPr>
              </a:p>
              <a:p>
                <a:r>
                  <a:rPr lang="en-US" sz="2800" dirty="0">
                    <a:solidFill>
                      <a:srgbClr val="C00000"/>
                    </a:solidFill>
                  </a:rPr>
                  <a:t>RR </a:t>
                </a:r>
                <a:r>
                  <a:rPr lang="en-US" sz="2800" dirty="0">
                    <a:solidFill>
                      <a:schemeClr val="tx1"/>
                    </a:solidFill>
                  </a:rPr>
                  <a:t>= values of Z for which we reject </a:t>
                </a:r>
                <a14:m>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𝐻</m:t>
                        </m:r>
                      </m:e>
                      <m:sub>
                        <m:r>
                          <a:rPr lang="en-US" sz="2800" i="1">
                            <a:solidFill>
                              <a:schemeClr val="tx1"/>
                            </a:solidFill>
                            <a:latin typeface="Cambria Math" panose="02040503050406030204" pitchFamily="18" charset="0"/>
                          </a:rPr>
                          <m:t>0</m:t>
                        </m:r>
                      </m:sub>
                    </m:sSub>
                  </m:oMath>
                </a14:m>
                <a:endParaRPr lang="en-US" sz="2800" dirty="0"/>
              </a:p>
            </p:txBody>
          </p:sp>
        </mc:Choice>
        <mc:Fallback xmlns="">
          <p:sp>
            <p:nvSpPr>
              <p:cNvPr id="13" name="TextBox 12">
                <a:extLst>
                  <a:ext uri="{FF2B5EF4-FFF2-40B4-BE49-F238E27FC236}">
                    <a16:creationId xmlns:a16="http://schemas.microsoft.com/office/drawing/2014/main" id="{C016AA22-B819-66BB-BC26-A101A22F4B0D}"/>
                  </a:ext>
                </a:extLst>
              </p:cNvPr>
              <p:cNvSpPr txBox="1">
                <a:spLocks noRot="1" noChangeAspect="1" noMove="1" noResize="1" noEditPoints="1" noAdjustHandles="1" noChangeArrowheads="1" noChangeShapeType="1" noTextEdit="1"/>
              </p:cNvSpPr>
              <p:nvPr/>
            </p:nvSpPr>
            <p:spPr>
              <a:xfrm>
                <a:off x="4971178" y="4663470"/>
                <a:ext cx="7569463" cy="1815882"/>
              </a:xfrm>
              <a:prstGeom prst="rect">
                <a:avLst/>
              </a:prstGeom>
              <a:blipFill>
                <a:blip r:embed="rId6"/>
                <a:stretch>
                  <a:fillRect l="-1675" t="-4167"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A4E014D-1227-80D9-19A4-D419DCAECC59}"/>
                  </a:ext>
                </a:extLst>
              </p:cNvPr>
              <p:cNvSpPr txBox="1"/>
              <p:nvPr/>
            </p:nvSpPr>
            <p:spPr>
              <a:xfrm>
                <a:off x="4845918" y="2596856"/>
                <a:ext cx="6093912" cy="523220"/>
              </a:xfrm>
              <a:prstGeom prst="rect">
                <a:avLst/>
              </a:prstGeom>
              <a:noFill/>
            </p:spPr>
            <p:txBody>
              <a:bodyPr wrap="square">
                <a:spAutoFit/>
              </a:bodyPr>
              <a:lstStyle/>
              <a:p>
                <a:r>
                  <a:rPr lang="en-US" sz="2800" dirty="0"/>
                  <a:t>Under </a:t>
                </a:r>
                <a14:m>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0</m:t>
                        </m:r>
                      </m:sub>
                    </m:sSub>
                  </m:oMath>
                </a14:m>
                <a:r>
                  <a:rPr lang="en-US" sz="2800" dirty="0"/>
                  <a:t>,</a:t>
                </a:r>
              </a:p>
            </p:txBody>
          </p:sp>
        </mc:Choice>
        <mc:Fallback xmlns="">
          <p:sp>
            <p:nvSpPr>
              <p:cNvPr id="16" name="TextBox 15">
                <a:extLst>
                  <a:ext uri="{FF2B5EF4-FFF2-40B4-BE49-F238E27FC236}">
                    <a16:creationId xmlns:a16="http://schemas.microsoft.com/office/drawing/2014/main" id="{EA4E014D-1227-80D9-19A4-D419DCAECC59}"/>
                  </a:ext>
                </a:extLst>
              </p:cNvPr>
              <p:cNvSpPr txBox="1">
                <a:spLocks noRot="1" noChangeAspect="1" noMove="1" noResize="1" noEditPoints="1" noAdjustHandles="1" noChangeArrowheads="1" noChangeShapeType="1" noTextEdit="1"/>
              </p:cNvSpPr>
              <p:nvPr/>
            </p:nvSpPr>
            <p:spPr>
              <a:xfrm>
                <a:off x="4845918" y="2596856"/>
                <a:ext cx="6093912" cy="523220"/>
              </a:xfrm>
              <a:prstGeom prst="rect">
                <a:avLst/>
              </a:prstGeom>
              <a:blipFill>
                <a:blip r:embed="rId7"/>
                <a:stretch>
                  <a:fillRect l="-2079" t="-11905" b="-30952"/>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3368FCFE-FEA6-8738-CA95-1AE81D263CAC}"/>
              </a:ext>
            </a:extLst>
          </p:cNvPr>
          <p:cNvCxnSpPr>
            <a:cxnSpLocks/>
          </p:cNvCxnSpPr>
          <p:nvPr/>
        </p:nvCxnSpPr>
        <p:spPr>
          <a:xfrm flipV="1">
            <a:off x="3460316" y="5073041"/>
            <a:ext cx="1385602" cy="638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C6F4B031-58CD-8295-F336-B3878527DC53}"/>
              </a:ext>
            </a:extLst>
          </p:cNvPr>
          <p:cNvCxnSpPr>
            <a:cxnSpLocks/>
          </p:cNvCxnSpPr>
          <p:nvPr/>
        </p:nvCxnSpPr>
        <p:spPr>
          <a:xfrm flipV="1">
            <a:off x="1383083" y="5073041"/>
            <a:ext cx="3462835" cy="638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D1F8B1E-E7FD-4183-094D-EC6F023ADEBB}"/>
              </a:ext>
            </a:extLst>
          </p:cNvPr>
          <p:cNvCxnSpPr/>
          <p:nvPr/>
        </p:nvCxnSpPr>
        <p:spPr>
          <a:xfrm>
            <a:off x="3344449" y="6260132"/>
            <a:ext cx="488515"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59176B4-A793-51C1-B57B-9DB784FE706C}"/>
              </a:ext>
            </a:extLst>
          </p:cNvPr>
          <p:cNvCxnSpPr/>
          <p:nvPr/>
        </p:nvCxnSpPr>
        <p:spPr>
          <a:xfrm>
            <a:off x="978508" y="6260132"/>
            <a:ext cx="488515" cy="0"/>
          </a:xfrm>
          <a:prstGeom prst="straightConnector1">
            <a:avLst/>
          </a:prstGeom>
          <a:ln>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73F06DA-D984-EA0B-E97B-0B56933092AA}"/>
                  </a:ext>
                </a:extLst>
              </p:cNvPr>
              <p:cNvSpPr txBox="1"/>
              <p:nvPr/>
            </p:nvSpPr>
            <p:spPr>
              <a:xfrm>
                <a:off x="5021893" y="6416727"/>
                <a:ext cx="6269276" cy="369332"/>
              </a:xfrm>
              <a:prstGeom prst="rect">
                <a:avLst/>
              </a:prstGeom>
              <a:noFill/>
            </p:spPr>
            <p:txBody>
              <a:bodyPr wrap="square">
                <a:spAutoFit/>
              </a:bodyPr>
              <a:lstStyle/>
              <a:p>
                <a:r>
                  <a:rPr lang="en-US" sz="1800" dirty="0">
                    <a:solidFill>
                      <a:srgbClr val="C00000"/>
                    </a:solidFill>
                  </a:rPr>
                  <a:t>(-</a:t>
                </a:r>
                <a14:m>
                  <m:oMath xmlns:m="http://schemas.openxmlformats.org/officeDocument/2006/math">
                    <m:r>
                      <a:rPr lang="en-US" sz="1800" i="1" smtClean="0">
                        <a:solidFill>
                          <a:srgbClr val="C00000"/>
                        </a:solidFill>
                        <a:latin typeface="Cambria Math" panose="02040503050406030204" pitchFamily="18" charset="0"/>
                        <a:ea typeface="Cambria Math" panose="02040503050406030204" pitchFamily="18" charset="0"/>
                      </a:rPr>
                      <m:t>∞</m:t>
                    </m:r>
                    <m:r>
                      <a:rPr lang="en-US" sz="1800" b="0" i="1" smtClean="0">
                        <a:solidFill>
                          <a:srgbClr val="C00000"/>
                        </a:solidFill>
                        <a:latin typeface="Cambria Math" panose="02040503050406030204" pitchFamily="18" charset="0"/>
                        <a:ea typeface="Cambria Math" panose="02040503050406030204" pitchFamily="18" charset="0"/>
                      </a:rPr>
                      <m:t>, −1.96) ∪</m:t>
                    </m:r>
                  </m:oMath>
                </a14:m>
                <a:r>
                  <a:rPr lang="en-US" dirty="0">
                    <a:solidFill>
                      <a:srgbClr val="C00000"/>
                    </a:solidFill>
                  </a:rPr>
                  <a:t> (1.96, </a:t>
                </a:r>
                <a14:m>
                  <m:oMath xmlns:m="http://schemas.openxmlformats.org/officeDocument/2006/math">
                    <m:r>
                      <a:rPr lang="en-US" i="1">
                        <a:solidFill>
                          <a:srgbClr val="C00000"/>
                        </a:solidFill>
                        <a:latin typeface="Cambria Math" panose="02040503050406030204" pitchFamily="18" charset="0"/>
                        <a:ea typeface="Cambria Math" panose="02040503050406030204" pitchFamily="18" charset="0"/>
                      </a:rPr>
                      <m:t>∞)</m:t>
                    </m:r>
                  </m:oMath>
                </a14:m>
                <a:r>
                  <a:rPr lang="en-US" sz="1800" dirty="0">
                    <a:solidFill>
                      <a:srgbClr val="C00000"/>
                    </a:solidFill>
                  </a:rPr>
                  <a:t> for </a:t>
                </a:r>
                <a:r>
                  <a:rPr lang="en-US" dirty="0">
                    <a:solidFill>
                      <a:srgbClr val="C00000"/>
                    </a:solidFill>
                  </a:rPr>
                  <a:t>𝛼 = 0.05</a:t>
                </a:r>
                <a:r>
                  <a:rPr lang="en-US" sz="1800" dirty="0">
                    <a:solidFill>
                      <a:srgbClr val="C00000"/>
                    </a:solidFill>
                  </a:rPr>
                  <a:t>  </a:t>
                </a:r>
                <a:endParaRPr lang="en-US" dirty="0">
                  <a:solidFill>
                    <a:srgbClr val="C00000"/>
                  </a:solidFill>
                </a:endParaRPr>
              </a:p>
            </p:txBody>
          </p:sp>
        </mc:Choice>
        <mc:Fallback xmlns="">
          <p:sp>
            <p:nvSpPr>
              <p:cNvPr id="12" name="TextBox 11">
                <a:extLst>
                  <a:ext uri="{FF2B5EF4-FFF2-40B4-BE49-F238E27FC236}">
                    <a16:creationId xmlns:a16="http://schemas.microsoft.com/office/drawing/2014/main" id="{473F06DA-D984-EA0B-E97B-0B56933092AA}"/>
                  </a:ext>
                </a:extLst>
              </p:cNvPr>
              <p:cNvSpPr txBox="1">
                <a:spLocks noRot="1" noChangeAspect="1" noMove="1" noResize="1" noEditPoints="1" noAdjustHandles="1" noChangeArrowheads="1" noChangeShapeType="1" noTextEdit="1"/>
              </p:cNvSpPr>
              <p:nvPr/>
            </p:nvSpPr>
            <p:spPr>
              <a:xfrm>
                <a:off x="5021893" y="6416727"/>
                <a:ext cx="6269276" cy="369332"/>
              </a:xfrm>
              <a:prstGeom prst="rect">
                <a:avLst/>
              </a:prstGeom>
              <a:blipFill>
                <a:blip r:embed="rId8"/>
                <a:stretch>
                  <a:fillRect l="-810" t="-6667" b="-23333"/>
                </a:stretch>
              </a:blipFill>
            </p:spPr>
            <p:txBody>
              <a:bodyPr/>
              <a:lstStyle/>
              <a:p>
                <a:r>
                  <a:rPr lang="en-US">
                    <a:noFill/>
                  </a:rPr>
                  <a:t> </a:t>
                </a:r>
              </a:p>
            </p:txBody>
          </p:sp>
        </mc:Fallback>
      </mc:AlternateContent>
    </p:spTree>
    <p:extLst>
      <p:ext uri="{BB962C8B-B14F-4D97-AF65-F5344CB8AC3E}">
        <p14:creationId xmlns:p14="http://schemas.microsoft.com/office/powerpoint/2010/main" val="1293528469"/>
      </p:ext>
    </p:extLst>
  </p:cSld>
  <p:clrMapOvr>
    <a:masterClrMapping/>
  </p:clrMapOvr>
  <mc:AlternateContent xmlns:mc="http://schemas.openxmlformats.org/markup-compatibility/2006" xmlns:p14="http://schemas.microsoft.com/office/powerpoint/2010/main">
    <mc:Choice Requires="p14">
      <p:transition spd="slow" p14:dur="2000" advTm="12500"/>
    </mc:Choice>
    <mc:Fallback xmlns="">
      <p:transition spd="slow" advTm="125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83C16D4-C73E-9E9F-9E86-CD22D07D5643}"/>
                  </a:ext>
                </a:extLst>
              </p:cNvPr>
              <p:cNvSpPr/>
              <p:nvPr/>
            </p:nvSpPr>
            <p:spPr>
              <a:xfrm>
                <a:off x="1222766" y="1519726"/>
                <a:ext cx="2773036" cy="1077218"/>
              </a:xfrm>
              <a:prstGeom prst="rect">
                <a:avLst/>
              </a:prstGeom>
            </p:spPr>
            <p:txBody>
              <a:bodyPr wrap="square">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0</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endParaRPr lang="en-US" sz="3200" dirty="0"/>
              </a:p>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1</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r>
                  <a:rPr lang="en-US" sz="3200" dirty="0"/>
                  <a:t> </a:t>
                </a:r>
              </a:p>
            </p:txBody>
          </p:sp>
        </mc:Choice>
        <mc:Fallback xmlns="">
          <p:sp>
            <p:nvSpPr>
              <p:cNvPr id="5" name="Rectangle 4">
                <a:extLst>
                  <a:ext uri="{FF2B5EF4-FFF2-40B4-BE49-F238E27FC236}">
                    <a16:creationId xmlns:a16="http://schemas.microsoft.com/office/drawing/2014/main" id="{383C16D4-C73E-9E9F-9E86-CD22D07D5643}"/>
                  </a:ext>
                </a:extLst>
              </p:cNvPr>
              <p:cNvSpPr>
                <a:spLocks noRot="1" noChangeAspect="1" noMove="1" noResize="1" noEditPoints="1" noAdjustHandles="1" noChangeArrowheads="1" noChangeShapeType="1" noTextEdit="1"/>
              </p:cNvSpPr>
              <p:nvPr/>
            </p:nvSpPr>
            <p:spPr>
              <a:xfrm>
                <a:off x="1222766" y="1519726"/>
                <a:ext cx="2773036" cy="1077218"/>
              </a:xfrm>
              <a:prstGeom prst="rect">
                <a:avLst/>
              </a:prstGeom>
              <a:blipFill>
                <a:blip r:embed="rId5"/>
                <a:stretch>
                  <a:fillRect l="-1826" t="-6977" b="-16279"/>
                </a:stretch>
              </a:blipFill>
            </p:spPr>
            <p:txBody>
              <a:bodyPr/>
              <a:lstStyle/>
              <a:p>
                <a:r>
                  <a:rPr lang="en-US">
                    <a:noFill/>
                  </a:rPr>
                  <a:t> </a:t>
                </a:r>
              </a:p>
            </p:txBody>
          </p:sp>
        </mc:Fallback>
      </mc:AlternateContent>
      <p:pic>
        <p:nvPicPr>
          <p:cNvPr id="9" name="Picture 8" descr="A graph of a function&#10;&#10;Description automatically generated">
            <a:extLst>
              <a:ext uri="{FF2B5EF4-FFF2-40B4-BE49-F238E27FC236}">
                <a16:creationId xmlns:a16="http://schemas.microsoft.com/office/drawing/2014/main" id="{F0190C9A-6A3B-AF71-E6CB-7BC0FA3593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2719" y="2784835"/>
            <a:ext cx="3613083" cy="3613083"/>
          </a:xfrm>
          <a:prstGeom prst="rect">
            <a:avLst/>
          </a:prstGeom>
        </p:spPr>
      </p:pic>
      <p:cxnSp>
        <p:nvCxnSpPr>
          <p:cNvPr id="7" name="Straight Arrow Connector 6">
            <a:extLst>
              <a:ext uri="{FF2B5EF4-FFF2-40B4-BE49-F238E27FC236}">
                <a16:creationId xmlns:a16="http://schemas.microsoft.com/office/drawing/2014/main" id="{3D1F8B1E-E7FD-4183-094D-EC6F023ADEBB}"/>
              </a:ext>
            </a:extLst>
          </p:cNvPr>
          <p:cNvCxnSpPr/>
          <p:nvPr/>
        </p:nvCxnSpPr>
        <p:spPr>
          <a:xfrm>
            <a:off x="3344449" y="6260132"/>
            <a:ext cx="488515"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59176B4-A793-51C1-B57B-9DB784FE706C}"/>
              </a:ext>
            </a:extLst>
          </p:cNvPr>
          <p:cNvCxnSpPr/>
          <p:nvPr/>
        </p:nvCxnSpPr>
        <p:spPr>
          <a:xfrm>
            <a:off x="978508" y="6260132"/>
            <a:ext cx="488515" cy="0"/>
          </a:xfrm>
          <a:prstGeom prst="straightConnector1">
            <a:avLst/>
          </a:prstGeom>
          <a:ln>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6A8DC7C-8E70-807F-D2FD-46FDED914546}"/>
              </a:ext>
            </a:extLst>
          </p:cNvPr>
          <p:cNvCxnSpPr>
            <a:cxnSpLocks/>
          </p:cNvCxnSpPr>
          <p:nvPr/>
        </p:nvCxnSpPr>
        <p:spPr>
          <a:xfrm>
            <a:off x="3460316" y="4663470"/>
            <a:ext cx="0" cy="141255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85E8ABF-FF35-C451-DB00-921DB2082BCF}"/>
                  </a:ext>
                </a:extLst>
              </p:cNvPr>
              <p:cNvSpPr txBox="1"/>
              <p:nvPr/>
            </p:nvSpPr>
            <p:spPr>
              <a:xfrm rot="10800000" flipV="1">
                <a:off x="3310115" y="4297951"/>
                <a:ext cx="27859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𝑧</m:t>
                      </m:r>
                      <m:r>
                        <a:rPr lang="en-US" b="0" i="1" smtClean="0">
                          <a:solidFill>
                            <a:schemeClr val="accent2"/>
                          </a:solidFill>
                          <a:latin typeface="Cambria Math" panose="02040503050406030204" pitchFamily="18" charset="0"/>
                        </a:rPr>
                        <m:t>|</m:t>
                      </m:r>
                    </m:oMath>
                  </m:oMathPara>
                </a14:m>
                <a:endParaRPr lang="en-US" dirty="0">
                  <a:solidFill>
                    <a:schemeClr val="accent2"/>
                  </a:solidFill>
                </a:endParaRPr>
              </a:p>
            </p:txBody>
          </p:sp>
        </mc:Choice>
        <mc:Fallback xmlns="">
          <p:sp>
            <p:nvSpPr>
              <p:cNvPr id="15" name="TextBox 14">
                <a:extLst>
                  <a:ext uri="{FF2B5EF4-FFF2-40B4-BE49-F238E27FC236}">
                    <a16:creationId xmlns:a16="http://schemas.microsoft.com/office/drawing/2014/main" id="{785E8ABF-FF35-C451-DB00-921DB2082BCF}"/>
                  </a:ext>
                </a:extLst>
              </p:cNvPr>
              <p:cNvSpPr txBox="1">
                <a:spLocks noRot="1" noChangeAspect="1" noMove="1" noResize="1" noEditPoints="1" noAdjustHandles="1" noChangeArrowheads="1" noChangeShapeType="1" noTextEdit="1"/>
              </p:cNvSpPr>
              <p:nvPr/>
            </p:nvSpPr>
            <p:spPr>
              <a:xfrm rot="10800000" flipV="1">
                <a:off x="3310115" y="4297951"/>
                <a:ext cx="278591" cy="369332"/>
              </a:xfrm>
              <a:prstGeom prst="rect">
                <a:avLst/>
              </a:prstGeom>
              <a:blipFill>
                <a:blip r:embed="rId7"/>
                <a:stretch>
                  <a:fillRect l="-4348" r="-65217" b="-13333"/>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266D7E8A-E2F0-64ED-D1D7-39DED5295DF6}"/>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a:lstStyle>
          <a:p>
            <a:r>
              <a:rPr lang="en-US" dirty="0"/>
              <a:t>HT: evidence against H0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E96E2C1-3C13-6E1D-5CBC-7DA22D084291}"/>
                  </a:ext>
                </a:extLst>
              </p:cNvPr>
              <p:cNvSpPr txBox="1"/>
              <p:nvPr/>
            </p:nvSpPr>
            <p:spPr>
              <a:xfrm>
                <a:off x="4697628" y="2663631"/>
                <a:ext cx="7111653" cy="2677656"/>
              </a:xfrm>
              <a:prstGeom prst="rect">
                <a:avLst/>
              </a:prstGeom>
              <a:noFill/>
            </p:spPr>
            <p:txBody>
              <a:bodyPr wrap="square">
                <a:spAutoFit/>
              </a:bodyPr>
              <a:lstStyle/>
              <a:p>
                <a:pPr marL="0" indent="0">
                  <a:buNone/>
                </a:pPr>
                <a:r>
                  <a:rPr lang="en-SG" sz="2400" dirty="0"/>
                  <a:t>p-value </a:t>
                </a:r>
              </a:p>
              <a:p>
                <a:pPr marL="0" indent="0">
                  <a:buNone/>
                </a:pPr>
                <a:r>
                  <a:rPr lang="en-SG" sz="2400" dirty="0"/>
                  <a:t>= </a:t>
                </a:r>
                <a:r>
                  <a:rPr lang="en-SG" sz="2400" dirty="0" err="1"/>
                  <a:t>Pr</a:t>
                </a:r>
                <a:r>
                  <a:rPr lang="en-SG" sz="2400" dirty="0"/>
                  <a:t>(observing value more extreme than the observed test statistic, </a:t>
                </a:r>
                <a:r>
                  <a:rPr lang="en-SG" sz="2400" b="1" i="1" dirty="0"/>
                  <a:t>if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𝑯</m:t>
                        </m:r>
                      </m:e>
                      <m:sub>
                        <m:r>
                          <a:rPr lang="en-US" sz="2400" b="1" i="1">
                            <a:latin typeface="Cambria Math" panose="02040503050406030204" pitchFamily="18" charset="0"/>
                          </a:rPr>
                          <m:t>𝟎</m:t>
                        </m:r>
                      </m:sub>
                    </m:sSub>
                  </m:oMath>
                </a14:m>
                <a:r>
                  <a:rPr lang="en-SG" sz="2400" b="1" i="1" dirty="0"/>
                  <a:t> is true)</a:t>
                </a:r>
                <a:r>
                  <a:rPr lang="en-SG" sz="2400" dirty="0"/>
                  <a:t>.</a:t>
                </a:r>
              </a:p>
              <a:p>
                <a:pPr marL="0" indent="0">
                  <a:buNone/>
                </a:pPr>
                <a:endParaRPr lang="en-SG" sz="2400" dirty="0"/>
              </a:p>
              <a:p>
                <a:pPr marL="0" indent="0">
                  <a:buNone/>
                </a:pPr>
                <a:r>
                  <a:rPr lang="en-US" sz="2400" dirty="0"/>
                  <a:t>For this two-sided test,</a:t>
                </a:r>
              </a:p>
              <a:p>
                <a:pPr marL="0" indent="0">
                  <a:buNone/>
                </a:pPr>
                <a:r>
                  <a:rPr lang="en-US" sz="2400" dirty="0"/>
                  <a:t>p-value = </a:t>
                </a:r>
                <a:r>
                  <a:rPr lang="en-US" sz="2400" dirty="0" err="1"/>
                  <a:t>Pr</a:t>
                </a:r>
                <a:r>
                  <a:rPr lang="en-US" sz="2400" dirty="0"/>
                  <a:t>(Z &gt; |z|) + </a:t>
                </a:r>
                <a:r>
                  <a:rPr lang="en-US" sz="2400" dirty="0" err="1"/>
                  <a:t>Pr</a:t>
                </a:r>
                <a:r>
                  <a:rPr lang="en-US" sz="2400" dirty="0"/>
                  <a:t>( Z &lt; -|z|)</a:t>
                </a:r>
                <a:br>
                  <a:rPr lang="en-US" sz="2400" dirty="0"/>
                </a:br>
                <a:r>
                  <a:rPr lang="en-US" sz="2400" dirty="0"/>
                  <a:t>              = 2 </a:t>
                </a:r>
                <a:r>
                  <a:rPr lang="en-US" sz="2400" dirty="0" err="1"/>
                  <a:t>Pr</a:t>
                </a:r>
                <a:r>
                  <a:rPr lang="en-US" sz="2400" dirty="0"/>
                  <a:t>( Z &lt; -|z|)</a:t>
                </a:r>
                <a:endParaRPr lang="en-SG" sz="2400" dirty="0"/>
              </a:p>
            </p:txBody>
          </p:sp>
        </mc:Choice>
        <mc:Fallback xmlns="">
          <p:sp>
            <p:nvSpPr>
              <p:cNvPr id="17" name="TextBox 16">
                <a:extLst>
                  <a:ext uri="{FF2B5EF4-FFF2-40B4-BE49-F238E27FC236}">
                    <a16:creationId xmlns:a16="http://schemas.microsoft.com/office/drawing/2014/main" id="{0E96E2C1-3C13-6E1D-5CBC-7DA22D084291}"/>
                  </a:ext>
                </a:extLst>
              </p:cNvPr>
              <p:cNvSpPr txBox="1">
                <a:spLocks noRot="1" noChangeAspect="1" noMove="1" noResize="1" noEditPoints="1" noAdjustHandles="1" noChangeArrowheads="1" noChangeShapeType="1" noTextEdit="1"/>
              </p:cNvSpPr>
              <p:nvPr/>
            </p:nvSpPr>
            <p:spPr>
              <a:xfrm>
                <a:off x="4697628" y="2663631"/>
                <a:ext cx="7111653" cy="2677656"/>
              </a:xfrm>
              <a:prstGeom prst="rect">
                <a:avLst/>
              </a:prstGeom>
              <a:blipFill>
                <a:blip r:embed="rId8"/>
                <a:stretch>
                  <a:fillRect l="-1429" t="-1887" b="-4245"/>
                </a:stretch>
              </a:blipFill>
            </p:spPr>
            <p:txBody>
              <a:bodyPr/>
              <a:lstStyle/>
              <a:p>
                <a:r>
                  <a:rPr lang="en-US">
                    <a:noFill/>
                  </a:rPr>
                  <a:t> </a:t>
                </a:r>
              </a:p>
            </p:txBody>
          </p:sp>
        </mc:Fallback>
      </mc:AlternateContent>
      <p:cxnSp>
        <p:nvCxnSpPr>
          <p:cNvPr id="2" name="Straight Connector 1">
            <a:extLst>
              <a:ext uri="{FF2B5EF4-FFF2-40B4-BE49-F238E27FC236}">
                <a16:creationId xmlns:a16="http://schemas.microsoft.com/office/drawing/2014/main" id="{7C380401-9A7E-005F-4BD3-17559971E000}"/>
              </a:ext>
            </a:extLst>
          </p:cNvPr>
          <p:cNvCxnSpPr/>
          <p:nvPr/>
        </p:nvCxnSpPr>
        <p:spPr>
          <a:xfrm>
            <a:off x="1358031" y="4663470"/>
            <a:ext cx="0" cy="141255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A073A25-0F39-0374-30FB-8BBCF0E6C4B9}"/>
                  </a:ext>
                </a:extLst>
              </p:cNvPr>
              <p:cNvSpPr txBox="1"/>
              <p:nvPr/>
            </p:nvSpPr>
            <p:spPr>
              <a:xfrm rot="10800000" flipV="1">
                <a:off x="941541" y="4294138"/>
                <a:ext cx="27859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m:t>
                      </m:r>
                      <m:r>
                        <a:rPr lang="en-US"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𝑧</m:t>
                      </m:r>
                      <m:r>
                        <a:rPr lang="en-US" b="0" i="1" smtClean="0">
                          <a:solidFill>
                            <a:schemeClr val="accent2"/>
                          </a:solidFill>
                          <a:latin typeface="Cambria Math" panose="02040503050406030204" pitchFamily="18" charset="0"/>
                        </a:rPr>
                        <m:t>|</m:t>
                      </m:r>
                    </m:oMath>
                  </m:oMathPara>
                </a14:m>
                <a:endParaRPr lang="en-US" dirty="0">
                  <a:solidFill>
                    <a:schemeClr val="accent2"/>
                  </a:solidFill>
                </a:endParaRPr>
              </a:p>
            </p:txBody>
          </p:sp>
        </mc:Choice>
        <mc:Fallback xmlns="">
          <p:sp>
            <p:nvSpPr>
              <p:cNvPr id="3" name="TextBox 2">
                <a:extLst>
                  <a:ext uri="{FF2B5EF4-FFF2-40B4-BE49-F238E27FC236}">
                    <a16:creationId xmlns:a16="http://schemas.microsoft.com/office/drawing/2014/main" id="{4A073A25-0F39-0374-30FB-8BBCF0E6C4B9}"/>
                  </a:ext>
                </a:extLst>
              </p:cNvPr>
              <p:cNvSpPr txBox="1">
                <a:spLocks noRot="1" noChangeAspect="1" noMove="1" noResize="1" noEditPoints="1" noAdjustHandles="1" noChangeArrowheads="1" noChangeShapeType="1" noTextEdit="1"/>
              </p:cNvSpPr>
              <p:nvPr/>
            </p:nvSpPr>
            <p:spPr>
              <a:xfrm rot="10800000" flipV="1">
                <a:off x="941541" y="4294138"/>
                <a:ext cx="278591" cy="369332"/>
              </a:xfrm>
              <a:prstGeom prst="rect">
                <a:avLst/>
              </a:prstGeom>
              <a:blipFill>
                <a:blip r:embed="rId9"/>
                <a:stretch>
                  <a:fillRect r="-126087" b="-12903"/>
                </a:stretch>
              </a:blipFill>
            </p:spPr>
            <p:txBody>
              <a:bodyPr/>
              <a:lstStyle/>
              <a:p>
                <a:r>
                  <a:rPr lang="en-US">
                    <a:noFill/>
                  </a:rPr>
                  <a:t> </a:t>
                </a:r>
              </a:p>
            </p:txBody>
          </p:sp>
        </mc:Fallback>
      </mc:AlternateContent>
      <p:sp>
        <p:nvSpPr>
          <p:cNvPr id="4" name="Freeform 3">
            <a:extLst>
              <a:ext uri="{FF2B5EF4-FFF2-40B4-BE49-F238E27FC236}">
                <a16:creationId xmlns:a16="http://schemas.microsoft.com/office/drawing/2014/main" id="{1E583309-0801-A9CC-2532-67860F634627}"/>
              </a:ext>
            </a:extLst>
          </p:cNvPr>
          <p:cNvSpPr/>
          <p:nvPr/>
        </p:nvSpPr>
        <p:spPr>
          <a:xfrm>
            <a:off x="3457575" y="5689600"/>
            <a:ext cx="336550" cy="168275"/>
          </a:xfrm>
          <a:custGeom>
            <a:avLst/>
            <a:gdLst>
              <a:gd name="connsiteX0" fmla="*/ 9525 w 336550"/>
              <a:gd name="connsiteY0" fmla="*/ 0 h 168275"/>
              <a:gd name="connsiteX1" fmla="*/ 123825 w 336550"/>
              <a:gd name="connsiteY1" fmla="*/ 79375 h 168275"/>
              <a:gd name="connsiteX2" fmla="*/ 250825 w 336550"/>
              <a:gd name="connsiteY2" fmla="*/ 120650 h 168275"/>
              <a:gd name="connsiteX3" fmla="*/ 336550 w 336550"/>
              <a:gd name="connsiteY3" fmla="*/ 139700 h 168275"/>
              <a:gd name="connsiteX4" fmla="*/ 336550 w 336550"/>
              <a:gd name="connsiteY4" fmla="*/ 168275 h 168275"/>
              <a:gd name="connsiteX5" fmla="*/ 0 w 336550"/>
              <a:gd name="connsiteY5" fmla="*/ 165100 h 168275"/>
              <a:gd name="connsiteX6" fmla="*/ 9525 w 336550"/>
              <a:gd name="connsiteY6" fmla="*/ 0 h 16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550" h="168275">
                <a:moveTo>
                  <a:pt x="9525" y="0"/>
                </a:moveTo>
                <a:lnTo>
                  <a:pt x="123825" y="79375"/>
                </a:lnTo>
                <a:lnTo>
                  <a:pt x="250825" y="120650"/>
                </a:lnTo>
                <a:lnTo>
                  <a:pt x="336550" y="139700"/>
                </a:lnTo>
                <a:lnTo>
                  <a:pt x="336550" y="168275"/>
                </a:lnTo>
                <a:lnTo>
                  <a:pt x="0" y="165100"/>
                </a:lnTo>
                <a:cubicBezTo>
                  <a:pt x="1058" y="107950"/>
                  <a:pt x="2117" y="50800"/>
                  <a:pt x="9525"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FB0AA10-1FED-385D-5B24-E48000957C9A}"/>
              </a:ext>
            </a:extLst>
          </p:cNvPr>
          <p:cNvSpPr/>
          <p:nvPr/>
        </p:nvSpPr>
        <p:spPr>
          <a:xfrm flipH="1">
            <a:off x="990598" y="5667379"/>
            <a:ext cx="367409" cy="190495"/>
          </a:xfrm>
          <a:custGeom>
            <a:avLst/>
            <a:gdLst>
              <a:gd name="connsiteX0" fmla="*/ 9525 w 336550"/>
              <a:gd name="connsiteY0" fmla="*/ 0 h 168275"/>
              <a:gd name="connsiteX1" fmla="*/ 123825 w 336550"/>
              <a:gd name="connsiteY1" fmla="*/ 79375 h 168275"/>
              <a:gd name="connsiteX2" fmla="*/ 250825 w 336550"/>
              <a:gd name="connsiteY2" fmla="*/ 120650 h 168275"/>
              <a:gd name="connsiteX3" fmla="*/ 336550 w 336550"/>
              <a:gd name="connsiteY3" fmla="*/ 139700 h 168275"/>
              <a:gd name="connsiteX4" fmla="*/ 336550 w 336550"/>
              <a:gd name="connsiteY4" fmla="*/ 168275 h 168275"/>
              <a:gd name="connsiteX5" fmla="*/ 0 w 336550"/>
              <a:gd name="connsiteY5" fmla="*/ 165100 h 168275"/>
              <a:gd name="connsiteX6" fmla="*/ 9525 w 336550"/>
              <a:gd name="connsiteY6" fmla="*/ 0 h 16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550" h="168275">
                <a:moveTo>
                  <a:pt x="9525" y="0"/>
                </a:moveTo>
                <a:lnTo>
                  <a:pt x="123825" y="79375"/>
                </a:lnTo>
                <a:lnTo>
                  <a:pt x="250825" y="120650"/>
                </a:lnTo>
                <a:lnTo>
                  <a:pt x="336550" y="139700"/>
                </a:lnTo>
                <a:lnTo>
                  <a:pt x="336550" y="168275"/>
                </a:lnTo>
                <a:lnTo>
                  <a:pt x="0" y="165100"/>
                </a:lnTo>
                <a:cubicBezTo>
                  <a:pt x="1058" y="107950"/>
                  <a:pt x="2117" y="50800"/>
                  <a:pt x="9525"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BD249AC-AFE3-C935-0B06-F6850BCC5B3B}"/>
              </a:ext>
            </a:extLst>
          </p:cNvPr>
          <p:cNvSpPr txBox="1"/>
          <p:nvPr/>
        </p:nvSpPr>
        <p:spPr>
          <a:xfrm>
            <a:off x="4603681" y="5341287"/>
            <a:ext cx="7569463" cy="523220"/>
          </a:xfrm>
          <a:prstGeom prst="rect">
            <a:avLst/>
          </a:prstGeom>
          <a:noFill/>
        </p:spPr>
        <p:txBody>
          <a:bodyPr wrap="square">
            <a:spAutoFit/>
          </a:bodyPr>
          <a:lstStyle/>
          <a:p>
            <a:r>
              <a:rPr lang="en-US" sz="2800" dirty="0">
                <a:solidFill>
                  <a:schemeClr val="accent1"/>
                </a:solidFill>
              </a:rPr>
              <a:t>p-value</a:t>
            </a:r>
          </a:p>
        </p:txBody>
      </p:sp>
      <p:cxnSp>
        <p:nvCxnSpPr>
          <p:cNvPr id="14" name="Straight Arrow Connector 13">
            <a:extLst>
              <a:ext uri="{FF2B5EF4-FFF2-40B4-BE49-F238E27FC236}">
                <a16:creationId xmlns:a16="http://schemas.microsoft.com/office/drawing/2014/main" id="{E7DD04F9-A84A-1F60-5581-9440A95227CF}"/>
              </a:ext>
            </a:extLst>
          </p:cNvPr>
          <p:cNvCxnSpPr>
            <a:cxnSpLocks/>
            <a:stCxn id="4" idx="1"/>
            <a:endCxn id="13" idx="1"/>
          </p:cNvCxnSpPr>
          <p:nvPr/>
        </p:nvCxnSpPr>
        <p:spPr>
          <a:xfrm flipV="1">
            <a:off x="3581400" y="5602897"/>
            <a:ext cx="1022281" cy="166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B20266E-7606-47B2-41FD-B075C90F4952}"/>
              </a:ext>
            </a:extLst>
          </p:cNvPr>
          <p:cNvCxnSpPr>
            <a:cxnSpLocks/>
            <a:stCxn id="12" idx="1"/>
            <a:endCxn id="13" idx="1"/>
          </p:cNvCxnSpPr>
          <p:nvPr/>
        </p:nvCxnSpPr>
        <p:spPr>
          <a:xfrm flipV="1">
            <a:off x="1222828" y="5602897"/>
            <a:ext cx="3380853" cy="154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4571922"/>
      </p:ext>
    </p:extLst>
  </p:cSld>
  <p:clrMapOvr>
    <a:masterClrMapping/>
  </p:clrMapOvr>
  <mc:AlternateContent xmlns:mc="http://schemas.openxmlformats.org/markup-compatibility/2006" xmlns:p14="http://schemas.microsoft.com/office/powerpoint/2010/main">
    <mc:Choice Requires="p14">
      <p:transition spd="slow" p14:dur="2000" advTm="38642"/>
    </mc:Choice>
    <mc:Fallback xmlns="">
      <p:transition spd="slow" advTm="3864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83C16D4-C73E-9E9F-9E86-CD22D07D5643}"/>
                  </a:ext>
                </a:extLst>
              </p:cNvPr>
              <p:cNvSpPr/>
              <p:nvPr/>
            </p:nvSpPr>
            <p:spPr>
              <a:xfrm>
                <a:off x="1222766" y="1519726"/>
                <a:ext cx="2773036" cy="1077218"/>
              </a:xfrm>
              <a:prstGeom prst="rect">
                <a:avLst/>
              </a:prstGeom>
            </p:spPr>
            <p:txBody>
              <a:bodyPr wrap="square">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0</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endParaRPr lang="en-US" sz="3200" dirty="0"/>
              </a:p>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1</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r>
                  <a:rPr lang="en-US" sz="3200" dirty="0"/>
                  <a:t> </a:t>
                </a:r>
              </a:p>
            </p:txBody>
          </p:sp>
        </mc:Choice>
        <mc:Fallback xmlns="">
          <p:sp>
            <p:nvSpPr>
              <p:cNvPr id="5" name="Rectangle 4">
                <a:extLst>
                  <a:ext uri="{FF2B5EF4-FFF2-40B4-BE49-F238E27FC236}">
                    <a16:creationId xmlns:a16="http://schemas.microsoft.com/office/drawing/2014/main" id="{383C16D4-C73E-9E9F-9E86-CD22D07D5643}"/>
                  </a:ext>
                </a:extLst>
              </p:cNvPr>
              <p:cNvSpPr>
                <a:spLocks noRot="1" noChangeAspect="1" noMove="1" noResize="1" noEditPoints="1" noAdjustHandles="1" noChangeArrowheads="1" noChangeShapeType="1" noTextEdit="1"/>
              </p:cNvSpPr>
              <p:nvPr/>
            </p:nvSpPr>
            <p:spPr>
              <a:xfrm>
                <a:off x="1222766" y="1519726"/>
                <a:ext cx="2773036" cy="1077218"/>
              </a:xfrm>
              <a:prstGeom prst="rect">
                <a:avLst/>
              </a:prstGeom>
              <a:blipFill>
                <a:blip r:embed="rId3"/>
                <a:stretch>
                  <a:fillRect l="-1826" t="-6977" b="-16279"/>
                </a:stretch>
              </a:blipFill>
            </p:spPr>
            <p:txBody>
              <a:bodyPr/>
              <a:lstStyle/>
              <a:p>
                <a:r>
                  <a:rPr lang="en-US">
                    <a:noFill/>
                  </a:rPr>
                  <a:t> </a:t>
                </a:r>
              </a:p>
            </p:txBody>
          </p:sp>
        </mc:Fallback>
      </mc:AlternateContent>
      <p:pic>
        <p:nvPicPr>
          <p:cNvPr id="9" name="Picture 8" descr="A graph of a function&#10;&#10;Description automatically generated">
            <a:extLst>
              <a:ext uri="{FF2B5EF4-FFF2-40B4-BE49-F238E27FC236}">
                <a16:creationId xmlns:a16="http://schemas.microsoft.com/office/drawing/2014/main" id="{F0190C9A-6A3B-AF71-E6CB-7BC0FA3593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719" y="2784835"/>
            <a:ext cx="3613083" cy="3613083"/>
          </a:xfrm>
          <a:prstGeom prst="rect">
            <a:avLst/>
          </a:prstGeom>
        </p:spPr>
      </p:pic>
      <p:cxnSp>
        <p:nvCxnSpPr>
          <p:cNvPr id="7" name="Straight Arrow Connector 6">
            <a:extLst>
              <a:ext uri="{FF2B5EF4-FFF2-40B4-BE49-F238E27FC236}">
                <a16:creationId xmlns:a16="http://schemas.microsoft.com/office/drawing/2014/main" id="{3D1F8B1E-E7FD-4183-094D-EC6F023ADEBB}"/>
              </a:ext>
            </a:extLst>
          </p:cNvPr>
          <p:cNvCxnSpPr/>
          <p:nvPr/>
        </p:nvCxnSpPr>
        <p:spPr>
          <a:xfrm>
            <a:off x="3344449" y="6260132"/>
            <a:ext cx="488515"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59176B4-A793-51C1-B57B-9DB784FE706C}"/>
              </a:ext>
            </a:extLst>
          </p:cNvPr>
          <p:cNvCxnSpPr/>
          <p:nvPr/>
        </p:nvCxnSpPr>
        <p:spPr>
          <a:xfrm>
            <a:off x="978508" y="6260132"/>
            <a:ext cx="488515" cy="0"/>
          </a:xfrm>
          <a:prstGeom prst="straightConnector1">
            <a:avLst/>
          </a:prstGeom>
          <a:ln>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6A8DC7C-8E70-807F-D2FD-46FDED914546}"/>
              </a:ext>
            </a:extLst>
          </p:cNvPr>
          <p:cNvCxnSpPr/>
          <p:nvPr/>
        </p:nvCxnSpPr>
        <p:spPr>
          <a:xfrm>
            <a:off x="3460316" y="4663470"/>
            <a:ext cx="0" cy="141255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85E8ABF-FF35-C451-DB00-921DB2082BCF}"/>
                  </a:ext>
                </a:extLst>
              </p:cNvPr>
              <p:cNvSpPr txBox="1"/>
              <p:nvPr/>
            </p:nvSpPr>
            <p:spPr>
              <a:xfrm rot="10800000" flipV="1">
                <a:off x="3310115" y="4297951"/>
                <a:ext cx="27859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𝑧</m:t>
                      </m:r>
                      <m:r>
                        <a:rPr lang="en-US" b="0" i="1" smtClean="0">
                          <a:solidFill>
                            <a:schemeClr val="accent2"/>
                          </a:solidFill>
                          <a:latin typeface="Cambria Math" panose="02040503050406030204" pitchFamily="18" charset="0"/>
                        </a:rPr>
                        <m:t>|</m:t>
                      </m:r>
                    </m:oMath>
                  </m:oMathPara>
                </a14:m>
                <a:endParaRPr lang="en-US" dirty="0">
                  <a:solidFill>
                    <a:schemeClr val="accent2"/>
                  </a:solidFill>
                </a:endParaRPr>
              </a:p>
            </p:txBody>
          </p:sp>
        </mc:Choice>
        <mc:Fallback xmlns="">
          <p:sp>
            <p:nvSpPr>
              <p:cNvPr id="15" name="TextBox 14">
                <a:extLst>
                  <a:ext uri="{FF2B5EF4-FFF2-40B4-BE49-F238E27FC236}">
                    <a16:creationId xmlns:a16="http://schemas.microsoft.com/office/drawing/2014/main" id="{785E8ABF-FF35-C451-DB00-921DB2082BCF}"/>
                  </a:ext>
                </a:extLst>
              </p:cNvPr>
              <p:cNvSpPr txBox="1">
                <a:spLocks noRot="1" noChangeAspect="1" noMove="1" noResize="1" noEditPoints="1" noAdjustHandles="1" noChangeArrowheads="1" noChangeShapeType="1" noTextEdit="1"/>
              </p:cNvSpPr>
              <p:nvPr/>
            </p:nvSpPr>
            <p:spPr>
              <a:xfrm rot="10800000" flipV="1">
                <a:off x="3310115" y="4297951"/>
                <a:ext cx="278591" cy="369332"/>
              </a:xfrm>
              <a:prstGeom prst="rect">
                <a:avLst/>
              </a:prstGeom>
              <a:blipFill>
                <a:blip r:embed="rId5"/>
                <a:stretch>
                  <a:fillRect l="-4348" r="-65217" b="-13333"/>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266D7E8A-E2F0-64ED-D1D7-39DED5295DF6}"/>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a:lstStyle>
          <a:p>
            <a:r>
              <a:rPr lang="en-US" dirty="0"/>
              <a:t>HT: evidence against H0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E96E2C1-3C13-6E1D-5CBC-7DA22D084291}"/>
                  </a:ext>
                </a:extLst>
              </p:cNvPr>
              <p:cNvSpPr txBox="1"/>
              <p:nvPr/>
            </p:nvSpPr>
            <p:spPr>
              <a:xfrm>
                <a:off x="4697628" y="2663631"/>
                <a:ext cx="7111653" cy="3416320"/>
              </a:xfrm>
              <a:prstGeom prst="rect">
                <a:avLst/>
              </a:prstGeom>
              <a:noFill/>
            </p:spPr>
            <p:txBody>
              <a:bodyPr wrap="square">
                <a:spAutoFit/>
              </a:bodyPr>
              <a:lstStyle/>
              <a:p>
                <a:pPr marL="0" indent="0">
                  <a:buNone/>
                </a:pPr>
                <a:r>
                  <a:rPr lang="en-SG" sz="2400" dirty="0"/>
                  <a:t>p-value </a:t>
                </a:r>
              </a:p>
              <a:p>
                <a:pPr marL="0" indent="0">
                  <a:buNone/>
                </a:pPr>
                <a:r>
                  <a:rPr lang="en-SG" sz="2400" dirty="0"/>
                  <a:t>= </a:t>
                </a:r>
                <a:r>
                  <a:rPr lang="en-SG" sz="2400" dirty="0" err="1"/>
                  <a:t>Pr</a:t>
                </a:r>
                <a:r>
                  <a:rPr lang="en-SG" sz="2400" dirty="0"/>
                  <a:t>(observing value more extreme than the observed test statistic, </a:t>
                </a:r>
                <a:r>
                  <a:rPr lang="en-SG" sz="2400" b="1" i="1" dirty="0"/>
                  <a:t>if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𝑯</m:t>
                        </m:r>
                      </m:e>
                      <m:sub>
                        <m:r>
                          <a:rPr lang="en-US" sz="2400" b="1" i="1">
                            <a:latin typeface="Cambria Math" panose="02040503050406030204" pitchFamily="18" charset="0"/>
                          </a:rPr>
                          <m:t>𝟎</m:t>
                        </m:r>
                      </m:sub>
                    </m:sSub>
                  </m:oMath>
                </a14:m>
                <a:r>
                  <a:rPr lang="en-SG" sz="2400" b="1" i="1" dirty="0"/>
                  <a:t> is true)</a:t>
                </a:r>
                <a:r>
                  <a:rPr lang="en-SG" sz="2400" dirty="0"/>
                  <a:t>.</a:t>
                </a:r>
              </a:p>
              <a:p>
                <a:pPr marL="0" indent="0">
                  <a:buNone/>
                </a:pPr>
                <a:endParaRPr lang="en-SG" sz="2400" dirty="0"/>
              </a:p>
              <a:p>
                <a:pPr marL="0" indent="0">
                  <a:buNone/>
                </a:pPr>
                <a:r>
                  <a:rPr lang="en-US" sz="2400" dirty="0"/>
                  <a:t>For this two-sided test,</a:t>
                </a:r>
              </a:p>
              <a:p>
                <a:pPr marL="0" indent="0">
                  <a:buNone/>
                </a:pPr>
                <a:r>
                  <a:rPr lang="en-US" sz="2400" dirty="0"/>
                  <a:t>p-value = </a:t>
                </a:r>
                <a:r>
                  <a:rPr lang="en-US" sz="2400" dirty="0" err="1"/>
                  <a:t>Pr</a:t>
                </a:r>
                <a:r>
                  <a:rPr lang="en-US" sz="2400" dirty="0"/>
                  <a:t>(Z &gt; |z|) + </a:t>
                </a:r>
                <a:r>
                  <a:rPr lang="en-US" sz="2400" dirty="0" err="1"/>
                  <a:t>Pr</a:t>
                </a:r>
                <a:r>
                  <a:rPr lang="en-US" sz="2400" dirty="0"/>
                  <a:t>( Z &lt; -|z|)</a:t>
                </a:r>
                <a:br>
                  <a:rPr lang="en-US" sz="2400" dirty="0"/>
                </a:br>
                <a:r>
                  <a:rPr lang="en-US" sz="2400" dirty="0"/>
                  <a:t>              = 2 </a:t>
                </a:r>
                <a:r>
                  <a:rPr lang="en-US" sz="2400" dirty="0" err="1"/>
                  <a:t>Pr</a:t>
                </a:r>
                <a:r>
                  <a:rPr lang="en-US" sz="2400" dirty="0"/>
                  <a:t>( Z &lt; -|z|)</a:t>
                </a:r>
              </a:p>
              <a:p>
                <a:pPr marL="0" indent="0">
                  <a:buNone/>
                </a:pPr>
                <a:endParaRPr lang="en-US" sz="2400" dirty="0"/>
              </a:p>
              <a:p>
                <a:pPr marL="0" indent="0">
                  <a:buNone/>
                </a:pPr>
                <a:r>
                  <a:rPr lang="en-US" sz="2400" dirty="0"/>
                  <a:t>In R: 2*</a:t>
                </a:r>
                <a:r>
                  <a:rPr lang="en-US" sz="2400" dirty="0" err="1"/>
                  <a:t>pnorm</a:t>
                </a:r>
                <a:r>
                  <a:rPr lang="en-US" sz="2400" dirty="0"/>
                  <a:t>(-abs(z))</a:t>
                </a:r>
                <a:endParaRPr lang="en-SG" sz="2400" dirty="0"/>
              </a:p>
            </p:txBody>
          </p:sp>
        </mc:Choice>
        <mc:Fallback xmlns="">
          <p:sp>
            <p:nvSpPr>
              <p:cNvPr id="17" name="TextBox 16">
                <a:extLst>
                  <a:ext uri="{FF2B5EF4-FFF2-40B4-BE49-F238E27FC236}">
                    <a16:creationId xmlns:a16="http://schemas.microsoft.com/office/drawing/2014/main" id="{0E96E2C1-3C13-6E1D-5CBC-7DA22D084291}"/>
                  </a:ext>
                </a:extLst>
              </p:cNvPr>
              <p:cNvSpPr txBox="1">
                <a:spLocks noRot="1" noChangeAspect="1" noMove="1" noResize="1" noEditPoints="1" noAdjustHandles="1" noChangeArrowheads="1" noChangeShapeType="1" noTextEdit="1"/>
              </p:cNvSpPr>
              <p:nvPr/>
            </p:nvSpPr>
            <p:spPr>
              <a:xfrm>
                <a:off x="4697628" y="2663631"/>
                <a:ext cx="7111653" cy="3416320"/>
              </a:xfrm>
              <a:prstGeom prst="rect">
                <a:avLst/>
              </a:prstGeom>
              <a:blipFill>
                <a:blip r:embed="rId6"/>
                <a:stretch>
                  <a:fillRect l="-1429" t="-1481" b="-3333"/>
                </a:stretch>
              </a:blipFill>
            </p:spPr>
            <p:txBody>
              <a:bodyPr/>
              <a:lstStyle/>
              <a:p>
                <a:r>
                  <a:rPr lang="en-US">
                    <a:noFill/>
                  </a:rPr>
                  <a:t> </a:t>
                </a:r>
              </a:p>
            </p:txBody>
          </p:sp>
        </mc:Fallback>
      </mc:AlternateContent>
      <p:cxnSp>
        <p:nvCxnSpPr>
          <p:cNvPr id="2" name="Straight Connector 1">
            <a:extLst>
              <a:ext uri="{FF2B5EF4-FFF2-40B4-BE49-F238E27FC236}">
                <a16:creationId xmlns:a16="http://schemas.microsoft.com/office/drawing/2014/main" id="{7C380401-9A7E-005F-4BD3-17559971E000}"/>
              </a:ext>
            </a:extLst>
          </p:cNvPr>
          <p:cNvCxnSpPr/>
          <p:nvPr/>
        </p:nvCxnSpPr>
        <p:spPr>
          <a:xfrm>
            <a:off x="1358031" y="4663470"/>
            <a:ext cx="0" cy="141255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A073A25-0F39-0374-30FB-8BBCF0E6C4B9}"/>
                  </a:ext>
                </a:extLst>
              </p:cNvPr>
              <p:cNvSpPr txBox="1"/>
              <p:nvPr/>
            </p:nvSpPr>
            <p:spPr>
              <a:xfrm rot="10800000" flipV="1">
                <a:off x="941541" y="4294138"/>
                <a:ext cx="27859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m:t>
                      </m:r>
                      <m:r>
                        <a:rPr lang="en-US"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𝑧</m:t>
                      </m:r>
                      <m:r>
                        <a:rPr lang="en-US" b="0" i="1" smtClean="0">
                          <a:solidFill>
                            <a:schemeClr val="accent2"/>
                          </a:solidFill>
                          <a:latin typeface="Cambria Math" panose="02040503050406030204" pitchFamily="18" charset="0"/>
                        </a:rPr>
                        <m:t>|</m:t>
                      </m:r>
                    </m:oMath>
                  </m:oMathPara>
                </a14:m>
                <a:endParaRPr lang="en-US" dirty="0">
                  <a:solidFill>
                    <a:schemeClr val="accent2"/>
                  </a:solidFill>
                </a:endParaRPr>
              </a:p>
            </p:txBody>
          </p:sp>
        </mc:Choice>
        <mc:Fallback xmlns="">
          <p:sp>
            <p:nvSpPr>
              <p:cNvPr id="3" name="TextBox 2">
                <a:extLst>
                  <a:ext uri="{FF2B5EF4-FFF2-40B4-BE49-F238E27FC236}">
                    <a16:creationId xmlns:a16="http://schemas.microsoft.com/office/drawing/2014/main" id="{4A073A25-0F39-0374-30FB-8BBCF0E6C4B9}"/>
                  </a:ext>
                </a:extLst>
              </p:cNvPr>
              <p:cNvSpPr txBox="1">
                <a:spLocks noRot="1" noChangeAspect="1" noMove="1" noResize="1" noEditPoints="1" noAdjustHandles="1" noChangeArrowheads="1" noChangeShapeType="1" noTextEdit="1"/>
              </p:cNvSpPr>
              <p:nvPr/>
            </p:nvSpPr>
            <p:spPr>
              <a:xfrm rot="10800000" flipV="1">
                <a:off x="941541" y="4294138"/>
                <a:ext cx="278591" cy="369332"/>
              </a:xfrm>
              <a:prstGeom prst="rect">
                <a:avLst/>
              </a:prstGeom>
              <a:blipFill>
                <a:blip r:embed="rId7"/>
                <a:stretch>
                  <a:fillRect r="-126087" b="-12903"/>
                </a:stretch>
              </a:blipFill>
            </p:spPr>
            <p:txBody>
              <a:bodyPr/>
              <a:lstStyle/>
              <a:p>
                <a:r>
                  <a:rPr lang="en-US">
                    <a:noFill/>
                  </a:rPr>
                  <a:t> </a:t>
                </a:r>
              </a:p>
            </p:txBody>
          </p:sp>
        </mc:Fallback>
      </mc:AlternateContent>
      <p:sp>
        <p:nvSpPr>
          <p:cNvPr id="4" name="Freeform 3">
            <a:extLst>
              <a:ext uri="{FF2B5EF4-FFF2-40B4-BE49-F238E27FC236}">
                <a16:creationId xmlns:a16="http://schemas.microsoft.com/office/drawing/2014/main" id="{15246370-AE8F-BADF-D29C-AC356EF5844B}"/>
              </a:ext>
            </a:extLst>
          </p:cNvPr>
          <p:cNvSpPr/>
          <p:nvPr/>
        </p:nvSpPr>
        <p:spPr>
          <a:xfrm>
            <a:off x="3457575" y="5689600"/>
            <a:ext cx="336550" cy="168275"/>
          </a:xfrm>
          <a:custGeom>
            <a:avLst/>
            <a:gdLst>
              <a:gd name="connsiteX0" fmla="*/ 9525 w 336550"/>
              <a:gd name="connsiteY0" fmla="*/ 0 h 168275"/>
              <a:gd name="connsiteX1" fmla="*/ 123825 w 336550"/>
              <a:gd name="connsiteY1" fmla="*/ 79375 h 168275"/>
              <a:gd name="connsiteX2" fmla="*/ 250825 w 336550"/>
              <a:gd name="connsiteY2" fmla="*/ 120650 h 168275"/>
              <a:gd name="connsiteX3" fmla="*/ 336550 w 336550"/>
              <a:gd name="connsiteY3" fmla="*/ 139700 h 168275"/>
              <a:gd name="connsiteX4" fmla="*/ 336550 w 336550"/>
              <a:gd name="connsiteY4" fmla="*/ 168275 h 168275"/>
              <a:gd name="connsiteX5" fmla="*/ 0 w 336550"/>
              <a:gd name="connsiteY5" fmla="*/ 165100 h 168275"/>
              <a:gd name="connsiteX6" fmla="*/ 9525 w 336550"/>
              <a:gd name="connsiteY6" fmla="*/ 0 h 16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550" h="168275">
                <a:moveTo>
                  <a:pt x="9525" y="0"/>
                </a:moveTo>
                <a:lnTo>
                  <a:pt x="123825" y="79375"/>
                </a:lnTo>
                <a:lnTo>
                  <a:pt x="250825" y="120650"/>
                </a:lnTo>
                <a:lnTo>
                  <a:pt x="336550" y="139700"/>
                </a:lnTo>
                <a:lnTo>
                  <a:pt x="336550" y="168275"/>
                </a:lnTo>
                <a:lnTo>
                  <a:pt x="0" y="165100"/>
                </a:lnTo>
                <a:cubicBezTo>
                  <a:pt x="1058" y="107950"/>
                  <a:pt x="2117" y="50800"/>
                  <a:pt x="9525"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2F0AC83B-291D-0124-1F55-08DE1A0C7EBE}"/>
              </a:ext>
            </a:extLst>
          </p:cNvPr>
          <p:cNvSpPr/>
          <p:nvPr/>
        </p:nvSpPr>
        <p:spPr>
          <a:xfrm flipH="1">
            <a:off x="990598" y="5667379"/>
            <a:ext cx="367409" cy="190495"/>
          </a:xfrm>
          <a:custGeom>
            <a:avLst/>
            <a:gdLst>
              <a:gd name="connsiteX0" fmla="*/ 9525 w 336550"/>
              <a:gd name="connsiteY0" fmla="*/ 0 h 168275"/>
              <a:gd name="connsiteX1" fmla="*/ 123825 w 336550"/>
              <a:gd name="connsiteY1" fmla="*/ 79375 h 168275"/>
              <a:gd name="connsiteX2" fmla="*/ 250825 w 336550"/>
              <a:gd name="connsiteY2" fmla="*/ 120650 h 168275"/>
              <a:gd name="connsiteX3" fmla="*/ 336550 w 336550"/>
              <a:gd name="connsiteY3" fmla="*/ 139700 h 168275"/>
              <a:gd name="connsiteX4" fmla="*/ 336550 w 336550"/>
              <a:gd name="connsiteY4" fmla="*/ 168275 h 168275"/>
              <a:gd name="connsiteX5" fmla="*/ 0 w 336550"/>
              <a:gd name="connsiteY5" fmla="*/ 165100 h 168275"/>
              <a:gd name="connsiteX6" fmla="*/ 9525 w 336550"/>
              <a:gd name="connsiteY6" fmla="*/ 0 h 16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550" h="168275">
                <a:moveTo>
                  <a:pt x="9525" y="0"/>
                </a:moveTo>
                <a:lnTo>
                  <a:pt x="123825" y="79375"/>
                </a:lnTo>
                <a:lnTo>
                  <a:pt x="250825" y="120650"/>
                </a:lnTo>
                <a:lnTo>
                  <a:pt x="336550" y="139700"/>
                </a:lnTo>
                <a:lnTo>
                  <a:pt x="336550" y="168275"/>
                </a:lnTo>
                <a:lnTo>
                  <a:pt x="0" y="165100"/>
                </a:lnTo>
                <a:cubicBezTo>
                  <a:pt x="1058" y="107950"/>
                  <a:pt x="2117" y="50800"/>
                  <a:pt x="9525"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3693621"/>
      </p:ext>
    </p:extLst>
  </p:cSld>
  <p:clrMapOvr>
    <a:masterClrMapping/>
  </p:clrMapOvr>
  <mc:AlternateContent xmlns:mc="http://schemas.openxmlformats.org/markup-compatibility/2006" xmlns:p14="http://schemas.microsoft.com/office/powerpoint/2010/main">
    <mc:Choice Requires="p14">
      <p:transition spd="slow" p14:dur="2000" advTm="7870"/>
    </mc:Choice>
    <mc:Fallback xmlns="">
      <p:transition spd="slow" advTm="787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83C16D4-C73E-9E9F-9E86-CD22D07D5643}"/>
                  </a:ext>
                </a:extLst>
              </p:cNvPr>
              <p:cNvSpPr/>
              <p:nvPr/>
            </p:nvSpPr>
            <p:spPr>
              <a:xfrm>
                <a:off x="1222766" y="1519726"/>
                <a:ext cx="2773036" cy="1077218"/>
              </a:xfrm>
              <a:prstGeom prst="rect">
                <a:avLst/>
              </a:prstGeom>
            </p:spPr>
            <p:txBody>
              <a:bodyPr wrap="square">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0</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smtClean="0">
                        <a:latin typeface="Cambria Math" panose="02040503050406030204" pitchFamily="18" charset="0"/>
                        <a:ea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endParaRPr lang="en-US" sz="3200" dirty="0"/>
              </a:p>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1</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smtClean="0">
                        <a:latin typeface="Cambria Math" panose="02040503050406030204" pitchFamily="18" charset="0"/>
                        <a:ea typeface="Cambria Math" panose="02040503050406030204" pitchFamily="18" charset="0"/>
                      </a:rPr>
                      <m:t>&gt;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r>
                  <a:rPr lang="en-US" sz="3200" dirty="0"/>
                  <a:t> </a:t>
                </a:r>
              </a:p>
            </p:txBody>
          </p:sp>
        </mc:Choice>
        <mc:Fallback xmlns="">
          <p:sp>
            <p:nvSpPr>
              <p:cNvPr id="5" name="Rectangle 4">
                <a:extLst>
                  <a:ext uri="{FF2B5EF4-FFF2-40B4-BE49-F238E27FC236}">
                    <a16:creationId xmlns:a16="http://schemas.microsoft.com/office/drawing/2014/main" id="{383C16D4-C73E-9E9F-9E86-CD22D07D5643}"/>
                  </a:ext>
                </a:extLst>
              </p:cNvPr>
              <p:cNvSpPr>
                <a:spLocks noRot="1" noChangeAspect="1" noMove="1" noResize="1" noEditPoints="1" noAdjustHandles="1" noChangeArrowheads="1" noChangeShapeType="1" noTextEdit="1"/>
              </p:cNvSpPr>
              <p:nvPr/>
            </p:nvSpPr>
            <p:spPr>
              <a:xfrm>
                <a:off x="1222766" y="1519726"/>
                <a:ext cx="2773036" cy="1077218"/>
              </a:xfrm>
              <a:prstGeom prst="rect">
                <a:avLst/>
              </a:prstGeom>
              <a:blipFill>
                <a:blip r:embed="rId3"/>
                <a:stretch>
                  <a:fillRect l="-1826" t="-6977" b="-16279"/>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F0190C9A-6A3B-AF71-E6CB-7BC0FA35935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82719" y="2784835"/>
            <a:ext cx="3613083" cy="3613083"/>
          </a:xfrm>
          <a:prstGeom prst="rect">
            <a:avLst/>
          </a:prstGeom>
        </p:spPr>
      </p:pic>
      <p:cxnSp>
        <p:nvCxnSpPr>
          <p:cNvPr id="7" name="Straight Arrow Connector 6">
            <a:extLst>
              <a:ext uri="{FF2B5EF4-FFF2-40B4-BE49-F238E27FC236}">
                <a16:creationId xmlns:a16="http://schemas.microsoft.com/office/drawing/2014/main" id="{3D1F8B1E-E7FD-4183-094D-EC6F023ADEBB}"/>
              </a:ext>
            </a:extLst>
          </p:cNvPr>
          <p:cNvCxnSpPr>
            <a:cxnSpLocks/>
          </p:cNvCxnSpPr>
          <p:nvPr/>
        </p:nvCxnSpPr>
        <p:spPr>
          <a:xfrm>
            <a:off x="3169920" y="6260132"/>
            <a:ext cx="663044"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6A8DC7C-8E70-807F-D2FD-46FDED914546}"/>
              </a:ext>
            </a:extLst>
          </p:cNvPr>
          <p:cNvCxnSpPr/>
          <p:nvPr/>
        </p:nvCxnSpPr>
        <p:spPr>
          <a:xfrm>
            <a:off x="3460316" y="4663470"/>
            <a:ext cx="0" cy="141255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85E8ABF-FF35-C451-DB00-921DB2082BCF}"/>
                  </a:ext>
                </a:extLst>
              </p:cNvPr>
              <p:cNvSpPr txBox="1"/>
              <p:nvPr/>
            </p:nvSpPr>
            <p:spPr>
              <a:xfrm rot="10800000" flipV="1">
                <a:off x="3300721" y="4337150"/>
                <a:ext cx="27859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𝑧</m:t>
                      </m:r>
                    </m:oMath>
                  </m:oMathPara>
                </a14:m>
                <a:endParaRPr lang="en-US" dirty="0">
                  <a:solidFill>
                    <a:schemeClr val="accent2"/>
                  </a:solidFill>
                </a:endParaRPr>
              </a:p>
            </p:txBody>
          </p:sp>
        </mc:Choice>
        <mc:Fallback xmlns="">
          <p:sp>
            <p:nvSpPr>
              <p:cNvPr id="15" name="TextBox 14">
                <a:extLst>
                  <a:ext uri="{FF2B5EF4-FFF2-40B4-BE49-F238E27FC236}">
                    <a16:creationId xmlns:a16="http://schemas.microsoft.com/office/drawing/2014/main" id="{785E8ABF-FF35-C451-DB00-921DB2082BCF}"/>
                  </a:ext>
                </a:extLst>
              </p:cNvPr>
              <p:cNvSpPr txBox="1">
                <a:spLocks noRot="1" noChangeAspect="1" noMove="1" noResize="1" noEditPoints="1" noAdjustHandles="1" noChangeArrowheads="1" noChangeShapeType="1" noTextEdit="1"/>
              </p:cNvSpPr>
              <p:nvPr/>
            </p:nvSpPr>
            <p:spPr>
              <a:xfrm rot="10800000" flipV="1">
                <a:off x="3300721" y="4337150"/>
                <a:ext cx="278591" cy="369332"/>
              </a:xfrm>
              <a:prstGeom prst="rect">
                <a:avLst/>
              </a:prstGeom>
              <a:blipFill>
                <a:blip r:embed="rId5"/>
                <a:stretch>
                  <a:fillRect/>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266D7E8A-E2F0-64ED-D1D7-39DED5295DF6}"/>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a:lstStyle>
          <a:p>
            <a:r>
              <a:rPr lang="en-US" dirty="0"/>
              <a:t>HT: evidence against H0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E96E2C1-3C13-6E1D-5CBC-7DA22D084291}"/>
                  </a:ext>
                </a:extLst>
              </p:cNvPr>
              <p:cNvSpPr txBox="1"/>
              <p:nvPr/>
            </p:nvSpPr>
            <p:spPr>
              <a:xfrm>
                <a:off x="4697628" y="2663631"/>
                <a:ext cx="7111653" cy="3416320"/>
              </a:xfrm>
              <a:prstGeom prst="rect">
                <a:avLst/>
              </a:prstGeom>
              <a:noFill/>
            </p:spPr>
            <p:txBody>
              <a:bodyPr wrap="square">
                <a:spAutoFit/>
              </a:bodyPr>
              <a:lstStyle/>
              <a:p>
                <a:pPr marL="0" indent="0">
                  <a:buNone/>
                </a:pPr>
                <a:r>
                  <a:rPr lang="en-SG" sz="2400" dirty="0"/>
                  <a:t>p-value </a:t>
                </a:r>
              </a:p>
              <a:p>
                <a:pPr marL="0" indent="0">
                  <a:buNone/>
                </a:pPr>
                <a:r>
                  <a:rPr lang="en-SG" sz="2400" dirty="0"/>
                  <a:t>= </a:t>
                </a:r>
                <a:r>
                  <a:rPr lang="en-SG" sz="2400" dirty="0" err="1"/>
                  <a:t>Pr</a:t>
                </a:r>
                <a:r>
                  <a:rPr lang="en-SG" sz="2400" dirty="0"/>
                  <a:t>(observing value more extreme than the observed test statistic, </a:t>
                </a:r>
                <a:r>
                  <a:rPr lang="en-SG" sz="2400" b="1" i="1" dirty="0"/>
                  <a:t>if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𝑯</m:t>
                        </m:r>
                      </m:e>
                      <m:sub>
                        <m:r>
                          <a:rPr lang="en-US" sz="2400" b="1" i="1">
                            <a:latin typeface="Cambria Math" panose="02040503050406030204" pitchFamily="18" charset="0"/>
                          </a:rPr>
                          <m:t>𝟎</m:t>
                        </m:r>
                      </m:sub>
                    </m:sSub>
                  </m:oMath>
                </a14:m>
                <a:r>
                  <a:rPr lang="en-SG" sz="2400" b="1" i="1" dirty="0"/>
                  <a:t> is true)</a:t>
                </a:r>
                <a:r>
                  <a:rPr lang="en-SG" sz="2400" dirty="0"/>
                  <a:t>.</a:t>
                </a:r>
              </a:p>
              <a:p>
                <a:pPr marL="0" indent="0">
                  <a:buNone/>
                </a:pPr>
                <a:endParaRPr lang="en-SG" sz="2400" dirty="0"/>
              </a:p>
              <a:p>
                <a:pPr marL="0" indent="0">
                  <a:buNone/>
                </a:pPr>
                <a:r>
                  <a:rPr lang="en-US" sz="2400" dirty="0"/>
                  <a:t>For this one-sided test,</a:t>
                </a:r>
              </a:p>
              <a:p>
                <a:pPr marL="0" indent="0">
                  <a:buNone/>
                </a:pPr>
                <a:r>
                  <a:rPr lang="en-US" sz="2400" dirty="0"/>
                  <a:t>p-value = </a:t>
                </a:r>
                <a:r>
                  <a:rPr lang="en-US" sz="2400" dirty="0" err="1"/>
                  <a:t>Pr</a:t>
                </a:r>
                <a:r>
                  <a:rPr lang="en-US" sz="2400" dirty="0"/>
                  <a:t>(Z &gt; z)</a:t>
                </a:r>
                <a:br>
                  <a:rPr lang="en-US" sz="2400" dirty="0"/>
                </a:br>
                <a:endParaRPr lang="en-US" sz="2400" dirty="0"/>
              </a:p>
              <a:p>
                <a:pPr marL="0" indent="0">
                  <a:buNone/>
                </a:pPr>
                <a:r>
                  <a:rPr lang="en-US" sz="2400" dirty="0"/>
                  <a:t>In R: 1 - </a:t>
                </a:r>
                <a:r>
                  <a:rPr lang="en-US" sz="2400" dirty="0" err="1"/>
                  <a:t>pnorm</a:t>
                </a:r>
                <a:r>
                  <a:rPr lang="en-US" sz="2400" dirty="0"/>
                  <a:t>(z)</a:t>
                </a:r>
                <a:endParaRPr lang="en-SG" sz="2400" dirty="0"/>
              </a:p>
              <a:p>
                <a:pPr marL="0" indent="0">
                  <a:buNone/>
                </a:pPr>
                <a:endParaRPr lang="en-SG" sz="2400" dirty="0"/>
              </a:p>
            </p:txBody>
          </p:sp>
        </mc:Choice>
        <mc:Fallback xmlns="">
          <p:sp>
            <p:nvSpPr>
              <p:cNvPr id="17" name="TextBox 16">
                <a:extLst>
                  <a:ext uri="{FF2B5EF4-FFF2-40B4-BE49-F238E27FC236}">
                    <a16:creationId xmlns:a16="http://schemas.microsoft.com/office/drawing/2014/main" id="{0E96E2C1-3C13-6E1D-5CBC-7DA22D084291}"/>
                  </a:ext>
                </a:extLst>
              </p:cNvPr>
              <p:cNvSpPr txBox="1">
                <a:spLocks noRot="1" noChangeAspect="1" noMove="1" noResize="1" noEditPoints="1" noAdjustHandles="1" noChangeArrowheads="1" noChangeShapeType="1" noTextEdit="1"/>
              </p:cNvSpPr>
              <p:nvPr/>
            </p:nvSpPr>
            <p:spPr>
              <a:xfrm>
                <a:off x="4697628" y="2663631"/>
                <a:ext cx="7111653" cy="3416320"/>
              </a:xfrm>
              <a:prstGeom prst="rect">
                <a:avLst/>
              </a:prstGeom>
              <a:blipFill>
                <a:blip r:embed="rId6"/>
                <a:stretch>
                  <a:fillRect l="-1429" t="-1481"/>
                </a:stretch>
              </a:blipFill>
            </p:spPr>
            <p:txBody>
              <a:bodyPr/>
              <a:lstStyle/>
              <a:p>
                <a:r>
                  <a:rPr lang="en-US">
                    <a:noFill/>
                  </a:rPr>
                  <a:t> </a:t>
                </a:r>
              </a:p>
            </p:txBody>
          </p:sp>
        </mc:Fallback>
      </mc:AlternateContent>
      <p:sp>
        <p:nvSpPr>
          <p:cNvPr id="2" name="Freeform 1">
            <a:extLst>
              <a:ext uri="{FF2B5EF4-FFF2-40B4-BE49-F238E27FC236}">
                <a16:creationId xmlns:a16="http://schemas.microsoft.com/office/drawing/2014/main" id="{36CBC012-1D82-9B6A-14F8-7021B1DAC902}"/>
              </a:ext>
            </a:extLst>
          </p:cNvPr>
          <p:cNvSpPr/>
          <p:nvPr/>
        </p:nvSpPr>
        <p:spPr>
          <a:xfrm>
            <a:off x="3457575" y="5689600"/>
            <a:ext cx="336550" cy="168275"/>
          </a:xfrm>
          <a:custGeom>
            <a:avLst/>
            <a:gdLst>
              <a:gd name="connsiteX0" fmla="*/ 9525 w 336550"/>
              <a:gd name="connsiteY0" fmla="*/ 0 h 168275"/>
              <a:gd name="connsiteX1" fmla="*/ 123825 w 336550"/>
              <a:gd name="connsiteY1" fmla="*/ 79375 h 168275"/>
              <a:gd name="connsiteX2" fmla="*/ 250825 w 336550"/>
              <a:gd name="connsiteY2" fmla="*/ 120650 h 168275"/>
              <a:gd name="connsiteX3" fmla="*/ 336550 w 336550"/>
              <a:gd name="connsiteY3" fmla="*/ 139700 h 168275"/>
              <a:gd name="connsiteX4" fmla="*/ 336550 w 336550"/>
              <a:gd name="connsiteY4" fmla="*/ 168275 h 168275"/>
              <a:gd name="connsiteX5" fmla="*/ 0 w 336550"/>
              <a:gd name="connsiteY5" fmla="*/ 165100 h 168275"/>
              <a:gd name="connsiteX6" fmla="*/ 9525 w 336550"/>
              <a:gd name="connsiteY6" fmla="*/ 0 h 16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550" h="168275">
                <a:moveTo>
                  <a:pt x="9525" y="0"/>
                </a:moveTo>
                <a:lnTo>
                  <a:pt x="123825" y="79375"/>
                </a:lnTo>
                <a:lnTo>
                  <a:pt x="250825" y="120650"/>
                </a:lnTo>
                <a:lnTo>
                  <a:pt x="336550" y="139700"/>
                </a:lnTo>
                <a:lnTo>
                  <a:pt x="336550" y="168275"/>
                </a:lnTo>
                <a:lnTo>
                  <a:pt x="0" y="165100"/>
                </a:lnTo>
                <a:cubicBezTo>
                  <a:pt x="1058" y="107950"/>
                  <a:pt x="2117" y="50800"/>
                  <a:pt x="9525"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1980008"/>
      </p:ext>
    </p:extLst>
  </p:cSld>
  <p:clrMapOvr>
    <a:masterClrMapping/>
  </p:clrMapOvr>
  <mc:AlternateContent xmlns:mc="http://schemas.openxmlformats.org/markup-compatibility/2006" xmlns:p14="http://schemas.microsoft.com/office/powerpoint/2010/main">
    <mc:Choice Requires="p14">
      <p:transition spd="slow" p14:dur="2000" advTm="14609"/>
    </mc:Choice>
    <mc:Fallback xmlns="">
      <p:transition spd="slow" advTm="1460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83C16D4-C73E-9E9F-9E86-CD22D07D5643}"/>
                  </a:ext>
                </a:extLst>
              </p:cNvPr>
              <p:cNvSpPr/>
              <p:nvPr/>
            </p:nvSpPr>
            <p:spPr>
              <a:xfrm>
                <a:off x="1222766" y="1519726"/>
                <a:ext cx="2773036" cy="1077218"/>
              </a:xfrm>
              <a:prstGeom prst="rect">
                <a:avLst/>
              </a:prstGeom>
            </p:spPr>
            <p:txBody>
              <a:bodyPr wrap="square">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0</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endParaRPr lang="en-US" sz="3200" dirty="0"/>
              </a:p>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1</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r>
                  <a:rPr lang="en-US" sz="3200" dirty="0"/>
                  <a:t> </a:t>
                </a:r>
              </a:p>
            </p:txBody>
          </p:sp>
        </mc:Choice>
        <mc:Fallback xmlns="">
          <p:sp>
            <p:nvSpPr>
              <p:cNvPr id="5" name="Rectangle 4">
                <a:extLst>
                  <a:ext uri="{FF2B5EF4-FFF2-40B4-BE49-F238E27FC236}">
                    <a16:creationId xmlns:a16="http://schemas.microsoft.com/office/drawing/2014/main" id="{383C16D4-C73E-9E9F-9E86-CD22D07D5643}"/>
                  </a:ext>
                </a:extLst>
              </p:cNvPr>
              <p:cNvSpPr>
                <a:spLocks noRot="1" noChangeAspect="1" noMove="1" noResize="1" noEditPoints="1" noAdjustHandles="1" noChangeArrowheads="1" noChangeShapeType="1" noTextEdit="1"/>
              </p:cNvSpPr>
              <p:nvPr/>
            </p:nvSpPr>
            <p:spPr>
              <a:xfrm>
                <a:off x="1222766" y="1519726"/>
                <a:ext cx="2773036" cy="1077218"/>
              </a:xfrm>
              <a:prstGeom prst="rect">
                <a:avLst/>
              </a:prstGeom>
              <a:blipFill>
                <a:blip r:embed="rId3"/>
                <a:stretch>
                  <a:fillRect l="-1826" t="-6977" b="-16279"/>
                </a:stretch>
              </a:blipFill>
            </p:spPr>
            <p:txBody>
              <a:bodyPr/>
              <a:lstStyle/>
              <a:p>
                <a:r>
                  <a:rPr lang="en-US">
                    <a:noFill/>
                  </a:rPr>
                  <a:t> </a:t>
                </a:r>
              </a:p>
            </p:txBody>
          </p:sp>
        </mc:Fallback>
      </mc:AlternateContent>
      <p:pic>
        <p:nvPicPr>
          <p:cNvPr id="9" name="Picture 8" descr="A graph of a function&#10;&#10;Description automatically generated">
            <a:extLst>
              <a:ext uri="{FF2B5EF4-FFF2-40B4-BE49-F238E27FC236}">
                <a16:creationId xmlns:a16="http://schemas.microsoft.com/office/drawing/2014/main" id="{F0190C9A-6A3B-AF71-E6CB-7BC0FA3593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719" y="2784835"/>
            <a:ext cx="3613083" cy="3613083"/>
          </a:xfrm>
          <a:prstGeom prst="rect">
            <a:avLst/>
          </a:prstGeom>
        </p:spPr>
      </p:pic>
      <p:cxnSp>
        <p:nvCxnSpPr>
          <p:cNvPr id="7" name="Straight Arrow Connector 6">
            <a:extLst>
              <a:ext uri="{FF2B5EF4-FFF2-40B4-BE49-F238E27FC236}">
                <a16:creationId xmlns:a16="http://schemas.microsoft.com/office/drawing/2014/main" id="{3D1F8B1E-E7FD-4183-094D-EC6F023ADEBB}"/>
              </a:ext>
            </a:extLst>
          </p:cNvPr>
          <p:cNvCxnSpPr/>
          <p:nvPr/>
        </p:nvCxnSpPr>
        <p:spPr>
          <a:xfrm>
            <a:off x="3344449" y="6260132"/>
            <a:ext cx="488515"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59176B4-A793-51C1-B57B-9DB784FE706C}"/>
              </a:ext>
            </a:extLst>
          </p:cNvPr>
          <p:cNvCxnSpPr/>
          <p:nvPr/>
        </p:nvCxnSpPr>
        <p:spPr>
          <a:xfrm>
            <a:off x="978508" y="6260132"/>
            <a:ext cx="488515" cy="0"/>
          </a:xfrm>
          <a:prstGeom prst="straightConnector1">
            <a:avLst/>
          </a:prstGeom>
          <a:ln>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6A8DC7C-8E70-807F-D2FD-46FDED914546}"/>
              </a:ext>
            </a:extLst>
          </p:cNvPr>
          <p:cNvCxnSpPr/>
          <p:nvPr/>
        </p:nvCxnSpPr>
        <p:spPr>
          <a:xfrm>
            <a:off x="3460316" y="4663470"/>
            <a:ext cx="0" cy="141255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85E8ABF-FF35-C451-DB00-921DB2082BCF}"/>
                  </a:ext>
                </a:extLst>
              </p:cNvPr>
              <p:cNvSpPr txBox="1"/>
              <p:nvPr/>
            </p:nvSpPr>
            <p:spPr>
              <a:xfrm rot="10800000" flipV="1">
                <a:off x="3310115" y="4297951"/>
                <a:ext cx="27859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𝑧</m:t>
                      </m:r>
                      <m:r>
                        <a:rPr lang="en-US" b="0" i="1" smtClean="0">
                          <a:solidFill>
                            <a:schemeClr val="accent2"/>
                          </a:solidFill>
                          <a:latin typeface="Cambria Math" panose="02040503050406030204" pitchFamily="18" charset="0"/>
                        </a:rPr>
                        <m:t>|</m:t>
                      </m:r>
                    </m:oMath>
                  </m:oMathPara>
                </a14:m>
                <a:endParaRPr lang="en-US" dirty="0">
                  <a:solidFill>
                    <a:schemeClr val="accent2"/>
                  </a:solidFill>
                </a:endParaRPr>
              </a:p>
            </p:txBody>
          </p:sp>
        </mc:Choice>
        <mc:Fallback xmlns="">
          <p:sp>
            <p:nvSpPr>
              <p:cNvPr id="15" name="TextBox 14">
                <a:extLst>
                  <a:ext uri="{FF2B5EF4-FFF2-40B4-BE49-F238E27FC236}">
                    <a16:creationId xmlns:a16="http://schemas.microsoft.com/office/drawing/2014/main" id="{785E8ABF-FF35-C451-DB00-921DB2082BCF}"/>
                  </a:ext>
                </a:extLst>
              </p:cNvPr>
              <p:cNvSpPr txBox="1">
                <a:spLocks noRot="1" noChangeAspect="1" noMove="1" noResize="1" noEditPoints="1" noAdjustHandles="1" noChangeArrowheads="1" noChangeShapeType="1" noTextEdit="1"/>
              </p:cNvSpPr>
              <p:nvPr/>
            </p:nvSpPr>
            <p:spPr>
              <a:xfrm rot="10800000" flipV="1">
                <a:off x="3310115" y="4297951"/>
                <a:ext cx="278591" cy="369332"/>
              </a:xfrm>
              <a:prstGeom prst="rect">
                <a:avLst/>
              </a:prstGeom>
              <a:blipFill>
                <a:blip r:embed="rId5"/>
                <a:stretch>
                  <a:fillRect l="-4348" r="-65217" b="-13333"/>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266D7E8A-E2F0-64ED-D1D7-39DED5295DF6}"/>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a:lstStyle>
          <a:p>
            <a:r>
              <a:rPr lang="en-US" dirty="0"/>
              <a:t>HT: evidence against H0 </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0E96E2C1-3C13-6E1D-5CBC-7DA22D084291}"/>
                  </a:ext>
                </a:extLst>
              </p:cNvPr>
              <p:cNvSpPr txBox="1"/>
              <p:nvPr/>
            </p:nvSpPr>
            <p:spPr>
              <a:xfrm>
                <a:off x="4697628" y="2663631"/>
                <a:ext cx="7111653" cy="2308324"/>
              </a:xfrm>
              <a:prstGeom prst="rect">
                <a:avLst/>
              </a:prstGeom>
              <a:noFill/>
            </p:spPr>
            <p:txBody>
              <a:bodyPr wrap="square">
                <a:spAutoFit/>
              </a:bodyPr>
              <a:lstStyle/>
              <a:p>
                <a:r>
                  <a:rPr lang="en-US" sz="2400" dirty="0"/>
                  <a:t>When p-value &lt; 𝛼, z is in RR. </a:t>
                </a:r>
              </a:p>
              <a:p>
                <a:endParaRPr lang="en-US" sz="2400" dirty="0"/>
              </a:p>
              <a:p>
                <a:r>
                  <a:rPr lang="en-US" sz="2400" dirty="0"/>
                  <a:t>We reject </a:t>
                </a:r>
                <a14:m>
                  <m:oMath xmlns:m="http://schemas.openxmlformats.org/officeDocument/2006/math">
                    <m:sSub>
                      <m:sSubPr>
                        <m:ctrlPr>
                          <a:rPr lang="en-US" sz="2400" i="1" smtClean="0">
                            <a:latin typeface="Cambria Math" panose="02040503050406030204" pitchFamily="18" charset="0"/>
                          </a:rPr>
                        </m:ctrlPr>
                      </m:sSubPr>
                      <m:e>
                        <m:r>
                          <a:rPr lang="en-US" sz="2400" b="0" i="1">
                            <a:latin typeface="Cambria Math" panose="02040503050406030204" pitchFamily="18" charset="0"/>
                          </a:rPr>
                          <m:t>𝐻</m:t>
                        </m:r>
                      </m:e>
                      <m:sub>
                        <m:r>
                          <a:rPr lang="en-US" sz="2400" b="0" i="1">
                            <a:latin typeface="Cambria Math" panose="02040503050406030204" pitchFamily="18" charset="0"/>
                          </a:rPr>
                          <m:t>0</m:t>
                        </m:r>
                      </m:sub>
                    </m:sSub>
                  </m:oMath>
                </a14:m>
                <a:r>
                  <a:rPr lang="en-SG" sz="2400" i="1" dirty="0"/>
                  <a:t> under a </a:t>
                </a:r>
                <a:r>
                  <a:rPr lang="en-US" sz="2400" dirty="0"/>
                  <a:t>𝛼 significance level.</a:t>
                </a:r>
              </a:p>
              <a:p>
                <a:endParaRPr lang="en-US" sz="2400" dirty="0"/>
              </a:p>
              <a:p>
                <a:r>
                  <a:rPr lang="en-US" sz="2400" dirty="0"/>
                  <a:t>The smaller the p-value, the smaller the significance level required to not reject </a:t>
                </a:r>
                <a14:m>
                  <m:oMath xmlns:m="http://schemas.openxmlformats.org/officeDocument/2006/math">
                    <m:sSub>
                      <m:sSubPr>
                        <m:ctrlPr>
                          <a:rPr lang="en-US" sz="2400" i="1" smtClean="0">
                            <a:latin typeface="Cambria Math" panose="02040503050406030204" pitchFamily="18" charset="0"/>
                          </a:rPr>
                        </m:ctrlPr>
                      </m:sSubPr>
                      <m:e>
                        <m:r>
                          <a:rPr lang="en-US" sz="2400" b="0" i="1">
                            <a:latin typeface="Cambria Math" panose="02040503050406030204" pitchFamily="18" charset="0"/>
                          </a:rPr>
                          <m:t>𝐻</m:t>
                        </m:r>
                      </m:e>
                      <m:sub>
                        <m:r>
                          <a:rPr lang="en-US" sz="2400" b="0" i="1">
                            <a:latin typeface="Cambria Math" panose="02040503050406030204" pitchFamily="18" charset="0"/>
                          </a:rPr>
                          <m:t>0</m:t>
                        </m:r>
                      </m:sub>
                    </m:sSub>
                    <m:r>
                      <a:rPr lang="en-US" sz="2400" b="0" i="1" smtClean="0">
                        <a:latin typeface="Cambria Math" panose="02040503050406030204" pitchFamily="18" charset="0"/>
                      </a:rPr>
                      <m:t>.</m:t>
                    </m:r>
                  </m:oMath>
                </a14:m>
                <a:endParaRPr lang="en-SG" sz="2400" dirty="0"/>
              </a:p>
            </p:txBody>
          </p:sp>
        </mc:Choice>
        <mc:Fallback>
          <p:sp>
            <p:nvSpPr>
              <p:cNvPr id="17" name="TextBox 16">
                <a:extLst>
                  <a:ext uri="{FF2B5EF4-FFF2-40B4-BE49-F238E27FC236}">
                    <a16:creationId xmlns:a16="http://schemas.microsoft.com/office/drawing/2014/main" id="{0E96E2C1-3C13-6E1D-5CBC-7DA22D084291}"/>
                  </a:ext>
                </a:extLst>
              </p:cNvPr>
              <p:cNvSpPr txBox="1">
                <a:spLocks noRot="1" noChangeAspect="1" noMove="1" noResize="1" noEditPoints="1" noAdjustHandles="1" noChangeArrowheads="1" noChangeShapeType="1" noTextEdit="1"/>
              </p:cNvSpPr>
              <p:nvPr/>
            </p:nvSpPr>
            <p:spPr>
              <a:xfrm>
                <a:off x="4697628" y="2663631"/>
                <a:ext cx="7111653" cy="2308324"/>
              </a:xfrm>
              <a:prstGeom prst="rect">
                <a:avLst/>
              </a:prstGeom>
              <a:blipFill>
                <a:blip r:embed="rId6"/>
                <a:stretch>
                  <a:fillRect l="-1429" t="-2186" b="-5464"/>
                </a:stretch>
              </a:blipFill>
            </p:spPr>
            <p:txBody>
              <a:bodyPr/>
              <a:lstStyle/>
              <a:p>
                <a:r>
                  <a:rPr lang="en-US">
                    <a:noFill/>
                  </a:rPr>
                  <a:t> </a:t>
                </a:r>
              </a:p>
            </p:txBody>
          </p:sp>
        </mc:Fallback>
      </mc:AlternateContent>
      <p:cxnSp>
        <p:nvCxnSpPr>
          <p:cNvPr id="2" name="Straight Connector 1">
            <a:extLst>
              <a:ext uri="{FF2B5EF4-FFF2-40B4-BE49-F238E27FC236}">
                <a16:creationId xmlns:a16="http://schemas.microsoft.com/office/drawing/2014/main" id="{7C380401-9A7E-005F-4BD3-17559971E000}"/>
              </a:ext>
            </a:extLst>
          </p:cNvPr>
          <p:cNvCxnSpPr/>
          <p:nvPr/>
        </p:nvCxnSpPr>
        <p:spPr>
          <a:xfrm>
            <a:off x="1358031" y="4663470"/>
            <a:ext cx="0" cy="141255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A073A25-0F39-0374-30FB-8BBCF0E6C4B9}"/>
                  </a:ext>
                </a:extLst>
              </p:cNvPr>
              <p:cNvSpPr txBox="1"/>
              <p:nvPr/>
            </p:nvSpPr>
            <p:spPr>
              <a:xfrm rot="10800000" flipV="1">
                <a:off x="941541" y="4294138"/>
                <a:ext cx="27859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m:t>
                      </m:r>
                      <m:r>
                        <a:rPr lang="en-US"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𝑧</m:t>
                      </m:r>
                      <m:r>
                        <a:rPr lang="en-US" b="0" i="1" smtClean="0">
                          <a:solidFill>
                            <a:schemeClr val="accent2"/>
                          </a:solidFill>
                          <a:latin typeface="Cambria Math" panose="02040503050406030204" pitchFamily="18" charset="0"/>
                        </a:rPr>
                        <m:t>|</m:t>
                      </m:r>
                    </m:oMath>
                  </m:oMathPara>
                </a14:m>
                <a:endParaRPr lang="en-US" dirty="0">
                  <a:solidFill>
                    <a:schemeClr val="accent2"/>
                  </a:solidFill>
                </a:endParaRPr>
              </a:p>
            </p:txBody>
          </p:sp>
        </mc:Choice>
        <mc:Fallback xmlns="">
          <p:sp>
            <p:nvSpPr>
              <p:cNvPr id="3" name="TextBox 2">
                <a:extLst>
                  <a:ext uri="{FF2B5EF4-FFF2-40B4-BE49-F238E27FC236}">
                    <a16:creationId xmlns:a16="http://schemas.microsoft.com/office/drawing/2014/main" id="{4A073A25-0F39-0374-30FB-8BBCF0E6C4B9}"/>
                  </a:ext>
                </a:extLst>
              </p:cNvPr>
              <p:cNvSpPr txBox="1">
                <a:spLocks noRot="1" noChangeAspect="1" noMove="1" noResize="1" noEditPoints="1" noAdjustHandles="1" noChangeArrowheads="1" noChangeShapeType="1" noTextEdit="1"/>
              </p:cNvSpPr>
              <p:nvPr/>
            </p:nvSpPr>
            <p:spPr>
              <a:xfrm rot="10800000" flipV="1">
                <a:off x="941541" y="4294138"/>
                <a:ext cx="278591" cy="369332"/>
              </a:xfrm>
              <a:prstGeom prst="rect">
                <a:avLst/>
              </a:prstGeom>
              <a:blipFill>
                <a:blip r:embed="rId7"/>
                <a:stretch>
                  <a:fillRect r="-126087" b="-12903"/>
                </a:stretch>
              </a:blipFill>
            </p:spPr>
            <p:txBody>
              <a:bodyPr/>
              <a:lstStyle/>
              <a:p>
                <a:r>
                  <a:rPr lang="en-US">
                    <a:noFill/>
                  </a:rPr>
                  <a:t> </a:t>
                </a:r>
              </a:p>
            </p:txBody>
          </p:sp>
        </mc:Fallback>
      </mc:AlternateContent>
      <p:sp>
        <p:nvSpPr>
          <p:cNvPr id="4" name="Freeform 3">
            <a:extLst>
              <a:ext uri="{FF2B5EF4-FFF2-40B4-BE49-F238E27FC236}">
                <a16:creationId xmlns:a16="http://schemas.microsoft.com/office/drawing/2014/main" id="{0831FDC6-CA83-5FA9-69C4-82ECB8775C2C}"/>
              </a:ext>
            </a:extLst>
          </p:cNvPr>
          <p:cNvSpPr/>
          <p:nvPr/>
        </p:nvSpPr>
        <p:spPr>
          <a:xfrm>
            <a:off x="3457575" y="5689600"/>
            <a:ext cx="336550" cy="168275"/>
          </a:xfrm>
          <a:custGeom>
            <a:avLst/>
            <a:gdLst>
              <a:gd name="connsiteX0" fmla="*/ 9525 w 336550"/>
              <a:gd name="connsiteY0" fmla="*/ 0 h 168275"/>
              <a:gd name="connsiteX1" fmla="*/ 123825 w 336550"/>
              <a:gd name="connsiteY1" fmla="*/ 79375 h 168275"/>
              <a:gd name="connsiteX2" fmla="*/ 250825 w 336550"/>
              <a:gd name="connsiteY2" fmla="*/ 120650 h 168275"/>
              <a:gd name="connsiteX3" fmla="*/ 336550 w 336550"/>
              <a:gd name="connsiteY3" fmla="*/ 139700 h 168275"/>
              <a:gd name="connsiteX4" fmla="*/ 336550 w 336550"/>
              <a:gd name="connsiteY4" fmla="*/ 168275 h 168275"/>
              <a:gd name="connsiteX5" fmla="*/ 0 w 336550"/>
              <a:gd name="connsiteY5" fmla="*/ 165100 h 168275"/>
              <a:gd name="connsiteX6" fmla="*/ 9525 w 336550"/>
              <a:gd name="connsiteY6" fmla="*/ 0 h 16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550" h="168275">
                <a:moveTo>
                  <a:pt x="9525" y="0"/>
                </a:moveTo>
                <a:lnTo>
                  <a:pt x="123825" y="79375"/>
                </a:lnTo>
                <a:lnTo>
                  <a:pt x="250825" y="120650"/>
                </a:lnTo>
                <a:lnTo>
                  <a:pt x="336550" y="139700"/>
                </a:lnTo>
                <a:lnTo>
                  <a:pt x="336550" y="168275"/>
                </a:lnTo>
                <a:lnTo>
                  <a:pt x="0" y="165100"/>
                </a:lnTo>
                <a:cubicBezTo>
                  <a:pt x="1058" y="107950"/>
                  <a:pt x="2117" y="50800"/>
                  <a:pt x="9525"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7A699C2E-1021-B173-351C-0B7616AED70B}"/>
              </a:ext>
            </a:extLst>
          </p:cNvPr>
          <p:cNvSpPr/>
          <p:nvPr/>
        </p:nvSpPr>
        <p:spPr>
          <a:xfrm flipH="1">
            <a:off x="990598" y="5667379"/>
            <a:ext cx="367409" cy="190495"/>
          </a:xfrm>
          <a:custGeom>
            <a:avLst/>
            <a:gdLst>
              <a:gd name="connsiteX0" fmla="*/ 9525 w 336550"/>
              <a:gd name="connsiteY0" fmla="*/ 0 h 168275"/>
              <a:gd name="connsiteX1" fmla="*/ 123825 w 336550"/>
              <a:gd name="connsiteY1" fmla="*/ 79375 h 168275"/>
              <a:gd name="connsiteX2" fmla="*/ 250825 w 336550"/>
              <a:gd name="connsiteY2" fmla="*/ 120650 h 168275"/>
              <a:gd name="connsiteX3" fmla="*/ 336550 w 336550"/>
              <a:gd name="connsiteY3" fmla="*/ 139700 h 168275"/>
              <a:gd name="connsiteX4" fmla="*/ 336550 w 336550"/>
              <a:gd name="connsiteY4" fmla="*/ 168275 h 168275"/>
              <a:gd name="connsiteX5" fmla="*/ 0 w 336550"/>
              <a:gd name="connsiteY5" fmla="*/ 165100 h 168275"/>
              <a:gd name="connsiteX6" fmla="*/ 9525 w 336550"/>
              <a:gd name="connsiteY6" fmla="*/ 0 h 16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550" h="168275">
                <a:moveTo>
                  <a:pt x="9525" y="0"/>
                </a:moveTo>
                <a:lnTo>
                  <a:pt x="123825" y="79375"/>
                </a:lnTo>
                <a:lnTo>
                  <a:pt x="250825" y="120650"/>
                </a:lnTo>
                <a:lnTo>
                  <a:pt x="336550" y="139700"/>
                </a:lnTo>
                <a:lnTo>
                  <a:pt x="336550" y="168275"/>
                </a:lnTo>
                <a:lnTo>
                  <a:pt x="0" y="165100"/>
                </a:lnTo>
                <a:cubicBezTo>
                  <a:pt x="1058" y="107950"/>
                  <a:pt x="2117" y="50800"/>
                  <a:pt x="9525"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90D3ECC-3DC9-7836-BAC2-65676749EC6C}"/>
              </a:ext>
            </a:extLst>
          </p:cNvPr>
          <p:cNvSpPr txBox="1"/>
          <p:nvPr/>
        </p:nvSpPr>
        <p:spPr>
          <a:xfrm>
            <a:off x="4603681" y="5341287"/>
            <a:ext cx="7569463" cy="523220"/>
          </a:xfrm>
          <a:prstGeom prst="rect">
            <a:avLst/>
          </a:prstGeom>
          <a:noFill/>
        </p:spPr>
        <p:txBody>
          <a:bodyPr wrap="square">
            <a:spAutoFit/>
          </a:bodyPr>
          <a:lstStyle/>
          <a:p>
            <a:r>
              <a:rPr lang="en-US" sz="2800" dirty="0">
                <a:solidFill>
                  <a:schemeClr val="accent1"/>
                </a:solidFill>
              </a:rPr>
              <a:t>p-value</a:t>
            </a:r>
          </a:p>
        </p:txBody>
      </p:sp>
      <p:cxnSp>
        <p:nvCxnSpPr>
          <p:cNvPr id="13" name="Straight Arrow Connector 12">
            <a:extLst>
              <a:ext uri="{FF2B5EF4-FFF2-40B4-BE49-F238E27FC236}">
                <a16:creationId xmlns:a16="http://schemas.microsoft.com/office/drawing/2014/main" id="{ED8C2F8E-48F3-E34C-D194-933A707B67E0}"/>
              </a:ext>
            </a:extLst>
          </p:cNvPr>
          <p:cNvCxnSpPr>
            <a:cxnSpLocks/>
            <a:stCxn id="4" idx="1"/>
            <a:endCxn id="12" idx="1"/>
          </p:cNvCxnSpPr>
          <p:nvPr/>
        </p:nvCxnSpPr>
        <p:spPr>
          <a:xfrm flipV="1">
            <a:off x="3581400" y="5602897"/>
            <a:ext cx="1022281" cy="166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A5650AE-B1F5-5A1A-8B25-835E00345047}"/>
              </a:ext>
            </a:extLst>
          </p:cNvPr>
          <p:cNvCxnSpPr>
            <a:cxnSpLocks/>
            <a:stCxn id="11" idx="1"/>
            <a:endCxn id="12" idx="1"/>
          </p:cNvCxnSpPr>
          <p:nvPr/>
        </p:nvCxnSpPr>
        <p:spPr>
          <a:xfrm flipV="1">
            <a:off x="1222828" y="5602897"/>
            <a:ext cx="3380853" cy="154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19361"/>
      </p:ext>
    </p:extLst>
  </p:cSld>
  <p:clrMapOvr>
    <a:masterClrMapping/>
  </p:clrMapOvr>
  <mc:AlternateContent xmlns:mc="http://schemas.openxmlformats.org/markup-compatibility/2006" xmlns:p14="http://schemas.microsoft.com/office/powerpoint/2010/main">
    <mc:Choice Requires="p14">
      <p:transition spd="slow" p14:dur="2000" advTm="22833"/>
    </mc:Choice>
    <mc:Fallback xmlns="">
      <p:transition spd="slow" advTm="2283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83C16D4-C73E-9E9F-9E86-CD22D07D5643}"/>
                  </a:ext>
                </a:extLst>
              </p:cNvPr>
              <p:cNvSpPr/>
              <p:nvPr/>
            </p:nvSpPr>
            <p:spPr>
              <a:xfrm>
                <a:off x="1222766" y="1519726"/>
                <a:ext cx="2773036" cy="1077218"/>
              </a:xfrm>
              <a:prstGeom prst="rect">
                <a:avLst/>
              </a:prstGeom>
            </p:spPr>
            <p:txBody>
              <a:bodyPr wrap="square">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0</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endParaRPr lang="en-US" sz="3200" dirty="0"/>
              </a:p>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1</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r>
                  <a:rPr lang="en-US" sz="3200" dirty="0"/>
                  <a:t> </a:t>
                </a:r>
              </a:p>
            </p:txBody>
          </p:sp>
        </mc:Choice>
        <mc:Fallback xmlns="">
          <p:sp>
            <p:nvSpPr>
              <p:cNvPr id="5" name="Rectangle 4">
                <a:extLst>
                  <a:ext uri="{FF2B5EF4-FFF2-40B4-BE49-F238E27FC236}">
                    <a16:creationId xmlns:a16="http://schemas.microsoft.com/office/drawing/2014/main" id="{383C16D4-C73E-9E9F-9E86-CD22D07D5643}"/>
                  </a:ext>
                </a:extLst>
              </p:cNvPr>
              <p:cNvSpPr>
                <a:spLocks noRot="1" noChangeAspect="1" noMove="1" noResize="1" noEditPoints="1" noAdjustHandles="1" noChangeArrowheads="1" noChangeShapeType="1" noTextEdit="1"/>
              </p:cNvSpPr>
              <p:nvPr/>
            </p:nvSpPr>
            <p:spPr>
              <a:xfrm>
                <a:off x="1222766" y="1519726"/>
                <a:ext cx="2773036" cy="1077218"/>
              </a:xfrm>
              <a:prstGeom prst="rect">
                <a:avLst/>
              </a:prstGeom>
              <a:blipFill>
                <a:blip r:embed="rId3"/>
                <a:stretch>
                  <a:fillRect l="-1826" t="-6977" b="-16279"/>
                </a:stretch>
              </a:blipFill>
            </p:spPr>
            <p:txBody>
              <a:bodyPr/>
              <a:lstStyle/>
              <a:p>
                <a:r>
                  <a:rPr lang="en-US">
                    <a:noFill/>
                  </a:rPr>
                  <a:t> </a:t>
                </a:r>
              </a:p>
            </p:txBody>
          </p:sp>
        </mc:Fallback>
      </mc:AlternateContent>
      <p:pic>
        <p:nvPicPr>
          <p:cNvPr id="9" name="Picture 8" descr="A graph of a function&#10;&#10;Description automatically generated">
            <a:extLst>
              <a:ext uri="{FF2B5EF4-FFF2-40B4-BE49-F238E27FC236}">
                <a16:creationId xmlns:a16="http://schemas.microsoft.com/office/drawing/2014/main" id="{F0190C9A-6A3B-AF71-E6CB-7BC0FA3593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719" y="2784835"/>
            <a:ext cx="3613083" cy="3613083"/>
          </a:xfrm>
          <a:prstGeom prst="rect">
            <a:avLst/>
          </a:prstGeom>
        </p:spPr>
      </p:pic>
      <p:sp>
        <p:nvSpPr>
          <p:cNvPr id="6" name="Title 1">
            <a:extLst>
              <a:ext uri="{FF2B5EF4-FFF2-40B4-BE49-F238E27FC236}">
                <a16:creationId xmlns:a16="http://schemas.microsoft.com/office/drawing/2014/main" id="{266D7E8A-E2F0-64ED-D1D7-39DED5295DF6}"/>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a:lstStyle>
          <a:p>
            <a:r>
              <a:rPr lang="en-US" dirty="0"/>
              <a:t>HT: evidence against H0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E96E2C1-3C13-6E1D-5CBC-7DA22D084291}"/>
                  </a:ext>
                </a:extLst>
              </p:cNvPr>
              <p:cNvSpPr txBox="1"/>
              <p:nvPr/>
            </p:nvSpPr>
            <p:spPr>
              <a:xfrm>
                <a:off x="4697628" y="2663631"/>
                <a:ext cx="7111653" cy="2677656"/>
              </a:xfrm>
              <a:prstGeom prst="rect">
                <a:avLst/>
              </a:prstGeom>
              <a:noFill/>
            </p:spPr>
            <p:txBody>
              <a:bodyPr wrap="square">
                <a:spAutoFit/>
              </a:bodyPr>
              <a:lstStyle/>
              <a:p>
                <a:pPr marL="0" indent="0">
                  <a:buNone/>
                </a:pPr>
                <a:r>
                  <a:rPr lang="en-SG" sz="2400" dirty="0"/>
                  <a:t>The p-value indicates the statistical evidence against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0</m:t>
                        </m:r>
                      </m:sub>
                    </m:sSub>
                  </m:oMath>
                </a14:m>
                <a:endParaRPr lang="en-SG" sz="2400" dirty="0"/>
              </a:p>
              <a:p>
                <a:pPr marL="0" indent="0">
                  <a:buNone/>
                </a:pPr>
                <a:endParaRPr lang="en-SG" sz="2400" dirty="0"/>
              </a:p>
              <a:p>
                <a:pPr marL="0" indent="0">
                  <a:buNone/>
                </a:pPr>
                <a:r>
                  <a:rPr lang="en-SG" sz="2400" dirty="0"/>
                  <a:t>Three commonly used interpretations:</a:t>
                </a:r>
              </a:p>
              <a:p>
                <a:pPr marL="0" indent="0">
                  <a:buNone/>
                </a:pPr>
                <a:endParaRPr lang="en-US" sz="2400" dirty="0"/>
              </a:p>
              <a:p>
                <a:pPr marL="0" indent="0">
                  <a:buNone/>
                </a:pPr>
                <a14:m>
                  <m:oMath xmlns:m="http://schemas.openxmlformats.org/officeDocument/2006/math">
                    <m:r>
                      <m:rPr>
                        <m:nor/>
                      </m:rPr>
                      <a:rPr lang="en-SG" sz="2400" dirty="0"/>
                      <m:t>p</m:t>
                    </m:r>
                    <m:r>
                      <m:rPr>
                        <m:nor/>
                      </m:rPr>
                      <a:rPr lang="en-SG" sz="2400" dirty="0"/>
                      <m:t>−</m:t>
                    </m:r>
                    <m:r>
                      <m:rPr>
                        <m:nor/>
                      </m:rPr>
                      <a:rPr lang="en-SG" sz="2400" dirty="0"/>
                      <m:t>value</m:t>
                    </m:r>
                  </m:oMath>
                </a14:m>
                <a:r>
                  <a:rPr lang="en-SG" sz="2400" dirty="0"/>
                  <a:t>&lt;1%: strong evidence to reject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0</m:t>
                        </m:r>
                      </m:sub>
                    </m:sSub>
                  </m:oMath>
                </a14:m>
                <a:r>
                  <a:rPr lang="en-SG" sz="2400" dirty="0"/>
                  <a:t> </a:t>
                </a:r>
              </a:p>
              <a:p>
                <a:pPr marL="0" indent="0">
                  <a:buNone/>
                </a:pPr>
                <a14:m>
                  <m:oMath xmlns:m="http://schemas.openxmlformats.org/officeDocument/2006/math">
                    <m:r>
                      <m:rPr>
                        <m:nor/>
                      </m:rPr>
                      <a:rPr lang="en-SG" sz="2400" dirty="0"/>
                      <m:t>p</m:t>
                    </m:r>
                    <m:r>
                      <m:rPr>
                        <m:nor/>
                      </m:rPr>
                      <a:rPr lang="en-SG" sz="2400" dirty="0"/>
                      <m:t>−</m:t>
                    </m:r>
                    <m:r>
                      <m:rPr>
                        <m:nor/>
                      </m:rPr>
                      <a:rPr lang="en-SG" sz="2400" dirty="0"/>
                      <m:t>value</m:t>
                    </m:r>
                  </m:oMath>
                </a14:m>
                <a:r>
                  <a:rPr lang="en-SG" sz="2400" dirty="0"/>
                  <a:t>&lt;5%: moderate evidence …</a:t>
                </a:r>
              </a:p>
              <a:p>
                <a:pPr marL="0" indent="0">
                  <a:buNone/>
                </a:pPr>
                <a14:m>
                  <m:oMath xmlns:m="http://schemas.openxmlformats.org/officeDocument/2006/math">
                    <m:r>
                      <m:rPr>
                        <m:nor/>
                      </m:rPr>
                      <a:rPr lang="en-SG" sz="2400" dirty="0"/>
                      <m:t>p</m:t>
                    </m:r>
                    <m:r>
                      <m:rPr>
                        <m:nor/>
                      </m:rPr>
                      <a:rPr lang="en-SG" sz="2400" dirty="0"/>
                      <m:t>−</m:t>
                    </m:r>
                    <m:r>
                      <m:rPr>
                        <m:nor/>
                      </m:rPr>
                      <a:rPr lang="en-SG" sz="2400" dirty="0"/>
                      <m:t>value</m:t>
                    </m:r>
                  </m:oMath>
                </a14:m>
                <a:r>
                  <a:rPr lang="en-SG" sz="2400" dirty="0"/>
                  <a:t>&lt;10%: marginal evidence …</a:t>
                </a:r>
              </a:p>
            </p:txBody>
          </p:sp>
        </mc:Choice>
        <mc:Fallback xmlns="">
          <p:sp>
            <p:nvSpPr>
              <p:cNvPr id="17" name="TextBox 16">
                <a:extLst>
                  <a:ext uri="{FF2B5EF4-FFF2-40B4-BE49-F238E27FC236}">
                    <a16:creationId xmlns:a16="http://schemas.microsoft.com/office/drawing/2014/main" id="{0E96E2C1-3C13-6E1D-5CBC-7DA22D084291}"/>
                  </a:ext>
                </a:extLst>
              </p:cNvPr>
              <p:cNvSpPr txBox="1">
                <a:spLocks noRot="1" noChangeAspect="1" noMove="1" noResize="1" noEditPoints="1" noAdjustHandles="1" noChangeArrowheads="1" noChangeShapeType="1" noTextEdit="1"/>
              </p:cNvSpPr>
              <p:nvPr/>
            </p:nvSpPr>
            <p:spPr>
              <a:xfrm>
                <a:off x="4697628" y="2663631"/>
                <a:ext cx="7111653" cy="2677656"/>
              </a:xfrm>
              <a:prstGeom prst="rect">
                <a:avLst/>
              </a:prstGeom>
              <a:blipFill>
                <a:blip r:embed="rId5"/>
                <a:stretch>
                  <a:fillRect l="-1429" t="-1415" b="-4245"/>
                </a:stretch>
              </a:blipFill>
            </p:spPr>
            <p:txBody>
              <a:bodyPr/>
              <a:lstStyle/>
              <a:p>
                <a:r>
                  <a:rPr lang="en-US">
                    <a:noFill/>
                  </a:rPr>
                  <a:t> </a:t>
                </a:r>
              </a:p>
            </p:txBody>
          </p:sp>
        </mc:Fallback>
      </mc:AlternateContent>
      <p:cxnSp>
        <p:nvCxnSpPr>
          <p:cNvPr id="2" name="Straight Connector 1">
            <a:extLst>
              <a:ext uri="{FF2B5EF4-FFF2-40B4-BE49-F238E27FC236}">
                <a16:creationId xmlns:a16="http://schemas.microsoft.com/office/drawing/2014/main" id="{E67963AE-FAE4-3A29-DE3F-2F06F1922EAD}"/>
              </a:ext>
            </a:extLst>
          </p:cNvPr>
          <p:cNvCxnSpPr/>
          <p:nvPr/>
        </p:nvCxnSpPr>
        <p:spPr>
          <a:xfrm>
            <a:off x="3460316" y="4663470"/>
            <a:ext cx="0" cy="141255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354A620-0A18-9AFD-2DCB-116B7A8AB71A}"/>
                  </a:ext>
                </a:extLst>
              </p:cNvPr>
              <p:cNvSpPr txBox="1"/>
              <p:nvPr/>
            </p:nvSpPr>
            <p:spPr>
              <a:xfrm rot="10800000" flipV="1">
                <a:off x="3310115" y="4297951"/>
                <a:ext cx="27859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𝑧</m:t>
                      </m:r>
                      <m:r>
                        <a:rPr lang="en-US" b="0" i="1" smtClean="0">
                          <a:solidFill>
                            <a:schemeClr val="accent2"/>
                          </a:solidFill>
                          <a:latin typeface="Cambria Math" panose="02040503050406030204" pitchFamily="18" charset="0"/>
                        </a:rPr>
                        <m:t>|</m:t>
                      </m:r>
                    </m:oMath>
                  </m:oMathPara>
                </a14:m>
                <a:endParaRPr lang="en-US" dirty="0">
                  <a:solidFill>
                    <a:schemeClr val="accent2"/>
                  </a:solidFill>
                </a:endParaRPr>
              </a:p>
            </p:txBody>
          </p:sp>
        </mc:Choice>
        <mc:Fallback xmlns="">
          <p:sp>
            <p:nvSpPr>
              <p:cNvPr id="3" name="TextBox 2">
                <a:extLst>
                  <a:ext uri="{FF2B5EF4-FFF2-40B4-BE49-F238E27FC236}">
                    <a16:creationId xmlns:a16="http://schemas.microsoft.com/office/drawing/2014/main" id="{5354A620-0A18-9AFD-2DCB-116B7A8AB71A}"/>
                  </a:ext>
                </a:extLst>
              </p:cNvPr>
              <p:cNvSpPr txBox="1">
                <a:spLocks noRot="1" noChangeAspect="1" noMove="1" noResize="1" noEditPoints="1" noAdjustHandles="1" noChangeArrowheads="1" noChangeShapeType="1" noTextEdit="1"/>
              </p:cNvSpPr>
              <p:nvPr/>
            </p:nvSpPr>
            <p:spPr>
              <a:xfrm rot="10800000" flipV="1">
                <a:off x="3310115" y="4297951"/>
                <a:ext cx="278591" cy="369332"/>
              </a:xfrm>
              <a:prstGeom prst="rect">
                <a:avLst/>
              </a:prstGeom>
              <a:blipFill>
                <a:blip r:embed="rId6"/>
                <a:stretch>
                  <a:fillRect l="-4348" r="-65217" b="-13333"/>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C9D79101-DBBC-2920-E153-F31D23AF31DE}"/>
              </a:ext>
            </a:extLst>
          </p:cNvPr>
          <p:cNvCxnSpPr/>
          <p:nvPr/>
        </p:nvCxnSpPr>
        <p:spPr>
          <a:xfrm>
            <a:off x="1358031" y="4663470"/>
            <a:ext cx="0" cy="141255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F4AB13B-B27F-3CB8-4BE9-7C58BD5796FC}"/>
                  </a:ext>
                </a:extLst>
              </p:cNvPr>
              <p:cNvSpPr txBox="1"/>
              <p:nvPr/>
            </p:nvSpPr>
            <p:spPr>
              <a:xfrm rot="10800000" flipV="1">
                <a:off x="941541" y="4294138"/>
                <a:ext cx="27859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m:t>
                      </m:r>
                      <m:r>
                        <a:rPr lang="en-US"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𝑧</m:t>
                      </m:r>
                      <m:r>
                        <a:rPr lang="en-US" b="0" i="1" smtClean="0">
                          <a:solidFill>
                            <a:schemeClr val="accent2"/>
                          </a:solidFill>
                          <a:latin typeface="Cambria Math" panose="02040503050406030204" pitchFamily="18" charset="0"/>
                        </a:rPr>
                        <m:t>|</m:t>
                      </m:r>
                    </m:oMath>
                  </m:oMathPara>
                </a14:m>
                <a:endParaRPr lang="en-US" dirty="0">
                  <a:solidFill>
                    <a:schemeClr val="accent2"/>
                  </a:solidFill>
                </a:endParaRPr>
              </a:p>
            </p:txBody>
          </p:sp>
        </mc:Choice>
        <mc:Fallback xmlns="">
          <p:sp>
            <p:nvSpPr>
              <p:cNvPr id="7" name="TextBox 6">
                <a:extLst>
                  <a:ext uri="{FF2B5EF4-FFF2-40B4-BE49-F238E27FC236}">
                    <a16:creationId xmlns:a16="http://schemas.microsoft.com/office/drawing/2014/main" id="{6F4AB13B-B27F-3CB8-4BE9-7C58BD5796FC}"/>
                  </a:ext>
                </a:extLst>
              </p:cNvPr>
              <p:cNvSpPr txBox="1">
                <a:spLocks noRot="1" noChangeAspect="1" noMove="1" noResize="1" noEditPoints="1" noAdjustHandles="1" noChangeArrowheads="1" noChangeShapeType="1" noTextEdit="1"/>
              </p:cNvSpPr>
              <p:nvPr/>
            </p:nvSpPr>
            <p:spPr>
              <a:xfrm rot="10800000" flipV="1">
                <a:off x="941541" y="4294138"/>
                <a:ext cx="278591" cy="369332"/>
              </a:xfrm>
              <a:prstGeom prst="rect">
                <a:avLst/>
              </a:prstGeom>
              <a:blipFill>
                <a:blip r:embed="rId7"/>
                <a:stretch>
                  <a:fillRect r="-126087" b="-12903"/>
                </a:stretch>
              </a:blipFill>
            </p:spPr>
            <p:txBody>
              <a:bodyPr/>
              <a:lstStyle/>
              <a:p>
                <a:r>
                  <a:rPr lang="en-US">
                    <a:noFill/>
                  </a:rPr>
                  <a:t> </a:t>
                </a:r>
              </a:p>
            </p:txBody>
          </p:sp>
        </mc:Fallback>
      </mc:AlternateContent>
      <p:sp>
        <p:nvSpPr>
          <p:cNvPr id="8" name="Freeform 7">
            <a:extLst>
              <a:ext uri="{FF2B5EF4-FFF2-40B4-BE49-F238E27FC236}">
                <a16:creationId xmlns:a16="http://schemas.microsoft.com/office/drawing/2014/main" id="{2FB7B0B1-1559-3E78-3034-BD7A35A1E4F4}"/>
              </a:ext>
            </a:extLst>
          </p:cNvPr>
          <p:cNvSpPr/>
          <p:nvPr/>
        </p:nvSpPr>
        <p:spPr>
          <a:xfrm>
            <a:off x="3457575" y="5689600"/>
            <a:ext cx="336550" cy="168275"/>
          </a:xfrm>
          <a:custGeom>
            <a:avLst/>
            <a:gdLst>
              <a:gd name="connsiteX0" fmla="*/ 9525 w 336550"/>
              <a:gd name="connsiteY0" fmla="*/ 0 h 168275"/>
              <a:gd name="connsiteX1" fmla="*/ 123825 w 336550"/>
              <a:gd name="connsiteY1" fmla="*/ 79375 h 168275"/>
              <a:gd name="connsiteX2" fmla="*/ 250825 w 336550"/>
              <a:gd name="connsiteY2" fmla="*/ 120650 h 168275"/>
              <a:gd name="connsiteX3" fmla="*/ 336550 w 336550"/>
              <a:gd name="connsiteY3" fmla="*/ 139700 h 168275"/>
              <a:gd name="connsiteX4" fmla="*/ 336550 w 336550"/>
              <a:gd name="connsiteY4" fmla="*/ 168275 h 168275"/>
              <a:gd name="connsiteX5" fmla="*/ 0 w 336550"/>
              <a:gd name="connsiteY5" fmla="*/ 165100 h 168275"/>
              <a:gd name="connsiteX6" fmla="*/ 9525 w 336550"/>
              <a:gd name="connsiteY6" fmla="*/ 0 h 16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550" h="168275">
                <a:moveTo>
                  <a:pt x="9525" y="0"/>
                </a:moveTo>
                <a:lnTo>
                  <a:pt x="123825" y="79375"/>
                </a:lnTo>
                <a:lnTo>
                  <a:pt x="250825" y="120650"/>
                </a:lnTo>
                <a:lnTo>
                  <a:pt x="336550" y="139700"/>
                </a:lnTo>
                <a:lnTo>
                  <a:pt x="336550" y="168275"/>
                </a:lnTo>
                <a:lnTo>
                  <a:pt x="0" y="165100"/>
                </a:lnTo>
                <a:cubicBezTo>
                  <a:pt x="1058" y="107950"/>
                  <a:pt x="2117" y="50800"/>
                  <a:pt x="9525"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84FA4164-A7CF-3930-D7AE-3824376C9C2A}"/>
              </a:ext>
            </a:extLst>
          </p:cNvPr>
          <p:cNvSpPr/>
          <p:nvPr/>
        </p:nvSpPr>
        <p:spPr>
          <a:xfrm flipH="1">
            <a:off x="990598" y="5667379"/>
            <a:ext cx="367409" cy="190495"/>
          </a:xfrm>
          <a:custGeom>
            <a:avLst/>
            <a:gdLst>
              <a:gd name="connsiteX0" fmla="*/ 9525 w 336550"/>
              <a:gd name="connsiteY0" fmla="*/ 0 h 168275"/>
              <a:gd name="connsiteX1" fmla="*/ 123825 w 336550"/>
              <a:gd name="connsiteY1" fmla="*/ 79375 h 168275"/>
              <a:gd name="connsiteX2" fmla="*/ 250825 w 336550"/>
              <a:gd name="connsiteY2" fmla="*/ 120650 h 168275"/>
              <a:gd name="connsiteX3" fmla="*/ 336550 w 336550"/>
              <a:gd name="connsiteY3" fmla="*/ 139700 h 168275"/>
              <a:gd name="connsiteX4" fmla="*/ 336550 w 336550"/>
              <a:gd name="connsiteY4" fmla="*/ 168275 h 168275"/>
              <a:gd name="connsiteX5" fmla="*/ 0 w 336550"/>
              <a:gd name="connsiteY5" fmla="*/ 165100 h 168275"/>
              <a:gd name="connsiteX6" fmla="*/ 9525 w 336550"/>
              <a:gd name="connsiteY6" fmla="*/ 0 h 16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550" h="168275">
                <a:moveTo>
                  <a:pt x="9525" y="0"/>
                </a:moveTo>
                <a:lnTo>
                  <a:pt x="123825" y="79375"/>
                </a:lnTo>
                <a:lnTo>
                  <a:pt x="250825" y="120650"/>
                </a:lnTo>
                <a:lnTo>
                  <a:pt x="336550" y="139700"/>
                </a:lnTo>
                <a:lnTo>
                  <a:pt x="336550" y="168275"/>
                </a:lnTo>
                <a:lnTo>
                  <a:pt x="0" y="165100"/>
                </a:lnTo>
                <a:cubicBezTo>
                  <a:pt x="1058" y="107950"/>
                  <a:pt x="2117" y="50800"/>
                  <a:pt x="9525"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385890"/>
      </p:ext>
    </p:extLst>
  </p:cSld>
  <p:clrMapOvr>
    <a:masterClrMapping/>
  </p:clrMapOvr>
  <mc:AlternateContent xmlns:mc="http://schemas.openxmlformats.org/markup-compatibility/2006" xmlns:p14="http://schemas.microsoft.com/office/powerpoint/2010/main">
    <mc:Choice Requires="p14">
      <p:transition spd="slow" p14:dur="2000" advTm="23441"/>
    </mc:Choice>
    <mc:Fallback xmlns="">
      <p:transition spd="slow" advTm="2344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774A-5920-45FF-B2F9-1F2622D63CEB}"/>
              </a:ext>
            </a:extLst>
          </p:cNvPr>
          <p:cNvSpPr>
            <a:spLocks noGrp="1"/>
          </p:cNvSpPr>
          <p:nvPr>
            <p:ph type="title"/>
          </p:nvPr>
        </p:nvSpPr>
        <p:spPr/>
        <p:txBody>
          <a:bodyPr/>
          <a:lstStyle/>
          <a:p>
            <a:r>
              <a:rPr lang="en-US" dirty="0"/>
              <a:t>Summary for a two-sided test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CAA6732-3058-43BF-9CA6-F1C34780B851}"/>
                  </a:ext>
                </a:extLst>
              </p:cNvPr>
              <p:cNvSpPr>
                <a:spLocks noGrp="1"/>
              </p:cNvSpPr>
              <p:nvPr>
                <p:ph idx="1"/>
              </p:nvPr>
            </p:nvSpPr>
            <p:spPr>
              <a:xfrm>
                <a:off x="838200" y="1825625"/>
                <a:ext cx="10515600" cy="1900007"/>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514350" indent="-514350">
                  <a:buAutoNum type="arabicPeriod"/>
                </a:pPr>
                <a:r>
                  <a:rPr lang="en-US" dirty="0">
                    <a:solidFill>
                      <a:schemeClr val="tx1"/>
                    </a:solidFill>
                  </a:rPr>
                  <a:t>Formulate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𝐻</m:t>
                        </m:r>
                      </m:e>
                      <m:sub>
                        <m:r>
                          <a:rPr lang="en-US" b="0" i="1">
                            <a:solidFill>
                              <a:schemeClr val="tx1"/>
                            </a:solidFill>
                            <a:latin typeface="Cambria Math" panose="02040503050406030204" pitchFamily="18" charset="0"/>
                          </a:rPr>
                          <m:t>0</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𝐻</m:t>
                        </m:r>
                      </m:e>
                      <m:sub>
                        <m:r>
                          <a:rPr lang="en-US" b="0" i="1">
                            <a:solidFill>
                              <a:schemeClr val="tx1"/>
                            </a:solidFill>
                            <a:latin typeface="Cambria Math" panose="02040503050406030204" pitchFamily="18" charset="0"/>
                          </a:rPr>
                          <m:t>1</m:t>
                        </m:r>
                      </m:sub>
                    </m:sSub>
                  </m:oMath>
                </a14:m>
                <a:r>
                  <a:rPr lang="en-US" dirty="0">
                    <a:solidFill>
                      <a:schemeClr val="tx1"/>
                    </a:solidFill>
                  </a:rPr>
                  <a:t> </a:t>
                </a:r>
              </a:p>
              <a:p>
                <a:pPr marL="514350" indent="-514350">
                  <a:buFont typeface="+mj-lt"/>
                  <a:buAutoNum type="arabicPeriod" startAt="2"/>
                </a:pPr>
                <a:r>
                  <a:rPr lang="en-US" dirty="0">
                    <a:solidFill>
                      <a:schemeClr val="tx1"/>
                    </a:solidFill>
                  </a:rPr>
                  <a:t>Calculate the p-value of the test. </a:t>
                </a:r>
                <a:br>
                  <a:rPr lang="en-US" dirty="0">
                    <a:solidFill>
                      <a:schemeClr val="tx1"/>
                    </a:solidFill>
                  </a:rPr>
                </a:br>
                <a:r>
                  <a:rPr lang="en-US" dirty="0">
                    <a:solidFill>
                      <a:schemeClr val="tx1"/>
                    </a:solidFill>
                  </a:rPr>
                  <a:t>If p-value is less than 𝛼 </a:t>
                </a:r>
                <a14:m>
                  <m:oMath xmlns:m="http://schemas.openxmlformats.org/officeDocument/2006/math">
                    <m:r>
                      <a:rPr lang="en-US" b="0" i="1" dirty="0">
                        <a:solidFill>
                          <a:schemeClr val="tx1"/>
                        </a:solidFill>
                        <a:latin typeface="Cambria Math" panose="02040503050406030204" pitchFamily="18" charset="0"/>
                      </a:rPr>
                      <m:t>⇒</m:t>
                    </m:r>
                  </m:oMath>
                </a14:m>
                <a:r>
                  <a:rPr lang="en-US" dirty="0">
                    <a:solidFill>
                      <a:schemeClr val="tx1"/>
                    </a:solidFill>
                  </a:rPr>
                  <a:t> Reject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𝐻</m:t>
                        </m:r>
                      </m:e>
                      <m:sub>
                        <m:r>
                          <a:rPr lang="en-US" b="0" i="1">
                            <a:solidFill>
                              <a:schemeClr val="tx1"/>
                            </a:solidFill>
                            <a:latin typeface="Cambria Math" panose="02040503050406030204" pitchFamily="18" charset="0"/>
                          </a:rPr>
                          <m:t>0</m:t>
                        </m:r>
                      </m:sub>
                    </m:sSub>
                    <m:r>
                      <a:rPr lang="en-US" b="0" i="1">
                        <a:solidFill>
                          <a:schemeClr val="tx1"/>
                        </a:solidFill>
                        <a:latin typeface="Cambria Math" panose="02040503050406030204" pitchFamily="18" charset="0"/>
                      </a:rPr>
                      <m:t>!</m:t>
                    </m:r>
                  </m:oMath>
                </a14:m>
                <a:r>
                  <a:rPr lang="en-US" dirty="0">
                    <a:solidFill>
                      <a:schemeClr val="tx1"/>
                    </a:solidFill>
                  </a:rPr>
                  <a:t> </a:t>
                </a:r>
              </a:p>
              <a:p>
                <a:pPr marL="0" indent="0">
                  <a:buNone/>
                </a:pPr>
                <a:r>
                  <a:rPr lang="en-US" dirty="0">
                    <a:solidFill>
                      <a:schemeClr val="accent1"/>
                    </a:solidFill>
                  </a:rPr>
                  <a:t>      (note that p-value is the sum of two tail probabilities)</a:t>
                </a:r>
              </a:p>
            </p:txBody>
          </p:sp>
        </mc:Choice>
        <mc:Fallback xmlns="">
          <p:sp>
            <p:nvSpPr>
              <p:cNvPr id="4" name="Content Placeholder 3">
                <a:extLst>
                  <a:ext uri="{FF2B5EF4-FFF2-40B4-BE49-F238E27FC236}">
                    <a16:creationId xmlns:a16="http://schemas.microsoft.com/office/drawing/2014/main" id="{DCAA6732-3058-43BF-9CA6-F1C34780B851}"/>
                  </a:ext>
                </a:extLst>
              </p:cNvPr>
              <p:cNvSpPr>
                <a:spLocks noGrp="1" noRot="1" noChangeAspect="1" noMove="1" noResize="1" noEditPoints="1" noAdjustHandles="1" noChangeArrowheads="1" noChangeShapeType="1" noTextEdit="1"/>
              </p:cNvSpPr>
              <p:nvPr>
                <p:ph idx="1"/>
              </p:nvPr>
            </p:nvSpPr>
            <p:spPr>
              <a:xfrm>
                <a:off x="838200" y="1825625"/>
                <a:ext cx="10515600" cy="1900007"/>
              </a:xfrm>
              <a:prstGeom prst="rect">
                <a:avLst/>
              </a:prstGeom>
              <a:blipFill>
                <a:blip r:embed="rId2"/>
                <a:stretch>
                  <a:fillRect l="-1084" t="-5960" b="-7947"/>
                </a:stretch>
              </a:blipFill>
            </p:spPr>
            <p:txBody>
              <a:bodyPr/>
              <a:lstStyle/>
              <a:p>
                <a:r>
                  <a:rPr lang="en-US">
                    <a:noFill/>
                  </a:rPr>
                  <a:t> </a:t>
                </a:r>
              </a:p>
            </p:txBody>
          </p:sp>
        </mc:Fallback>
      </mc:AlternateContent>
    </p:spTree>
    <p:extLst>
      <p:ext uri="{BB962C8B-B14F-4D97-AF65-F5344CB8AC3E}">
        <p14:creationId xmlns:p14="http://schemas.microsoft.com/office/powerpoint/2010/main" val="3379261302"/>
      </p:ext>
    </p:extLst>
  </p:cSld>
  <p:clrMapOvr>
    <a:masterClrMapping/>
  </p:clrMapOvr>
  <mc:AlternateContent xmlns:mc="http://schemas.openxmlformats.org/markup-compatibility/2006" xmlns:p14="http://schemas.microsoft.com/office/powerpoint/2010/main">
    <mc:Choice Requires="p14">
      <p:transition spd="slow" p14:dur="2000" advTm="25200"/>
    </mc:Choice>
    <mc:Fallback xmlns="">
      <p:transition spd="slow" advTm="252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774A-5920-45FF-B2F9-1F2622D63CEB}"/>
              </a:ext>
            </a:extLst>
          </p:cNvPr>
          <p:cNvSpPr>
            <a:spLocks noGrp="1"/>
          </p:cNvSpPr>
          <p:nvPr>
            <p:ph type="title"/>
          </p:nvPr>
        </p:nvSpPr>
        <p:spPr/>
        <p:txBody>
          <a:bodyPr/>
          <a:lstStyle/>
          <a:p>
            <a:r>
              <a:rPr lang="en-US" dirty="0"/>
              <a:t>Summary for a one-sided test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CAA6732-3058-43BF-9CA6-F1C34780B851}"/>
                  </a:ext>
                </a:extLst>
              </p:cNvPr>
              <p:cNvSpPr>
                <a:spLocks noGrp="1"/>
              </p:cNvSpPr>
              <p:nvPr>
                <p:ph idx="1"/>
              </p:nvPr>
            </p:nvSpPr>
            <p:spPr>
              <a:xfrm>
                <a:off x="838200" y="1825625"/>
                <a:ext cx="10515600" cy="1900007"/>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514350" indent="-514350">
                  <a:buAutoNum type="arabicPeriod"/>
                </a:pPr>
                <a:r>
                  <a:rPr lang="en-US" dirty="0">
                    <a:solidFill>
                      <a:schemeClr val="tx1"/>
                    </a:solidFill>
                  </a:rPr>
                  <a:t>Formulate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𝐻</m:t>
                        </m:r>
                      </m:e>
                      <m:sub>
                        <m:r>
                          <a:rPr lang="en-US" b="0" i="1">
                            <a:solidFill>
                              <a:schemeClr val="tx1"/>
                            </a:solidFill>
                            <a:latin typeface="Cambria Math" panose="02040503050406030204" pitchFamily="18" charset="0"/>
                          </a:rPr>
                          <m:t>0</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𝐻</m:t>
                        </m:r>
                      </m:e>
                      <m:sub>
                        <m:r>
                          <a:rPr lang="en-US" b="0" i="1">
                            <a:solidFill>
                              <a:schemeClr val="tx1"/>
                            </a:solidFill>
                            <a:latin typeface="Cambria Math" panose="02040503050406030204" pitchFamily="18" charset="0"/>
                          </a:rPr>
                          <m:t>1</m:t>
                        </m:r>
                      </m:sub>
                    </m:sSub>
                  </m:oMath>
                </a14:m>
                <a:r>
                  <a:rPr lang="en-US" dirty="0">
                    <a:solidFill>
                      <a:schemeClr val="tx1"/>
                    </a:solidFill>
                  </a:rPr>
                  <a:t> </a:t>
                </a:r>
              </a:p>
              <a:p>
                <a:pPr marL="514350" indent="-514350">
                  <a:buFont typeface="+mj-lt"/>
                  <a:buAutoNum type="arabicPeriod" startAt="2"/>
                </a:pPr>
                <a:r>
                  <a:rPr lang="en-US" dirty="0">
                    <a:solidFill>
                      <a:schemeClr val="tx1"/>
                    </a:solidFill>
                  </a:rPr>
                  <a:t>Calculate the p-value of the test. </a:t>
                </a:r>
                <a:br>
                  <a:rPr lang="en-US" dirty="0">
                    <a:solidFill>
                      <a:schemeClr val="tx1"/>
                    </a:solidFill>
                  </a:rPr>
                </a:br>
                <a:r>
                  <a:rPr lang="en-US" dirty="0">
                    <a:solidFill>
                      <a:schemeClr val="tx1"/>
                    </a:solidFill>
                  </a:rPr>
                  <a:t>If p-value is less than 𝛼 </a:t>
                </a:r>
                <a14:m>
                  <m:oMath xmlns:m="http://schemas.openxmlformats.org/officeDocument/2006/math">
                    <m:r>
                      <a:rPr lang="en-US" b="0" i="1" dirty="0">
                        <a:solidFill>
                          <a:schemeClr val="tx1"/>
                        </a:solidFill>
                        <a:latin typeface="Cambria Math" panose="02040503050406030204" pitchFamily="18" charset="0"/>
                      </a:rPr>
                      <m:t>⇒</m:t>
                    </m:r>
                  </m:oMath>
                </a14:m>
                <a:r>
                  <a:rPr lang="en-US" dirty="0">
                    <a:solidFill>
                      <a:schemeClr val="tx1"/>
                    </a:solidFill>
                  </a:rPr>
                  <a:t> Reject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𝐻</m:t>
                        </m:r>
                      </m:e>
                      <m:sub>
                        <m:r>
                          <a:rPr lang="en-US" b="0" i="1">
                            <a:solidFill>
                              <a:schemeClr val="tx1"/>
                            </a:solidFill>
                            <a:latin typeface="Cambria Math" panose="02040503050406030204" pitchFamily="18" charset="0"/>
                          </a:rPr>
                          <m:t>0</m:t>
                        </m:r>
                      </m:sub>
                    </m:sSub>
                    <m:r>
                      <a:rPr lang="en-US" b="0" i="1">
                        <a:solidFill>
                          <a:schemeClr val="tx1"/>
                        </a:solidFill>
                        <a:latin typeface="Cambria Math" panose="02040503050406030204" pitchFamily="18" charset="0"/>
                      </a:rPr>
                      <m:t>!</m:t>
                    </m:r>
                  </m:oMath>
                </a14:m>
                <a:r>
                  <a:rPr lang="en-US" dirty="0">
                    <a:solidFill>
                      <a:schemeClr val="tx1"/>
                    </a:solidFill>
                  </a:rPr>
                  <a:t> </a:t>
                </a:r>
              </a:p>
              <a:p>
                <a:pPr marL="0" indent="0">
                  <a:buNone/>
                </a:pPr>
                <a:r>
                  <a:rPr lang="en-US" dirty="0">
                    <a:solidFill>
                      <a:schemeClr val="accent1"/>
                    </a:solidFill>
                  </a:rPr>
                  <a:t>     (note that the p-value is the one-sided tail probability)</a:t>
                </a:r>
              </a:p>
            </p:txBody>
          </p:sp>
        </mc:Choice>
        <mc:Fallback xmlns="">
          <p:sp>
            <p:nvSpPr>
              <p:cNvPr id="4" name="Content Placeholder 3">
                <a:extLst>
                  <a:ext uri="{FF2B5EF4-FFF2-40B4-BE49-F238E27FC236}">
                    <a16:creationId xmlns:a16="http://schemas.microsoft.com/office/drawing/2014/main" id="{DCAA6732-3058-43BF-9CA6-F1C34780B851}"/>
                  </a:ext>
                </a:extLst>
              </p:cNvPr>
              <p:cNvSpPr>
                <a:spLocks noGrp="1" noRot="1" noChangeAspect="1" noMove="1" noResize="1" noEditPoints="1" noAdjustHandles="1" noChangeArrowheads="1" noChangeShapeType="1" noTextEdit="1"/>
              </p:cNvSpPr>
              <p:nvPr>
                <p:ph idx="1"/>
              </p:nvPr>
            </p:nvSpPr>
            <p:spPr>
              <a:xfrm>
                <a:off x="838200" y="1825625"/>
                <a:ext cx="10515600" cy="1900007"/>
              </a:xfrm>
              <a:prstGeom prst="rect">
                <a:avLst/>
              </a:prstGeom>
              <a:blipFill>
                <a:blip r:embed="rId2"/>
                <a:stretch>
                  <a:fillRect l="-1084" t="-5960" b="-7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F4911D40-B13D-9656-097C-FDC2CF6E12A7}"/>
                  </a:ext>
                </a:extLst>
              </p:cNvPr>
              <p:cNvSpPr/>
              <p:nvPr/>
            </p:nvSpPr>
            <p:spPr>
              <a:xfrm>
                <a:off x="1234958" y="4239388"/>
                <a:ext cx="2773036" cy="1077218"/>
              </a:xfrm>
              <a:prstGeom prst="rect">
                <a:avLst/>
              </a:prstGeom>
            </p:spPr>
            <p:txBody>
              <a:bodyPr wrap="square">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0</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smtClean="0">
                        <a:latin typeface="Cambria Math" panose="02040503050406030204" pitchFamily="18" charset="0"/>
                        <a:ea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endParaRPr lang="en-US" sz="3200" dirty="0"/>
              </a:p>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1</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smtClean="0">
                        <a:latin typeface="Cambria Math" panose="02040503050406030204" pitchFamily="18" charset="0"/>
                        <a:ea typeface="Cambria Math" panose="02040503050406030204" pitchFamily="18" charset="0"/>
                      </a:rPr>
                      <m:t>&gt;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r>
                  <a:rPr lang="en-US" sz="3200" dirty="0"/>
                  <a:t> </a:t>
                </a:r>
              </a:p>
            </p:txBody>
          </p:sp>
        </mc:Choice>
        <mc:Fallback xmlns="">
          <p:sp>
            <p:nvSpPr>
              <p:cNvPr id="3" name="Rectangle 2">
                <a:extLst>
                  <a:ext uri="{FF2B5EF4-FFF2-40B4-BE49-F238E27FC236}">
                    <a16:creationId xmlns:a16="http://schemas.microsoft.com/office/drawing/2014/main" id="{F4911D40-B13D-9656-097C-FDC2CF6E12A7}"/>
                  </a:ext>
                </a:extLst>
              </p:cNvPr>
              <p:cNvSpPr>
                <a:spLocks noRot="1" noChangeAspect="1" noMove="1" noResize="1" noEditPoints="1" noAdjustHandles="1" noChangeArrowheads="1" noChangeShapeType="1" noTextEdit="1"/>
              </p:cNvSpPr>
              <p:nvPr/>
            </p:nvSpPr>
            <p:spPr>
              <a:xfrm>
                <a:off x="1234958" y="4239388"/>
                <a:ext cx="2773036" cy="1077218"/>
              </a:xfrm>
              <a:prstGeom prst="rect">
                <a:avLst/>
              </a:prstGeom>
              <a:blipFill>
                <a:blip r:embed="rId3"/>
                <a:stretch>
                  <a:fillRect l="-1826" t="-6977" b="-16279"/>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F29818B-733D-27F6-A75E-A6A553C939EB}"/>
              </a:ext>
            </a:extLst>
          </p:cNvPr>
          <p:cNvSpPr txBox="1"/>
          <p:nvPr/>
        </p:nvSpPr>
        <p:spPr>
          <a:xfrm>
            <a:off x="1234958" y="5599529"/>
            <a:ext cx="2447026" cy="461665"/>
          </a:xfrm>
          <a:prstGeom prst="rect">
            <a:avLst/>
          </a:prstGeom>
          <a:noFill/>
        </p:spPr>
        <p:txBody>
          <a:bodyPr wrap="square">
            <a:spAutoFit/>
          </a:bodyPr>
          <a:lstStyle/>
          <a:p>
            <a:r>
              <a:rPr lang="en-US" sz="2400" dirty="0"/>
              <a:t>p-value = </a:t>
            </a:r>
            <a:r>
              <a:rPr lang="en-US" sz="2400" dirty="0" err="1"/>
              <a:t>Pr</a:t>
            </a:r>
            <a:r>
              <a:rPr lang="en-US" sz="2400" dirty="0"/>
              <a:t>(Z &gt; z)</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46CA284-1EB8-84F9-DA66-035F306DD685}"/>
                  </a:ext>
                </a:extLst>
              </p:cNvPr>
              <p:cNvSpPr/>
              <p:nvPr/>
            </p:nvSpPr>
            <p:spPr>
              <a:xfrm>
                <a:off x="4496318" y="4239388"/>
                <a:ext cx="2773036" cy="1077218"/>
              </a:xfrm>
              <a:prstGeom prst="rect">
                <a:avLst/>
              </a:prstGeom>
            </p:spPr>
            <p:txBody>
              <a:bodyPr wrap="square">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0</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a:latin typeface="Cambria Math" panose="02040503050406030204" pitchFamily="18" charset="0"/>
                        <a:ea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endParaRPr lang="en-US" sz="3200" dirty="0"/>
              </a:p>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1</m:t>
                        </m:r>
                      </m:sub>
                    </m:sSub>
                  </m:oMath>
                </a14:m>
                <a:r>
                  <a:rPr lang="en-US" sz="3200" dirty="0"/>
                  <a:t>: </a:t>
                </a:r>
                <a14:m>
                  <m:oMath xmlns:m="http://schemas.openxmlformats.org/officeDocument/2006/math">
                    <m:r>
                      <a:rPr lang="en-US" sz="3200" i="1" dirty="0">
                        <a:latin typeface="Cambria Math" panose="02040503050406030204" pitchFamily="18" charset="0"/>
                      </a:rPr>
                      <m:t>𝜇</m:t>
                    </m:r>
                    <m:r>
                      <a:rPr lang="en-US" sz="3200" i="1" dirty="0" smtClean="0">
                        <a:latin typeface="Cambria Math" panose="02040503050406030204" pitchFamily="18" charset="0"/>
                        <a:ea typeface="Cambria Math" panose="02040503050406030204" pitchFamily="18" charset="0"/>
                      </a:rPr>
                      <m:t>&lt;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𝜇</m:t>
                        </m:r>
                      </m:e>
                      <m:sub>
                        <m:r>
                          <a:rPr lang="en-US" sz="3200" b="0" i="1" dirty="0" smtClean="0">
                            <a:latin typeface="Cambria Math" panose="02040503050406030204" pitchFamily="18" charset="0"/>
                          </a:rPr>
                          <m:t>0</m:t>
                        </m:r>
                      </m:sub>
                    </m:sSub>
                  </m:oMath>
                </a14:m>
                <a:r>
                  <a:rPr lang="en-US" sz="3200" dirty="0"/>
                  <a:t> </a:t>
                </a:r>
              </a:p>
            </p:txBody>
          </p:sp>
        </mc:Choice>
        <mc:Fallback xmlns="">
          <p:sp>
            <p:nvSpPr>
              <p:cNvPr id="5" name="Rectangle 4">
                <a:extLst>
                  <a:ext uri="{FF2B5EF4-FFF2-40B4-BE49-F238E27FC236}">
                    <a16:creationId xmlns:a16="http://schemas.microsoft.com/office/drawing/2014/main" id="{846CA284-1EB8-84F9-DA66-035F306DD685}"/>
                  </a:ext>
                </a:extLst>
              </p:cNvPr>
              <p:cNvSpPr>
                <a:spLocks noRot="1" noChangeAspect="1" noMove="1" noResize="1" noEditPoints="1" noAdjustHandles="1" noChangeArrowheads="1" noChangeShapeType="1" noTextEdit="1"/>
              </p:cNvSpPr>
              <p:nvPr/>
            </p:nvSpPr>
            <p:spPr>
              <a:xfrm>
                <a:off x="4496318" y="4239388"/>
                <a:ext cx="2773036" cy="1077218"/>
              </a:xfrm>
              <a:prstGeom prst="rect">
                <a:avLst/>
              </a:prstGeom>
              <a:blipFill>
                <a:blip r:embed="rId4"/>
                <a:stretch>
                  <a:fillRect l="-1826" t="-6977" b="-1627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4A9BBC7-D330-C812-0F45-D22D74378087}"/>
              </a:ext>
            </a:extLst>
          </p:cNvPr>
          <p:cNvSpPr txBox="1"/>
          <p:nvPr/>
        </p:nvSpPr>
        <p:spPr>
          <a:xfrm>
            <a:off x="4496318" y="5599528"/>
            <a:ext cx="2447026" cy="461665"/>
          </a:xfrm>
          <a:prstGeom prst="rect">
            <a:avLst/>
          </a:prstGeom>
          <a:noFill/>
        </p:spPr>
        <p:txBody>
          <a:bodyPr wrap="square">
            <a:spAutoFit/>
          </a:bodyPr>
          <a:lstStyle/>
          <a:p>
            <a:r>
              <a:rPr lang="en-US" sz="2400" dirty="0"/>
              <a:t>p-value = </a:t>
            </a:r>
            <a:r>
              <a:rPr lang="en-US" sz="2400" dirty="0" err="1"/>
              <a:t>Pr</a:t>
            </a:r>
            <a:r>
              <a:rPr lang="en-US" sz="2400" dirty="0"/>
              <a:t>(Z &lt; z)</a:t>
            </a:r>
          </a:p>
        </p:txBody>
      </p:sp>
    </p:spTree>
    <p:extLst>
      <p:ext uri="{BB962C8B-B14F-4D97-AF65-F5344CB8AC3E}">
        <p14:creationId xmlns:p14="http://schemas.microsoft.com/office/powerpoint/2010/main" val="1368594516"/>
      </p:ext>
    </p:extLst>
  </p:cSld>
  <p:clrMapOvr>
    <a:masterClrMapping/>
  </p:clrMapOvr>
  <mc:AlternateContent xmlns:mc="http://schemas.openxmlformats.org/markup-compatibility/2006" xmlns:p14="http://schemas.microsoft.com/office/powerpoint/2010/main">
    <mc:Choice Requires="p14">
      <p:transition spd="slow" p14:dur="2000" advTm="15033"/>
    </mc:Choice>
    <mc:Fallback xmlns="">
      <p:transition spd="slow" advTm="1503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B07B2-9331-45EC-808D-FFA56BF5BF29}"/>
              </a:ext>
            </a:extLst>
          </p:cNvPr>
          <p:cNvSpPr>
            <a:spLocks noGrp="1"/>
          </p:cNvSpPr>
          <p:nvPr>
            <p:ph type="title"/>
          </p:nvPr>
        </p:nvSpPr>
        <p:spPr/>
        <p:txBody>
          <a:bodyPr/>
          <a:lstStyle/>
          <a:p>
            <a:r>
              <a:rPr lang="en-US" dirty="0"/>
              <a:t>Worked example: Two-sided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F59BC1-1F44-49AD-AF16-934FF2263D12}"/>
                  </a:ext>
                </a:extLst>
              </p:cNvPr>
              <p:cNvSpPr>
                <a:spLocks noGrp="1"/>
              </p:cNvSpPr>
              <p:nvPr>
                <p:ph idx="1"/>
              </p:nvPr>
            </p:nvSpPr>
            <p:spPr>
              <a:xfrm>
                <a:off x="838200" y="1825625"/>
                <a:ext cx="9988296" cy="4351338"/>
              </a:xfrm>
            </p:spPr>
            <p:txBody>
              <a:bodyPr>
                <a:normAutofit/>
              </a:bodyPr>
              <a:lstStyle/>
              <a:p>
                <a:pPr marL="0" indent="0">
                  <a:buNone/>
                </a:pPr>
                <a:r>
                  <a:rPr lang="en-US" dirty="0"/>
                  <a:t>A company wants to evaluate the effectiveness of its energy-efficiency measures. </a:t>
                </a:r>
              </a:p>
              <a:p>
                <a:pPr marL="0" indent="0">
                  <a:buNone/>
                </a:pPr>
                <a:r>
                  <a:rPr lang="en-US" dirty="0"/>
                  <a:t>It has data on its weekly energy consumption for the 30 weeks after implementing the measures. Suppose that it knows its previous average weekly energy consumption was 30000 kWh, we can test if the measures had </a:t>
                </a:r>
                <a:r>
                  <a:rPr lang="en-US" dirty="0">
                    <a:solidFill>
                      <a:schemeClr val="accent1"/>
                    </a:solidFill>
                  </a:rPr>
                  <a:t>any impact on consumption </a:t>
                </a:r>
                <a:r>
                  <a:rPr lang="en-US" dirty="0"/>
                  <a:t>through:</a:t>
                </a:r>
              </a:p>
              <a:p>
                <a:pPr marL="0" indent="0">
                  <a:buNone/>
                </a:pPr>
                <a:endParaRPr lang="en-US" dirty="0"/>
              </a:p>
              <a:p>
                <a:pPr marL="0" indent="0" algn="ctr">
                  <a:buNone/>
                </a:pPr>
                <a14:m>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0</m:t>
                        </m:r>
                      </m:sub>
                    </m:sSub>
                  </m:oMath>
                </a14:m>
                <a:r>
                  <a:rPr lang="en-US" sz="2800" dirty="0"/>
                  <a:t>: </a:t>
                </a:r>
                <a14:m>
                  <m:oMath xmlns:m="http://schemas.openxmlformats.org/officeDocument/2006/math">
                    <m:r>
                      <a:rPr lang="en-US" sz="2800" i="1" dirty="0">
                        <a:latin typeface="Cambria Math" panose="02040503050406030204" pitchFamily="18" charset="0"/>
                      </a:rPr>
                      <m:t>𝜇</m:t>
                    </m:r>
                    <m:r>
                      <a:rPr lang="en-US" sz="2800" i="1" dirty="0">
                        <a:latin typeface="Cambria Math" panose="02040503050406030204" pitchFamily="18" charset="0"/>
                      </a:rPr>
                      <m:t>=30000</m:t>
                    </m:r>
                  </m:oMath>
                </a14:m>
                <a:endParaRPr lang="en-US" sz="2800" b="0" i="1" dirty="0">
                  <a:latin typeface="Cambria Math" panose="02040503050406030204" pitchFamily="18" charset="0"/>
                </a:endParaRPr>
              </a:p>
              <a:p>
                <a:pPr marL="0" indent="0" algn="ctr">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1</m:t>
                        </m:r>
                      </m:sub>
                    </m:sSub>
                  </m:oMath>
                </a14:m>
                <a:r>
                  <a:rPr lang="en-US" sz="2800" dirty="0"/>
                  <a:t>: </a:t>
                </a:r>
                <a14:m>
                  <m:oMath xmlns:m="http://schemas.openxmlformats.org/officeDocument/2006/math">
                    <m:r>
                      <a:rPr lang="en-US" sz="2800" i="1" dirty="0">
                        <a:latin typeface="Cambria Math" panose="02040503050406030204" pitchFamily="18" charset="0"/>
                      </a:rPr>
                      <m:t>𝜇</m:t>
                    </m:r>
                    <m:r>
                      <a:rPr lang="en-US" sz="2800" i="1" dirty="0" smtClean="0">
                        <a:solidFill>
                          <a:schemeClr val="accent1"/>
                        </a:solidFill>
                        <a:latin typeface="Cambria Math" panose="02040503050406030204" pitchFamily="18" charset="0"/>
                      </a:rPr>
                      <m:t>≠</m:t>
                    </m:r>
                    <m:r>
                      <a:rPr lang="en-US" sz="2800" b="0" i="1" dirty="0" smtClean="0">
                        <a:latin typeface="Cambria Math" panose="02040503050406030204" pitchFamily="18" charset="0"/>
                      </a:rPr>
                      <m:t>30000</m:t>
                    </m:r>
                  </m:oMath>
                </a14:m>
                <a:endParaRPr lang="en-US" dirty="0"/>
              </a:p>
            </p:txBody>
          </p:sp>
        </mc:Choice>
        <mc:Fallback xmlns="">
          <p:sp>
            <p:nvSpPr>
              <p:cNvPr id="3" name="Content Placeholder 2">
                <a:extLst>
                  <a:ext uri="{FF2B5EF4-FFF2-40B4-BE49-F238E27FC236}">
                    <a16:creationId xmlns:a16="http://schemas.microsoft.com/office/drawing/2014/main" id="{D6F59BC1-1F44-49AD-AF16-934FF2263D12}"/>
                  </a:ext>
                </a:extLst>
              </p:cNvPr>
              <p:cNvSpPr>
                <a:spLocks noGrp="1" noRot="1" noChangeAspect="1" noMove="1" noResize="1" noEditPoints="1" noAdjustHandles="1" noChangeArrowheads="1" noChangeShapeType="1" noTextEdit="1"/>
              </p:cNvSpPr>
              <p:nvPr>
                <p:ph idx="1"/>
              </p:nvPr>
            </p:nvSpPr>
            <p:spPr>
              <a:xfrm>
                <a:off x="838200" y="1825625"/>
                <a:ext cx="9988296" cy="4351338"/>
              </a:xfrm>
              <a:blipFill>
                <a:blip r:embed="rId3"/>
                <a:stretch>
                  <a:fillRect l="-1271" t="-2326" r="-1652"/>
                </a:stretch>
              </a:blipFill>
            </p:spPr>
            <p:txBody>
              <a:bodyPr/>
              <a:lstStyle/>
              <a:p>
                <a:r>
                  <a:rPr lang="en-US">
                    <a:noFill/>
                  </a:rPr>
                  <a:t> </a:t>
                </a:r>
              </a:p>
            </p:txBody>
          </p:sp>
        </mc:Fallback>
      </mc:AlternateContent>
    </p:spTree>
    <p:extLst>
      <p:ext uri="{BB962C8B-B14F-4D97-AF65-F5344CB8AC3E}">
        <p14:creationId xmlns:p14="http://schemas.microsoft.com/office/powerpoint/2010/main" val="2099646411"/>
      </p:ext>
    </p:extLst>
  </p:cSld>
  <p:clrMapOvr>
    <a:masterClrMapping/>
  </p:clrMapOvr>
  <mc:AlternateContent xmlns:mc="http://schemas.openxmlformats.org/markup-compatibility/2006" xmlns:p14="http://schemas.microsoft.com/office/powerpoint/2010/main">
    <mc:Choice Requires="p14">
      <p:transition spd="slow" p14:dur="2000" advTm="43633"/>
    </mc:Choice>
    <mc:Fallback xmlns="">
      <p:transition spd="slow" advTm="4363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B07B2-9331-45EC-808D-FFA56BF5BF29}"/>
              </a:ext>
            </a:extLst>
          </p:cNvPr>
          <p:cNvSpPr>
            <a:spLocks noGrp="1"/>
          </p:cNvSpPr>
          <p:nvPr>
            <p:ph type="title"/>
          </p:nvPr>
        </p:nvSpPr>
        <p:spPr/>
        <p:txBody>
          <a:bodyPr/>
          <a:lstStyle/>
          <a:p>
            <a:r>
              <a:rPr lang="en-US" dirty="0"/>
              <a:t>Worked example: One-sided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F59BC1-1F44-49AD-AF16-934FF2263D12}"/>
                  </a:ext>
                </a:extLst>
              </p:cNvPr>
              <p:cNvSpPr>
                <a:spLocks noGrp="1"/>
              </p:cNvSpPr>
              <p:nvPr>
                <p:ph idx="1"/>
              </p:nvPr>
            </p:nvSpPr>
            <p:spPr>
              <a:xfrm>
                <a:off x="838200" y="1825625"/>
                <a:ext cx="10256520" cy="4351338"/>
              </a:xfrm>
            </p:spPr>
            <p:txBody>
              <a:bodyPr>
                <a:normAutofit/>
              </a:bodyPr>
              <a:lstStyle/>
              <a:p>
                <a:pPr marL="0" indent="0">
                  <a:buNone/>
                </a:pPr>
                <a:r>
                  <a:rPr lang="en-US" dirty="0"/>
                  <a:t>A company wants to evaluate the effectiveness of its energy-efficiency measures. </a:t>
                </a:r>
              </a:p>
              <a:p>
                <a:pPr marL="0" indent="0">
                  <a:buNone/>
                </a:pPr>
                <a:r>
                  <a:rPr lang="en-US" dirty="0"/>
                  <a:t>It has data on its weekly energy consumption for the 30 weeks after implementing the measures. Suppose that it knows its previous average weekly energy consumption was 30000 kWh, we can test if the measures </a:t>
                </a:r>
                <a:r>
                  <a:rPr lang="en-US" dirty="0">
                    <a:solidFill>
                      <a:schemeClr val="accent1"/>
                    </a:solidFill>
                  </a:rPr>
                  <a:t>reduced energy consumption </a:t>
                </a:r>
                <a:r>
                  <a:rPr lang="en-US" dirty="0"/>
                  <a:t>through:</a:t>
                </a:r>
              </a:p>
              <a:p>
                <a:pPr marL="0" indent="0">
                  <a:buNone/>
                </a:pPr>
                <a:endParaRPr lang="en-US" dirty="0"/>
              </a:p>
              <a:p>
                <a:pPr marL="0" indent="0" algn="ctr">
                  <a:buNone/>
                </a:pPr>
                <a14:m>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0</m:t>
                        </m:r>
                      </m:sub>
                    </m:sSub>
                  </m:oMath>
                </a14:m>
                <a:r>
                  <a:rPr lang="en-US" sz="2800" dirty="0"/>
                  <a:t>: </a:t>
                </a:r>
                <a14:m>
                  <m:oMath xmlns:m="http://schemas.openxmlformats.org/officeDocument/2006/math">
                    <m:r>
                      <a:rPr lang="en-US" sz="2800" i="1" dirty="0">
                        <a:latin typeface="Cambria Math" panose="02040503050406030204" pitchFamily="18" charset="0"/>
                      </a:rPr>
                      <m:t>𝜇</m:t>
                    </m:r>
                    <m:r>
                      <a:rPr lang="en-US" sz="2800" i="1" dirty="0" smtClean="0">
                        <a:latin typeface="Cambria Math" panose="02040503050406030204" pitchFamily="18" charset="0"/>
                        <a:ea typeface="Cambria Math" panose="02040503050406030204" pitchFamily="18" charset="0"/>
                      </a:rPr>
                      <m:t>≥</m:t>
                    </m:r>
                    <m:r>
                      <a:rPr lang="en-US" sz="2800" i="1" dirty="0">
                        <a:latin typeface="Cambria Math" panose="02040503050406030204" pitchFamily="18" charset="0"/>
                      </a:rPr>
                      <m:t>3</m:t>
                    </m:r>
                    <m:r>
                      <a:rPr lang="en-US" sz="2800" b="0" i="1" dirty="0" smtClean="0">
                        <a:latin typeface="Cambria Math" panose="02040503050406030204" pitchFamily="18" charset="0"/>
                      </a:rPr>
                      <m:t>0000</m:t>
                    </m:r>
                  </m:oMath>
                </a14:m>
                <a:endParaRPr lang="en-US" sz="2800" b="0" i="1" dirty="0">
                  <a:latin typeface="Cambria Math" panose="02040503050406030204" pitchFamily="18" charset="0"/>
                </a:endParaRPr>
              </a:p>
              <a:p>
                <a:pPr marL="0" indent="0" algn="ctr">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1</m:t>
                        </m:r>
                      </m:sub>
                    </m:sSub>
                  </m:oMath>
                </a14:m>
                <a:r>
                  <a:rPr lang="en-US" sz="2800" dirty="0"/>
                  <a:t>: </a:t>
                </a:r>
                <a14:m>
                  <m:oMath xmlns:m="http://schemas.openxmlformats.org/officeDocument/2006/math">
                    <m:r>
                      <a:rPr lang="en-US" sz="2800" i="1" dirty="0">
                        <a:latin typeface="Cambria Math" panose="02040503050406030204" pitchFamily="18" charset="0"/>
                      </a:rPr>
                      <m:t>𝜇</m:t>
                    </m:r>
                    <m:r>
                      <a:rPr lang="en-US" sz="2800" i="1" dirty="0" smtClean="0">
                        <a:solidFill>
                          <a:schemeClr val="accent1"/>
                        </a:solidFill>
                        <a:latin typeface="Cambria Math" panose="02040503050406030204" pitchFamily="18" charset="0"/>
                        <a:ea typeface="Cambria Math" panose="02040503050406030204" pitchFamily="18" charset="0"/>
                      </a:rPr>
                      <m:t>&lt;</m:t>
                    </m:r>
                    <m:r>
                      <a:rPr lang="en-US" sz="2800" i="1" dirty="0">
                        <a:latin typeface="Cambria Math" panose="02040503050406030204" pitchFamily="18" charset="0"/>
                      </a:rPr>
                      <m:t>3</m:t>
                    </m:r>
                    <m:r>
                      <a:rPr lang="en-US" sz="2800" b="0" i="1" dirty="0" smtClean="0">
                        <a:latin typeface="Cambria Math" panose="02040503050406030204" pitchFamily="18" charset="0"/>
                      </a:rPr>
                      <m:t>0000</m:t>
                    </m:r>
                  </m:oMath>
                </a14:m>
                <a:endParaRPr lang="en-US" dirty="0"/>
              </a:p>
            </p:txBody>
          </p:sp>
        </mc:Choice>
        <mc:Fallback xmlns="">
          <p:sp>
            <p:nvSpPr>
              <p:cNvPr id="3" name="Content Placeholder 2">
                <a:extLst>
                  <a:ext uri="{FF2B5EF4-FFF2-40B4-BE49-F238E27FC236}">
                    <a16:creationId xmlns:a16="http://schemas.microsoft.com/office/drawing/2014/main" id="{D6F59BC1-1F44-49AD-AF16-934FF2263D12}"/>
                  </a:ext>
                </a:extLst>
              </p:cNvPr>
              <p:cNvSpPr>
                <a:spLocks noGrp="1" noRot="1" noChangeAspect="1" noMove="1" noResize="1" noEditPoints="1" noAdjustHandles="1" noChangeArrowheads="1" noChangeShapeType="1" noTextEdit="1"/>
              </p:cNvSpPr>
              <p:nvPr>
                <p:ph idx="1"/>
              </p:nvPr>
            </p:nvSpPr>
            <p:spPr>
              <a:xfrm>
                <a:off x="838200" y="1825625"/>
                <a:ext cx="10256520" cy="4351338"/>
              </a:xfrm>
              <a:blipFill>
                <a:blip r:embed="rId3"/>
                <a:stretch>
                  <a:fillRect l="-1238" t="-2326"/>
                </a:stretch>
              </a:blipFill>
            </p:spPr>
            <p:txBody>
              <a:bodyPr/>
              <a:lstStyle/>
              <a:p>
                <a:r>
                  <a:rPr lang="en-US">
                    <a:noFill/>
                  </a:rPr>
                  <a:t> </a:t>
                </a:r>
              </a:p>
            </p:txBody>
          </p:sp>
        </mc:Fallback>
      </mc:AlternateContent>
    </p:spTree>
    <p:extLst>
      <p:ext uri="{BB962C8B-B14F-4D97-AF65-F5344CB8AC3E}">
        <p14:creationId xmlns:p14="http://schemas.microsoft.com/office/powerpoint/2010/main" val="2651407125"/>
      </p:ext>
    </p:extLst>
  </p:cSld>
  <p:clrMapOvr>
    <a:masterClrMapping/>
  </p:clrMapOvr>
  <mc:AlternateContent xmlns:mc="http://schemas.openxmlformats.org/markup-compatibility/2006" xmlns:p14="http://schemas.microsoft.com/office/powerpoint/2010/main">
    <mc:Choice Requires="p14">
      <p:transition spd="slow" p14:dur="2000" advTm="19466"/>
    </mc:Choice>
    <mc:Fallback xmlns="">
      <p:transition spd="slow" advTm="1946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A289223-34DA-4091-98C1-2E8200B94B1B}"/>
                  </a:ext>
                </a:extLst>
              </p:cNvPr>
              <p:cNvSpPr>
                <a:spLocks noGrp="1"/>
              </p:cNvSpPr>
              <p:nvPr>
                <p:ph type="title"/>
              </p:nvPr>
            </p:nvSpPr>
            <p:spPr>
              <a:xfrm>
                <a:off x="685799" y="2926896"/>
                <a:ext cx="10889343" cy="1325563"/>
              </a:xfrm>
            </p:spPr>
            <p:txBody>
              <a:bodyPr>
                <a:normAutofit/>
              </a:bodyPr>
              <a:lstStyle/>
              <a:p>
                <a:r>
                  <a:rPr lang="en-US" dirty="0"/>
                  <a:t>The population variance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oMath>
                </a14:m>
                <a:r>
                  <a:rPr lang="en-US" dirty="0"/>
                  <a:t> could be and should be unknown in practice</a:t>
                </a:r>
              </a:p>
            </p:txBody>
          </p:sp>
        </mc:Choice>
        <mc:Fallback xmlns="">
          <p:sp>
            <p:nvSpPr>
              <p:cNvPr id="2" name="Title 1">
                <a:extLst>
                  <a:ext uri="{FF2B5EF4-FFF2-40B4-BE49-F238E27FC236}">
                    <a16:creationId xmlns:a16="http://schemas.microsoft.com/office/drawing/2014/main" id="{DA289223-34DA-4091-98C1-2E8200B94B1B}"/>
                  </a:ext>
                </a:extLst>
              </p:cNvPr>
              <p:cNvSpPr>
                <a:spLocks noGrp="1" noRot="1" noChangeAspect="1" noMove="1" noResize="1" noEditPoints="1" noAdjustHandles="1" noChangeArrowheads="1" noChangeShapeType="1" noTextEdit="1"/>
              </p:cNvSpPr>
              <p:nvPr>
                <p:ph type="title"/>
              </p:nvPr>
            </p:nvSpPr>
            <p:spPr>
              <a:xfrm>
                <a:off x="685799" y="2926896"/>
                <a:ext cx="10889343" cy="1325563"/>
              </a:xfrm>
              <a:blipFill>
                <a:blip r:embed="rId3"/>
                <a:stretch>
                  <a:fillRect l="-2238" t="-12844" b="-20642"/>
                </a:stretch>
              </a:blipFill>
            </p:spPr>
            <p:txBody>
              <a:bodyPr/>
              <a:lstStyle/>
              <a:p>
                <a:r>
                  <a:rPr lang="en-US">
                    <a:noFill/>
                  </a:rPr>
                  <a:t> </a:t>
                </a:r>
              </a:p>
            </p:txBody>
          </p:sp>
        </mc:Fallback>
      </mc:AlternateContent>
    </p:spTree>
    <p:extLst>
      <p:ext uri="{BB962C8B-B14F-4D97-AF65-F5344CB8AC3E}">
        <p14:creationId xmlns:p14="http://schemas.microsoft.com/office/powerpoint/2010/main" val="1909071109"/>
      </p:ext>
    </p:extLst>
  </p:cSld>
  <p:clrMapOvr>
    <a:masterClrMapping/>
  </p:clrMapOvr>
  <mc:AlternateContent xmlns:mc="http://schemas.openxmlformats.org/markup-compatibility/2006" xmlns:p14="http://schemas.microsoft.com/office/powerpoint/2010/main">
    <mc:Choice Requires="p14">
      <p:transition spd="slow" p14:dur="2000" advTm="10633"/>
    </mc:Choice>
    <mc:Fallback xmlns="">
      <p:transition spd="slow" advTm="1063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9DB07B2-9331-45EC-808D-FFA56BF5BF29}"/>
                  </a:ext>
                </a:extLst>
              </p:cNvPr>
              <p:cNvSpPr>
                <a:spLocks noGrp="1"/>
              </p:cNvSpPr>
              <p:nvPr>
                <p:ph type="title"/>
              </p:nvPr>
            </p:nvSpPr>
            <p:spPr/>
            <p:txBody>
              <a:bodyPr/>
              <a:lstStyle/>
              <a:p>
                <a:r>
                  <a:rPr lang="en-US" dirty="0"/>
                  <a:t>When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oMath>
                </a14:m>
                <a:r>
                  <a:rPr lang="en-US" dirty="0"/>
                  <a:t> is not known, we estimate it! </a:t>
                </a:r>
              </a:p>
            </p:txBody>
          </p:sp>
        </mc:Choice>
        <mc:Fallback xmlns="">
          <p:sp>
            <p:nvSpPr>
              <p:cNvPr id="2" name="Title 1">
                <a:extLst>
                  <a:ext uri="{FF2B5EF4-FFF2-40B4-BE49-F238E27FC236}">
                    <a16:creationId xmlns:a16="http://schemas.microsoft.com/office/drawing/2014/main" id="{E9DB07B2-9331-45EC-808D-FFA56BF5BF29}"/>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F59BC1-1F44-49AD-AF16-934FF2263D12}"/>
                  </a:ext>
                </a:extLst>
              </p:cNvPr>
              <p:cNvSpPr>
                <a:spLocks noGrp="1"/>
              </p:cNvSpPr>
              <p:nvPr>
                <p:ph idx="1"/>
              </p:nvPr>
            </p:nvSpPr>
            <p:spPr>
              <a:xfrm>
                <a:off x="838200" y="1571625"/>
                <a:ext cx="10515600" cy="4974318"/>
              </a:xfrm>
            </p:spPr>
            <p:txBody>
              <a:bodyPr>
                <a:normAutofit fontScale="92500"/>
              </a:bodyPr>
              <a:lstStyle/>
              <a:p>
                <a:pPr marL="0" indent="0">
                  <a:buNone/>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a:t>
                </a:r>
                <a14:m>
                  <m:oMath xmlns:m="http://schemas.openxmlformats.org/officeDocument/2006/math">
                    <m:r>
                      <a:rPr lang="en-US" i="1" dirty="0">
                        <a:latin typeface="Cambria Math" panose="02040503050406030204" pitchFamily="18" charset="0"/>
                      </a:rPr>
                      <m:t>𝜇</m:t>
                    </m:r>
                    <m:r>
                      <a:rPr lang="en-US" b="0" i="1" dirty="0" smtClean="0">
                        <a:latin typeface="Cambria Math" panose="02040503050406030204" pitchFamily="18" charset="0"/>
                      </a:rPr>
                      <m:t>=</m:t>
                    </m:r>
                    <m:r>
                      <a:rPr lang="en-US" i="1" dirty="0" smtClean="0">
                        <a:latin typeface="Cambria Math" panose="02040503050406030204" pitchFamily="18" charset="0"/>
                      </a:rPr>
                      <m:t>3</m:t>
                    </m:r>
                    <m:r>
                      <a:rPr lang="en-US" b="0" i="1" dirty="0" smtClean="0">
                        <a:latin typeface="Cambria Math" panose="02040503050406030204" pitchFamily="18" charset="0"/>
                      </a:rPr>
                      <m:t>0000</m:t>
                    </m:r>
                  </m:oMath>
                </a14:m>
                <a:r>
                  <a:rPr lang="en-US" dirty="0"/>
                  <a:t> </a:t>
                </a: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i="1">
                          <a:latin typeface="Cambria Math" panose="02040503050406030204" pitchFamily="18" charset="0"/>
                        </a:rPr>
                        <m:t>𝑍</m:t>
                      </m:r>
                      <m:r>
                        <a:rPr lang="en-US" i="1">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r>
                            <a:rPr lang="en-US" i="1">
                              <a:latin typeface="Cambria Math" panose="02040503050406030204" pitchFamily="18" charset="0"/>
                            </a:rPr>
                            <m:t>−</m:t>
                          </m:r>
                          <m:r>
                            <a:rPr lang="en-US" b="0" i="1" smtClean="0">
                              <a:latin typeface="Cambria Math" panose="02040503050406030204" pitchFamily="18" charset="0"/>
                            </a:rPr>
                            <m:t>30000</m:t>
                          </m:r>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𝑛</m:t>
                              </m:r>
                            </m:e>
                          </m:rad>
                        </m:den>
                      </m:f>
                    </m:oMath>
                  </m:oMathPara>
                </a14:m>
                <a:endParaRPr lang="en-US" dirty="0"/>
              </a:p>
              <a:p>
                <a:pPr marL="0" indent="0">
                  <a:buNone/>
                </a:pP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acc>
                  </m:oMath>
                </a14:m>
                <a:r>
                  <a:rPr lang="en-US" dirty="0"/>
                  <a:t>=28930. n=30. </a:t>
                </a:r>
                <a14:m>
                  <m:oMath xmlns:m="http://schemas.openxmlformats.org/officeDocument/2006/math">
                    <m:r>
                      <a:rPr lang="en-US" b="0" i="1" smtClean="0">
                        <a:solidFill>
                          <a:srgbClr val="FF0000"/>
                        </a:solidFill>
                        <a:latin typeface="Cambria Math" panose="02040503050406030204" pitchFamily="18" charset="0"/>
                      </a:rPr>
                      <m:t>𝑠</m:t>
                    </m:r>
                    <m:r>
                      <a:rPr lang="en-US" i="1">
                        <a:solidFill>
                          <a:srgbClr val="FF0000"/>
                        </a:solidFill>
                        <a:latin typeface="Cambria Math" panose="02040503050406030204" pitchFamily="18" charset="0"/>
                      </a:rPr>
                      <m:t>=1587.918</m:t>
                    </m:r>
                  </m:oMath>
                </a14:m>
                <a:r>
                  <a:rPr lang="en-US" dirty="0"/>
                  <a:t>.</a:t>
                </a:r>
              </a:p>
              <a:p>
                <a:pPr marL="0" indent="0">
                  <a:buNone/>
                </a:pPr>
                <a:r>
                  <a:rPr lang="en-US" dirty="0"/>
                  <a:t>We use the sample standard deviation as the “plug-in” estimator of </a:t>
                </a:r>
                <a14:m>
                  <m:oMath xmlns:m="http://schemas.openxmlformats.org/officeDocument/2006/math">
                    <m:r>
                      <a:rPr lang="en-US" i="1">
                        <a:latin typeface="Cambria Math" panose="02040503050406030204" pitchFamily="18" charset="0"/>
                      </a:rPr>
                      <m:t>𝜎</m:t>
                    </m:r>
                  </m:oMath>
                </a14:m>
                <a:r>
                  <a:rPr lang="en-US" dirty="0"/>
                  <a:t>.</a:t>
                </a:r>
              </a:p>
              <a:p>
                <a:pPr marL="0" indent="0">
                  <a:buNone/>
                </a:pPr>
                <a:r>
                  <a:rPr lang="en-US" dirty="0"/>
                  <a:t>Thus, </a:t>
                </a:r>
              </a:p>
              <a:p>
                <a:pPr marL="0" indent="0">
                  <a:buNone/>
                </a:pPr>
                <a14:m>
                  <m:oMathPara xmlns:m="http://schemas.openxmlformats.org/officeDocument/2006/math">
                    <m:oMathParaPr>
                      <m:jc m:val="center"/>
                    </m:oMathParaPr>
                    <m:oMath xmlns:m="http://schemas.openxmlformats.org/officeDocument/2006/math">
                      <m:f>
                        <m:fPr>
                          <m:ctrlPr>
                            <a:rPr lang="en-US" i="1">
                              <a:latin typeface="Cambria Math" panose="02040503050406030204" pitchFamily="18" charset="0"/>
                            </a:rPr>
                          </m:ctrlPr>
                        </m:fPr>
                        <m:num>
                          <m:r>
                            <m:rPr>
                              <m:nor/>
                            </m:rPr>
                            <a:rPr lang="en-US" dirty="0"/>
                            <m:t>28930</m:t>
                          </m:r>
                          <m:r>
                            <a:rPr lang="en-US" i="1">
                              <a:latin typeface="Cambria Math" panose="02040503050406030204" pitchFamily="18" charset="0"/>
                            </a:rPr>
                            <m:t>−30000</m:t>
                          </m:r>
                        </m:num>
                        <m:den>
                          <m:rad>
                            <m:radPr>
                              <m:degHide m:val="on"/>
                              <m:ctrlPr>
                                <a:rPr lang="en-US" i="1">
                                  <a:latin typeface="Cambria Math" panose="02040503050406030204" pitchFamily="18" charset="0"/>
                                </a:rPr>
                              </m:ctrlPr>
                            </m:radPr>
                            <m:deg/>
                            <m:e>
                              <m:sSup>
                                <m:sSupPr>
                                  <m:ctrlPr>
                                    <a:rPr lang="en-US" i="1" smtClean="0">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1587.918</m:t>
                                  </m:r>
                                </m:e>
                                <m:sup>
                                  <m:r>
                                    <a:rPr lang="en-US" i="1" smtClean="0">
                                      <a:solidFill>
                                        <a:schemeClr val="tx1"/>
                                      </a:solidFill>
                                      <a:latin typeface="Cambria Math" panose="02040503050406030204" pitchFamily="18" charset="0"/>
                                    </a:rPr>
                                    <m:t>2</m:t>
                                  </m:r>
                                </m:sup>
                              </m:sSup>
                              <m:r>
                                <a:rPr lang="en-US" i="1">
                                  <a:latin typeface="Cambria Math" panose="02040503050406030204" pitchFamily="18" charset="0"/>
                                </a:rPr>
                                <m:t>/</m:t>
                              </m:r>
                              <m:r>
                                <a:rPr lang="en-US" b="0" i="1" smtClean="0">
                                  <a:latin typeface="Cambria Math" panose="02040503050406030204" pitchFamily="18" charset="0"/>
                                </a:rPr>
                                <m:t>100</m:t>
                              </m:r>
                            </m:e>
                          </m:rad>
                        </m:den>
                      </m:f>
                      <m:r>
                        <a:rPr lang="en-US" b="0" i="1" smtClean="0">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3.690765</m:t>
                      </m:r>
                    </m:oMath>
                  </m:oMathPara>
                </a14:m>
                <a:br>
                  <a:rPr lang="en-US" dirty="0"/>
                </a:br>
                <a:r>
                  <a:rPr lang="en-US" dirty="0"/>
                  <a:t>But statistically speaking, this </a:t>
                </a:r>
                <a:r>
                  <a:rPr lang="en-US" dirty="0" err="1"/>
                  <a:t>standardisation</a:t>
                </a:r>
                <a:r>
                  <a:rPr lang="en-US" dirty="0"/>
                  <a:t> doesn’t lead exactly to N(0,1), because the sample std dev </a:t>
                </a:r>
                <a14:m>
                  <m:oMath xmlns:m="http://schemas.openxmlformats.org/officeDocument/2006/math">
                    <m:r>
                      <a:rPr lang="en-US" b="0" i="1" smtClean="0">
                        <a:latin typeface="Cambria Math" panose="02040503050406030204" pitchFamily="18" charset="0"/>
                      </a:rPr>
                      <m:t>𝑠</m:t>
                    </m:r>
                  </m:oMath>
                </a14:m>
                <a:r>
                  <a:rPr lang="en-US" dirty="0"/>
                  <a:t> can be different from </a:t>
                </a:r>
                <a14:m>
                  <m:oMath xmlns:m="http://schemas.openxmlformats.org/officeDocument/2006/math">
                    <m:r>
                      <a:rPr lang="en-US" i="1">
                        <a:latin typeface="Cambria Math" panose="02040503050406030204" pitchFamily="18" charset="0"/>
                      </a:rPr>
                      <m:t>𝜎</m:t>
                    </m:r>
                  </m:oMath>
                </a14:m>
                <a:r>
                  <a:rPr lang="en-US" dirty="0"/>
                  <a:t>.</a:t>
                </a:r>
              </a:p>
              <a:p>
                <a:pPr marL="0" indent="0">
                  <a:buNone/>
                </a:pPr>
                <a14:m>
                  <m:oMath xmlns:m="http://schemas.openxmlformats.org/officeDocument/2006/math">
                    <m:r>
                      <a:rPr lang="en-US" b="0" i="1" smtClean="0">
                        <a:latin typeface="Cambria Math" panose="02040503050406030204" pitchFamily="18" charset="0"/>
                      </a:rPr>
                      <m:t>⇒</m:t>
                    </m:r>
                  </m:oMath>
                </a14:m>
                <a:r>
                  <a:rPr lang="en-US" dirty="0"/>
                  <a:t>When replace </a:t>
                </a:r>
                <a14:m>
                  <m:oMath xmlns:m="http://schemas.openxmlformats.org/officeDocument/2006/math">
                    <m:r>
                      <a:rPr lang="en-US" i="1">
                        <a:latin typeface="Cambria Math" panose="02040503050406030204" pitchFamily="18" charset="0"/>
                      </a:rPr>
                      <m:t>𝜎</m:t>
                    </m:r>
                  </m:oMath>
                </a14:m>
                <a:r>
                  <a:rPr lang="en-US" dirty="0"/>
                  <a:t> with </a:t>
                </a:r>
                <a14:m>
                  <m:oMath xmlns:m="http://schemas.openxmlformats.org/officeDocument/2006/math">
                    <m:r>
                      <a:rPr lang="en-US" b="0" i="1" smtClean="0">
                        <a:latin typeface="Cambria Math" panose="02040503050406030204" pitchFamily="18" charset="0"/>
                      </a:rPr>
                      <m:t>𝑠</m:t>
                    </m:r>
                  </m:oMath>
                </a14:m>
                <a:r>
                  <a:rPr lang="en-US" dirty="0"/>
                  <a:t>, the RV has a </a:t>
                </a:r>
                <a:r>
                  <a:rPr lang="en-US" i="1" dirty="0"/>
                  <a:t>t-distribution with n-1 </a:t>
                </a:r>
                <a:r>
                  <a:rPr lang="en-US" i="1" dirty="0" err="1"/>
                  <a:t>d.f</a:t>
                </a:r>
                <a:r>
                  <a:rPr lang="en-US" i="1"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29</m:t>
                        </m:r>
                      </m:sub>
                    </m:sSub>
                    <m:r>
                      <a:rPr lang="en-US" b="0" i="1" smtClean="0">
                        <a:latin typeface="Cambria Math" panose="02040503050406030204" pitchFamily="18" charset="0"/>
                      </a:rPr>
                      <m:t>)</m:t>
                    </m:r>
                  </m:oMath>
                </a14:m>
                <a:endParaRPr lang="en-US" i="1"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6F59BC1-1F44-49AD-AF16-934FF2263D12}"/>
                  </a:ext>
                </a:extLst>
              </p:cNvPr>
              <p:cNvSpPr>
                <a:spLocks noGrp="1" noRot="1" noChangeAspect="1" noMove="1" noResize="1" noEditPoints="1" noAdjustHandles="1" noChangeArrowheads="1" noChangeShapeType="1" noTextEdit="1"/>
              </p:cNvSpPr>
              <p:nvPr>
                <p:ph idx="1"/>
              </p:nvPr>
            </p:nvSpPr>
            <p:spPr>
              <a:xfrm>
                <a:off x="838200" y="1571625"/>
                <a:ext cx="10515600" cy="4974318"/>
              </a:xfrm>
              <a:blipFill>
                <a:blip r:embed="rId4"/>
                <a:stretch>
                  <a:fillRect l="-1086" t="-1781" b="-1781"/>
                </a:stretch>
              </a:blipFill>
            </p:spPr>
            <p:txBody>
              <a:bodyPr/>
              <a:lstStyle/>
              <a:p>
                <a:r>
                  <a:rPr lang="en-US">
                    <a:noFill/>
                  </a:rPr>
                  <a:t> </a:t>
                </a:r>
              </a:p>
            </p:txBody>
          </p:sp>
        </mc:Fallback>
      </mc:AlternateContent>
    </p:spTree>
    <p:extLst>
      <p:ext uri="{BB962C8B-B14F-4D97-AF65-F5344CB8AC3E}">
        <p14:creationId xmlns:p14="http://schemas.microsoft.com/office/powerpoint/2010/main" val="12266120"/>
      </p:ext>
    </p:extLst>
  </p:cSld>
  <p:clrMapOvr>
    <a:masterClrMapping/>
  </p:clrMapOvr>
  <mc:AlternateContent xmlns:mc="http://schemas.openxmlformats.org/markup-compatibility/2006" xmlns:p14="http://schemas.microsoft.com/office/powerpoint/2010/main">
    <mc:Choice Requires="p14">
      <p:transition spd="slow" p14:dur="2000" advTm="28833"/>
    </mc:Choice>
    <mc:Fallback xmlns="">
      <p:transition spd="slow" advTm="2883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F6574-6FB7-47F7-9E3A-1820AD5921F4}"/>
              </a:ext>
            </a:extLst>
          </p:cNvPr>
          <p:cNvSpPr>
            <a:spLocks noGrp="1"/>
          </p:cNvSpPr>
          <p:nvPr>
            <p:ph type="title"/>
          </p:nvPr>
        </p:nvSpPr>
        <p:spPr/>
        <p:txBody>
          <a:bodyPr/>
          <a:lstStyle/>
          <a:p>
            <a:r>
              <a:rPr lang="en-US" dirty="0"/>
              <a:t>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5FF920-14C7-4A1A-B6FC-71F8B04792FC}"/>
                  </a:ext>
                </a:extLst>
              </p:cNvPr>
              <p:cNvSpPr>
                <a:spLocks noGrp="1"/>
              </p:cNvSpPr>
              <p:nvPr>
                <p:ph idx="1"/>
              </p:nvPr>
            </p:nvSpPr>
            <p:spPr>
              <a:xfrm>
                <a:off x="838200" y="1825625"/>
                <a:ext cx="8561832" cy="4667250"/>
              </a:xfrm>
            </p:spPr>
            <p:txBody>
              <a:bodyPr>
                <a:normAutofit/>
              </a:bodyPr>
              <a:lstStyle/>
              <a:p>
                <a:r>
                  <a:rPr lang="en-US" dirty="0"/>
                  <a:t>We show HT can be done via comparing the p-value and the significance level (</a:t>
                </a:r>
                <a14:m>
                  <m:oMath xmlns:m="http://schemas.openxmlformats.org/officeDocument/2006/math">
                    <m:r>
                      <a:rPr lang="en-US" i="1">
                        <a:latin typeface="Cambria Math" panose="02040503050406030204" pitchFamily="18" charset="0"/>
                      </a:rPr>
                      <m:t>𝛼</m:t>
                    </m:r>
                  </m:oMath>
                </a14:m>
                <a:r>
                  <a:rPr lang="en-US" dirty="0"/>
                  <a:t>)</a:t>
                </a:r>
              </a:p>
              <a:p>
                <a:r>
                  <a:rPr lang="en-US" dirty="0"/>
                  <a:t>Unknown </a:t>
                </a:r>
                <a14:m>
                  <m:oMath xmlns:m="http://schemas.openxmlformats.org/officeDocument/2006/math">
                    <m:sSup>
                      <m:sSupPr>
                        <m:ctrlPr>
                          <a:rPr lang="en-SG" i="1">
                            <a:latin typeface="Cambria Math" panose="02040503050406030204" pitchFamily="18" charset="0"/>
                          </a:rPr>
                        </m:ctrlPr>
                      </m:sSupPr>
                      <m:e>
                        <m:r>
                          <a:rPr lang="en-SG" i="1">
                            <a:latin typeface="Cambria Math" panose="02040503050406030204" pitchFamily="18" charset="0"/>
                          </a:rPr>
                          <m:t>𝜎</m:t>
                        </m:r>
                      </m:e>
                      <m:sup>
                        <m:r>
                          <a:rPr lang="en-SG" i="1">
                            <a:latin typeface="Cambria Math" panose="02040503050406030204" pitchFamily="18" charset="0"/>
                          </a:rPr>
                          <m:t>2</m:t>
                        </m:r>
                      </m:sup>
                    </m:sSup>
                  </m:oMath>
                </a14:m>
                <a:br>
                  <a:rPr lang="en-US" dirty="0"/>
                </a:br>
                <a:r>
                  <a:rPr lang="en-US" dirty="0"/>
                  <a:t>When </a:t>
                </a:r>
                <a14:m>
                  <m:oMath xmlns:m="http://schemas.openxmlformats.org/officeDocument/2006/math">
                    <m:sSup>
                      <m:sSupPr>
                        <m:ctrlPr>
                          <a:rPr lang="en-SG" i="1">
                            <a:latin typeface="Cambria Math" panose="02040503050406030204" pitchFamily="18" charset="0"/>
                          </a:rPr>
                        </m:ctrlPr>
                      </m:sSupPr>
                      <m:e>
                        <m:r>
                          <a:rPr lang="en-SG" i="1">
                            <a:latin typeface="Cambria Math" panose="02040503050406030204" pitchFamily="18" charset="0"/>
                          </a:rPr>
                          <m:t>𝜎</m:t>
                        </m:r>
                      </m:e>
                      <m:sup>
                        <m:r>
                          <a:rPr lang="en-SG" i="1">
                            <a:latin typeface="Cambria Math" panose="02040503050406030204" pitchFamily="18" charset="0"/>
                          </a:rPr>
                          <m:t>2</m:t>
                        </m:r>
                      </m:sup>
                    </m:sSup>
                  </m:oMath>
                </a14:m>
                <a:r>
                  <a:rPr lang="en-US" dirty="0"/>
                  <a:t> is unknown, </a:t>
                </a:r>
                <a14:m>
                  <m:oMath xmlns:m="http://schemas.openxmlformats.org/officeDocument/2006/math">
                    <m:sSup>
                      <m:sSupPr>
                        <m:ctrlPr>
                          <a:rPr lang="en-SG" i="1">
                            <a:latin typeface="Cambria Math" panose="02040503050406030204" pitchFamily="18" charset="0"/>
                          </a:rPr>
                        </m:ctrlPr>
                      </m:sSupPr>
                      <m:e>
                        <m:r>
                          <a:rPr lang="en-SG" i="1">
                            <a:latin typeface="Cambria Math" panose="02040503050406030204" pitchFamily="18" charset="0"/>
                          </a:rPr>
                          <m:t>𝜎</m:t>
                        </m:r>
                      </m:e>
                      <m:sup>
                        <m:r>
                          <a:rPr lang="en-SG" i="1">
                            <a:latin typeface="Cambria Math" panose="02040503050406030204" pitchFamily="18" charset="0"/>
                          </a:rPr>
                          <m:t>2</m:t>
                        </m:r>
                      </m:sup>
                    </m:sSup>
                  </m:oMath>
                </a14:m>
                <a:r>
                  <a:rPr lang="en-US" dirty="0"/>
                  <a:t> can be estimated by </a:t>
                </a:r>
                <a14:m>
                  <m:oMath xmlns:m="http://schemas.openxmlformats.org/officeDocument/2006/math">
                    <m:sSup>
                      <m:sSupPr>
                        <m:ctrlPr>
                          <a:rPr lang="en-SG" i="1">
                            <a:latin typeface="Cambria Math" panose="02040503050406030204" pitchFamily="18" charset="0"/>
                          </a:rPr>
                        </m:ctrlPr>
                      </m:sSupPr>
                      <m:e>
                        <m:r>
                          <a:rPr lang="en-US" b="0" i="1" smtClean="0">
                            <a:latin typeface="Cambria Math" panose="02040503050406030204" pitchFamily="18" charset="0"/>
                          </a:rPr>
                          <m:t>𝑠</m:t>
                        </m:r>
                      </m:e>
                      <m:sup>
                        <m:r>
                          <a:rPr lang="en-SG" i="1">
                            <a:latin typeface="Cambria Math" panose="02040503050406030204" pitchFamily="18" charset="0"/>
                          </a:rPr>
                          <m:t>2</m:t>
                        </m:r>
                      </m:sup>
                    </m:sSup>
                  </m:oMath>
                </a14:m>
                <a:r>
                  <a:rPr lang="en-US" dirty="0"/>
                  <a:t> but must use t-distribution instead (when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30)</a:t>
                </a:r>
              </a:p>
              <a:p>
                <a:r>
                  <a:rPr lang="en-US" dirty="0"/>
                  <a:t>Population mean is only one of the parameters in a statistical model </a:t>
                </a:r>
                <a:br>
                  <a:rPr lang="en-US" dirty="0"/>
                </a:br>
                <a:r>
                  <a:rPr lang="en-US" sz="2000" dirty="0"/>
                  <a:t>(see </a:t>
                </a:r>
                <a:r>
                  <a:rPr lang="en-US" sz="2000" dirty="0" err="1"/>
                  <a:t>Sheskin</a:t>
                </a:r>
                <a:r>
                  <a:rPr lang="en-US" sz="2000" dirty="0"/>
                  <a:t> 2011 for the tests for other parameters if you are interested)</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635FF920-14C7-4A1A-B6FC-71F8B04792FC}"/>
                  </a:ext>
                </a:extLst>
              </p:cNvPr>
              <p:cNvSpPr>
                <a:spLocks noGrp="1" noRot="1" noChangeAspect="1" noMove="1" noResize="1" noEditPoints="1" noAdjustHandles="1" noChangeArrowheads="1" noChangeShapeType="1" noTextEdit="1"/>
              </p:cNvSpPr>
              <p:nvPr>
                <p:ph idx="1"/>
              </p:nvPr>
            </p:nvSpPr>
            <p:spPr>
              <a:xfrm>
                <a:off x="838200" y="1825625"/>
                <a:ext cx="8561832" cy="4667250"/>
              </a:xfrm>
              <a:blipFill>
                <a:blip r:embed="rId4"/>
                <a:stretch>
                  <a:fillRect l="-1333" t="-2168" r="-1778"/>
                </a:stretch>
              </a:blipFill>
            </p:spPr>
            <p:txBody>
              <a:bodyPr/>
              <a:lstStyle/>
              <a:p>
                <a:r>
                  <a:rPr lang="en-US">
                    <a:noFill/>
                  </a:rPr>
                  <a:t> </a:t>
                </a:r>
              </a:p>
            </p:txBody>
          </p:sp>
        </mc:Fallback>
      </mc:AlternateContent>
      <p:pic>
        <p:nvPicPr>
          <p:cNvPr id="1026" name="Picture 2" descr="Handbook of Parametric and Nonparametric Statistical Procedures, Fifth Edition">
            <a:extLst>
              <a:ext uri="{FF2B5EF4-FFF2-40B4-BE49-F238E27FC236}">
                <a16:creationId xmlns:a16="http://schemas.microsoft.com/office/drawing/2014/main" id="{6BE986D0-F711-B370-6DB1-4AE0AD5DB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86900" y="2848356"/>
            <a:ext cx="2286000" cy="3429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233297620"/>
      </p:ext>
    </p:extLst>
  </p:cSld>
  <p:clrMapOvr>
    <a:masterClrMapping/>
  </p:clrMapOvr>
  <mc:AlternateContent xmlns:mc="http://schemas.openxmlformats.org/markup-compatibility/2006" xmlns:p14="http://schemas.microsoft.com/office/powerpoint/2010/main">
    <mc:Choice Requires="p14">
      <p:transition spd="slow" p14:dur="2000" advTm="58633"/>
    </mc:Choice>
    <mc:Fallback xmlns="">
      <p:transition spd="slow" advTm="586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2.7|12.2|34.2"/>
</p:tagLst>
</file>

<file path=ppt/tags/tag2.xml><?xml version="1.0" encoding="utf-8"?>
<p:tagLst xmlns:a="http://schemas.openxmlformats.org/drawingml/2006/main" xmlns:r="http://schemas.openxmlformats.org/officeDocument/2006/relationships" xmlns:p="http://schemas.openxmlformats.org/presentationml/2006/main">
  <p:tag name="TIMING" val="|16.1|0.8|56.4"/>
</p:tagLst>
</file>

<file path=ppt/tags/tag3.xml><?xml version="1.0" encoding="utf-8"?>
<p:tagLst xmlns:a="http://schemas.openxmlformats.org/drawingml/2006/main" xmlns:r="http://schemas.openxmlformats.org/officeDocument/2006/relationships" xmlns:p="http://schemas.openxmlformats.org/presentationml/2006/main">
  <p:tag name="TIMING" val="|2.4|12.8|5.3|14.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1700</TotalTime>
  <Words>1346</Words>
  <Application>Microsoft Macintosh PowerPoint</Application>
  <PresentationFormat>Widescreen</PresentationFormat>
  <Paragraphs>160</Paragraphs>
  <Slides>20</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Cambria Math</vt:lpstr>
      <vt:lpstr>Wingdings</vt:lpstr>
      <vt:lpstr>Office Theme</vt:lpstr>
      <vt:lpstr>Testing a hypothesis</vt:lpstr>
      <vt:lpstr>From the last videos</vt:lpstr>
      <vt:lpstr>Standardized to standard normal</vt:lpstr>
      <vt:lpstr>PowerPoint Presentation</vt:lpstr>
      <vt:lpstr>Simplified steps for HT</vt:lpstr>
      <vt:lpstr>Example 1: Boston marathon </vt:lpstr>
      <vt:lpstr>R calculations</vt:lpstr>
      <vt:lpstr>HT so far</vt:lpstr>
      <vt:lpstr>PowerPoint Presentation</vt:lpstr>
      <vt:lpstr>PowerPoint Presentation</vt:lpstr>
      <vt:lpstr>PowerPoint Presentation</vt:lpstr>
      <vt:lpstr>PowerPoint Presentation</vt:lpstr>
      <vt:lpstr>PowerPoint Presentation</vt:lpstr>
      <vt:lpstr>Summary for a two-sided test</vt:lpstr>
      <vt:lpstr>Summary for a one-sided test</vt:lpstr>
      <vt:lpstr>Worked example: Two-sided test</vt:lpstr>
      <vt:lpstr>Worked example: One-sided test</vt:lpstr>
      <vt:lpstr>The population variance σ^2 could be and should be unknown in practice</vt:lpstr>
      <vt:lpstr>When σ^2 is not known, we estimate it!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Chien-Ming Chen</dc:creator>
  <cp:lastModifiedBy>Michele Nguyen (Dr)</cp:lastModifiedBy>
  <cp:revision>275</cp:revision>
  <dcterms:created xsi:type="dcterms:W3CDTF">2018-07-30T07:45:11Z</dcterms:created>
  <dcterms:modified xsi:type="dcterms:W3CDTF">2024-05-21T12:46:24Z</dcterms:modified>
</cp:coreProperties>
</file>
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1" r:id="rId2"/>
    <p:sldId id="287" r:id="rId3"/>
    <p:sldId id="313" r:id="rId4"/>
    <p:sldId id="312" r:id="rId5"/>
    <p:sldId id="306" r:id="rId6"/>
    <p:sldId id="307" r:id="rId7"/>
    <p:sldId id="308" r:id="rId8"/>
    <p:sldId id="309" r:id="rId9"/>
    <p:sldId id="310" r:id="rId10"/>
    <p:sldId id="311" r:id="rId11"/>
    <p:sldId id="304" r:id="rId12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70204" autoAdjust="0"/>
  </p:normalViewPr>
  <p:slideViewPr>
    <p:cSldViewPr snapToGrid="0">
      <p:cViewPr varScale="1">
        <p:scale>
          <a:sx n="114" d="100"/>
          <a:sy n="114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51F607-D004-4881-8B51-D4A654ED91B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F2D2B2E-7326-4D3D-94CE-C321813D3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96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D2B2E-7326-4D3D-94CE-C321813D39D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14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D2B2E-7326-4D3D-94CE-C321813D39D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10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b="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a study about the relationship between academic and job performance</a:t>
                </a:r>
              </a:p>
              <a:p>
                <a:pPr marL="0" indent="0">
                  <a:buNone/>
                </a:pPr>
                <a:r>
                  <a:rPr lang="en-US" i="0">
                    <a:latin typeface="Cambria Math" panose="02040503050406030204" pitchFamily="18" charset="0"/>
                  </a:rPr>
                  <a:t>𝐻_0</a:t>
                </a:r>
                <a:r>
                  <a:rPr lang="en-US" dirty="0"/>
                  <a:t>: Uni GPA of a student is positively related to her average starting salary</a:t>
                </a:r>
              </a:p>
              <a:p>
                <a:pPr marL="0" indent="0">
                  <a:buNone/>
                </a:pPr>
                <a:r>
                  <a:rPr lang="en-US" i="0">
                    <a:latin typeface="Cambria Math" panose="02040503050406030204" pitchFamily="18" charset="0"/>
                  </a:rPr>
                  <a:t>𝐻_1</a:t>
                </a:r>
                <a:r>
                  <a:rPr lang="en-US" dirty="0"/>
                  <a:t>: ???</a:t>
                </a:r>
              </a:p>
              <a:p>
                <a:endParaRPr lang="en-US" b="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D2B2E-7326-4D3D-94CE-C321813D39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3307" y="-317102"/>
            <a:ext cx="9144000" cy="2387600"/>
          </a:xfrm>
        </p:spPr>
        <p:txBody>
          <a:bodyPr>
            <a:normAutofit/>
          </a:bodyPr>
          <a:lstStyle/>
          <a:p>
            <a:r>
              <a:rPr lang="en-US" sz="8800" dirty="0"/>
              <a:t>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783" y="223559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1. Introducing H0 and H1</a:t>
            </a:r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E729E1-51F5-4257-B758-8E3A6683792B}"/>
                  </a:ext>
                </a:extLst>
              </p:cNvPr>
              <p:cNvSpPr/>
              <p:nvPr/>
            </p:nvSpPr>
            <p:spPr>
              <a:xfrm>
                <a:off x="2139517" y="1342293"/>
                <a:ext cx="2991775" cy="65603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E729E1-51F5-4257-B758-8E3A66837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517" y="1342293"/>
                <a:ext cx="2991775" cy="6560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8338AE2-6437-44B7-B192-EC145FD2C410}"/>
              </a:ext>
            </a:extLst>
          </p:cNvPr>
          <p:cNvSpPr txBox="1"/>
          <p:nvPr/>
        </p:nvSpPr>
        <p:spPr>
          <a:xfrm>
            <a:off x="1996883" y="766164"/>
            <a:ext cx="2965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Statistical model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34EFD18A-EDDF-482B-B0D4-919873AF3244}"/>
              </a:ext>
            </a:extLst>
          </p:cNvPr>
          <p:cNvSpPr/>
          <p:nvPr/>
        </p:nvSpPr>
        <p:spPr>
          <a:xfrm>
            <a:off x="6106134" y="547546"/>
            <a:ext cx="2965141" cy="195754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Random sample</a:t>
            </a:r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3DB33619-B028-4678-A4B2-A2EE4607D39E}"/>
              </a:ext>
            </a:extLst>
          </p:cNvPr>
          <p:cNvSpPr/>
          <p:nvPr/>
        </p:nvSpPr>
        <p:spPr>
          <a:xfrm flipH="1">
            <a:off x="4122826" y="2008753"/>
            <a:ext cx="2991775" cy="114865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BE6C8-8016-4280-BF8B-C55FCD35CE51}"/>
              </a:ext>
            </a:extLst>
          </p:cNvPr>
          <p:cNvSpPr txBox="1"/>
          <p:nvPr/>
        </p:nvSpPr>
        <p:spPr>
          <a:xfrm>
            <a:off x="761377" y="3339965"/>
            <a:ext cx="941014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i="1" dirty="0"/>
              <a:t>Confidence interval </a:t>
            </a:r>
          </a:p>
          <a:p>
            <a:r>
              <a:rPr lang="en-US" sz="2800" i="1" dirty="0"/>
              <a:t>Use the random sample to estimate the “</a:t>
            </a:r>
            <a:r>
              <a:rPr lang="en-US" sz="2800" i="1" dirty="0">
                <a:solidFill>
                  <a:srgbClr val="FF0000"/>
                </a:solidFill>
              </a:rPr>
              <a:t>?</a:t>
            </a:r>
            <a:r>
              <a:rPr lang="en-US" sz="2800" i="1" dirty="0"/>
              <a:t>” by an interval [   ,   ]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9B8B5A-B0A6-4109-881B-6491098F8B02}"/>
              </a:ext>
            </a:extLst>
          </p:cNvPr>
          <p:cNvSpPr/>
          <p:nvPr/>
        </p:nvSpPr>
        <p:spPr>
          <a:xfrm>
            <a:off x="761377" y="4347853"/>
            <a:ext cx="96338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E.g., Using a random sample and a 90% CI,  we estimate the average # of steps that a NTU student takes per day is between [4767.383,5232.617] steps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797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E729E1-51F5-4257-B758-8E3A6683792B}"/>
                  </a:ext>
                </a:extLst>
              </p:cNvPr>
              <p:cNvSpPr/>
              <p:nvPr/>
            </p:nvSpPr>
            <p:spPr>
              <a:xfrm>
                <a:off x="2139517" y="1342293"/>
                <a:ext cx="2991775" cy="65603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E729E1-51F5-4257-B758-8E3A66837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517" y="1342293"/>
                <a:ext cx="2991775" cy="6560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8338AE2-6437-44B7-B192-EC145FD2C410}"/>
              </a:ext>
            </a:extLst>
          </p:cNvPr>
          <p:cNvSpPr txBox="1"/>
          <p:nvPr/>
        </p:nvSpPr>
        <p:spPr>
          <a:xfrm>
            <a:off x="1996883" y="766164"/>
            <a:ext cx="2965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Statistical model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34EFD18A-EDDF-482B-B0D4-919873AF3244}"/>
              </a:ext>
            </a:extLst>
          </p:cNvPr>
          <p:cNvSpPr/>
          <p:nvPr/>
        </p:nvSpPr>
        <p:spPr>
          <a:xfrm>
            <a:off x="6106134" y="547546"/>
            <a:ext cx="2965141" cy="195754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Random sample</a:t>
            </a:r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3DB33619-B028-4678-A4B2-A2EE4607D39E}"/>
              </a:ext>
            </a:extLst>
          </p:cNvPr>
          <p:cNvSpPr/>
          <p:nvPr/>
        </p:nvSpPr>
        <p:spPr>
          <a:xfrm flipH="1">
            <a:off x="4122826" y="2008753"/>
            <a:ext cx="2991775" cy="114865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C07636-6E03-4415-9184-C39038D72BA5}"/>
              </a:ext>
            </a:extLst>
          </p:cNvPr>
          <p:cNvSpPr txBox="1"/>
          <p:nvPr/>
        </p:nvSpPr>
        <p:spPr>
          <a:xfrm>
            <a:off x="763120" y="3282798"/>
            <a:ext cx="10390088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i="1" dirty="0"/>
              <a:t>2. Hypothesis testing (HT)</a:t>
            </a:r>
          </a:p>
          <a:p>
            <a:r>
              <a:rPr lang="en-US" sz="2800" i="1" dirty="0"/>
              <a:t>Use the random sample to test a statement </a:t>
            </a:r>
            <a:r>
              <a:rPr lang="en-US" altLang="zh-TW" sz="2800" i="1" dirty="0"/>
              <a:t>(H</a:t>
            </a:r>
            <a:r>
              <a:rPr lang="en-US" altLang="zh-TW" sz="1600" i="1" dirty="0"/>
              <a:t>0</a:t>
            </a:r>
            <a:r>
              <a:rPr lang="en-US" altLang="zh-TW" sz="2800" i="1" dirty="0"/>
              <a:t>)</a:t>
            </a:r>
            <a:r>
              <a:rPr lang="zh-TW" altLang="en-US" sz="2800" i="1" dirty="0"/>
              <a:t> </a:t>
            </a:r>
            <a:r>
              <a:rPr lang="en-US" sz="2800" i="1" dirty="0"/>
              <a:t>about the value of “</a:t>
            </a:r>
            <a:r>
              <a:rPr lang="en-US" sz="2800" i="1" dirty="0">
                <a:solidFill>
                  <a:srgbClr val="FF0000"/>
                </a:solidFill>
              </a:rPr>
              <a:t>?</a:t>
            </a:r>
            <a:r>
              <a:rPr lang="en-US" sz="2800" i="1" dirty="0"/>
              <a:t>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0AB065-3E6D-4CB2-8661-D10583624EFC}"/>
              </a:ext>
            </a:extLst>
          </p:cNvPr>
          <p:cNvSpPr/>
          <p:nvPr/>
        </p:nvSpPr>
        <p:spPr>
          <a:xfrm>
            <a:off x="620455" y="4436951"/>
            <a:ext cx="9996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Let me test whether </a:t>
            </a:r>
            <a:r>
              <a:rPr lang="en-US" altLang="zh-TW" sz="2400" dirty="0"/>
              <a:t>“</a:t>
            </a:r>
            <a:r>
              <a:rPr lang="en-US" sz="2400" b="1" i="1" dirty="0"/>
              <a:t>the average # of steps that a NTU student takes is equal to 5000</a:t>
            </a:r>
            <a:r>
              <a:rPr lang="en-US" altLang="zh-TW" sz="2400" b="1" i="1" dirty="0"/>
              <a:t>”</a:t>
            </a:r>
            <a:r>
              <a:rPr lang="zh-TW" altLang="en-US" sz="2400" b="1" i="1" dirty="0"/>
              <a:t>  </a:t>
            </a:r>
            <a:r>
              <a:rPr lang="en-US" altLang="zh-TW" sz="2400" b="1" i="1" dirty="0"/>
              <a:t>is plausible or not</a:t>
            </a:r>
            <a:r>
              <a:rPr lang="en-US" sz="2400" b="1" i="1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F0AB065-3E6D-4CB2-8661-D10583624EFC}"/>
                  </a:ext>
                </a:extLst>
              </p:cNvPr>
              <p:cNvSpPr/>
              <p:nvPr/>
            </p:nvSpPr>
            <p:spPr>
              <a:xfrm>
                <a:off x="620455" y="5337767"/>
                <a:ext cx="999651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Mathematically, we want to verify </a:t>
                </a:r>
                <a14:m>
                  <m:oMath xmlns:m="http://schemas.openxmlformats.org/officeDocument/2006/math">
                    <m:r>
                      <a:rPr lang="en-SG" sz="2400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=5000</m:t>
                    </m:r>
                  </m:oMath>
                </a14:m>
                <a:r>
                  <a:rPr lang="en-US" sz="2400" b="1" i="1" dirty="0"/>
                  <a:t>,” using a sample as evidence</a:t>
                </a:r>
              </a:p>
              <a:p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b="1" i="1" dirty="0"/>
                  <a:t> HT describes a method to </a:t>
                </a:r>
                <a:r>
                  <a:rPr lang="en-US" sz="2400" b="1" i="1" u="sng" dirty="0"/>
                  <a:t>converting a random sample to a yes-no conclusion about the statement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F0AB065-3E6D-4CB2-8661-D10583624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55" y="5337767"/>
                <a:ext cx="9996513" cy="1200329"/>
              </a:xfrm>
              <a:prstGeom prst="rect">
                <a:avLst/>
              </a:prstGeom>
              <a:blipFill>
                <a:blip r:embed="rId7"/>
                <a:stretch>
                  <a:fillRect l="-976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4876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e B.A.A. Is Hosting the First-Ever Boston Marathon Fan Fest">
            <a:extLst>
              <a:ext uri="{FF2B5EF4-FFF2-40B4-BE49-F238E27FC236}">
                <a16:creationId xmlns:a16="http://schemas.microsoft.com/office/drawing/2014/main" id="{C4E6DC0D-CC33-47F3-84CB-7A0EDCB43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98443" y="1332903"/>
            <a:ext cx="6040064" cy="32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162C24-A979-4D76-BD37-59C67B5BB46D}"/>
              </a:ext>
            </a:extLst>
          </p:cNvPr>
          <p:cNvSpPr txBox="1"/>
          <p:nvPr/>
        </p:nvSpPr>
        <p:spPr>
          <a:xfrm>
            <a:off x="508447" y="132574"/>
            <a:ext cx="6690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Boston marathon</a:t>
            </a:r>
          </a:p>
        </p:txBody>
      </p:sp>
      <p:pic>
        <p:nvPicPr>
          <p:cNvPr id="1030" name="Picture 6" descr="Boston Marathon Course Information | Boston Athletic Association">
            <a:extLst>
              <a:ext uri="{FF2B5EF4-FFF2-40B4-BE49-F238E27FC236}">
                <a16:creationId xmlns:a16="http://schemas.microsoft.com/office/drawing/2014/main" id="{C2AE0202-BC1E-492F-9D53-69E4F84FA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8447" y="1332903"/>
            <a:ext cx="5292279" cy="32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159295-EEB0-4E45-97EC-109D67588B12}"/>
              </a:ext>
            </a:extLst>
          </p:cNvPr>
          <p:cNvSpPr txBox="1"/>
          <p:nvPr/>
        </p:nvSpPr>
        <p:spPr>
          <a:xfrm>
            <a:off x="409895" y="4812167"/>
            <a:ext cx="113722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average finishing time is 3.97 hours, based on real data from the 2017 race (data file in course website)  </a:t>
            </a:r>
          </a:p>
        </p:txBody>
      </p:sp>
    </p:spTree>
    <p:extLst>
      <p:ext uri="{BB962C8B-B14F-4D97-AF65-F5344CB8AC3E}">
        <p14:creationId xmlns:p14="http://schemas.microsoft.com/office/powerpoint/2010/main" val="1402751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D9FC83-1975-451B-8E09-83DB511F78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Understand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D9FC83-1975-451B-8E09-83DB511F7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8F2921-9555-45C8-A372-12744440C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“null”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</a:t>
                </a:r>
                <a:r>
                  <a:rPr lang="en-US" dirty="0"/>
                  <a:t>can be the status quo, or our current knowledge of the parameter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 </a:t>
                </a:r>
              </a:p>
              <a:p>
                <a:r>
                  <a:rPr lang="en-US" dirty="0"/>
                  <a:t>Our target parameter is the population mean of finishing time (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), among all runners of a marathon race like </a:t>
                </a:r>
                <a:r>
                  <a:rPr lang="en-US"/>
                  <a:t>this one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“</a:t>
                </a:r>
                <a:r>
                  <a:rPr lang="en-US" b="1" i="1" dirty="0"/>
                  <a:t>I want to test whether the average finishing time has changed since 2017 or not”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i="1" dirty="0">
                    <a:solidFill>
                      <a:srgbClr val="FF0000"/>
                    </a:solidFill>
                  </a:rPr>
                  <a:t>3.97hr</a:t>
                </a:r>
                <a:r>
                  <a:rPr lang="en-US" b="1" i="1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“Before putting up the advertisement, sales per day are $1,000 </a:t>
                </a:r>
                <a:r>
                  <a:rPr lang="en-US" b="1" i="1" dirty="0"/>
                  <a:t>(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=1000)</m:t>
                    </m:r>
                  </m:oMath>
                </a14:m>
                <a:r>
                  <a:rPr lang="en-US" dirty="0"/>
                  <a:t>. </a:t>
                </a:r>
                <a:r>
                  <a:rPr lang="en-US" b="1" i="1" dirty="0"/>
                  <a:t>I want to test whether the sales has changed in the presence the advertisement</a:t>
                </a:r>
                <a:r>
                  <a:rPr lang="en-US" dirty="0"/>
                  <a:t>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i="1" dirty="0">
                    <a:solidFill>
                      <a:srgbClr val="FF0000"/>
                    </a:solidFill>
                  </a:rPr>
                  <a:t>$1000 / day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alternative hypothesis that encompasses all the other possible values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(i.e., “all else”)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auto-generated based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8F2921-9555-45C8-A372-12744440C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43" t="-350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9929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Two types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6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0020"/>
                <a:ext cx="10515600" cy="53079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Depending on the purpose of your study, your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dirty="0"/>
                  <a:t> may take the form of equality </a:t>
                </a:r>
                <a:r>
                  <a:rPr lang="en-SG" b="1" u="sng" dirty="0"/>
                  <a:t>or</a:t>
                </a:r>
                <a:r>
                  <a:rPr lang="en-SG" dirty="0"/>
                  <a:t> inequality</a:t>
                </a: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Average finishing time has not changed since 2017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3.97 </a:t>
                </a:r>
                <a:r>
                  <a:rPr lang="en-US" dirty="0" err="1"/>
                  <a:t>hr</a:t>
                </a:r>
                <a:r>
                  <a:rPr lang="en-US" dirty="0"/>
                  <a:t>) </a:t>
                </a:r>
                <a:r>
                  <a:rPr lang="en-US" i="1" dirty="0">
                    <a:solidFill>
                      <a:schemeClr val="accent6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Average finishing time has changed since 2017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3.97 </a:t>
                </a:r>
                <a:r>
                  <a:rPr lang="en-US" dirty="0" err="1"/>
                  <a:t>hr</a:t>
                </a:r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Average finishing time has not improved since 2017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3.97 </a:t>
                </a:r>
                <a:r>
                  <a:rPr lang="en-US" dirty="0" err="1"/>
                  <a:t>hr</a:t>
                </a:r>
                <a:r>
                  <a:rPr lang="en-US" dirty="0"/>
                  <a:t>) </a:t>
                </a:r>
                <a:r>
                  <a:rPr lang="en-US" i="1" dirty="0">
                    <a:solidFill>
                      <a:schemeClr val="accent6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Average finishing time has improved since 2017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3.97 </a:t>
                </a:r>
                <a:r>
                  <a:rPr lang="en-US" dirty="0" err="1"/>
                  <a:t>hr</a:t>
                </a:r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0020"/>
                <a:ext cx="10515600" cy="5307980"/>
              </a:xfrm>
              <a:blipFill>
                <a:blip r:embed="rId7"/>
                <a:stretch>
                  <a:fillRect l="-1217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8104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7250-2250-423B-A381-5BB75EDF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(HT): key concept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1FFA5-D08D-4373-9605-615BDF2D5F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7712" y="1517084"/>
                <a:ext cx="10515600" cy="51473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3.97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(hours)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3.97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HT is a </a:t>
                </a:r>
                <a:r>
                  <a:rPr lang="en-US" u="sng" dirty="0"/>
                  <a:t>rule</a:t>
                </a:r>
                <a:r>
                  <a:rPr lang="en-US" dirty="0"/>
                  <a:t> to decide supporting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or not, based on a sample (from sample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conclusion)</a:t>
                </a:r>
              </a:p>
              <a:p>
                <a:pPr marL="0" indent="0">
                  <a:buNone/>
                </a:pPr>
                <a:r>
                  <a:rPr lang="en-US" dirty="0"/>
                  <a:t>Objective is to use sample to choose between these two opposing conclusions: 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“I do not find sufficient evidence against H0 “</a:t>
                </a:r>
              </a:p>
              <a:p>
                <a:pPr marL="0" indent="0">
                  <a:buNone/>
                </a:pPr>
                <a:r>
                  <a:rPr lang="en-US" dirty="0"/>
                  <a:t>b)   “I find sufficient evidence against H0”  </a:t>
                </a:r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1FFA5-D08D-4373-9605-615BDF2D5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712" y="1517084"/>
                <a:ext cx="10515600" cy="5147377"/>
              </a:xfrm>
              <a:blipFill>
                <a:blip r:embed="rId5"/>
                <a:stretch>
                  <a:fillRect l="-1217" t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2363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BF876-F04B-4247-956F-AE57E508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(HT): key concept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055C1E-5B6C-4B43-8564-E2E4FAD21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=3.97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3.97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decide a) or b), I collected a random sample of 50 runners of the 2019 marathon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,..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Sample mean is 4.0 hours. </a:t>
                </a:r>
              </a:p>
              <a:p>
                <a:pPr marL="0" indent="0">
                  <a:buNone/>
                </a:pPr>
                <a:r>
                  <a:rPr lang="en-US" dirty="0"/>
                  <a:t>Since 4.0 is different from 3.97, is it right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? If not, why not?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055C1E-5B6C-4B43-8564-E2E4FAD21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D888716-FDA7-484B-94CD-E234317B6396}"/>
              </a:ext>
            </a:extLst>
          </p:cNvPr>
          <p:cNvSpPr/>
          <p:nvPr/>
        </p:nvSpPr>
        <p:spPr>
          <a:xfrm>
            <a:off x="2536667" y="2644170"/>
            <a:ext cx="4397534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A: Reject H0</a:t>
            </a:r>
          </a:p>
          <a:p>
            <a:r>
              <a:rPr lang="en-US" sz="3200" dirty="0"/>
              <a:t>B: Not Reject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356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A9721DE-8162-44C9-B73E-4A78C0966C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8617" y="1727825"/>
            <a:ext cx="5520059" cy="2921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E0C64C-74A2-4964-AE1E-9277483BE384}"/>
              </a:ext>
            </a:extLst>
          </p:cNvPr>
          <p:cNvSpPr txBox="1"/>
          <p:nvPr/>
        </p:nvSpPr>
        <p:spPr>
          <a:xfrm>
            <a:off x="66467" y="63499"/>
            <a:ext cx="4274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analyze this </a:t>
            </a:r>
            <a:r>
              <a:rPr lang="en-US" sz="2800" dirty="0">
                <a:sym typeface="Wingdings" panose="05000000000000000000" pitchFamily="2" charset="2"/>
              </a:rPr>
              <a:t></a:t>
            </a:r>
            <a:r>
              <a:rPr lang="en-US" sz="28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92C4D2-BA20-46E1-9DED-EFC12E97A788}"/>
                  </a:ext>
                </a:extLst>
              </p:cNvPr>
              <p:cNvSpPr txBox="1"/>
              <p:nvPr/>
            </p:nvSpPr>
            <p:spPr>
              <a:xfrm>
                <a:off x="4717854" y="3950146"/>
                <a:ext cx="24527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dirty="0"/>
                  <a:t>, by CLT)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92C4D2-BA20-46E1-9DED-EFC12E97A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854" y="3950146"/>
                <a:ext cx="2452787" cy="369332"/>
              </a:xfrm>
              <a:prstGeom prst="rect">
                <a:avLst/>
              </a:prstGeom>
              <a:blipFill>
                <a:blip r:embed="rId6"/>
                <a:stretch>
                  <a:fillRect l="-2239" t="-9836" r="-14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75AF0D1-EC28-40C9-81CE-1423731C175A}"/>
              </a:ext>
            </a:extLst>
          </p:cNvPr>
          <p:cNvSpPr/>
          <p:nvPr/>
        </p:nvSpPr>
        <p:spPr>
          <a:xfrm>
            <a:off x="2395391" y="1551671"/>
            <a:ext cx="656349" cy="2154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C2A81D-27DF-4CA8-9263-CAAD5A5D9248}"/>
                  </a:ext>
                </a:extLst>
              </p:cNvPr>
              <p:cNvSpPr txBox="1"/>
              <p:nvPr/>
            </p:nvSpPr>
            <p:spPr>
              <a:xfrm>
                <a:off x="942449" y="596463"/>
                <a:ext cx="100471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When H0 is true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000" dirty="0"/>
                  <a:t>(which we don’t know is true or not)  </a:t>
                </a:r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C2A81D-27DF-4CA8-9263-CAAD5A5D9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49" y="596463"/>
                <a:ext cx="10047182" cy="523220"/>
              </a:xfrm>
              <a:prstGeom prst="rect">
                <a:avLst/>
              </a:prstGeom>
              <a:blipFill>
                <a:blip r:embed="rId7"/>
                <a:stretch>
                  <a:fillRect l="-1274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E981051-4166-40FE-B343-9E25508660AA}"/>
              </a:ext>
            </a:extLst>
          </p:cNvPr>
          <p:cNvSpPr txBox="1"/>
          <p:nvPr/>
        </p:nvSpPr>
        <p:spPr>
          <a:xfrm>
            <a:off x="835055" y="4688918"/>
            <a:ext cx="100471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Sample mean could deviate from 3.97 even when H0 is true—this distribution or uncertainty is due to “sampling” (instead of a census)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548054-75CC-45CB-8DAF-FBBFBFED30D5}"/>
                  </a:ext>
                </a:extLst>
              </p:cNvPr>
              <p:cNvSpPr txBox="1"/>
              <p:nvPr/>
            </p:nvSpPr>
            <p:spPr>
              <a:xfrm>
                <a:off x="835055" y="5662180"/>
                <a:ext cx="10047182" cy="95410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So…not wise to reject H0 when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differs only slightly with 3.97 (</a:t>
                </a:r>
                <a:r>
                  <a:rPr lang="en-US" sz="2800" dirty="0" err="1"/>
                  <a:t>hr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548054-75CC-45CB-8DAF-FBBFBFED3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55" y="5662180"/>
                <a:ext cx="10047182" cy="954107"/>
              </a:xfrm>
              <a:prstGeom prst="rect">
                <a:avLst/>
              </a:prstGeom>
              <a:blipFill>
                <a:blip r:embed="rId8"/>
                <a:stretch>
                  <a:fillRect l="-1212" t="-5696" b="-17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DE776AB-6790-46FB-AF0B-07FFA2F769B5}"/>
              </a:ext>
            </a:extLst>
          </p:cNvPr>
          <p:cNvSpPr txBox="1"/>
          <p:nvPr/>
        </p:nvSpPr>
        <p:spPr>
          <a:xfrm>
            <a:off x="992086" y="1113328"/>
            <a:ext cx="100471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My evidence: the sample mean of 50 runners may take this form (by CLT):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227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2B6550E-666E-4DA8-8E2B-C3CFFF9FD1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2892" y="1127001"/>
            <a:ext cx="5520059" cy="2921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FBF876-F04B-4247-956F-AE57E508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(HT): key concept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230010-AE1D-4DAB-A516-86B9DC6A7D81}"/>
                  </a:ext>
                </a:extLst>
              </p:cNvPr>
              <p:cNvSpPr txBox="1"/>
              <p:nvPr/>
            </p:nvSpPr>
            <p:spPr>
              <a:xfrm>
                <a:off x="4394176" y="3315344"/>
                <a:ext cx="24527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dirty="0"/>
                  <a:t>, by CLT)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230010-AE1D-4DAB-A516-86B9DC6A7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176" y="3315344"/>
                <a:ext cx="2452787" cy="369332"/>
              </a:xfrm>
              <a:prstGeom prst="rect">
                <a:avLst/>
              </a:prstGeom>
              <a:blipFill>
                <a:blip r:embed="rId6"/>
                <a:stretch>
                  <a:fillRect l="-2239" t="-10000" r="-149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055C1E-5B6C-4B43-8564-E2E4FAD21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366" y="155257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3.97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055C1E-5B6C-4B43-8564-E2E4FAD21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366" y="1552576"/>
                <a:ext cx="10515600" cy="4351338"/>
              </a:xfrm>
              <a:blipFill>
                <a:blip r:embed="rId7"/>
                <a:stretch>
                  <a:fillRect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C170E-84BF-4727-8A18-2B7B3087F680}"/>
                  </a:ext>
                </a:extLst>
              </p:cNvPr>
              <p:cNvSpPr txBox="1"/>
              <p:nvPr/>
            </p:nvSpPr>
            <p:spPr>
              <a:xfrm>
                <a:off x="829784" y="5833260"/>
                <a:ext cx="10047182" cy="95410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Concept 2: We will allow some “buffer” in sample information, before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C170E-84BF-4727-8A18-2B7B3087F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84" y="5833260"/>
                <a:ext cx="10047182" cy="954107"/>
              </a:xfrm>
              <a:prstGeom prst="rect">
                <a:avLst/>
              </a:prstGeom>
              <a:blipFill>
                <a:blip r:embed="rId8"/>
                <a:stretch>
                  <a:fillRect l="-1152" t="-5696" b="-17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F63D5A-9EA4-4034-A92C-553AC0EB6539}"/>
                  </a:ext>
                </a:extLst>
              </p:cNvPr>
              <p:cNvSpPr txBox="1"/>
              <p:nvPr/>
            </p:nvSpPr>
            <p:spPr>
              <a:xfrm>
                <a:off x="829784" y="3999113"/>
                <a:ext cx="10415092" cy="181588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sz="2800" dirty="0"/>
                  <a:t>, it is “quite likely” to get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/>
                  <a:t> near 3.97, say 4.0. But it’s quite unlikely to get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/>
                  <a:t>=5.0 or 3.0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We will set a “buffer zone” around 3.97, for which we consider </a:t>
                </a:r>
                <a:r>
                  <a:rPr lang="en-US" sz="2800" i="1" u="sng" dirty="0"/>
                  <a:t>normal</a:t>
                </a:r>
                <a:r>
                  <a:rPr lang="en-US" sz="2800" i="1" dirty="0"/>
                  <a:t> (pun unintended)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F63D5A-9EA4-4034-A92C-553AC0EB6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84" y="3999113"/>
                <a:ext cx="10415092" cy="1815882"/>
              </a:xfrm>
              <a:prstGeom prst="rect">
                <a:avLst/>
              </a:prstGeom>
              <a:blipFill>
                <a:blip r:embed="rId9"/>
                <a:stretch>
                  <a:fillRect l="-1110" t="-2667" r="-163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1675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Summary of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/>
          </a:bodyPr>
          <a:lstStyle/>
          <a:p>
            <a:r>
              <a:rPr lang="en-SG" dirty="0"/>
              <a:t>Analyse the problem and formulate </a:t>
            </a:r>
            <a:r>
              <a:rPr lang="en-SG" dirty="0">
                <a:solidFill>
                  <a:schemeClr val="accent1"/>
                </a:solidFill>
              </a:rPr>
              <a:t>H0</a:t>
            </a:r>
            <a:r>
              <a:rPr lang="en-SG" dirty="0"/>
              <a:t> and </a:t>
            </a:r>
            <a:r>
              <a:rPr lang="en-SG" dirty="0">
                <a:solidFill>
                  <a:srgbClr val="00B050"/>
                </a:solidFill>
              </a:rPr>
              <a:t>H1</a:t>
            </a:r>
          </a:p>
          <a:p>
            <a:pPr marL="0" indent="0">
              <a:buNone/>
            </a:pPr>
            <a:r>
              <a:rPr lang="en-SG" i="1" dirty="0"/>
              <a:t>-</a:t>
            </a:r>
            <a:r>
              <a:rPr lang="en-SG" dirty="0">
                <a:solidFill>
                  <a:schemeClr val="accent1"/>
                </a:solidFill>
              </a:rPr>
              <a:t> H0</a:t>
            </a:r>
            <a:r>
              <a:rPr lang="en-SG" i="1" dirty="0"/>
              <a:t>: Null hypothesis (no change; no effect). </a:t>
            </a:r>
            <a:r>
              <a:rPr lang="en-SG" dirty="0">
                <a:solidFill>
                  <a:srgbClr val="00B050"/>
                </a:solidFill>
              </a:rPr>
              <a:t>H1</a:t>
            </a:r>
            <a:r>
              <a:rPr lang="en-SG" i="1" dirty="0"/>
              <a:t>: Alternative hypothesis (there is a change, or an effect on status quo)</a:t>
            </a:r>
          </a:p>
          <a:p>
            <a:r>
              <a:rPr lang="en-US" dirty="0"/>
              <a:t>Key concept #1: </a:t>
            </a:r>
          </a:p>
          <a:p>
            <a:pPr marL="0" indent="0">
              <a:buNone/>
            </a:pPr>
            <a:r>
              <a:rPr lang="en-US" dirty="0"/>
              <a:t>We use the sample, either to reject H0, or NOT reject H0</a:t>
            </a:r>
            <a:endParaRPr lang="en-SG" i="1" dirty="0"/>
          </a:p>
          <a:p>
            <a:r>
              <a:rPr lang="en-SG" dirty="0"/>
              <a:t> Key concept #2:</a:t>
            </a:r>
          </a:p>
          <a:p>
            <a:pPr marL="0" indent="0">
              <a:buNone/>
            </a:pPr>
            <a:r>
              <a:rPr lang="en-SG" dirty="0"/>
              <a:t>The sampling process induces uncertainty -&gt; Rationally, we create a “buffer” in making the rejection decision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415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7|35.1|1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17|49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27.3|15.2|30|57.6|37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0.5|7.5|21.7|33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25.6|63.8|11.7|12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49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0.5|20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5|7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16|19.6|5.8|18.1|0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848</Words>
  <Application>Microsoft Office PowerPoint</Application>
  <PresentationFormat>寬螢幕</PresentationFormat>
  <Paragraphs>75</Paragraphs>
  <Slides>11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Hypothesis testing</vt:lpstr>
      <vt:lpstr>PowerPoint 簡報</vt:lpstr>
      <vt:lpstr>PowerPoint 簡報</vt:lpstr>
      <vt:lpstr>PowerPoint 簡報</vt:lpstr>
      <vt:lpstr>Understand H_0 and H_1</vt:lpstr>
      <vt:lpstr>Two types of H_0 </vt:lpstr>
      <vt:lpstr>Hypothesis testing (HT): key concept 1</vt:lpstr>
      <vt:lpstr>Hypothesis testing (HT): key concept 2</vt:lpstr>
      <vt:lpstr>PowerPoint 簡報</vt:lpstr>
      <vt:lpstr>Hypothesis testing (HT): key concept 2</vt:lpstr>
      <vt:lpstr>Summary of hypothesis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188</cp:revision>
  <cp:lastPrinted>2020-06-05T09:41:55Z</cp:lastPrinted>
  <dcterms:created xsi:type="dcterms:W3CDTF">2018-07-30T07:45:11Z</dcterms:created>
  <dcterms:modified xsi:type="dcterms:W3CDTF">2021-07-10T12:04:27Z</dcterms:modified>
</cp:coreProperties>
</file>
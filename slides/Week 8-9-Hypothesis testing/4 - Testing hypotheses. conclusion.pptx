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2.xml" ContentType="application/vnd.openxmlformats-officedocument.presentationml.notesSlide+xml"/>
  <Override PartName="/ppt/tags/tag3.xml" ContentType="application/vnd.openxmlformats-officedocument.presentationml.tags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80" r:id="rId2"/>
    <p:sldId id="261" r:id="rId3"/>
    <p:sldId id="258" r:id="rId4"/>
    <p:sldId id="260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07" autoAdjust="0"/>
    <p:restoredTop sz="75157" autoAdjust="0"/>
  </p:normalViewPr>
  <p:slideViewPr>
    <p:cSldViewPr snapToGrid="0">
      <p:cViewPr varScale="1">
        <p:scale>
          <a:sx n="114" d="100"/>
          <a:sy n="114" d="100"/>
        </p:scale>
        <p:origin x="41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E8AD71E-A39C-46A8-8E7F-DA7832553314}" type="datetimeFigureOut">
              <a:rPr lang="en-US" smtClean="0"/>
              <a:t>7/10/2021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E614C9F-3EAD-457D-8AFA-23CBE8E3D2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88654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2C4875-8523-436E-AFC9-E015484AB16B}" type="slidenum">
              <a:rPr lang="en-SG" smtClean="0"/>
              <a:t>1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82454133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endParaRPr lang="en-US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dirty="0"/>
                  <a:t>Although hypothesis testing is still used routinely nowadays, </a:t>
                </a:r>
              </a:p>
              <a:p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In fact, you can almost always reject </a:t>
                </a:r>
                <a:r>
                  <a:rPr lang="en-US" b="0" i="0">
                    <a:latin typeface="Cambria Math" panose="02040503050406030204" pitchFamily="18" charset="0"/>
                  </a:rPr>
                  <a:t>𝜇=</a:t>
                </a:r>
                <a:r>
                  <a:rPr lang="en-US" i="0">
                    <a:latin typeface="Cambria Math" panose="02040503050406030204" pitchFamily="18" charset="0"/>
                  </a:rPr>
                  <a:t>𝜃 </a:t>
                </a:r>
                <a:r>
                  <a:rPr lang="en-US" dirty="0"/>
                  <a:t>with a large enough sample.</a:t>
                </a:r>
              </a:p>
              <a:p>
                <a:pPr marL="0" indent="0">
                  <a:buNone/>
                </a:pPr>
                <a:r>
                  <a:rPr lang="en-SG" dirty="0"/>
                  <a:t>t(n-1)=</a:t>
                </a:r>
                <a:r>
                  <a:rPr lang="en-SG" i="0">
                    <a:latin typeface="Cambria Math" panose="02040503050406030204" pitchFamily="18" charset="0"/>
                  </a:rPr>
                  <a:t>(</a:t>
                </a:r>
                <a:r>
                  <a:rPr lang="en-US" i="0">
                    <a:latin typeface="Cambria Math" panose="02040503050406030204" pitchFamily="18" charset="0"/>
                  </a:rPr>
                  <a:t>((𝑋_𝑛 ) ̅−𝜇_0)</a:t>
                </a:r>
                <a:r>
                  <a:rPr lang="en-SG" i="0">
                    <a:latin typeface="Cambria Math" panose="02040503050406030204" pitchFamily="18" charset="0"/>
                  </a:rPr>
                  <a:t>)/(</a:t>
                </a:r>
                <a:r>
                  <a:rPr lang="en-US" b="0" i="0">
                    <a:latin typeface="Cambria Math" panose="02040503050406030204" pitchFamily="18" charset="0"/>
                  </a:rPr>
                  <a:t>𝑆/√𝑛</a:t>
                </a:r>
                <a:r>
                  <a:rPr lang="en-SG" b="0" i="0">
                    <a:latin typeface="Cambria Math" panose="02040503050406030204" pitchFamily="18" charset="0"/>
                  </a:rPr>
                  <a:t>)</a:t>
                </a:r>
                <a:r>
                  <a:rPr lang="en-US" dirty="0"/>
                  <a:t>  and Z=</a:t>
                </a:r>
                <a:r>
                  <a:rPr lang="en-SG" dirty="0"/>
                  <a:t> </a:t>
                </a:r>
                <a:r>
                  <a:rPr lang="en-SG" i="0">
                    <a:latin typeface="Cambria Math" panose="02040503050406030204" pitchFamily="18" charset="0"/>
                  </a:rPr>
                  <a:t>(</a:t>
                </a:r>
                <a:r>
                  <a:rPr lang="en-US" i="0">
                    <a:latin typeface="Cambria Math" panose="02040503050406030204" pitchFamily="18" charset="0"/>
                  </a:rPr>
                  <a:t>((𝑋_𝑛 ) ̅−𝜇_0)</a:t>
                </a:r>
                <a:r>
                  <a:rPr lang="en-SG" i="0">
                    <a:latin typeface="Cambria Math" panose="02040503050406030204" pitchFamily="18" charset="0"/>
                  </a:rPr>
                  <a:t>)/(</a:t>
                </a:r>
                <a:r>
                  <a:rPr lang="en-US" b="0" i="0">
                    <a:latin typeface="Cambria Math" panose="02040503050406030204" pitchFamily="18" charset="0"/>
                  </a:rPr>
                  <a:t>𝜎</a:t>
                </a:r>
                <a:r>
                  <a:rPr lang="en-US" i="0">
                    <a:latin typeface="Cambria Math" panose="02040503050406030204" pitchFamily="18" charset="0"/>
                  </a:rPr>
                  <a:t>/√𝑛</a:t>
                </a:r>
                <a:r>
                  <a:rPr lang="en-SG" i="0">
                    <a:latin typeface="Cambria Math" panose="02040503050406030204" pitchFamily="18" charset="0"/>
                  </a:rPr>
                  <a:t>)</a:t>
                </a:r>
                <a:r>
                  <a:rPr lang="en-US" dirty="0"/>
                  <a:t> generally increase in absolutely value in, as </a:t>
                </a:r>
              </a:p>
              <a:p>
                <a:endParaRPr lang="en-US" dirty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614C9F-3EAD-457D-8AFA-23CBE8E3D293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81102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614C9F-3EAD-457D-8AFA-23CBE8E3D293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572638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9E287C-6EAE-4F9B-8152-585C701A5C0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1235A4A-B887-407A-9FD1-9ADF72FED0B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F6C758-6E36-4CC7-AD9C-7924C06002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223E1-0F29-4815-AEED-0FB78E8DF392}" type="datetimeFigureOut">
              <a:rPr lang="en-US" smtClean="0"/>
              <a:t>7/10/2021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FE2774-C9E6-46A3-B4D4-6FC942C2D0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7A94FB-1268-4D52-AA6F-2F9684A8D1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C44B64-E6B0-4730-B814-B546C3DD25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67351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CA12C5-8109-48B9-8119-F85B21AB2E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D8F51A-3BA6-4632-AE68-9C1A1DE8E9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DF956D-8726-4A6A-9D35-4F2C01D5D3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223E1-0F29-4815-AEED-0FB78E8DF392}" type="datetimeFigureOut">
              <a:rPr lang="en-US" smtClean="0"/>
              <a:t>7/10/2021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8FBD31-DD74-458D-B814-03DC50BBDB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81FF28-DCE7-42D9-8EDF-9B0A2764CB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C44B64-E6B0-4730-B814-B546C3DD25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06706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DA2C4E-CAD6-4055-99F8-FA619B1DAD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B1B201-80A7-4F9D-BEDD-2BE6B26156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85ECEC-58FD-4CAE-97C9-773374A714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223E1-0F29-4815-AEED-0FB78E8DF392}" type="datetimeFigureOut">
              <a:rPr lang="en-US" smtClean="0"/>
              <a:t>7/10/2021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B753CC-16AE-4035-BD4B-12E6D08455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55B59E-F555-450A-9286-131E3AD76F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C44B64-E6B0-4730-B814-B546C3DD25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19787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C9EBFE-D223-4DED-AC1D-F2D7CF9350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C971D2-9257-4381-984E-A14A15AF974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FF42838-B118-4A45-93FF-028B31BCDAA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DF80843-66C6-44BA-8B2A-46A3580488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223E1-0F29-4815-AEED-0FB78E8DF392}" type="datetimeFigureOut">
              <a:rPr lang="en-US" smtClean="0"/>
              <a:t>7/10/2021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4EC76B9-17AA-4E3A-9220-DE416895B2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A545492-7FA4-4815-80B0-49F45F7A09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C44B64-E6B0-4730-B814-B546C3DD25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8684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2046FF-8C48-4F51-8F1F-1CF399B57A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B1F9CD-B0E5-4031-9728-8B59B6DD43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4C74174-581D-470F-90D2-B41676AA15B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6C52485-4BB2-40B5-824A-F20CF6BFAB1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784B6DE-9ED4-4F93-8A42-F7BEB65BE24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5F97094-1D50-4864-9623-C47FDE3F85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223E1-0F29-4815-AEED-0FB78E8DF392}" type="datetimeFigureOut">
              <a:rPr lang="en-US" smtClean="0"/>
              <a:t>7/10/2021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5DFCD70-994A-456B-B41B-23F59E27D0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54C2168-5017-45BA-9394-FD8F7F67FB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C44B64-E6B0-4730-B814-B546C3DD25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88665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BD3B92-78A0-49FA-B49B-8F7E7874A5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5D56162-0109-4475-869A-416DFB54F8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223E1-0F29-4815-AEED-0FB78E8DF392}" type="datetimeFigureOut">
              <a:rPr lang="en-US" smtClean="0"/>
              <a:t>7/10/2021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C6FEA20-6220-4E5C-BC71-906692BB55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83F2955-D744-473A-8F58-AEAD31AA40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C44B64-E6B0-4730-B814-B546C3DD25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59319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2A9E777-752A-4291-9DA0-6EFAE03C63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223E1-0F29-4815-AEED-0FB78E8DF392}" type="datetimeFigureOut">
              <a:rPr lang="en-US" smtClean="0"/>
              <a:t>7/10/2021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BAE8086-5952-4290-8FF4-8C9AC25A3E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35B59C3-E89D-42F1-8CD6-8E482A41C2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C44B64-E6B0-4730-B814-B546C3DD25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34227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98A6B5-B74F-4C68-9069-F05A7DEEBE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86C9BE-D42E-49A5-9A42-F7EBA64F49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DD7B45-7022-4B45-9816-9A47856DB9D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DDA92F3-A0A7-48FC-B6A3-AD41339AAA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223E1-0F29-4815-AEED-0FB78E8DF392}" type="datetimeFigureOut">
              <a:rPr lang="en-US" smtClean="0"/>
              <a:t>7/10/2021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6330098-F070-4F88-845A-37ACB4EC13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80FCA4D-CB78-4E7C-9632-EA8AD015C1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C44B64-E6B0-4730-B814-B546C3DD25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66990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2B4986-B049-4D24-AAFD-1C7DFE05EB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28B25DD-CE4F-43CD-A0AC-92453E88541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62F6009-31EC-40BA-8D90-28FE6859B2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CEC67D9-2599-41B5-A59D-F9C9CED79E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223E1-0F29-4815-AEED-0FB78E8DF392}" type="datetimeFigureOut">
              <a:rPr lang="en-US" smtClean="0"/>
              <a:t>7/10/2021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977E4D9-296D-43E7-82F5-4686E26097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121FD23-915B-4D30-8605-5803ED6052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C44B64-E6B0-4730-B814-B546C3DD25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04129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3C30D7-86A6-49EE-9EA5-B9E5E72EEC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19545C4-A51E-4BE0-A47C-E167937F518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6B942C-D828-4C44-9BAD-C0EC6AADE9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223E1-0F29-4815-AEED-0FB78E8DF392}" type="datetimeFigureOut">
              <a:rPr lang="en-US" smtClean="0"/>
              <a:t>7/10/2021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B08201-9E3E-4389-8730-C064C78A14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E9F554-2B8E-4B2E-A0D5-314D690A41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C44B64-E6B0-4730-B814-B546C3DD25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39427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B887551-C2CF-4AA7-8714-B33707A4DD4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895081A-7203-4C78-8ED4-02C523A99EC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F6E4FF-7E7D-4760-9EFC-2A16568537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223E1-0F29-4815-AEED-0FB78E8DF392}" type="datetimeFigureOut">
              <a:rPr lang="en-US" smtClean="0"/>
              <a:t>7/10/2021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D8DC08-84F4-4DEF-856F-16FF4F9C39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8ACAC4-EE1E-4011-9015-ABFFF118D7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C44B64-E6B0-4730-B814-B546C3DD25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36618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2D032D6-894C-443C-9F40-6B359B0D51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EF04FB6-2E47-43B5-8DCD-E32A06AB21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55056A-AED4-4E62-8EF5-590303868A9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A223E1-0F29-4815-AEED-0FB78E8DF392}" type="datetimeFigureOut">
              <a:rPr lang="en-US" smtClean="0"/>
              <a:t>7/10/2021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962BAC-B842-4A96-8FC9-E83E6D47B43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98408A-BFE4-471F-B3EF-63C5E37DC13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DC44B64-E6B0-4730-B814-B546C3DD25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29038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Relationship Id="rId5" Type="http://schemas.openxmlformats.org/officeDocument/2006/relationships/image" Target="../media/image2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Relationship Id="rId6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Relationship Id="rId6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4DD1F0B6-3928-44F0-8191-E10BAF4B61B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What hypothesis testing is and is not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1BAD5BB-EACA-457A-8A70-DAE13AC3E96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9" name="Picture 8" descr="NTU_PP_slide_Footer_sized.png">
            <a:extLst>
              <a:ext uri="{FF2B5EF4-FFF2-40B4-BE49-F238E27FC236}">
                <a16:creationId xmlns:a16="http://schemas.microsoft.com/office/drawing/2014/main" id="{F0BE4941-908B-48D8-94C8-67A52AD20376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6327909"/>
            <a:ext cx="12192000" cy="5378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45518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Confidence interval (CI) and hypothesis testing (HT)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1994760"/>
                <a:ext cx="10515600" cy="4351338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dirty="0"/>
                  <a:t>Suppose we want to study the average GPA of all colleague graduates during the past five years in Singapore. We can choose between the two approaches we learned</a:t>
                </a:r>
              </a:p>
              <a:p>
                <a:r>
                  <a:rPr lang="en-US" dirty="0"/>
                  <a:t>Collect a sample and obtain 95% </a:t>
                </a:r>
                <a14:m>
                  <m:oMath xmlns:m="http://schemas.openxmlformats.org/officeDocument/2006/math">
                    <m:r>
                      <a:rPr lang="en-SG" i="1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SG" i="1">
                        <a:latin typeface="Cambria Math" panose="02040503050406030204" pitchFamily="18" charset="0"/>
                      </a:rPr>
                      <m:t>.</m:t>
                    </m:r>
                    <m:r>
                      <a:rPr lang="en-SG" i="1">
                        <a:latin typeface="Cambria Math" panose="02040503050406030204" pitchFamily="18" charset="0"/>
                      </a:rPr>
                      <m:t>𝐼</m:t>
                    </m:r>
                    <m:r>
                      <a:rPr lang="en-SG" i="1">
                        <a:latin typeface="Cambria Math" panose="02040503050406030204" pitchFamily="18" charset="0"/>
                      </a:rPr>
                      <m:t>.:</m:t>
                    </m:r>
                    <m:r>
                      <a:rPr lang="en-SG" i="1">
                        <a:latin typeface="Cambria Math" panose="02040503050406030204" pitchFamily="18" charset="0"/>
                      </a:rPr>
                      <m:t>𝜇</m:t>
                    </m:r>
                    <m:r>
                      <a:rPr lang="en-SG" i="1">
                        <a:latin typeface="Cambria Math" panose="02040503050406030204" pitchFamily="18" charset="0"/>
                      </a:rPr>
                      <m:t>∈[3.8,4.0]</m:t>
                    </m:r>
                  </m:oMath>
                </a14:m>
                <a:r>
                  <a:rPr lang="en-US" dirty="0"/>
                  <a:t>  </a:t>
                </a:r>
              </a:p>
              <a:p>
                <a:r>
                  <a:rPr lang="en-US" dirty="0"/>
                  <a:t>Set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SG" i="1">
                        <a:latin typeface="Cambria Math" panose="02040503050406030204" pitchFamily="18" charset="0"/>
                      </a:rPr>
                      <m:t>:</m:t>
                    </m:r>
                    <m:r>
                      <a:rPr lang="en-SG" i="1">
                        <a:latin typeface="Cambria Math" panose="02040503050406030204" pitchFamily="18" charset="0"/>
                      </a:rPr>
                      <m:t>𝜇</m:t>
                    </m:r>
                    <m:r>
                      <a:rPr lang="en-SG" i="1">
                        <a:latin typeface="Cambria Math" panose="02040503050406030204" pitchFamily="18" charset="0"/>
                      </a:rPr>
                      <m:t>=4.0</m:t>
                    </m:r>
                  </m:oMath>
                </a14:m>
                <a:r>
                  <a:rPr lang="en-US" dirty="0"/>
                  <a:t>; obtain a sample and decide should we reject it or not, given </a:t>
                </a:r>
                <a14:m>
                  <m:oMath xmlns:m="http://schemas.openxmlformats.org/officeDocument/2006/math">
                    <m:r>
                      <a:rPr lang="en-SG" b="0" i="1" smtClean="0"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SG" b="0" i="1" smtClean="0">
                        <a:latin typeface="Cambria Math" panose="02040503050406030204" pitchFamily="18" charset="0"/>
                      </a:rPr>
                      <m:t>=5%</m:t>
                    </m:r>
                  </m:oMath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Which method do you think give you more information?</a:t>
                </a:r>
              </a:p>
              <a:p>
                <a:pPr marL="0" indent="0">
                  <a:buNone/>
                </a:pPr>
                <a:r>
                  <a:rPr lang="en-US" dirty="0"/>
                  <a:t>While C.I. is generally more informative, H.T. is still very commonly used—so we must be aware of its pitfalls</a:t>
                </a:r>
              </a:p>
              <a:p>
                <a:endParaRPr lang="en-SG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994760"/>
                <a:ext cx="10515600" cy="4351338"/>
              </a:xfrm>
              <a:blipFill>
                <a:blip r:embed="rId5"/>
                <a:stretch>
                  <a:fillRect l="-1217" t="-2241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1335443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54618A-B7A7-469C-8E1C-D4E432CE17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#1 caveat about hypothesis testing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6876527-679C-4366-8A41-75290651F33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199" y="1825625"/>
                <a:ext cx="11024937" cy="4667250"/>
              </a:xfrm>
            </p:spPr>
            <p:txBody>
              <a:bodyPr>
                <a:normAutofit fontScale="92500" lnSpcReduction="20000"/>
              </a:bodyPr>
              <a:lstStyle/>
              <a:p>
                <a:pPr marL="0" indent="0">
                  <a:buNone/>
                </a:pPr>
                <a:r>
                  <a:rPr lang="en-US" b="1" u="sng" dirty="0"/>
                  <a:t>1. When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 u="sng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u="sng" dirty="0">
                            <a:latin typeface="Cambria Math" panose="02040503050406030204" pitchFamily="18" charset="0"/>
                          </a:rPr>
                          <m:t>𝑯</m:t>
                        </m:r>
                      </m:e>
                      <m:sub>
                        <m:r>
                          <a:rPr lang="en-US" b="1" i="1" u="sng" dirty="0"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</m:oMath>
                </a14:m>
                <a:r>
                  <a:rPr lang="en-US" b="1" u="sng" dirty="0"/>
                  <a:t> is rejected: Be aware s</a:t>
                </a:r>
                <a:r>
                  <a:rPr lang="en-US" b="1" i="1" u="sng" dirty="0"/>
                  <a:t>tatistical significance does not imply</a:t>
                </a:r>
                <a:r>
                  <a:rPr lang="en-US" b="1" u="sng" dirty="0"/>
                  <a:t> </a:t>
                </a:r>
                <a:r>
                  <a:rPr lang="en-US" b="1" i="1" u="sng" dirty="0"/>
                  <a:t>practical significance  </a:t>
                </a:r>
              </a:p>
              <a:p>
                <a:pPr marL="0" indent="0">
                  <a:buNone/>
                </a:pPr>
                <a:r>
                  <a:rPr lang="en-US" i="1" dirty="0"/>
                  <a:t>Statistical significance (SS)</a:t>
                </a:r>
                <a:r>
                  <a:rPr lang="en-US" dirty="0"/>
                  <a:t>: we’ve gotten statistical support for the research hypothesis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dirty="0">
                            <a:latin typeface="Cambria Math" panose="02040503050406030204" pitchFamily="18" charset="0"/>
                          </a:rPr>
                          <m:t>𝑯</m:t>
                        </m:r>
                      </m:e>
                      <m:sub>
                        <m:r>
                          <a:rPr lang="en-SG" b="1" i="1" dirty="0" smtClean="0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US" dirty="0"/>
                  <a:t>—i.e., we have low p-value and strong evidence against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dirty="0">
                            <a:latin typeface="Cambria Math" panose="02040503050406030204" pitchFamily="18" charset="0"/>
                          </a:rPr>
                          <m:t>𝑯</m:t>
                        </m:r>
                      </m:e>
                      <m:sub>
                        <m:r>
                          <a:rPr lang="en-US" b="1" i="1" dirty="0"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</m:oMath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i="1" dirty="0"/>
                  <a:t>Practical significance (PS)</a:t>
                </a:r>
                <a:r>
                  <a:rPr lang="en-US" dirty="0"/>
                  <a:t>: the size of parameter value. Does it </a:t>
                </a:r>
                <a:r>
                  <a:rPr lang="en-US"/>
                  <a:t>really mean </a:t>
                </a:r>
                <a:r>
                  <a:rPr lang="en-US" dirty="0"/>
                  <a:t>a lot in its context? </a:t>
                </a:r>
              </a:p>
              <a:p>
                <a:r>
                  <a:rPr lang="en-US" dirty="0"/>
                  <a:t>Say,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dirty="0"/>
                  <a:t>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𝜇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=4.0</m:t>
                    </m:r>
                  </m:oMath>
                </a14:m>
                <a:r>
                  <a:rPr lang="en-US" dirty="0"/>
                  <a:t> is rejected at the 1% level (in the left tail). The SS here only suggests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dirty="0"/>
                  <a:t> is very likely to be false. But it doesn’t say much about the true value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𝜇</m:t>
                    </m:r>
                  </m:oMath>
                </a14:m>
                <a:r>
                  <a:rPr lang="en-US" dirty="0"/>
                  <a:t>: it can be 3.99 or 3.00. </a:t>
                </a:r>
              </a:p>
              <a:p>
                <a:r>
                  <a:rPr lang="en-US" dirty="0"/>
                  <a:t>Or, the GPA of graduates of Uni T can be (statistically) significantly higher than that of Uni S. But the difference may be practically trivial (say only 0.01 difference)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⇒</m:t>
                    </m:r>
                  </m:oMath>
                </a14:m>
                <a:r>
                  <a:rPr lang="en-US" dirty="0"/>
                  <a:t>CI is a better approach. It directly shows where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𝜇</m:t>
                    </m:r>
                  </m:oMath>
                </a14:m>
                <a:r>
                  <a:rPr lang="en-US" dirty="0"/>
                  <a:t> might be (the P.S.)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6876527-679C-4366-8A41-75290651F33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199" y="1825625"/>
                <a:ext cx="11024937" cy="4667250"/>
              </a:xfrm>
              <a:blipFill>
                <a:blip r:embed="rId6"/>
                <a:stretch>
                  <a:fillRect l="-940" t="-326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38433261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54618A-B7A7-469C-8E1C-D4E432CE17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#2 caveat about hypothesis testing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6876527-679C-4366-8A41-75290651F33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4"/>
                <a:ext cx="10515600" cy="4912059"/>
              </a:xfrm>
            </p:spPr>
            <p:txBody>
              <a:bodyPr>
                <a:normAutofit fontScale="92500"/>
              </a:bodyPr>
              <a:lstStyle/>
              <a:p>
                <a:pPr marL="0" indent="0">
                  <a:buNone/>
                </a:pPr>
                <a:r>
                  <a:rPr lang="en-US" b="1" i="1" u="sng" dirty="0"/>
                  <a:t>2. </a:t>
                </a:r>
                <a:r>
                  <a:rPr lang="en-US" b="1" u="sng" dirty="0"/>
                  <a:t>When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 u="sng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u="sng" dirty="0">
                            <a:latin typeface="Cambria Math" panose="02040503050406030204" pitchFamily="18" charset="0"/>
                          </a:rPr>
                          <m:t>𝑯</m:t>
                        </m:r>
                      </m:e>
                      <m:sub>
                        <m:r>
                          <a:rPr lang="en-US" b="1" i="1" u="sng" dirty="0"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</m:oMath>
                </a14:m>
                <a:r>
                  <a:rPr lang="en-US" b="1" u="sng" dirty="0"/>
                  <a:t> is not rejected: </a:t>
                </a:r>
                <a:r>
                  <a:rPr lang="en-US" b="1" i="1" u="sng" dirty="0">
                    <a:solidFill>
                      <a:schemeClr val="tx1"/>
                    </a:solidFill>
                  </a:rPr>
                  <a:t>This does not imply no practical significance  </a:t>
                </a:r>
                <a:endParaRPr lang="en-US" b="1" i="1" u="sng" dirty="0"/>
              </a:p>
              <a:p>
                <a:pPr marL="0" indent="0">
                  <a:buNone/>
                </a:pPr>
                <a:r>
                  <a:rPr lang="en-US" dirty="0"/>
                  <a:t>  </a:t>
                </a:r>
              </a:p>
              <a:p>
                <a:pPr marL="0" indent="0">
                  <a:buNone/>
                </a:pPr>
                <a:r>
                  <a:rPr lang="en-US" dirty="0"/>
                  <a:t>Say,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dirty="0"/>
                  <a:t>: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𝜇</m:t>
                    </m:r>
                    <m:r>
                      <a:rPr lang="en-SG" b="0" i="1" smtClean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dirty="0"/>
                  <a:t> , health benefits of a new drug, is not rejected at the 10% level. What does this result inform us?</a:t>
                </a:r>
              </a:p>
              <a:p>
                <a:pPr marL="0" indent="0">
                  <a:buNone/>
                </a:pPr>
                <a:r>
                  <a:rPr lang="en-US" dirty="0"/>
                  <a:t>Probably you would suggest terminating the project. But should you?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⇒</m:t>
                    </m:r>
                  </m:oMath>
                </a14:m>
                <a:r>
                  <a:rPr lang="en-US" dirty="0"/>
                  <a:t>CI is a better approach. It allows us to estimate the value of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𝜇</m:t>
                    </m:r>
                  </m:oMath>
                </a14:m>
                <a:r>
                  <a:rPr lang="en-US" dirty="0"/>
                  <a:t> directly</a:t>
                </a:r>
              </a:p>
              <a:p>
                <a:pPr>
                  <a:buFont typeface="Wingdings" panose="05000000000000000000" pitchFamily="2" charset="2"/>
                  <a:buChar char="ü"/>
                </a:pPr>
                <a:r>
                  <a:rPr lang="en-US" dirty="0"/>
                  <a:t>If CI is close to 0 and is </a:t>
                </a:r>
                <a:r>
                  <a:rPr lang="en-US" i="1" dirty="0"/>
                  <a:t>tight</a:t>
                </a:r>
                <a:r>
                  <a:rPr lang="en-US" dirty="0"/>
                  <a:t>, then we know with great certainty that the drug has low practical significance. </a:t>
                </a:r>
              </a:p>
              <a:p>
                <a:pPr>
                  <a:buFont typeface="Wingdings" panose="05000000000000000000" pitchFamily="2" charset="2"/>
                  <a:buChar char="ü"/>
                </a:pPr>
                <a:r>
                  <a:rPr lang="en-US" dirty="0"/>
                  <a:t>Otherwise, more experiments (larger n) may be warranted to obtain a narrower CI; the company may still want to continue the project if the drug has the potential to be highly valuable         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6876527-679C-4366-8A41-75290651F33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4"/>
                <a:ext cx="10515600" cy="4912059"/>
              </a:xfrm>
              <a:blipFill>
                <a:blip r:embed="rId6"/>
                <a:stretch>
                  <a:fillRect l="-1043" t="-1861" r="-1101" b="-496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7699021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0.2|20|26.9|24.8|45.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.7|13.8|27.9|20.8|42|4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.4|17.4|0.1|39.4|6.6|25.1|45.7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811</TotalTime>
  <Words>448</Words>
  <Application>Microsoft Office PowerPoint</Application>
  <PresentationFormat>寬螢幕</PresentationFormat>
  <Paragraphs>25</Paragraphs>
  <Slides>4</Slides>
  <Notes>3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4</vt:i4>
      </vt:variant>
    </vt:vector>
  </HeadingPairs>
  <TitlesOfParts>
    <vt:vector size="10" baseType="lpstr">
      <vt:lpstr>Arial</vt:lpstr>
      <vt:lpstr>Calibri</vt:lpstr>
      <vt:lpstr>Calibri Light</vt:lpstr>
      <vt:lpstr>Cambria Math</vt:lpstr>
      <vt:lpstr>Wingdings</vt:lpstr>
      <vt:lpstr>Office Theme</vt:lpstr>
      <vt:lpstr>What hypothesis testing is and is not</vt:lpstr>
      <vt:lpstr>Confidence interval (CI) and hypothesis testing (HT)</vt:lpstr>
      <vt:lpstr>#1 caveat about hypothesis testing</vt:lpstr>
      <vt:lpstr>#2 caveat about hypothesis testing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Chien-Ming Chen</dc:creator>
  <cp:lastModifiedBy>Chen Chien-Ming (Assoc Prof)</cp:lastModifiedBy>
  <cp:revision>129</cp:revision>
  <dcterms:created xsi:type="dcterms:W3CDTF">2018-07-30T07:45:11Z</dcterms:created>
  <dcterms:modified xsi:type="dcterms:W3CDTF">2021-07-10T12:05:13Z</dcterms:modified>
</cp:coreProperties>
</file>
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1" r:id="rId2"/>
    <p:sldId id="302" r:id="rId3"/>
    <p:sldId id="304" r:id="rId4"/>
    <p:sldId id="306" r:id="rId5"/>
    <p:sldId id="310" r:id="rId6"/>
    <p:sldId id="307" r:id="rId7"/>
    <p:sldId id="313" r:id="rId8"/>
    <p:sldId id="314" r:id="rId9"/>
    <p:sldId id="31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ien-Ming Chen" initials="CC" lastIdx="1" clrIdx="0">
    <p:extLst>
      <p:ext uri="{19B8F6BF-5375-455C-9EA6-DF929625EA0E}">
        <p15:presenceInfo xmlns:p15="http://schemas.microsoft.com/office/powerpoint/2012/main" userId="2ed555a260ca561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0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4235C-38DD-49C9-9854-2194B9157E01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5192B-3A8F-4429-B519-CECE7BD99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69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Rejection </a:t>
            </a:r>
            <a:r>
              <a:rPr lang="en-US"/>
              <a:t>region and Error </a:t>
            </a:r>
            <a:r>
              <a:rPr lang="en-US" dirty="0"/>
              <a:t>probabilities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4562-FD8D-4B61-B80E-ADC78954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Hypothesis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F4C5F-4E47-4934-8F9D-FE89D434D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1. Formulate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F4C5F-4E47-4934-8F9D-FE89D434D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98CB1A6-5B09-4C07-8189-60C85061DAE0}"/>
                  </a:ext>
                </a:extLst>
              </p:cNvPr>
              <p:cNvSpPr/>
              <p:nvPr/>
            </p:nvSpPr>
            <p:spPr>
              <a:xfrm>
                <a:off x="749177" y="2970242"/>
                <a:ext cx="3635787" cy="206210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=3.97</m:t>
                    </m:r>
                  </m:oMath>
                </a14:m>
                <a:r>
                  <a:rPr lang="en-US" sz="3200" dirty="0"/>
                  <a:t> (</a:t>
                </a:r>
                <a:r>
                  <a:rPr lang="en-US" sz="3200" dirty="0" err="1"/>
                  <a:t>hr</a:t>
                </a:r>
                <a:r>
                  <a:rPr lang="en-US" sz="3200" dirty="0"/>
                  <a:t>)</a:t>
                </a:r>
              </a:p>
              <a:p>
                <a:r>
                  <a:rPr lang="en-US" sz="3200" dirty="0"/>
                  <a:t>(avg finishing time does not change since 2017)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98CB1A6-5B09-4C07-8189-60C85061DA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177" y="2970242"/>
                <a:ext cx="3635787" cy="2062103"/>
              </a:xfrm>
              <a:prstGeom prst="rect">
                <a:avLst/>
              </a:prstGeom>
              <a:blipFill>
                <a:blip r:embed="rId5"/>
                <a:stretch>
                  <a:fillRect l="-4181" t="-3226" b="-8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4" descr="The B.A.A. Is Hosting the First-Ever Boston Marathon Fan Fest">
            <a:extLst>
              <a:ext uri="{FF2B5EF4-FFF2-40B4-BE49-F238E27FC236}">
                <a16:creationId xmlns:a16="http://schemas.microsoft.com/office/drawing/2014/main" id="{A3C3657F-C9C1-492A-BAB1-DEB3C204A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094" y="2729142"/>
            <a:ext cx="6040064" cy="327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27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4562-FD8D-4B61-B80E-ADC78954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Rejection region (RR)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F4C5F-4E47-4934-8F9D-FE89D434D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H0 is true </a:t>
                </a:r>
                <a:r>
                  <a:rPr lang="en-US" sz="2000" dirty="0"/>
                  <a:t>(and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is known, for now)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(3.97,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Set a “reasonable” </a:t>
                </a:r>
                <a:r>
                  <a:rPr lang="en-US" b="1" i="1" u="sng" dirty="0"/>
                  <a:t>region </a:t>
                </a:r>
                <a:r>
                  <a:rPr lang="en-US" dirty="0"/>
                  <a:t>around 3.97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for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will be rejected</a:t>
                </a:r>
              </a:p>
              <a:p>
                <a:pPr marL="0" indent="0">
                  <a:buNone/>
                </a:pPr>
                <a:r>
                  <a:rPr lang="en-US" dirty="0"/>
                  <a:t>an arbitrary choice could be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is not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3.97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±0.13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F4C5F-4E47-4934-8F9D-FE89D434D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803E5A-AEB8-495A-80FE-3FFEDC3014EF}"/>
              </a:ext>
            </a:extLst>
          </p:cNvPr>
          <p:cNvCxnSpPr>
            <a:cxnSpLocks/>
          </p:cNvCxnSpPr>
          <p:nvPr/>
        </p:nvCxnSpPr>
        <p:spPr>
          <a:xfrm flipV="1">
            <a:off x="618726" y="4221571"/>
            <a:ext cx="954370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E1F745-EF4B-466D-83FE-3D27549B306F}"/>
                  </a:ext>
                </a:extLst>
              </p:cNvPr>
              <p:cNvSpPr/>
              <p:nvPr/>
            </p:nvSpPr>
            <p:spPr>
              <a:xfrm>
                <a:off x="5857708" y="740387"/>
                <a:ext cx="3065968" cy="584775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=3.97</m:t>
                    </m:r>
                  </m:oMath>
                </a14:m>
                <a:r>
                  <a:rPr lang="en-US" sz="3200" dirty="0"/>
                  <a:t> (</a:t>
                </a:r>
                <a:r>
                  <a:rPr lang="en-US" sz="3200" dirty="0" err="1"/>
                  <a:t>hr</a:t>
                </a:r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E1F745-EF4B-466D-83FE-3D27549B3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708" y="740387"/>
                <a:ext cx="3065968" cy="584775"/>
              </a:xfrm>
              <a:prstGeom prst="rect">
                <a:avLst/>
              </a:prstGeom>
              <a:blipFill>
                <a:blip r:embed="rId6"/>
                <a:stretch>
                  <a:fillRect t="-11224" r="-3564" b="-3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393A803-26AA-4F84-94F9-2D55597AC838}"/>
              </a:ext>
            </a:extLst>
          </p:cNvPr>
          <p:cNvSpPr txBox="1"/>
          <p:nvPr/>
        </p:nvSpPr>
        <p:spPr>
          <a:xfrm>
            <a:off x="4386779" y="4221571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3.97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F3300-58FD-4EFA-97EF-387421C2383D}"/>
              </a:ext>
            </a:extLst>
          </p:cNvPr>
          <p:cNvSpPr txBox="1"/>
          <p:nvPr/>
        </p:nvSpPr>
        <p:spPr>
          <a:xfrm>
            <a:off x="6249863" y="4209008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4.10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1F42E3-4876-48B0-A4BC-955A18B07C72}"/>
              </a:ext>
            </a:extLst>
          </p:cNvPr>
          <p:cNvSpPr txBox="1"/>
          <p:nvPr/>
        </p:nvSpPr>
        <p:spPr>
          <a:xfrm>
            <a:off x="2335876" y="4209008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3.84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299FB4B-BD78-4034-B36A-9BEEBE4F2795}"/>
                  </a:ext>
                </a:extLst>
              </p:cNvPr>
              <p:cNvSpPr/>
              <p:nvPr/>
            </p:nvSpPr>
            <p:spPr>
              <a:xfrm>
                <a:off x="444617" y="5056412"/>
                <a:ext cx="10846965" cy="156966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3200" i="1" dirty="0"/>
                  <a:t>RR: The values of a statistic which we will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i="1" dirty="0"/>
                  <a:t> for</a:t>
                </a:r>
              </a:p>
              <a:p>
                <a:r>
                  <a:rPr lang="en-US" sz="3200" i="1" dirty="0"/>
                  <a:t>Based on this RR, we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i="1" dirty="0"/>
                  <a:t> when the sample mean is less than 3.</a:t>
                </a:r>
                <a:r>
                  <a:rPr lang="en-US" altLang="zh-TW" sz="3200" i="1" dirty="0"/>
                  <a:t>84</a:t>
                </a:r>
                <a:r>
                  <a:rPr lang="en-US" sz="3200" i="1" dirty="0"/>
                  <a:t> hour or greater than 4</a:t>
                </a:r>
                <a:r>
                  <a:rPr lang="en-US" altLang="zh-TW" sz="3200" i="1" dirty="0"/>
                  <a:t>.10</a:t>
                </a:r>
                <a:r>
                  <a:rPr lang="en-US" sz="3200" i="1" dirty="0"/>
                  <a:t> </a:t>
                </a:r>
                <a:r>
                  <a:rPr lang="en-US" sz="3200" i="1" dirty="0" err="1"/>
                  <a:t>hr</a:t>
                </a:r>
                <a:endParaRPr lang="en-US" sz="3200" i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299FB4B-BD78-4034-B36A-9BEEBE4F2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17" y="5056412"/>
                <a:ext cx="10846965" cy="1569660"/>
              </a:xfrm>
              <a:prstGeom prst="rect">
                <a:avLst/>
              </a:prstGeom>
              <a:blipFill>
                <a:blip r:embed="rId7"/>
                <a:stretch>
                  <a:fillRect l="-1404" t="-4231" b="-1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39E6CB1A-A1A6-48BC-8D12-7E05B89EA470}"/>
              </a:ext>
            </a:extLst>
          </p:cNvPr>
          <p:cNvSpPr txBox="1"/>
          <p:nvPr/>
        </p:nvSpPr>
        <p:spPr>
          <a:xfrm>
            <a:off x="9313739" y="4268602"/>
            <a:ext cx="1905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Avg finishing time </a:t>
            </a:r>
          </a:p>
          <a:p>
            <a:r>
              <a:rPr lang="en-US" dirty="0"/>
              <a:t>(sample mean)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EA1DDC-B64F-4B0E-B90D-0DD6FE57175A}"/>
              </a:ext>
            </a:extLst>
          </p:cNvPr>
          <p:cNvSpPr/>
          <p:nvPr/>
        </p:nvSpPr>
        <p:spPr>
          <a:xfrm>
            <a:off x="618726" y="3683219"/>
            <a:ext cx="2305164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EBD39E-45D3-47DD-A6B1-FF51656D3F28}"/>
              </a:ext>
            </a:extLst>
          </p:cNvPr>
          <p:cNvSpPr/>
          <p:nvPr/>
        </p:nvSpPr>
        <p:spPr>
          <a:xfrm>
            <a:off x="6603477" y="3696362"/>
            <a:ext cx="3327233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582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2" grpId="0"/>
      <p:bldP spid="13" grpId="0" animBg="1"/>
      <p:bldP spid="4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4562-FD8D-4B61-B80E-ADC78954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Type-1 error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F4C5F-4E47-4934-8F9D-FE89D434D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284" y="1451228"/>
                <a:ext cx="10515600" cy="4708381"/>
              </a:xfrm>
            </p:spPr>
            <p:txBody>
              <a:bodyPr>
                <a:normAutofit/>
              </a:bodyPr>
              <a:lstStyle/>
              <a:p>
                <a:r>
                  <a:rPr lang="en-US" i="1" u="sng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u="sng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u="sng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i="1" u="sng" dirty="0"/>
                  <a:t> is indeed true</a:t>
                </a:r>
                <a:r>
                  <a:rPr lang="en-US" dirty="0"/>
                  <a:t>. There is a chance that the sample mean will fall in RR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We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FF0000"/>
                    </a:solidFill>
                  </a:rPr>
                  <a:t> while it’s true </a:t>
                </a:r>
                <a:r>
                  <a:rPr lang="en-US" sz="2000" dirty="0">
                    <a:solidFill>
                      <a:srgbClr val="FF0000"/>
                    </a:solidFill>
                  </a:rPr>
                  <a:t>(of course we won’t know that)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/>
                  <a:t>This error is called a </a:t>
                </a:r>
                <a:r>
                  <a:rPr lang="en-US" b="1" u="sng" dirty="0"/>
                  <a:t>TYPE-1 ERROR</a:t>
                </a:r>
                <a:r>
                  <a:rPr lang="en-US" b="1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What is the probability of Type-1 errors?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F4C5F-4E47-4934-8F9D-FE89D434D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284" y="1451228"/>
                <a:ext cx="10515600" cy="4708381"/>
              </a:xfrm>
              <a:blipFill>
                <a:blip r:embed="rId5"/>
                <a:stretch>
                  <a:fillRect l="-1217" t="-2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803E5A-AEB8-495A-80FE-3FFEDC3014EF}"/>
              </a:ext>
            </a:extLst>
          </p:cNvPr>
          <p:cNvCxnSpPr>
            <a:cxnSpLocks/>
          </p:cNvCxnSpPr>
          <p:nvPr/>
        </p:nvCxnSpPr>
        <p:spPr>
          <a:xfrm flipV="1">
            <a:off x="1127395" y="5799513"/>
            <a:ext cx="954370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E6CB1A-A1A6-48BC-8D12-7E05B89EA470}"/>
              </a:ext>
            </a:extLst>
          </p:cNvPr>
          <p:cNvSpPr txBox="1"/>
          <p:nvPr/>
        </p:nvSpPr>
        <p:spPr>
          <a:xfrm>
            <a:off x="9822408" y="5846544"/>
            <a:ext cx="1905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Avg finishing time </a:t>
            </a:r>
          </a:p>
          <a:p>
            <a:r>
              <a:rPr lang="en-US" dirty="0"/>
              <a:t>(sample mean)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EA1DDC-B64F-4B0E-B90D-0DD6FE57175A}"/>
              </a:ext>
            </a:extLst>
          </p:cNvPr>
          <p:cNvSpPr/>
          <p:nvPr/>
        </p:nvSpPr>
        <p:spPr>
          <a:xfrm>
            <a:off x="1127395" y="5250990"/>
            <a:ext cx="2305164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EBD39E-45D3-47DD-A6B1-FF51656D3F28}"/>
              </a:ext>
            </a:extLst>
          </p:cNvPr>
          <p:cNvSpPr/>
          <p:nvPr/>
        </p:nvSpPr>
        <p:spPr>
          <a:xfrm>
            <a:off x="7095826" y="5261942"/>
            <a:ext cx="3327233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315F03-533F-40F8-9269-75B2D9D4D563}"/>
              </a:ext>
            </a:extLst>
          </p:cNvPr>
          <p:cNvSpPr txBox="1"/>
          <p:nvPr/>
        </p:nvSpPr>
        <p:spPr>
          <a:xfrm>
            <a:off x="4939874" y="5799513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3.97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45800A-CEFA-480B-9C5F-A01A482E8A27}"/>
              </a:ext>
            </a:extLst>
          </p:cNvPr>
          <p:cNvSpPr txBox="1"/>
          <p:nvPr/>
        </p:nvSpPr>
        <p:spPr>
          <a:xfrm>
            <a:off x="6802958" y="578695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4.1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C05448-3220-4CD6-B166-6D513A75EF9D}"/>
              </a:ext>
            </a:extLst>
          </p:cNvPr>
          <p:cNvSpPr txBox="1"/>
          <p:nvPr/>
        </p:nvSpPr>
        <p:spPr>
          <a:xfrm>
            <a:off x="2888971" y="5786950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3.84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C19A80C-B312-4369-967C-8831EA20E78E}"/>
                  </a:ext>
                </a:extLst>
              </p:cNvPr>
              <p:cNvSpPr/>
              <p:nvPr/>
            </p:nvSpPr>
            <p:spPr>
              <a:xfrm>
                <a:off x="4299797" y="3914475"/>
                <a:ext cx="2055114" cy="36933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(3.97,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C19A80C-B312-4369-967C-8831EA20E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797" y="3914475"/>
                <a:ext cx="2055114" cy="369332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4FC29289-31D7-4064-B0A0-FC8761FFC712}"/>
                  </a:ext>
                </a:extLst>
              </p:cNvPr>
              <p:cNvSpPr/>
              <p:nvPr/>
            </p:nvSpPr>
            <p:spPr>
              <a:xfrm>
                <a:off x="6756440" y="698391"/>
                <a:ext cx="3065968" cy="584775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=3.97</m:t>
                    </m:r>
                  </m:oMath>
                </a14:m>
                <a:r>
                  <a:rPr lang="en-US" sz="3200" dirty="0"/>
                  <a:t> (</a:t>
                </a:r>
                <a:r>
                  <a:rPr lang="en-US" sz="3200" dirty="0" err="1"/>
                  <a:t>hr</a:t>
                </a:r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4FC29289-31D7-4064-B0A0-FC8761FFC7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440" y="698391"/>
                <a:ext cx="3065968" cy="584775"/>
              </a:xfrm>
              <a:prstGeom prst="rect">
                <a:avLst/>
              </a:prstGeom>
              <a:blipFill>
                <a:blip r:embed="rId7"/>
                <a:stretch>
                  <a:fillRect t="-11340" r="-3762" b="-34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812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70+ Free Quiz &amp; Maze Images - Pixabay">
            <a:extLst>
              <a:ext uri="{FF2B5EF4-FFF2-40B4-BE49-F238E27FC236}">
                <a16:creationId xmlns:a16="http://schemas.microsoft.com/office/drawing/2014/main" id="{CE5152B5-357B-4F21-8032-BBACE009B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10" y="429208"/>
            <a:ext cx="2780521" cy="278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6">
            <a:extLst>
              <a:ext uri="{FF2B5EF4-FFF2-40B4-BE49-F238E27FC236}">
                <a16:creationId xmlns:a16="http://schemas.microsoft.com/office/drawing/2014/main" id="{43E4DC36-847B-4D49-B5CB-5BA1BFA5547B}"/>
              </a:ext>
            </a:extLst>
          </p:cNvPr>
          <p:cNvCxnSpPr>
            <a:cxnSpLocks/>
          </p:cNvCxnSpPr>
          <p:nvPr/>
        </p:nvCxnSpPr>
        <p:spPr>
          <a:xfrm flipV="1">
            <a:off x="1127395" y="5799513"/>
            <a:ext cx="954370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4">
            <a:extLst>
              <a:ext uri="{FF2B5EF4-FFF2-40B4-BE49-F238E27FC236}">
                <a16:creationId xmlns:a16="http://schemas.microsoft.com/office/drawing/2014/main" id="{632770AE-CB9A-44BB-B27B-00B7430E14B1}"/>
              </a:ext>
            </a:extLst>
          </p:cNvPr>
          <p:cNvSpPr txBox="1"/>
          <p:nvPr/>
        </p:nvSpPr>
        <p:spPr>
          <a:xfrm>
            <a:off x="9822408" y="5846544"/>
            <a:ext cx="1905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Avg finishing time </a:t>
            </a:r>
          </a:p>
          <a:p>
            <a:r>
              <a:rPr lang="en-US" dirty="0"/>
              <a:t>(sample mean)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941C27A-3662-40AB-95F7-5B9A61510224}"/>
              </a:ext>
            </a:extLst>
          </p:cNvPr>
          <p:cNvSpPr/>
          <p:nvPr/>
        </p:nvSpPr>
        <p:spPr>
          <a:xfrm>
            <a:off x="1127395" y="5261941"/>
            <a:ext cx="2660327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376B0F3-C76D-4448-8660-D6A96E70233F}"/>
              </a:ext>
            </a:extLst>
          </p:cNvPr>
          <p:cNvSpPr/>
          <p:nvPr/>
        </p:nvSpPr>
        <p:spPr>
          <a:xfrm>
            <a:off x="7095826" y="5261942"/>
            <a:ext cx="3327233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7343308A-6FA6-4BC3-9596-38D700E6ACF6}"/>
              </a:ext>
            </a:extLst>
          </p:cNvPr>
          <p:cNvSpPr txBox="1"/>
          <p:nvPr/>
        </p:nvSpPr>
        <p:spPr>
          <a:xfrm>
            <a:off x="4939874" y="5799513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3.97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7989A23-1EA4-4822-8E81-EFA6A798AD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17170" y="667457"/>
                <a:ext cx="8643120" cy="47083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 the example, the RR is in the form of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&gt;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3.97</m:t>
                    </m:r>
                  </m:oMath>
                </a14:m>
                <a:r>
                  <a:rPr lang="en-US" dirty="0"/>
                  <a:t>+ ”some number”) &amp; </a:t>
                </a:r>
                <a:r>
                  <a:rPr lang="en-US" dirty="0">
                    <a:solidFill>
                      <a:srgbClr val="FF0000"/>
                    </a:solidFill>
                  </a:rPr>
                  <a:t>&lt;</a:t>
                </a:r>
                <a:r>
                  <a:rPr lang="en-US" dirty="0"/>
                  <a:t>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3.97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”some number”) </a:t>
                </a:r>
              </a:p>
              <a:p>
                <a:r>
                  <a:rPr lang="en-US" dirty="0"/>
                  <a:t>Does a wider (e.g., the green one) RR have a higher or lower Type-1 error probability?</a:t>
                </a:r>
              </a:p>
              <a:p>
                <a:r>
                  <a:rPr lang="en-US" dirty="0"/>
                  <a:t>What would you gain by having a wider RR?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7989A23-1EA4-4822-8E81-EFA6A798AD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17170" y="667457"/>
                <a:ext cx="8643120" cy="4708381"/>
              </a:xfrm>
              <a:blipFill>
                <a:blip r:embed="rId6"/>
                <a:stretch>
                  <a:fillRect l="-1410" t="-2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3">
            <a:extLst>
              <a:ext uri="{FF2B5EF4-FFF2-40B4-BE49-F238E27FC236}">
                <a16:creationId xmlns:a16="http://schemas.microsoft.com/office/drawing/2014/main" id="{54A03459-485B-415F-BBC0-E5BE2A542BC8}"/>
              </a:ext>
            </a:extLst>
          </p:cNvPr>
          <p:cNvSpPr/>
          <p:nvPr/>
        </p:nvSpPr>
        <p:spPr>
          <a:xfrm>
            <a:off x="1127394" y="4540489"/>
            <a:ext cx="3595607" cy="50149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0A53664-8522-4B22-BE37-37E65297514A}"/>
              </a:ext>
            </a:extLst>
          </p:cNvPr>
          <p:cNvSpPr/>
          <p:nvPr/>
        </p:nvSpPr>
        <p:spPr>
          <a:xfrm>
            <a:off x="6096000" y="4540488"/>
            <a:ext cx="4327059" cy="50149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45DA47C-4C77-4578-88DD-BE5CE700F6D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441774" y="5512689"/>
            <a:ext cx="16540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8C79404-AD19-49D0-82E3-88099DE7E050}"/>
              </a:ext>
            </a:extLst>
          </p:cNvPr>
          <p:cNvCxnSpPr>
            <a:cxnSpLocks/>
          </p:cNvCxnSpPr>
          <p:nvPr/>
        </p:nvCxnSpPr>
        <p:spPr>
          <a:xfrm>
            <a:off x="3787722" y="5512688"/>
            <a:ext cx="16540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8101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4562-FD8D-4B61-B80E-ADC78954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Type-2 error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F4C5F-4E47-4934-8F9D-FE89D434D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284" y="1451228"/>
                <a:ext cx="10515600" cy="4708381"/>
              </a:xfrm>
            </p:spPr>
            <p:txBody>
              <a:bodyPr/>
              <a:lstStyle/>
              <a:p>
                <a:r>
                  <a:rPr lang="en-US" dirty="0"/>
                  <a:t>Conversely,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false, there will still be a chance that the sample mean will NOT appear in RR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We fail to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i="1" dirty="0"/>
                  <a:t> while it’s false </a:t>
                </a:r>
                <a:r>
                  <a:rPr lang="en-US" dirty="0"/>
                  <a:t>(again we won’t know when the error happened)</a:t>
                </a:r>
              </a:p>
              <a:p>
                <a:r>
                  <a:rPr lang="en-US" dirty="0"/>
                  <a:t>This error is called a </a:t>
                </a:r>
                <a:r>
                  <a:rPr lang="en-US" u="sng" dirty="0"/>
                  <a:t>TYPE-2 ERROR</a:t>
                </a:r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What is the probability of Type-2 errors,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=4.0?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AF4C5F-4E47-4934-8F9D-FE89D434D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284" y="1451228"/>
                <a:ext cx="10515600" cy="4708381"/>
              </a:xfrm>
              <a:blipFill>
                <a:blip r:embed="rId5"/>
                <a:stretch>
                  <a:fillRect l="-1043" t="-2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803E5A-AEB8-495A-80FE-3FFEDC3014EF}"/>
              </a:ext>
            </a:extLst>
          </p:cNvPr>
          <p:cNvCxnSpPr>
            <a:cxnSpLocks/>
          </p:cNvCxnSpPr>
          <p:nvPr/>
        </p:nvCxnSpPr>
        <p:spPr>
          <a:xfrm flipV="1">
            <a:off x="1127395" y="5799513"/>
            <a:ext cx="954370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9E6CB1A-A1A6-48BC-8D12-7E05B89EA470}"/>
              </a:ext>
            </a:extLst>
          </p:cNvPr>
          <p:cNvSpPr txBox="1"/>
          <p:nvPr/>
        </p:nvSpPr>
        <p:spPr>
          <a:xfrm>
            <a:off x="9822408" y="5846544"/>
            <a:ext cx="1841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Avg running time </a:t>
            </a:r>
          </a:p>
          <a:p>
            <a:r>
              <a:rPr lang="en-US" dirty="0"/>
              <a:t>(sample mean)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EA1DDC-B64F-4B0E-B90D-0DD6FE57175A}"/>
              </a:ext>
            </a:extLst>
          </p:cNvPr>
          <p:cNvSpPr/>
          <p:nvPr/>
        </p:nvSpPr>
        <p:spPr>
          <a:xfrm>
            <a:off x="1127395" y="5252772"/>
            <a:ext cx="2305164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EBD39E-45D3-47DD-A6B1-FF51656D3F28}"/>
              </a:ext>
            </a:extLst>
          </p:cNvPr>
          <p:cNvSpPr/>
          <p:nvPr/>
        </p:nvSpPr>
        <p:spPr>
          <a:xfrm>
            <a:off x="7112146" y="5265915"/>
            <a:ext cx="3327233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D9B291-3BF8-4CD7-81DB-8418911953CB}"/>
              </a:ext>
            </a:extLst>
          </p:cNvPr>
          <p:cNvSpPr txBox="1"/>
          <p:nvPr/>
        </p:nvSpPr>
        <p:spPr>
          <a:xfrm>
            <a:off x="4939874" y="5799513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3.97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9C01C0-D366-4C37-BDDB-BD017658225C}"/>
              </a:ext>
            </a:extLst>
          </p:cNvPr>
          <p:cNvSpPr txBox="1"/>
          <p:nvPr/>
        </p:nvSpPr>
        <p:spPr>
          <a:xfrm>
            <a:off x="6802958" y="578695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4.1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4F211-D4DB-4F41-8244-CA35A87EF9EE}"/>
              </a:ext>
            </a:extLst>
          </p:cNvPr>
          <p:cNvSpPr txBox="1"/>
          <p:nvPr/>
        </p:nvSpPr>
        <p:spPr>
          <a:xfrm>
            <a:off x="2888971" y="5786950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3.84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6135D8EB-D66B-44B8-B68A-74CBC109BE58}"/>
                  </a:ext>
                </a:extLst>
              </p:cNvPr>
              <p:cNvSpPr/>
              <p:nvPr/>
            </p:nvSpPr>
            <p:spPr>
              <a:xfrm>
                <a:off x="6802958" y="698391"/>
                <a:ext cx="3065968" cy="584775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=3.97</m:t>
                    </m:r>
                  </m:oMath>
                </a14:m>
                <a:r>
                  <a:rPr lang="en-US" sz="3200" dirty="0"/>
                  <a:t> (</a:t>
                </a:r>
                <a:r>
                  <a:rPr lang="en-US" sz="3200" dirty="0" err="1"/>
                  <a:t>hr</a:t>
                </a:r>
                <a:r>
                  <a:rPr lang="en-US" sz="3200" dirty="0"/>
                  <a:t>)</a:t>
                </a:r>
              </a:p>
            </p:txBody>
          </p:sp>
        </mc:Choice>
        <mc:Fallback xmlns=""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6135D8EB-D66B-44B8-B68A-74CBC109BE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958" y="698391"/>
                <a:ext cx="3065968" cy="584775"/>
              </a:xfrm>
              <a:prstGeom prst="rect">
                <a:avLst/>
              </a:prstGeom>
              <a:blipFill>
                <a:blip r:embed="rId6"/>
                <a:stretch>
                  <a:fillRect t="-11340" r="-3564" b="-34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1965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70+ Free Quiz &amp; Maze Images - Pixabay">
            <a:extLst>
              <a:ext uri="{FF2B5EF4-FFF2-40B4-BE49-F238E27FC236}">
                <a16:creationId xmlns:a16="http://schemas.microsoft.com/office/drawing/2014/main" id="{CE5152B5-357B-4F21-8032-BBACE009B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10" y="429208"/>
            <a:ext cx="2780521" cy="278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6">
            <a:extLst>
              <a:ext uri="{FF2B5EF4-FFF2-40B4-BE49-F238E27FC236}">
                <a16:creationId xmlns:a16="http://schemas.microsoft.com/office/drawing/2014/main" id="{43E4DC36-847B-4D49-B5CB-5BA1BFA5547B}"/>
              </a:ext>
            </a:extLst>
          </p:cNvPr>
          <p:cNvCxnSpPr>
            <a:cxnSpLocks/>
          </p:cNvCxnSpPr>
          <p:nvPr/>
        </p:nvCxnSpPr>
        <p:spPr>
          <a:xfrm flipV="1">
            <a:off x="1127395" y="6241718"/>
            <a:ext cx="9543708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4">
            <a:extLst>
              <a:ext uri="{FF2B5EF4-FFF2-40B4-BE49-F238E27FC236}">
                <a16:creationId xmlns:a16="http://schemas.microsoft.com/office/drawing/2014/main" id="{632770AE-CB9A-44BB-B27B-00B7430E14B1}"/>
              </a:ext>
            </a:extLst>
          </p:cNvPr>
          <p:cNvSpPr txBox="1"/>
          <p:nvPr/>
        </p:nvSpPr>
        <p:spPr>
          <a:xfrm>
            <a:off x="9822408" y="6288749"/>
            <a:ext cx="1905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Avg finishing time </a:t>
            </a:r>
          </a:p>
          <a:p>
            <a:r>
              <a:rPr lang="en-US" dirty="0"/>
              <a:t>(sample mean)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941C27A-3662-40AB-95F7-5B9A61510224}"/>
              </a:ext>
            </a:extLst>
          </p:cNvPr>
          <p:cNvSpPr/>
          <p:nvPr/>
        </p:nvSpPr>
        <p:spPr>
          <a:xfrm>
            <a:off x="1127395" y="5704146"/>
            <a:ext cx="2660327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1376B0F3-C76D-4448-8660-D6A96E70233F}"/>
              </a:ext>
            </a:extLst>
          </p:cNvPr>
          <p:cNvSpPr/>
          <p:nvPr/>
        </p:nvSpPr>
        <p:spPr>
          <a:xfrm>
            <a:off x="7095826" y="5704147"/>
            <a:ext cx="3327233" cy="5014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7343308A-6FA6-4BC3-9596-38D700E6ACF6}"/>
              </a:ext>
            </a:extLst>
          </p:cNvPr>
          <p:cNvSpPr txBox="1"/>
          <p:nvPr/>
        </p:nvSpPr>
        <p:spPr>
          <a:xfrm>
            <a:off x="4939874" y="6241718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3.97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7989A23-1EA4-4822-8E81-EFA6A798AD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17170" y="667457"/>
                <a:ext cx="8643120" cy="47083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 the example, the RR is in the form of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&gt;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3.97</m:t>
                    </m:r>
                  </m:oMath>
                </a14:m>
                <a:r>
                  <a:rPr lang="en-US" dirty="0"/>
                  <a:t>+ ”some number”) &amp; </a:t>
                </a:r>
                <a:r>
                  <a:rPr lang="en-US" dirty="0">
                    <a:solidFill>
                      <a:srgbClr val="FF0000"/>
                    </a:solidFill>
                  </a:rPr>
                  <a:t>&lt;</a:t>
                </a:r>
                <a:r>
                  <a:rPr lang="en-US" dirty="0"/>
                  <a:t>“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3.97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”some number”) </a:t>
                </a:r>
              </a:p>
              <a:p>
                <a:r>
                  <a:rPr lang="en-US" dirty="0"/>
                  <a:t>What would you gain by having a wider RR?</a:t>
                </a:r>
              </a:p>
              <a:p>
                <a:pPr marL="0" indent="0">
                  <a:buNone/>
                </a:pPr>
                <a:r>
                  <a:rPr lang="en-US" dirty="0"/>
                  <a:t>A wider (e.g., the green one) RR has a </a:t>
                </a:r>
                <a:r>
                  <a:rPr lang="en-US" b="1" u="sng" dirty="0"/>
                  <a:t>higher</a:t>
                </a:r>
                <a:r>
                  <a:rPr lang="en-US" dirty="0"/>
                  <a:t> Type-1 error probability</a:t>
                </a:r>
              </a:p>
              <a:p>
                <a:pPr marL="0" indent="0">
                  <a:buNone/>
                </a:pPr>
                <a:r>
                  <a:rPr lang="en-US" dirty="0"/>
                  <a:t>A wider (e.g., the green one) RR has a </a:t>
                </a:r>
                <a:r>
                  <a:rPr lang="en-US" b="1" u="sng" dirty="0"/>
                  <a:t>lower</a:t>
                </a:r>
                <a:r>
                  <a:rPr lang="en-US" dirty="0"/>
                  <a:t> Type-2 error probability</a:t>
                </a:r>
              </a:p>
              <a:p>
                <a:pPr marL="0" indent="0">
                  <a:buNone/>
                </a:pPr>
                <a:r>
                  <a:rPr lang="en-US" dirty="0"/>
                  <a:t>How do we manage the trade-off between T1 </a:t>
                </a:r>
                <a:r>
                  <a:rPr lang="en-US" dirty="0" err="1"/>
                  <a:t>nad</a:t>
                </a:r>
                <a:r>
                  <a:rPr lang="en-US" dirty="0"/>
                  <a:t> T2 probabilities?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87989A23-1EA4-4822-8E81-EFA6A798AD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17170" y="667457"/>
                <a:ext cx="8643120" cy="4708381"/>
              </a:xfrm>
              <a:blipFill>
                <a:blip r:embed="rId6"/>
                <a:stretch>
                  <a:fillRect l="-1410" t="-2070" r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3">
            <a:extLst>
              <a:ext uri="{FF2B5EF4-FFF2-40B4-BE49-F238E27FC236}">
                <a16:creationId xmlns:a16="http://schemas.microsoft.com/office/drawing/2014/main" id="{54A03459-485B-415F-BBC0-E5BE2A542BC8}"/>
              </a:ext>
            </a:extLst>
          </p:cNvPr>
          <p:cNvSpPr/>
          <p:nvPr/>
        </p:nvSpPr>
        <p:spPr>
          <a:xfrm>
            <a:off x="1127394" y="4982694"/>
            <a:ext cx="3595607" cy="50149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0A53664-8522-4B22-BE37-37E65297514A}"/>
              </a:ext>
            </a:extLst>
          </p:cNvPr>
          <p:cNvSpPr/>
          <p:nvPr/>
        </p:nvSpPr>
        <p:spPr>
          <a:xfrm>
            <a:off x="6096000" y="4982693"/>
            <a:ext cx="4327059" cy="50149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RR</a:t>
            </a: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45DA47C-4C77-4578-88DD-BE5CE700F6D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441774" y="5954894"/>
            <a:ext cx="16540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8C79404-AD19-49D0-82E3-88099DE7E050}"/>
              </a:ext>
            </a:extLst>
          </p:cNvPr>
          <p:cNvCxnSpPr>
            <a:cxnSpLocks/>
          </p:cNvCxnSpPr>
          <p:nvPr/>
        </p:nvCxnSpPr>
        <p:spPr>
          <a:xfrm>
            <a:off x="3787722" y="5954893"/>
            <a:ext cx="16540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7986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6EF3-4423-4C46-B12A-3BAF3902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error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B6E51C-2802-4177-914D-800F709850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5201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 general, it is not possible to find an RR that simultaneously minimize both Type-1 and Type-2 error probabilities (a trade-off between them)</a:t>
                </a:r>
              </a:p>
              <a:p>
                <a:r>
                  <a:rPr lang="en-US" dirty="0"/>
                  <a:t>So we set a maximum on Type-1 error probability that we can accept (e.g., </a:t>
                </a:r>
                <a:r>
                  <a:rPr lang="en-US" i="1" u="sng" dirty="0"/>
                  <a:t>not more than </a:t>
                </a:r>
                <a:r>
                  <a:rPr lang="en-US" dirty="0"/>
                  <a:t>1%, 5%, or 10%; or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i="1" dirty="0">
                    <a:solidFill>
                      <a:srgbClr val="FF0000"/>
                    </a:solidFill>
                  </a:rPr>
                  <a:t> or “significance level</a:t>
                </a:r>
                <a:r>
                  <a:rPr lang="en-US" dirty="0">
                    <a:solidFill>
                      <a:srgbClr val="FF0000"/>
                    </a:solidFill>
                  </a:rPr>
                  <a:t>”</a:t>
                </a:r>
                <a:r>
                  <a:rPr lang="en-US" dirty="0"/>
                  <a:t>). Among the qualified RR, we find the one that minimizes type-2 error probability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As a trade-off exists btw T1&amp; T2 errors, the chosen RR will “max” the budget of type-1 prob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1%, 5%, or 10%)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The RR is unique, given an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dirty="0"/>
                  <a:t> value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Implicitly, we assume T1 errors are more costly than T2 errors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B6E51C-2802-4177-914D-800F709850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52012"/>
              </a:xfrm>
              <a:blipFill>
                <a:blip r:embed="rId5"/>
                <a:stretch>
                  <a:fillRect l="-1217" t="-2764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6702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18B43A-A53C-46E7-81C0-D8C68257D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4A20D54-D639-4899-B6F2-8CA011259C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reject H0 based on RR—If the evidence (i.e., the test statistic) in RR, we reject H0</a:t>
                </a:r>
              </a:p>
              <a:p>
                <a:r>
                  <a:rPr lang="en-US" dirty="0"/>
                  <a:t>The width of RR decides the two error probabilities</a:t>
                </a:r>
              </a:p>
              <a:p>
                <a:r>
                  <a:rPr lang="en-US" dirty="0"/>
                  <a:t>We manage by setting a max of T1 error probability, which will always be binding (the actual RR will give exactly that error probability). So when we pick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we get </a:t>
                </a:r>
                <a:r>
                  <a:rPr lang="en-US"/>
                  <a:t>an unique RR</a:t>
                </a:r>
                <a:endParaRPr 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4A20D54-D639-4899-B6F2-8CA011259C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2643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|38.2|16.3|36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7.9|2.4|13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|108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3|1.8|1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|108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7|26.1|12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687</Words>
  <Application>Microsoft Office PowerPoint</Application>
  <PresentationFormat>寬螢幕</PresentationFormat>
  <Paragraphs>80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Rejection region and Error probabilities</vt:lpstr>
      <vt:lpstr>Recap: Hypothesis testing</vt:lpstr>
      <vt:lpstr>Rejection region (RR)</vt:lpstr>
      <vt:lpstr>Type-1 error probabilities</vt:lpstr>
      <vt:lpstr>PowerPoint 簡報</vt:lpstr>
      <vt:lpstr>Type-2 error probabilities</vt:lpstr>
      <vt:lpstr>PowerPoint 簡報</vt:lpstr>
      <vt:lpstr>Balancing error probabilities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9. Hypothesis testing</dc:title>
  <dc:creator>Chien-Ming Chen</dc:creator>
  <cp:lastModifiedBy>Chen Chien-Ming (Assoc Prof)</cp:lastModifiedBy>
  <cp:revision>145</cp:revision>
  <dcterms:created xsi:type="dcterms:W3CDTF">2019-03-23T07:36:58Z</dcterms:created>
  <dcterms:modified xsi:type="dcterms:W3CDTF">2021-07-10T12:04:40Z</dcterms:modified>
</cp:coreProperties>
</file>
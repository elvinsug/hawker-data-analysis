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0" r:id="rId2"/>
    <p:sldId id="267" r:id="rId3"/>
    <p:sldId id="265" r:id="rId4"/>
    <p:sldId id="266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0AF9A-DF29-4DA5-BE33-205DC3CF81D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09809-D6DC-4B2E-9197-DEE2E21B2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regression: </a:t>
            </a:r>
            <a:br>
              <a:rPr lang="en-US"/>
            </a:br>
            <a:r>
              <a:rPr lang="en-US"/>
              <a:t>final </a:t>
            </a:r>
            <a:r>
              <a:rPr lang="en-US" dirty="0"/>
              <a:t>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03726"/>
              </p:ext>
            </p:extLst>
          </p:nvPr>
        </p:nvGraphicFramePr>
        <p:xfrm>
          <a:off x="6724802" y="2834138"/>
          <a:ext cx="5408023" cy="35355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811">
                  <a:extLst>
                    <a:ext uri="{9D8B030D-6E8A-4147-A177-3AD203B41FA5}">
                      <a16:colId xmlns:a16="http://schemas.microsoft.com/office/drawing/2014/main" val="2670785183"/>
                    </a:ext>
                  </a:extLst>
                </a:gridCol>
                <a:gridCol w="1581001">
                  <a:extLst>
                    <a:ext uri="{9D8B030D-6E8A-4147-A177-3AD203B41FA5}">
                      <a16:colId xmlns:a16="http://schemas.microsoft.com/office/drawing/2014/main" val="2578422858"/>
                    </a:ext>
                  </a:extLst>
                </a:gridCol>
                <a:gridCol w="1471205">
                  <a:extLst>
                    <a:ext uri="{9D8B030D-6E8A-4147-A177-3AD203B41FA5}">
                      <a16:colId xmlns:a16="http://schemas.microsoft.com/office/drawing/2014/main" val="643563020"/>
                    </a:ext>
                  </a:extLst>
                </a:gridCol>
                <a:gridCol w="1352006">
                  <a:extLst>
                    <a:ext uri="{9D8B030D-6E8A-4147-A177-3AD203B41FA5}">
                      <a16:colId xmlns:a16="http://schemas.microsoft.com/office/drawing/2014/main" val="3007286693"/>
                    </a:ext>
                  </a:extLst>
                </a:gridCol>
              </a:tblGrid>
              <a:tr h="508168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S/n</a:t>
                      </a:r>
                      <a:endParaRPr lang="en-SG" dirty="0"/>
                    </a:p>
                  </a:txBody>
                  <a:tcPr marL="8355" marR="8355" marT="6684" marB="6684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effectLst/>
                        </a:rPr>
                        <a:t>Predicted </a:t>
                      </a:r>
                      <a:r>
                        <a:rPr lang="en-US" sz="1100" b="1" baseline="0" dirty="0">
                          <a:effectLst/>
                        </a:rPr>
                        <a:t> hourly earning</a:t>
                      </a:r>
                      <a:endParaRPr lang="en-SG" sz="1100" b="1" dirty="0">
                        <a:effectLst/>
                      </a:endParaRPr>
                    </a:p>
                  </a:txBody>
                  <a:tcPr marL="8355" marR="8355" marT="6684" marB="6684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baseline="0" dirty="0">
                          <a:effectLst/>
                        </a:rPr>
                        <a:t>Actual hourly earning</a:t>
                      </a:r>
                      <a:endParaRPr lang="en-SG" sz="1100" b="1" dirty="0">
                        <a:effectLst/>
                      </a:endParaRPr>
                    </a:p>
                    <a:p>
                      <a:pPr algn="r"/>
                      <a:endParaRPr lang="en-SG" sz="1100" b="1" dirty="0">
                        <a:effectLst/>
                      </a:endParaRPr>
                    </a:p>
                  </a:txBody>
                  <a:tcPr marL="8355" marR="8355" marT="6684" marB="6684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effectLst/>
                        </a:rPr>
                        <a:t>Residual  (=predicted – actual)</a:t>
                      </a:r>
                      <a:endParaRPr lang="en-SG" sz="1100" b="1" dirty="0">
                        <a:effectLst/>
                      </a:endParaRPr>
                    </a:p>
                  </a:txBody>
                  <a:tcPr marL="8355" marR="8355" marT="6684" marB="6684" anchor="ctr"/>
                </a:tc>
                <a:extLst>
                  <a:ext uri="{0D108BD9-81ED-4DB2-BD59-A6C34878D82A}">
                    <a16:rowId xmlns:a16="http://schemas.microsoft.com/office/drawing/2014/main" val="556689476"/>
                  </a:ext>
                </a:extLst>
              </a:tr>
              <a:tr h="261582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effectLst/>
                        </a:rPr>
                        <a:t>1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3.76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3.10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0.66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6350869"/>
                  </a:ext>
                </a:extLst>
              </a:tr>
              <a:tr h="261582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2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5.14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effectLst/>
                        </a:rPr>
                        <a:t>3.24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1.90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1563223"/>
                  </a:ext>
                </a:extLst>
              </a:tr>
              <a:tr h="261582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3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3.76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effectLst/>
                        </a:rPr>
                        <a:t>3.00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0.76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2593941"/>
                  </a:ext>
                </a:extLst>
              </a:tr>
              <a:tr h="261582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4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7.64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effectLst/>
                        </a:rPr>
                        <a:t>6.00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1.64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4724347"/>
                  </a:ext>
                </a:extLst>
              </a:tr>
              <a:tr h="323537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5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4.81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effectLst/>
                        </a:rPr>
                        <a:t>5.30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-0.49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3728270"/>
                  </a:ext>
                </a:extLst>
              </a:tr>
              <a:tr h="323537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6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8.27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8.75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-0.48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0061512"/>
                  </a:ext>
                </a:extLst>
              </a:tr>
              <a:tr h="323537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7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9.43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11.25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-1.82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3353438"/>
                  </a:ext>
                </a:extLst>
              </a:tr>
              <a:tr h="323537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8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4.93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5.00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-0.07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3572512"/>
                  </a:ext>
                </a:extLst>
              </a:tr>
              <a:tr h="261582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9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5.57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3.60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1.97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94412"/>
                  </a:ext>
                </a:extLst>
              </a:tr>
              <a:tr h="323537"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effectLst/>
                        </a:rPr>
                        <a:t>10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11.36</a:t>
                      </a:r>
                      <a:endParaRPr lang="en-SG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u="none" strike="noStrike">
                          <a:effectLst/>
                        </a:rPr>
                        <a:t>18.18</a:t>
                      </a:r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SG" sz="18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-6.82</a:t>
                      </a:r>
                      <a:endParaRPr lang="en-SG" sz="18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24366405"/>
                  </a:ext>
                </a:extLst>
              </a:tr>
            </a:tbl>
          </a:graphicData>
        </a:graphic>
      </p:graphicFrame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24" y="2227299"/>
            <a:ext cx="6012391" cy="23759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655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6462"/>
                <a:ext cx="10515600" cy="522913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 good fit between the predicted</a:t>
                </a:r>
                <a:r>
                  <a:rPr lang="en-US" i="1" dirty="0"/>
                  <a:t> values and</a:t>
                </a:r>
                <a:r>
                  <a:rPr lang="en-US" dirty="0"/>
                  <a:t> the </a:t>
                </a:r>
                <a:r>
                  <a:rPr lang="en-US" i="1" dirty="0"/>
                  <a:t>observed values should result in a high &amp; positive correlation between them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R-squared can be understood as the </a:t>
                </a:r>
                <a:r>
                  <a:rPr lang="en-US" dirty="0">
                    <a:solidFill>
                      <a:srgbClr val="FF0000"/>
                    </a:solidFill>
                  </a:rPr>
                  <a:t>squared correlation coefficient</a:t>
                </a:r>
                <a:r>
                  <a:rPr lang="en-US" dirty="0"/>
                  <a:t> between the predicted and actual values of the DV</a:t>
                </a:r>
              </a:p>
              <a:p>
                <a:pPr marL="0" indent="0">
                  <a:buNone/>
                </a:pPr>
                <a:r>
                  <a:rPr lang="en-US" dirty="0"/>
                  <a:t>R-squared is one </a:t>
                </a:r>
                <a:r>
                  <a:rPr lang="en-US" b="1" u="sng" dirty="0"/>
                  <a:t>statistic</a:t>
                </a:r>
                <a:r>
                  <a:rPr lang="en-US" dirty="0"/>
                  <a:t> that measures the “goodness-of-fit” of regression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sz="1900" dirty="0"/>
                  <a:t>(FYI: try View(</a:t>
                </a:r>
                <a:r>
                  <a:rPr lang="en-US" sz="1900" dirty="0" err="1"/>
                  <a:t>cbind</a:t>
                </a:r>
                <a:r>
                  <a:rPr lang="en-US" sz="1900" dirty="0"/>
                  <a:t>(reg.results$fitted.values,wage1$wage,reg.results$fitted.values-wage1$wage))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What is the range of R-squared?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Higher or lower R-squared suggests better fit?</a:t>
                </a:r>
              </a:p>
              <a:p>
                <a:pPr marL="0" indent="0">
                  <a:buNone/>
                </a:pPr>
                <a:r>
                  <a:rPr lang="en-US" i="1" dirty="0"/>
                  <a:t>Note R-squared is only indicative of the fit and no cut-off value exists for good vs. bad regression (not used for model selection). Our focus is on the coefficients. Better metrics exist for measuring predictive performance (but beyond our scope) </a:t>
                </a:r>
                <a:endParaRPr lang="en-SG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6462"/>
                <a:ext cx="10515600" cy="5229137"/>
              </a:xfrm>
              <a:blipFill>
                <a:blip r:embed="rId5"/>
                <a:stretch>
                  <a:fillRect l="-1217" t="-2564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838200" y="677041"/>
            <a:ext cx="2486322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R-squared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757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For practical &amp; statistical reasons, we want the regression to “fit”! Also  want it to be “simple,” with fewer IV’s (for both practical &amp; statistical reasons)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R-squared increases when more IV’s are included in the model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You can’t produce worse predictions of the DV by using more IV’s</a:t>
                </a:r>
              </a:p>
              <a:p>
                <a:pPr marL="0" indent="0">
                  <a:buNone/>
                </a:pPr>
                <a:r>
                  <a:rPr lang="en-US" dirty="0"/>
                  <a:t>To balance fit and simplicity, Adjusted R-squared is the R-squared after adjusted for the number of IV’s in the regression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Now a regression with more IV’s will get higher penalty </a:t>
                </a:r>
              </a:p>
              <a:p>
                <a:pPr marL="0" indent="0">
                  <a:buNone/>
                </a:pPr>
                <a:r>
                  <a:rPr lang="en-US" dirty="0"/>
                  <a:t>Adjusted R-squared can be used for comparing regression models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 r="-110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838200" y="677041"/>
            <a:ext cx="4612353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Adjusted R-squared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444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64260"/>
            <a:ext cx="6881456" cy="2781541"/>
          </a:xfr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87740"/>
            <a:ext cx="6942422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617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9.2|11.8|35.9|19|27.3|33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43|10.5|50.6|14|16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315</Words>
  <Application>Microsoft Office PowerPoint</Application>
  <PresentationFormat>寬螢幕</PresentationFormat>
  <Paragraphs>62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Linear regression:  final notes</vt:lpstr>
      <vt:lpstr>Goodness of fit</vt:lpstr>
      <vt:lpstr>R-squared</vt:lpstr>
      <vt:lpstr>Adjusted R-squared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152</cp:revision>
  <dcterms:created xsi:type="dcterms:W3CDTF">2018-07-30T07:45:11Z</dcterms:created>
  <dcterms:modified xsi:type="dcterms:W3CDTF">2021-07-10T11:55:25Z</dcterms:modified>
</cp:coreProperties>
</file>
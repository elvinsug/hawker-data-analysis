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0" r:id="rId2"/>
    <p:sldId id="264" r:id="rId3"/>
    <p:sldId id="271" r:id="rId4"/>
    <p:sldId id="285" r:id="rId5"/>
    <p:sldId id="272" r:id="rId6"/>
    <p:sldId id="273" r:id="rId7"/>
    <p:sldId id="274" r:id="rId8"/>
    <p:sldId id="284" r:id="rId9"/>
    <p:sldId id="283" r:id="rId10"/>
    <p:sldId id="286" r:id="rId11"/>
    <p:sldId id="265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59E5A-80C7-2DF4-9E1D-57DECB00D89A}" v="19" dt="2022-11-12T14:03:55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9442" autoAdjust="0"/>
  </p:normalViewPr>
  <p:slideViewPr>
    <p:cSldViewPr snapToGrid="0">
      <p:cViewPr varScale="1">
        <p:scale>
          <a:sx n="90" d="100"/>
          <a:sy n="90" d="100"/>
        </p:scale>
        <p:origin x="12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Chien-Ming (Assoc Prof)" userId="S::cmchen@staff.main.ntu.edu.sg::eaa76335-e5f0-4758-ac68-e68b30e478da" providerId="AD" clId="Web-{1DF59E5A-80C7-2DF4-9E1D-57DECB00D89A}"/>
    <pc:docChg chg="modSld">
      <pc:chgData name="Chen Chien-Ming (Assoc Prof)" userId="S::cmchen@staff.main.ntu.edu.sg::eaa76335-e5f0-4758-ac68-e68b30e478da" providerId="AD" clId="Web-{1DF59E5A-80C7-2DF4-9E1D-57DECB00D89A}" dt="2022-11-12T14:03:55.692" v="17" actId="20577"/>
      <pc:docMkLst>
        <pc:docMk/>
      </pc:docMkLst>
      <pc:sldChg chg="modSp">
        <pc:chgData name="Chen Chien-Ming (Assoc Prof)" userId="S::cmchen@staff.main.ntu.edu.sg::eaa76335-e5f0-4758-ac68-e68b30e478da" providerId="AD" clId="Web-{1DF59E5A-80C7-2DF4-9E1D-57DECB00D89A}" dt="2022-11-12T14:03:55.692" v="17" actId="20577"/>
        <pc:sldMkLst>
          <pc:docMk/>
          <pc:sldMk cId="1473029393" sldId="284"/>
        </pc:sldMkLst>
        <pc:spChg chg="mod">
          <ac:chgData name="Chen Chien-Ming (Assoc Prof)" userId="S::cmchen@staff.main.ntu.edu.sg::eaa76335-e5f0-4758-ac68-e68b30e478da" providerId="AD" clId="Web-{1DF59E5A-80C7-2DF4-9E1D-57DECB00D89A}" dt="2022-11-12T14:03:55.692" v="17" actId="20577"/>
          <ac:spMkLst>
            <pc:docMk/>
            <pc:sldMk cId="1473029393" sldId="284"/>
            <ac:spMk id="3" creationId="{6A64A0AE-146C-4FF1-92E6-811B4C331D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5120C-035A-4CDA-A522-5AA65DA27C6B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24AE7-F9A3-4895-AC05-9F634510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0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824AE7-F9A3-4895-AC05-9F63451045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9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5310-0072-4F58-BC2E-09DE4167F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EE169-6733-4E7A-BE69-B19C74E5A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B2BE9-1EB9-4865-B65E-8C888C395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78608-E959-43DE-98F5-34351563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1F69F-D292-4E7B-8AC1-1FDA059F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5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D514-33B3-4632-BC86-A6187BD2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FC3F-09EF-4FBA-977A-345E1CCAA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DE505-26B8-4826-A81A-35CAEE5E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C9FF3-2B43-4586-8BDF-058A9746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83AD-1457-416F-B996-10F681FA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1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7971-1D26-4931-95D2-67F247A2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55BBC-2B13-448F-BFA0-9658A9525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EEA46-1384-4AD7-82C2-4A45DC16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7A99E-D1DD-41CA-9340-2C3AE9C5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7494-F82A-4833-A29B-D3B2BFB5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A450-1F8F-4581-BA15-5C80772C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5757-25D9-4559-8AA7-ADA6B8990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E353E-F396-4566-B1CD-3610A3330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81284-5293-4921-A743-FF0A33FC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B67AB-E183-4DFA-B103-20376F42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24C62-287F-4F2C-BF29-BF30BCB4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4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EF06-AE49-461D-B599-66E3A027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85684-C5A2-4D3A-AD22-F85D578B3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E4B41-9F79-4B5A-957D-8CAA5E695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D7EDD-5BA6-41E2-AF8E-4EED92350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0E453-3CFA-4565-A2CB-0637F06D6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3FF4E-761A-4676-A390-06411A2B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EFC96-A9B5-4769-BB8C-CD2D9E97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938D7-3FBD-4730-8AF5-42988BE4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5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0C13-78B7-4F6D-91F1-40B7B20E6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BFE24-60C2-421B-823A-CC5EE99B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4D498-8333-46AF-82A8-7D80DAA7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54784-013E-470B-AD1E-AC9DD575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9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E6D3E-674B-4115-94FD-3D486F25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1031D-C7E1-49AF-89A4-EF53B072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D899E-0AFC-46F1-8F44-A6DB1B9A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7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A763-6854-48A6-A33A-13998EA57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51E40-3D1B-49B3-A35B-C020187A0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02D75-512C-4882-A6CD-4B4B9EDEB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490F1-BD2C-41E6-9558-DC817002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A05F-2FEE-46F7-904F-FBB18BAB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F5846-785A-4140-8ADA-C2BEDBBF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9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AD91-0051-41BF-9FED-79D4CEA8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42B1F-244E-4DD7-B3B6-8C5E00294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FA9CB-6914-4B54-A4AC-2470B41C6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9B30F-2DBF-49F5-8D59-3894AC4F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0D6B8-CCF0-4467-B86F-4A7FAAC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04A40-F4B4-49DA-A680-673FF88F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4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2271-8B49-4227-A9CE-CC35FD33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0C094-6855-4AE8-B779-96C01526C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2D348-8076-42A1-B5B1-9C5B652C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CA362-8F15-4BB3-9C0D-255ADB57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B867-813B-45F5-B1C5-A3605026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64AD1-7641-42B9-B88E-860F9D131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CE5BB-9117-4A11-B5A6-F44B555D4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C3BA7-CFB8-49DB-898A-448E6034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90E5-7FD1-4B7C-BDE6-7C05C2DA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D7DC9-7551-47C2-B03D-AD40D1D6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4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3DD33-2A6F-42C3-B893-6BDD344F8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665FA-3AFA-4EEA-B1F3-9A1817DA5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86899-6264-4B32-B313-56B3CBAD5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A78E-97A0-473D-A9AF-1CC396845FAC}" type="datetimeFigureOut">
              <a:rPr lang="en-US" smtClean="0"/>
              <a:t>11/12/2022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D86CF-087A-40AD-98CC-BFFA9DDB2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DFFF9-FF7B-4A24-94E1-E7949673B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0559C-2DE4-4941-9B61-9DFB3444F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7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r>
              <a:rPr lang="en-US"/>
              <a:t>: </a:t>
            </a:r>
            <a:br>
              <a:rPr lang="en-US"/>
            </a:br>
            <a:r>
              <a:rPr lang="en-US"/>
              <a:t>log </a:t>
            </a:r>
            <a:r>
              <a:rPr lang="en-US" dirty="0"/>
              <a:t>transformation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dirty="0"/>
              <a:t>Variable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Sometimes, it is more appropriate to use a transformed version of the original variable in regression</a:t>
                </a:r>
              </a:p>
              <a:p>
                <a:pPr marL="0" indent="0">
                  <a:buNone/>
                </a:pPr>
                <a:r>
                  <a:rPr lang="en-US" i="1" dirty="0"/>
                  <a:t>“Transformation” meaning you calculate a new variable based on the original one</a:t>
                </a:r>
              </a:p>
              <a:p>
                <a:r>
                  <a:rPr lang="en-US" dirty="0"/>
                  <a:t>The logarithmic transformation (log transformation for short),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⁡()</m:t>
                    </m:r>
                  </m:oMath>
                </a14:m>
                <a:r>
                  <a:rPr lang="en-US" dirty="0"/>
                  <a:t>, is a common conversion</a:t>
                </a:r>
              </a:p>
              <a:p>
                <a:pPr marL="0" indent="0">
                  <a:buNone/>
                </a:pPr>
                <a:r>
                  <a:rPr lang="en-US" i="1" dirty="0"/>
                  <a:t>Thus, instead of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in the regression, we 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Next, we will learn about log transformation and then its application in regression analysis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 r="-15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2799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3AA70BAD-8F00-4997-973F-7D77197832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9" r="1289"/>
          <a:stretch/>
        </p:blipFill>
        <p:spPr>
          <a:xfrm>
            <a:off x="5775399" y="3686282"/>
            <a:ext cx="5929452" cy="3171718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BA6AAA-9F6C-476A-BF1C-2F252D4D2C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1" t="12377" r="3824" b="4014"/>
          <a:stretch/>
        </p:blipFill>
        <p:spPr>
          <a:xfrm>
            <a:off x="221941" y="3548958"/>
            <a:ext cx="5521735" cy="3251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678F16-8E50-4555-A9EE-E4C67040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A325-E435-472D-872A-7229CB49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183" y="15106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Intuitively, you can think of log transformation as a way to scale the variable around its median in a peculiar 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A060D-1A5A-4C77-B6DC-558A3B79AAEF}"/>
              </a:ext>
            </a:extLst>
          </p:cNvPr>
          <p:cNvSpPr txBox="1"/>
          <p:nvPr/>
        </p:nvSpPr>
        <p:spPr>
          <a:xfrm>
            <a:off x="353722" y="2641978"/>
            <a:ext cx="48478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For ease of understanding, consider</a:t>
            </a:r>
          </a:p>
          <a:p>
            <a:r>
              <a:rPr lang="en-US" sz="2400" i="1" dirty="0"/>
              <a:t>a variable X {1,2,3,4,5,6,7,8,9,10,11}. </a:t>
            </a:r>
          </a:p>
          <a:p>
            <a:r>
              <a:rPr lang="en-US" sz="2400" i="1" dirty="0"/>
              <a:t>Its median is 6 (median</a:t>
            </a:r>
            <a:r>
              <a:rPr lang="en-US" altLang="zh-TW" sz="2400" i="1" dirty="0"/>
              <a:t>(X)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in R)</a:t>
            </a:r>
            <a:endParaRPr lang="en-US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F2C94-8B08-4717-8D05-992AAB858EBC}"/>
              </a:ext>
            </a:extLst>
          </p:cNvPr>
          <p:cNvSpPr txBox="1"/>
          <p:nvPr/>
        </p:nvSpPr>
        <p:spPr>
          <a:xfrm>
            <a:off x="353722" y="4913005"/>
            <a:ext cx="5421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1    2    3   4    5    </a:t>
            </a:r>
            <a:r>
              <a:rPr lang="en-US" sz="2800" dirty="0">
                <a:solidFill>
                  <a:srgbClr val="FF0000"/>
                </a:solidFill>
              </a:rPr>
              <a:t>6</a:t>
            </a:r>
            <a:r>
              <a:rPr lang="en-US" sz="2800" dirty="0"/>
              <a:t>    7    8   9   10  11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88B3D-827D-4C16-988B-EE886AB6D1AE}"/>
              </a:ext>
            </a:extLst>
          </p:cNvPr>
          <p:cNvSpPr txBox="1"/>
          <p:nvPr/>
        </p:nvSpPr>
        <p:spPr>
          <a:xfrm>
            <a:off x="6338036" y="2602556"/>
            <a:ext cx="5015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log(X)={0.0000,0.3010,…,1.0414}; its </a:t>
            </a:r>
          </a:p>
          <a:p>
            <a:r>
              <a:rPr lang="en-US" sz="2400" i="1" dirty="0"/>
              <a:t>median is 1.7918 (still the 6-th observation, log(6)</a:t>
            </a:r>
            <a:r>
              <a:rPr lang="en-US" altLang="zh-TW" sz="2400" i="1" dirty="0"/>
              <a:t>)</a:t>
            </a:r>
            <a:endParaRPr lang="en-US" sz="2400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3471F-FE74-4FDB-B971-95F170AB6ABC}"/>
              </a:ext>
            </a:extLst>
          </p:cNvPr>
          <p:cNvSpPr/>
          <p:nvPr/>
        </p:nvSpPr>
        <p:spPr>
          <a:xfrm>
            <a:off x="9862120" y="4917704"/>
            <a:ext cx="500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6th</a:t>
            </a:r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0B1B4D8-91CA-4062-BC17-C5B08E7C6107}"/>
              </a:ext>
            </a:extLst>
          </p:cNvPr>
          <p:cNvSpPr/>
          <p:nvPr/>
        </p:nvSpPr>
        <p:spPr>
          <a:xfrm rot="5400000">
            <a:off x="10527864" y="4685411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333CBDB-B988-457D-BC57-E7540F0AA7D3}"/>
              </a:ext>
            </a:extLst>
          </p:cNvPr>
          <p:cNvSpPr/>
          <p:nvPr/>
        </p:nvSpPr>
        <p:spPr>
          <a:xfrm rot="5400000">
            <a:off x="9133474" y="4704705"/>
            <a:ext cx="484632" cy="97840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42897-F1EC-43DC-B8CB-D5EE3AECF9BE}"/>
              </a:ext>
            </a:extLst>
          </p:cNvPr>
          <p:cNvSpPr txBox="1"/>
          <p:nvPr/>
        </p:nvSpPr>
        <p:spPr>
          <a:xfrm>
            <a:off x="10401480" y="5359254"/>
            <a:ext cx="10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Squeezed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E7EA7-1654-49D8-9F11-B438FAE8A663}"/>
              </a:ext>
            </a:extLst>
          </p:cNvPr>
          <p:cNvSpPr txBox="1"/>
          <p:nvPr/>
        </p:nvSpPr>
        <p:spPr>
          <a:xfrm>
            <a:off x="8992382" y="5378548"/>
            <a:ext cx="1089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Stretched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85493-D8FE-4453-9C6E-599D79C033A8}"/>
              </a:ext>
            </a:extLst>
          </p:cNvPr>
          <p:cNvSpPr txBox="1"/>
          <p:nvPr/>
        </p:nvSpPr>
        <p:spPr>
          <a:xfrm>
            <a:off x="2537012" y="4476205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4D8B9D-560B-4B31-8253-A2C85DE5F614}"/>
              </a:ext>
            </a:extLst>
          </p:cNvPr>
          <p:cNvSpPr txBox="1"/>
          <p:nvPr/>
        </p:nvSpPr>
        <p:spPr>
          <a:xfrm>
            <a:off x="9714804" y="3830949"/>
            <a:ext cx="1295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</a:t>
            </a:r>
          </a:p>
          <a:p>
            <a:r>
              <a:rPr lang="en-US" dirty="0"/>
              <a:t>Log(6)=1.79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76BE66-7A55-4AFF-9B25-20EBFDD90F50}"/>
              </a:ext>
            </a:extLst>
          </p:cNvPr>
          <p:cNvCxnSpPr/>
          <p:nvPr/>
        </p:nvCxnSpPr>
        <p:spPr>
          <a:xfrm flipH="1">
            <a:off x="10112349" y="4522510"/>
            <a:ext cx="250229" cy="364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55272" y="5704284"/>
            <a:ext cx="524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i="1" dirty="0">
                <a:solidFill>
                  <a:srgbClr val="FF0000"/>
                </a:solidFill>
              </a:rPr>
              <a:t>Observe the change in relative distance to the median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51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2" grpId="0"/>
      <p:bldP spid="13" grpId="0" animBg="1"/>
      <p:bldP spid="14" grpId="0" animBg="1"/>
      <p:bldP spid="15" grpId="0"/>
      <p:bldP spid="16" grpId="0"/>
      <p:bldP spid="5" grpId="0"/>
      <p:bldP spid="1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3AA70BAD-8F00-4997-973F-7D77197832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9" r="1289"/>
          <a:stretch/>
        </p:blipFill>
        <p:spPr>
          <a:xfrm>
            <a:off x="5775399" y="3686282"/>
            <a:ext cx="5929452" cy="3171718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BA6AAA-9F6C-476A-BF1C-2F252D4D2C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1" t="12377" r="3824" b="4014"/>
          <a:stretch/>
        </p:blipFill>
        <p:spPr>
          <a:xfrm>
            <a:off x="221941" y="3548958"/>
            <a:ext cx="5521735" cy="3251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678F16-8E50-4555-A9EE-E4C67040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A325-E435-472D-872A-7229CB49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183" y="15106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Intuitively, you can think of log transformation as a way to scale the variable around its median in a peculiar 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A060D-1A5A-4C77-B6DC-558A3B79AAEF}"/>
              </a:ext>
            </a:extLst>
          </p:cNvPr>
          <p:cNvSpPr txBox="1"/>
          <p:nvPr/>
        </p:nvSpPr>
        <p:spPr>
          <a:xfrm>
            <a:off x="353722" y="2641978"/>
            <a:ext cx="48478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For ease of understanding, consider</a:t>
            </a:r>
          </a:p>
          <a:p>
            <a:r>
              <a:rPr lang="en-US" sz="2400" i="1" dirty="0"/>
              <a:t>a variable X {1,2,3,4,5,6,7,8,9,10,11}. </a:t>
            </a:r>
          </a:p>
          <a:p>
            <a:r>
              <a:rPr lang="en-US" sz="2400" i="1" dirty="0"/>
              <a:t>Its median is 6 (median</a:t>
            </a:r>
            <a:r>
              <a:rPr lang="en-US" altLang="zh-TW" sz="2400" i="1" dirty="0"/>
              <a:t>(X)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in R)</a:t>
            </a:r>
            <a:endParaRPr lang="en-US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F2C94-8B08-4717-8D05-992AAB858EBC}"/>
              </a:ext>
            </a:extLst>
          </p:cNvPr>
          <p:cNvSpPr txBox="1"/>
          <p:nvPr/>
        </p:nvSpPr>
        <p:spPr>
          <a:xfrm>
            <a:off x="353722" y="4913005"/>
            <a:ext cx="5421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1    2    3   4    5    </a:t>
            </a:r>
            <a:r>
              <a:rPr lang="en-US" sz="2800" dirty="0">
                <a:solidFill>
                  <a:srgbClr val="FF0000"/>
                </a:solidFill>
              </a:rPr>
              <a:t>6</a:t>
            </a:r>
            <a:r>
              <a:rPr lang="en-US" sz="2800" dirty="0"/>
              <a:t>    7    8   9   10  11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88B3D-827D-4C16-988B-EE886AB6D1AE}"/>
              </a:ext>
            </a:extLst>
          </p:cNvPr>
          <p:cNvSpPr txBox="1"/>
          <p:nvPr/>
        </p:nvSpPr>
        <p:spPr>
          <a:xfrm>
            <a:off x="6338036" y="2602556"/>
            <a:ext cx="5015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log(X)={0.0000,0.3010,…,1.0414}; its </a:t>
            </a:r>
          </a:p>
          <a:p>
            <a:r>
              <a:rPr lang="en-US" sz="2400" i="1" dirty="0"/>
              <a:t>median is 1.7918 (still the 6-th observation, log(6)</a:t>
            </a:r>
            <a:r>
              <a:rPr lang="en-US" altLang="zh-TW" sz="2400" i="1" dirty="0"/>
              <a:t>)</a:t>
            </a:r>
            <a:endParaRPr lang="en-US" sz="2400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3471F-FE74-4FDB-B971-95F170AB6ABC}"/>
              </a:ext>
            </a:extLst>
          </p:cNvPr>
          <p:cNvSpPr/>
          <p:nvPr/>
        </p:nvSpPr>
        <p:spPr>
          <a:xfrm>
            <a:off x="9862120" y="4917704"/>
            <a:ext cx="500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6th</a:t>
            </a:r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0B1B4D8-91CA-4062-BC17-C5B08E7C6107}"/>
              </a:ext>
            </a:extLst>
          </p:cNvPr>
          <p:cNvSpPr/>
          <p:nvPr/>
        </p:nvSpPr>
        <p:spPr>
          <a:xfrm rot="5400000">
            <a:off x="10527864" y="4685411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333CBDB-B988-457D-BC57-E7540F0AA7D3}"/>
              </a:ext>
            </a:extLst>
          </p:cNvPr>
          <p:cNvSpPr/>
          <p:nvPr/>
        </p:nvSpPr>
        <p:spPr>
          <a:xfrm rot="5400000">
            <a:off x="9133474" y="4704705"/>
            <a:ext cx="484632" cy="978408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42897-F1EC-43DC-B8CB-D5EE3AECF9BE}"/>
              </a:ext>
            </a:extLst>
          </p:cNvPr>
          <p:cNvSpPr txBox="1"/>
          <p:nvPr/>
        </p:nvSpPr>
        <p:spPr>
          <a:xfrm>
            <a:off x="10401480" y="5359254"/>
            <a:ext cx="10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Squeezed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E7EA7-1654-49D8-9F11-B438FAE8A663}"/>
              </a:ext>
            </a:extLst>
          </p:cNvPr>
          <p:cNvSpPr txBox="1"/>
          <p:nvPr/>
        </p:nvSpPr>
        <p:spPr>
          <a:xfrm>
            <a:off x="8992382" y="5378548"/>
            <a:ext cx="1089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Stretched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85493-D8FE-4453-9C6E-599D79C033A8}"/>
              </a:ext>
            </a:extLst>
          </p:cNvPr>
          <p:cNvSpPr txBox="1"/>
          <p:nvPr/>
        </p:nvSpPr>
        <p:spPr>
          <a:xfrm>
            <a:off x="2537012" y="4476205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4D8B9D-560B-4B31-8253-A2C85DE5F614}"/>
              </a:ext>
            </a:extLst>
          </p:cNvPr>
          <p:cNvSpPr txBox="1"/>
          <p:nvPr/>
        </p:nvSpPr>
        <p:spPr>
          <a:xfrm>
            <a:off x="9714804" y="3830949"/>
            <a:ext cx="1295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</a:t>
            </a:r>
          </a:p>
          <a:p>
            <a:r>
              <a:rPr lang="en-US" dirty="0"/>
              <a:t>Log(6)=1.79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76BE66-7A55-4AFF-9B25-20EBFDD90F50}"/>
              </a:ext>
            </a:extLst>
          </p:cNvPr>
          <p:cNvCxnSpPr/>
          <p:nvPr/>
        </p:nvCxnSpPr>
        <p:spPr>
          <a:xfrm flipH="1">
            <a:off x="10112349" y="4522510"/>
            <a:ext cx="250229" cy="364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55272" y="5704284"/>
            <a:ext cx="524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i="1" dirty="0">
                <a:solidFill>
                  <a:srgbClr val="FF0000"/>
                </a:solidFill>
              </a:rPr>
              <a:t>Observe the change in relative distance to the median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336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3846-17BF-4297-A169-DA1A02EF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X=c(1:100) and its log transformation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43A40E2-8EAA-44BA-BE84-A82AAD1A2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34" y="2339395"/>
            <a:ext cx="6820852" cy="41534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213F0D-E365-457D-BB3D-74A1B2F1DC7B}"/>
              </a:ext>
            </a:extLst>
          </p:cNvPr>
          <p:cNvSpPr txBox="1"/>
          <p:nvPr/>
        </p:nvSpPr>
        <p:spPr>
          <a:xfrm>
            <a:off x="914400" y="1690688"/>
            <a:ext cx="22252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&gt;x &lt;- c(1:100)</a:t>
            </a:r>
          </a:p>
          <a:p>
            <a:r>
              <a:rPr lang="en-US" sz="2800" dirty="0"/>
              <a:t>&gt;</a:t>
            </a:r>
            <a:r>
              <a:rPr lang="en-US" sz="2800" dirty="0" err="1"/>
              <a:t>logx</a:t>
            </a:r>
            <a:r>
              <a:rPr lang="en-US" sz="2800" dirty="0"/>
              <a:t> &lt;- log(x)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19C0A0-68B8-433A-8651-D2DEFF6F095B}"/>
              </a:ext>
            </a:extLst>
          </p:cNvPr>
          <p:cNvCxnSpPr>
            <a:cxnSpLocks/>
          </p:cNvCxnSpPr>
          <p:nvPr/>
        </p:nvCxnSpPr>
        <p:spPr>
          <a:xfrm>
            <a:off x="7356381" y="3428999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8E478D-4A2A-492D-A1C3-50D3874F1AE2}"/>
              </a:ext>
            </a:extLst>
          </p:cNvPr>
          <p:cNvSpPr txBox="1"/>
          <p:nvPr/>
        </p:nvSpPr>
        <p:spPr>
          <a:xfrm>
            <a:off x="6299200" y="3059668"/>
            <a:ext cx="2114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Median around here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74D5AF1-D541-47F3-8D97-6575F0BD5148}"/>
              </a:ext>
            </a:extLst>
          </p:cNvPr>
          <p:cNvSpPr/>
          <p:nvPr/>
        </p:nvSpPr>
        <p:spPr>
          <a:xfrm rot="5400000">
            <a:off x="7757554" y="402031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76E12B1-EBFB-441A-989C-6978765BACC1}"/>
              </a:ext>
            </a:extLst>
          </p:cNvPr>
          <p:cNvSpPr/>
          <p:nvPr/>
        </p:nvSpPr>
        <p:spPr>
          <a:xfrm rot="5400000">
            <a:off x="5005719" y="2401170"/>
            <a:ext cx="484632" cy="42166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9B3DA-B152-4156-B9F4-C21513AC30A0}"/>
              </a:ext>
            </a:extLst>
          </p:cNvPr>
          <p:cNvSpPr txBox="1"/>
          <p:nvPr/>
        </p:nvSpPr>
        <p:spPr>
          <a:xfrm>
            <a:off x="7611051" y="4624269"/>
            <a:ext cx="96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Squeeze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9E606-F5D7-4604-AF9B-7932C0D4DDBE}"/>
              </a:ext>
            </a:extLst>
          </p:cNvPr>
          <p:cNvSpPr txBox="1"/>
          <p:nvPr/>
        </p:nvSpPr>
        <p:spPr>
          <a:xfrm>
            <a:off x="6681731" y="4624269"/>
            <a:ext cx="852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Stretch</a:t>
            </a:r>
          </a:p>
        </p:txBody>
      </p:sp>
    </p:spTree>
    <p:extLst>
      <p:ext uri="{BB962C8B-B14F-4D97-AF65-F5344CB8AC3E}">
        <p14:creationId xmlns:p14="http://schemas.microsoft.com/office/powerpoint/2010/main" val="334447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32B4439-6B7D-4C92-A403-6117F9013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049" y="3341132"/>
            <a:ext cx="563111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D12843-C9DC-46F2-A902-075160A8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empirical distributions right-skewed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73EA-E2CC-4B5F-8335-60063F812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right-skewed distribution has a long right tail relative to its “peak” (i.e., the distribution has a </a:t>
            </a:r>
            <a:r>
              <a:rPr lang="en-US"/>
              <a:t>few very large </a:t>
            </a:r>
            <a:r>
              <a:rPr lang="en-US" dirty="0"/>
              <a:t>values) </a:t>
            </a:r>
          </a:p>
          <a:p>
            <a:r>
              <a:rPr lang="en-US" dirty="0"/>
              <a:t>For a right-skewed DV, log-transformation can make the distribution more “normal,” which improve the inference in regression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99375-03F3-4AF1-835E-FA5EFD4DEF7D}"/>
              </a:ext>
            </a:extLst>
          </p:cNvPr>
          <p:cNvSpPr txBox="1"/>
          <p:nvPr/>
        </p:nvSpPr>
        <p:spPr>
          <a:xfrm>
            <a:off x="254000" y="640080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marketcap</a:t>
            </a:r>
            <a:r>
              <a:rPr lang="en-US" dirty="0"/>
              <a:t> US public firms 2017.csv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25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256E-242F-4B48-A950-879EA752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the log-transformed variable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4D9EAC8-8BA8-4CA0-8EF5-6FE0F01FA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74" y="1914394"/>
            <a:ext cx="6820852" cy="4153480"/>
          </a:xfrm>
        </p:spPr>
      </p:pic>
    </p:spTree>
    <p:extLst>
      <p:ext uri="{BB962C8B-B14F-4D97-AF65-F5344CB8AC3E}">
        <p14:creationId xmlns:p14="http://schemas.microsoft.com/office/powerpoint/2010/main" val="2030620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4536E9-BEAF-4429-A78F-608C3226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606" y="3561797"/>
            <a:ext cx="3268703" cy="1990439"/>
          </a:xfrm>
          <a:prstGeom prst="rect">
            <a:avLst/>
          </a:prstGeom>
        </p:spPr>
      </p:pic>
      <p:pic>
        <p:nvPicPr>
          <p:cNvPr id="5" name="Picture 4" descr="A close up of a person&#10;&#10;Description automatically generated">
            <a:extLst>
              <a:ext uri="{FF2B5EF4-FFF2-40B4-BE49-F238E27FC236}">
                <a16:creationId xmlns:a16="http://schemas.microsoft.com/office/drawing/2014/main" id="{F07406EF-728E-4BDB-A181-88748FFAE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276" y="3352169"/>
            <a:ext cx="3961143" cy="2412093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2BFBA826-9584-4E4E-9F17-57362EC528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83" y="3522664"/>
            <a:ext cx="3268704" cy="1990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5C7AA0-9DEE-4D8A-A222-77FB72BF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 of a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A0AE-146C-4FF1-92E6-811B4C331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R, you can evaluate the sample skewness (a </a:t>
            </a:r>
            <a:r>
              <a:rPr lang="en-US" i="1" dirty="0"/>
              <a:t>statistic</a:t>
            </a:r>
            <a:r>
              <a:rPr lang="en-US" dirty="0"/>
              <a:t>) of a variable by the “skewness()” in the “moments” package </a:t>
            </a:r>
            <a:r>
              <a:rPr lang="en-US" sz="1600" dirty="0"/>
              <a:t>(first-time user, use </a:t>
            </a:r>
            <a:r>
              <a:rPr lang="en-US" sz="1600" dirty="0" err="1"/>
              <a:t>install.packages</a:t>
            </a:r>
            <a:r>
              <a:rPr lang="en-US" sz="1600"/>
              <a:t>(“moments”) to install the package, followed by library(moments) )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BEA9D-3148-417D-B245-8E0107FA7A13}"/>
              </a:ext>
            </a:extLst>
          </p:cNvPr>
          <p:cNvSpPr/>
          <p:nvPr/>
        </p:nvSpPr>
        <p:spPr>
          <a:xfrm>
            <a:off x="4718619" y="3199498"/>
            <a:ext cx="2754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Skewness is about zero</a:t>
            </a:r>
          </a:p>
          <a:p>
            <a:r>
              <a:rPr lang="en-US" altLang="zh-TW" dirty="0"/>
              <a:t>(~normal distribution)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768AB-B950-43A6-9D02-26D1AEE1FBB9}"/>
              </a:ext>
            </a:extLst>
          </p:cNvPr>
          <p:cNvSpPr/>
          <p:nvPr/>
        </p:nvSpPr>
        <p:spPr>
          <a:xfrm>
            <a:off x="763055" y="3329266"/>
            <a:ext cx="3277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Negative skewness </a:t>
            </a:r>
            <a:r>
              <a:rPr lang="en-US" altLang="zh-TW" dirty="0">
                <a:solidFill>
                  <a:srgbClr val="FF0000"/>
                </a:solidFill>
              </a:rPr>
              <a:t>(left-skewed)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12AD30-BC9B-406B-8394-911B8FC53C5B}"/>
              </a:ext>
            </a:extLst>
          </p:cNvPr>
          <p:cNvSpPr/>
          <p:nvPr/>
        </p:nvSpPr>
        <p:spPr>
          <a:xfrm>
            <a:off x="7868266" y="3240315"/>
            <a:ext cx="3303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Positive skewness </a:t>
            </a:r>
            <a:r>
              <a:rPr lang="en-US" dirty="0">
                <a:solidFill>
                  <a:srgbClr val="FF0000"/>
                </a:solidFill>
              </a:rPr>
              <a:t>(right-skewed)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21B56-AC00-4109-A6C9-82FCA2FE00F3}"/>
              </a:ext>
            </a:extLst>
          </p:cNvPr>
          <p:cNvSpPr txBox="1"/>
          <p:nvPr/>
        </p:nvSpPr>
        <p:spPr>
          <a:xfrm>
            <a:off x="264160" y="5764262"/>
            <a:ext cx="1145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use &gt;+1, &lt;-1 as the rule of thumb. Skewness &gt;+1 or &lt;-1 is considered highly skewed. Thus when skewness &gt; +1, you can consider applying the log-transformation to your DV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302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DC8D-577C-495C-BD69-2C411524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coefficient interpretations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B9CA0-0522-46E2-BE14-BD7E95ED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53738" cy="48799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While log transformation can restore normality of distributions, the problem of normality would be immaterial in the presence of large samples (say, from </a:t>
            </a:r>
            <a:r>
              <a:rPr lang="en-US"/>
              <a:t>a few dozens </a:t>
            </a:r>
            <a:r>
              <a:rPr lang="en-US" dirty="0"/>
              <a:t>and few hundreds; thanks to CLT)</a:t>
            </a:r>
          </a:p>
          <a:p>
            <a:r>
              <a:rPr lang="en-US" dirty="0"/>
              <a:t>The “log-or-not” decision is more often based on </a:t>
            </a:r>
            <a:r>
              <a:rPr lang="en-US" i="1" dirty="0"/>
              <a:t>purpose of your study</a:t>
            </a:r>
          </a:p>
          <a:p>
            <a:r>
              <a:rPr lang="en-US" dirty="0"/>
              <a:t>Log transformed variables give a “% change” interpretation for the DV and IV’s 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…1% increase in blood pressure is associated with ?% decrease in work productivity</a:t>
            </a:r>
            <a:r>
              <a:rPr lang="en-US" dirty="0"/>
              <a:t>” </a:t>
            </a:r>
          </a:p>
          <a:p>
            <a:pPr marL="0" indent="0">
              <a:buNone/>
            </a:pPr>
            <a:r>
              <a:rPr lang="en-US" dirty="0"/>
              <a:t>That is, if you believe (based on theory, your knowledge, </a:t>
            </a:r>
            <a:r>
              <a:rPr lang="en-US" dirty="0" err="1"/>
              <a:t>etc</a:t>
            </a:r>
            <a:r>
              <a:rPr lang="en-US" dirty="0"/>
              <a:t>) that the  IV affects the DV by “%” rather than on a “per unit” basis, then you should adopt the log transformation (for IV or DV)</a:t>
            </a:r>
          </a:p>
          <a:p>
            <a:pPr marL="0" indent="0">
              <a:buNone/>
            </a:pPr>
            <a:r>
              <a:rPr lang="en-SG" dirty="0"/>
              <a:t>Of course, when you don’t have such prior information, you can refer to skewness to make the call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98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DC8D-577C-495C-BD69-2C411524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coefficient interpretations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B9CA0-0522-46E2-BE14-BD7E95ED5B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88040" cy="4871266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SG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SG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SG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SG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                     </a:t>
                </a:r>
                <a:r>
                  <a:rPr lang="en-US" i="1" dirty="0"/>
                  <a:t>(2)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The 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“</a:t>
                </a:r>
                <a:r>
                  <a:rPr lang="en-US" b="1" i="1" dirty="0"/>
                  <a:t>per unit</a:t>
                </a:r>
                <a:r>
                  <a:rPr lang="en-US" b="1" dirty="0"/>
                  <a:t> increase </a:t>
                </a:r>
                <a:r>
                  <a:rPr lang="en-US" dirty="0"/>
                  <a:t>in the IV is associated with a </a:t>
                </a:r>
                <a:r>
                  <a:rPr lang="en-US" b="1" i="1" dirty="0"/>
                  <a:t>(100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SG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/>
                  <a:t>% change in Y </a:t>
                </a:r>
                <a:r>
                  <a:rPr lang="en-US" dirty="0"/>
                  <a:t>” </a:t>
                </a:r>
              </a:p>
              <a:p>
                <a:pPr marL="0" indent="0">
                  <a:buNone/>
                </a:pPr>
                <a:endParaRPr lang="en-SG" b="1" dirty="0"/>
              </a:p>
              <a:p>
                <a:pPr marL="0" indent="0">
                  <a:buNone/>
                </a:pPr>
                <a:r>
                  <a:rPr lang="en-SG" b="1" dirty="0"/>
                  <a:t>E.g.,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0.07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𝑏𝑒𝑖𝑛𝑔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𝑒𝑑𝑢𝑐𝑎𝑡𝑖𝑜𝑛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b="1" dirty="0"/>
                  <a:t> then it means 1 more year of education increases the average salary by 7%.  	</a:t>
                </a:r>
                <a:endParaRPr lang="en-US" dirty="0"/>
              </a:p>
              <a:p>
                <a:pPr marL="0" indent="0">
                  <a:buNone/>
                </a:pPr>
                <a:endParaRPr lang="en-SG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SG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SG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       (3)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The 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“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per 1% increase</a:t>
                </a:r>
                <a:r>
                  <a:rPr lang="en-US" b="1" i="1" dirty="0"/>
                  <a:t> </a:t>
                </a:r>
                <a:r>
                  <a:rPr lang="en-US" dirty="0"/>
                  <a:t>in X is associated with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SG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i="1" dirty="0"/>
                  <a:t>% change in Y </a:t>
                </a:r>
                <a:r>
                  <a:rPr lang="en-US" dirty="0"/>
                  <a:t>” </a:t>
                </a:r>
              </a:p>
              <a:p>
                <a:pPr marL="0" indent="0">
                  <a:buNone/>
                </a:pPr>
                <a:endParaRPr lang="en-SG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SG" b="1" dirty="0"/>
                  <a:t>E.g.,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1.7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𝑏𝑒𝑖𝑛𝑔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𝑒𝑑𝑢𝑐𝑎𝑡𝑖𝑜𝑛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SG" b="1" dirty="0"/>
                  <a:t> then it means 1% more education increases the average salary by 1.7%.  	</a:t>
                </a:r>
                <a:endParaRPr lang="en-US" dirty="0"/>
              </a:p>
              <a:p>
                <a:pPr marL="0" indent="0">
                  <a:buNone/>
                </a:pPr>
                <a:endParaRPr lang="en-SG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SG" i="1" dirty="0">
                    <a:latin typeface="Cambria Math" panose="02040503050406030204" pitchFamily="18" charset="0"/>
                  </a:rPr>
                  <a:t>Note that in general you only need to choose one of the models in your analysis	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B9CA0-0522-46E2-BE14-BD7E95ED5B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88040" cy="4871266"/>
              </a:xfrm>
              <a:blipFill>
                <a:blip r:embed="rId6"/>
                <a:stretch>
                  <a:fillRect l="-721" t="-2500" r="-99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6281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Applications-the monthly earning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>
                <a:solidFill>
                  <a:schemeClr val="accent1">
                    <a:lumMod val="75000"/>
                  </a:schemeClr>
                </a:solidFill>
              </a:rPr>
              <a:t># Check the skewness of the DV</a:t>
            </a:r>
          </a:p>
          <a:p>
            <a:pPr marL="0" indent="0">
              <a:buNone/>
            </a:pPr>
            <a:r>
              <a:rPr lang="en-SG" dirty="0"/>
              <a:t>&gt;library(</a:t>
            </a:r>
            <a:r>
              <a:rPr lang="en-US" dirty="0"/>
              <a:t>e1071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/>
              <a:t>&gt;skewness(wage1$wage)</a:t>
            </a:r>
          </a:p>
          <a:p>
            <a:pPr marL="0" indent="0">
              <a:buNone/>
            </a:pPr>
            <a:r>
              <a:rPr lang="en-SG" dirty="0"/>
              <a:t>2.001603</a:t>
            </a:r>
          </a:p>
          <a:p>
            <a:pPr marL="0" indent="0">
              <a:buNone/>
            </a:pPr>
            <a:r>
              <a:rPr lang="en-SG" dirty="0">
                <a:solidFill>
                  <a:schemeClr val="accent1">
                    <a:lumMod val="75000"/>
                  </a:schemeClr>
                </a:solidFill>
              </a:rPr>
              <a:t># &gt;+1, so log transformation is advisable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&gt;reg.results.wage1log &lt;-lm(log(wage) ~ </a:t>
            </a:r>
            <a:r>
              <a:rPr lang="en-SG" dirty="0" err="1"/>
              <a:t>educ</a:t>
            </a:r>
            <a:r>
              <a:rPr lang="en-SG" dirty="0"/>
              <a:t> + </a:t>
            </a:r>
            <a:r>
              <a:rPr lang="en-SG" dirty="0" err="1"/>
              <a:t>exper</a:t>
            </a:r>
            <a:r>
              <a:rPr lang="en-SG" dirty="0"/>
              <a:t> + tenure + female, data= wage1)</a:t>
            </a:r>
          </a:p>
          <a:p>
            <a:pPr marL="0" indent="0">
              <a:buNone/>
            </a:pPr>
            <a:r>
              <a:rPr lang="en-SG" dirty="0"/>
              <a:t>&gt;summary(reg.results.wage1log 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827" y="1297246"/>
            <a:ext cx="3710302" cy="245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0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log(wage) ~ </a:t>
            </a:r>
            <a:r>
              <a:rPr lang="en-SG" dirty="0" err="1"/>
              <a:t>educ</a:t>
            </a:r>
            <a:r>
              <a:rPr lang="en-SG" dirty="0"/>
              <a:t> + </a:t>
            </a:r>
            <a:r>
              <a:rPr lang="en-SG" dirty="0" err="1"/>
              <a:t>exper</a:t>
            </a:r>
            <a:r>
              <a:rPr lang="en-SG" dirty="0"/>
              <a:t> + tenure + female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29" y="1360208"/>
            <a:ext cx="9274912" cy="2837769"/>
          </a:xfrm>
        </p:spPr>
      </p:pic>
      <p:sp>
        <p:nvSpPr>
          <p:cNvPr id="5" name="TextBox 4"/>
          <p:cNvSpPr txBox="1"/>
          <p:nvPr/>
        </p:nvSpPr>
        <p:spPr>
          <a:xfrm>
            <a:off x="793376" y="4448799"/>
            <a:ext cx="1004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/>
              <a:t>“the regression results show that one-year increase in education experiences is </a:t>
            </a:r>
            <a:r>
              <a:rPr lang="en-SG" sz="2400" i="1"/>
              <a:t>associated with a </a:t>
            </a:r>
            <a:r>
              <a:rPr lang="en-SG" sz="2400" i="1" dirty="0"/>
              <a:t>8.7</a:t>
            </a:r>
            <a:r>
              <a:rPr lang="en-SG" sz="2400" i="1"/>
              <a:t>% increase in average </a:t>
            </a:r>
            <a:r>
              <a:rPr lang="en-SG" sz="2400" i="1" dirty="0"/>
              <a:t>hourly earning (statistically significant at the 0.1% level)”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659" y="5624739"/>
            <a:ext cx="10043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/>
              <a:t>“…females’ hourly earning are 30% lower than males’ (statistically significant at the 0.1% level)”</a:t>
            </a:r>
          </a:p>
        </p:txBody>
      </p:sp>
    </p:spTree>
    <p:extLst>
      <p:ext uri="{BB962C8B-B14F-4D97-AF65-F5344CB8AC3E}">
        <p14:creationId xmlns:p14="http://schemas.microsoft.com/office/powerpoint/2010/main" val="344980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600" dirty="0"/>
              <a:t>log(wage) ~ </a:t>
            </a:r>
            <a:r>
              <a:rPr lang="en-SG" sz="3600" dirty="0" err="1"/>
              <a:t>educ</a:t>
            </a:r>
            <a:r>
              <a:rPr lang="en-SG" sz="3600" dirty="0"/>
              <a:t> + log(</a:t>
            </a:r>
            <a:r>
              <a:rPr lang="en-SG" sz="3600"/>
              <a:t>exper)+ </a:t>
            </a:r>
            <a:r>
              <a:rPr lang="en-SG" sz="3600" dirty="0"/>
              <a:t>tenure + female</a:t>
            </a:r>
          </a:p>
        </p:txBody>
      </p:sp>
      <p:pic>
        <p:nvPicPr>
          <p:cNvPr id="9" name="Content Placeholder 8" descr="A black sign with white text&#10;&#10;Description automatically generated">
            <a:extLst>
              <a:ext uri="{FF2B5EF4-FFF2-40B4-BE49-F238E27FC236}">
                <a16:creationId xmlns:a16="http://schemas.microsoft.com/office/drawing/2014/main" id="{72542727-9CE4-4A5E-B839-4BA76ACE8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93" y="1592233"/>
            <a:ext cx="8310890" cy="246486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893808-3477-4853-A911-1F285013E710}"/>
              </a:ext>
            </a:extLst>
          </p:cNvPr>
          <p:cNvSpPr txBox="1"/>
          <p:nvPr/>
        </p:nvSpPr>
        <p:spPr>
          <a:xfrm>
            <a:off x="793376" y="4448799"/>
            <a:ext cx="1004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/>
              <a:t>“the regression results show that 1% increase in work experiences is associated with a 0.11% increase in average hourly earning (statistically significant at the 0.1% level)”</a:t>
            </a:r>
          </a:p>
        </p:txBody>
      </p:sp>
    </p:spTree>
    <p:extLst>
      <p:ext uri="{BB962C8B-B14F-4D97-AF65-F5344CB8AC3E}">
        <p14:creationId xmlns:p14="http://schemas.microsoft.com/office/powerpoint/2010/main" val="8468174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64.2|3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12.7|18.4|24.8|1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8|23.9|16.2|26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8|67.1|6.1|26.6|39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8.5|25.8|55.7|9.4|25.1|22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962</Words>
  <Application>Microsoft Office PowerPoint</Application>
  <PresentationFormat>Widescreen</PresentationFormat>
  <Paragraphs>89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Linear regression:  log transformation </vt:lpstr>
      <vt:lpstr>Variable transformation</vt:lpstr>
      <vt:lpstr>Log transformations</vt:lpstr>
      <vt:lpstr>Log transformations</vt:lpstr>
      <vt:lpstr>X=c(1:100) and its log transformation</vt:lpstr>
      <vt:lpstr>Many empirical distributions right-skewed</vt:lpstr>
      <vt:lpstr>Distribution of the log-transformed variable</vt:lpstr>
      <vt:lpstr>Skewness of a distribution</vt:lpstr>
      <vt:lpstr>Changes in coefficient interpretations</vt:lpstr>
      <vt:lpstr>Changes in coefficient interpretations</vt:lpstr>
      <vt:lpstr>Applications-the monthly earning study</vt:lpstr>
      <vt:lpstr>log(wage) ~ educ + exper + tenure + female</vt:lpstr>
      <vt:lpstr>log(wage) ~ educ + log(exper)+ tenure + female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 Chien-Ming (Assoc Prof)</dc:creator>
  <cp:lastModifiedBy>Chen Chien-Ming (Assoc Prof)</cp:lastModifiedBy>
  <cp:revision>68</cp:revision>
  <dcterms:created xsi:type="dcterms:W3CDTF">2019-06-27T07:48:02Z</dcterms:created>
  <dcterms:modified xsi:type="dcterms:W3CDTF">2022-11-12T14:03:58Z</dcterms:modified>
</cp:coreProperties>
</file>
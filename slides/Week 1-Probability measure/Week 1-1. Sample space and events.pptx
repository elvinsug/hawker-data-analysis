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77" r:id="rId4"/>
    <p:sldId id="271" r:id="rId5"/>
    <p:sldId id="276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683E49-36DD-C00F-32DE-56725775E5FB}" v="2" dt="2022-05-06T07:21:10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34" autoAdjust="0"/>
  </p:normalViewPr>
  <p:slideViewPr>
    <p:cSldViewPr snapToGrid="0">
      <p:cViewPr varScale="1">
        <p:scale>
          <a:sx n="103" d="100"/>
          <a:sy n="103" d="100"/>
        </p:scale>
        <p:origin x="876" y="10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Chien-Ming (Assoc Prof)" userId="S::cmchen@staff.main.ntu.edu.sg::eaa76335-e5f0-4758-ac68-e68b30e478da" providerId="AD" clId="Web-{BA683E49-36DD-C00F-32DE-56725775E5FB}"/>
    <pc:docChg chg="delSld">
      <pc:chgData name="Chen Chien-Ming (Assoc Prof)" userId="S::cmchen@staff.main.ntu.edu.sg::eaa76335-e5f0-4758-ac68-e68b30e478da" providerId="AD" clId="Web-{BA683E49-36DD-C00F-32DE-56725775E5FB}" dt="2022-05-06T07:21:10.766" v="1"/>
      <pc:docMkLst>
        <pc:docMk/>
      </pc:docMkLst>
      <pc:sldChg chg="del">
        <pc:chgData name="Chen Chien-Ming (Assoc Prof)" userId="S::cmchen@staff.main.ntu.edu.sg::eaa76335-e5f0-4758-ac68-e68b30e478da" providerId="AD" clId="Web-{BA683E49-36DD-C00F-32DE-56725775E5FB}" dt="2022-05-06T07:21:10.766" v="1"/>
        <pc:sldMkLst>
          <pc:docMk/>
          <pc:sldMk cId="152526821" sldId="259"/>
        </pc:sldMkLst>
      </pc:sldChg>
      <pc:sldChg chg="del">
        <pc:chgData name="Chen Chien-Ming (Assoc Prof)" userId="S::cmchen@staff.main.ntu.edu.sg::eaa76335-e5f0-4758-ac68-e68b30e478da" providerId="AD" clId="Web-{BA683E49-36DD-C00F-32DE-56725775E5FB}" dt="2022-05-06T07:21:10.641" v="0"/>
        <pc:sldMkLst>
          <pc:docMk/>
          <pc:sldMk cId="670649528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21B49-C552-4148-8BE4-F39CC0226C52}" type="datetimeFigureOut">
              <a:rPr lang="en-SG" smtClean="0"/>
              <a:t>6/7/2023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B4FB9-629E-4FC1-826D-F05834C2225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2438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841D93-7D99-4328-934B-06F648F9EDCF}" type="datetimeFigureOut">
              <a:rPr lang="en-SG" smtClean="0"/>
              <a:t>6/7/2023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C4875-8523-436E-AFC9-E015484AB16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409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1175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980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4.png"/><Relationship Id="rId10" Type="http://schemas.openxmlformats.org/officeDocument/2006/relationships/image" Target="../media/image6.png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2.jpeg"/><Relationship Id="rId5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9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2.jpeg"/><Relationship Id="rId5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12F39-B3B1-4910-9227-D8063A921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 &amp; sample space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76B7-AB27-4705-9EF9-E741A1A67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886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experiment refers to the process to obtain data </a:t>
            </a:r>
          </a:p>
          <a:p>
            <a:r>
              <a:rPr lang="en-US" dirty="0"/>
              <a:t>Sample Space: The collection of </a:t>
            </a:r>
            <a:r>
              <a:rPr lang="en-US" b="1" u="sng" dirty="0"/>
              <a:t>all</a:t>
            </a:r>
            <a:r>
              <a:rPr lang="en-US" dirty="0"/>
              <a:t> probable outcomes of an experiment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The # of outcomes in a sample space can be finite or infinite, quantitative or qualitative (e.g., male vs female; or NBS vs SPMS students)</a:t>
            </a:r>
          </a:p>
          <a:p>
            <a:pPr>
              <a:buFontTx/>
              <a:buChar char="-"/>
            </a:pPr>
            <a:r>
              <a:rPr lang="en-US" dirty="0"/>
              <a:t>One single run of experiment leads to the realization of one outcome </a:t>
            </a:r>
          </a:p>
          <a:p>
            <a:pPr>
              <a:buFontTx/>
              <a:buChar char="-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90A546-B79B-E42D-FEBC-4A6FDBF02D43}"/>
                  </a:ext>
                </a:extLst>
              </p:cNvPr>
              <p:cNvSpPr txBox="1"/>
              <p:nvPr/>
            </p:nvSpPr>
            <p:spPr>
              <a:xfrm>
                <a:off x="1143239" y="4214277"/>
                <a:ext cx="25869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={1,2,3,4,5,6}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90A546-B79B-E42D-FEBC-4A6FDBF02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239" y="4214277"/>
                <a:ext cx="258699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9B9EE9-4D85-8C76-0626-856B549B6C5A}"/>
                  </a:ext>
                </a:extLst>
              </p:cNvPr>
              <p:cNvSpPr txBox="1"/>
              <p:nvPr/>
            </p:nvSpPr>
            <p:spPr>
              <a:xfrm>
                <a:off x="4934669" y="4263108"/>
                <a:ext cx="32682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=[120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,200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9B9EE9-4D85-8C76-0626-856B549B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669" y="4263108"/>
                <a:ext cx="326826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B3AEC1A-2CD9-5856-7289-486F79671C2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44471" y="3204488"/>
            <a:ext cx="867987" cy="874852"/>
          </a:xfrm>
          <a:prstGeom prst="rect">
            <a:avLst/>
          </a:prstGeom>
        </p:spPr>
      </p:pic>
      <p:pic>
        <p:nvPicPr>
          <p:cNvPr id="1026" name="Picture 2" descr="Singapore Changi Airport - Terminal 1 | Lindner Group">
            <a:extLst>
              <a:ext uri="{FF2B5EF4-FFF2-40B4-BE49-F238E27FC236}">
                <a16:creationId xmlns:a16="http://schemas.microsoft.com/office/drawing/2014/main" id="{BD788DDC-7EBA-AAA5-B757-E5DE12BAF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1123" y="2874102"/>
            <a:ext cx="1922684" cy="144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36489A-3E98-E4A8-ED73-319AE0DFF29B}"/>
                  </a:ext>
                </a:extLst>
              </p:cNvPr>
              <p:cNvSpPr txBox="1"/>
              <p:nvPr/>
            </p:nvSpPr>
            <p:spPr>
              <a:xfrm>
                <a:off x="8671369" y="4314259"/>
                <a:ext cx="33221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={0,1,2,3,4,5,6,…}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36489A-3E98-E4A8-ED73-319AE0DFF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369" y="4314259"/>
                <a:ext cx="332219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Height Clipart Images | Free Download | PNG Transparent Background - Pngtree">
            <a:extLst>
              <a:ext uri="{FF2B5EF4-FFF2-40B4-BE49-F238E27FC236}">
                <a16:creationId xmlns:a16="http://schemas.microsoft.com/office/drawing/2014/main" id="{BBDD63E1-CF2A-76F7-8139-A52FE9968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319" y="2826172"/>
            <a:ext cx="1436936" cy="143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029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4216"/>
    </mc:Choice>
    <mc:Fallback xmlns="">
      <p:transition spd="slow" advTm="4242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be 4"/>
          <p:cNvSpPr/>
          <p:nvPr/>
        </p:nvSpPr>
        <p:spPr>
          <a:xfrm>
            <a:off x="1362270" y="2971662"/>
            <a:ext cx="1912776" cy="1800808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/>
          <p:cNvSpPr txBox="1"/>
          <p:nvPr/>
        </p:nvSpPr>
        <p:spPr>
          <a:xfrm>
            <a:off x="2130552" y="284422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600" i="1" dirty="0"/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7435" y="3128109"/>
            <a:ext cx="1977655" cy="10845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5090" y="3167390"/>
            <a:ext cx="51451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The outcome “{2}” has occurred</a:t>
            </a:r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8A9E38A8-E7D8-4406-9A33-0B34622CFD78}"/>
              </a:ext>
            </a:extLst>
          </p:cNvPr>
          <p:cNvSpPr/>
          <p:nvPr/>
        </p:nvSpPr>
        <p:spPr>
          <a:xfrm>
            <a:off x="1383516" y="2971662"/>
            <a:ext cx="1912776" cy="1800808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55D2DE-6AF0-29ED-70EA-2ED3AA36F139}"/>
                  </a:ext>
                </a:extLst>
              </p:cNvPr>
              <p:cNvSpPr txBox="1"/>
              <p:nvPr/>
            </p:nvSpPr>
            <p:spPr>
              <a:xfrm>
                <a:off x="4548912" y="1631178"/>
                <a:ext cx="25869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={1,2,3,4,5,6}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855D2DE-6AF0-29ED-70EA-2ED3AA36F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912" y="1631178"/>
                <a:ext cx="258699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1225839-3CB5-748F-F108-570723ABFC4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50144" y="621389"/>
            <a:ext cx="867987" cy="874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700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74"/>
    </mc:Choice>
    <mc:Fallback xmlns="">
      <p:transition spd="slow" advTm="351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11" grpId="0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12F39-B3B1-4910-9227-D8063A921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Events in a sample space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1A7FF-9B96-45D4-84A4-4AFE25EF103E}"/>
              </a:ext>
            </a:extLst>
          </p:cNvPr>
          <p:cNvSpPr/>
          <p:nvPr/>
        </p:nvSpPr>
        <p:spPr>
          <a:xfrm>
            <a:off x="327026" y="5343592"/>
            <a:ext cx="27634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“Dice shows an even number”</a:t>
            </a:r>
          </a:p>
          <a:p>
            <a:r>
              <a:rPr lang="en-US" sz="2400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E2CE2-6C62-4884-9376-52E9DA04498B}"/>
              </a:ext>
            </a:extLst>
          </p:cNvPr>
          <p:cNvSpPr/>
          <p:nvPr/>
        </p:nvSpPr>
        <p:spPr>
          <a:xfrm>
            <a:off x="4191744" y="5424245"/>
            <a:ext cx="321953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“Height at least 160 cm”</a:t>
            </a:r>
          </a:p>
          <a:p>
            <a:r>
              <a:rPr lang="en-US" sz="2400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3B8CA1-9FD2-49AB-9767-CE1F12E637A0}"/>
              </a:ext>
            </a:extLst>
          </p:cNvPr>
          <p:cNvSpPr/>
          <p:nvPr/>
        </p:nvSpPr>
        <p:spPr>
          <a:xfrm>
            <a:off x="1974616" y="3937452"/>
            <a:ext cx="77180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u="sng" dirty="0"/>
              <a:t>An event: a collection of one or more outcomes in a sample space</a:t>
            </a:r>
          </a:p>
          <a:p>
            <a:r>
              <a:rPr lang="en-US" sz="2400" dirty="0"/>
              <a:t>We can therefore define many events for an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E09452-87A0-66FA-BC87-3852DFAF53D2}"/>
                  </a:ext>
                </a:extLst>
              </p:cNvPr>
              <p:cNvSpPr txBox="1"/>
              <p:nvPr/>
            </p:nvSpPr>
            <p:spPr>
              <a:xfrm>
                <a:off x="503478" y="3195041"/>
                <a:ext cx="25869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={1,2,3,4,5,6}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E09452-87A0-66FA-BC87-3852DFAF5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78" y="3195041"/>
                <a:ext cx="258699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323AB8-F805-2BED-5F6C-6A1D17F9E07B}"/>
                  </a:ext>
                </a:extLst>
              </p:cNvPr>
              <p:cNvSpPr txBox="1"/>
              <p:nvPr/>
            </p:nvSpPr>
            <p:spPr>
              <a:xfrm>
                <a:off x="4294908" y="3243872"/>
                <a:ext cx="32682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=[120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,200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323AB8-F805-2BED-5F6C-6A1D17F9E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908" y="3243872"/>
                <a:ext cx="326826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AF5BF16-7044-E833-A142-0B889B79A4BB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04710" y="2185252"/>
            <a:ext cx="867987" cy="874852"/>
          </a:xfrm>
          <a:prstGeom prst="rect">
            <a:avLst/>
          </a:prstGeom>
        </p:spPr>
      </p:pic>
      <p:pic>
        <p:nvPicPr>
          <p:cNvPr id="11" name="Picture 2" descr="Singapore Changi Airport - Terminal 1 | Lindner Group">
            <a:extLst>
              <a:ext uri="{FF2B5EF4-FFF2-40B4-BE49-F238E27FC236}">
                <a16:creationId xmlns:a16="http://schemas.microsoft.com/office/drawing/2014/main" id="{AF1BFEF6-D180-C0E5-62F2-FAE28EE12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62" y="1854866"/>
            <a:ext cx="1922684" cy="144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E5D589-0D80-7590-6E54-8B67A5C9444F}"/>
                  </a:ext>
                </a:extLst>
              </p:cNvPr>
              <p:cNvSpPr txBox="1"/>
              <p:nvPr/>
            </p:nvSpPr>
            <p:spPr>
              <a:xfrm>
                <a:off x="8031608" y="3295023"/>
                <a:ext cx="33221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={0,1,2,3,4,5,6,…}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E5D589-0D80-7590-6E54-8B67A5C94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608" y="3295023"/>
                <a:ext cx="3322192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4" descr="Height Clipart Images | Free Download | PNG Transparent Background - Pngtree">
            <a:extLst>
              <a:ext uri="{FF2B5EF4-FFF2-40B4-BE49-F238E27FC236}">
                <a16:creationId xmlns:a16="http://schemas.microsoft.com/office/drawing/2014/main" id="{C3882F6F-1F81-AC77-1693-537403E73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558" y="1806936"/>
            <a:ext cx="1436936" cy="1436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461C94E-2DB2-ACAB-002B-550FC3DB8A9C}"/>
              </a:ext>
            </a:extLst>
          </p:cNvPr>
          <p:cNvSpPr/>
          <p:nvPr/>
        </p:nvSpPr>
        <p:spPr>
          <a:xfrm>
            <a:off x="8651747" y="5443435"/>
            <a:ext cx="295542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“More than 2000 pax”</a:t>
            </a:r>
          </a:p>
          <a:p>
            <a:r>
              <a:rPr lang="en-US" sz="24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177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91239"/>
    </mc:Choice>
    <mc:Fallback xmlns="">
      <p:transition advTm="1912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be 4"/>
          <p:cNvSpPr/>
          <p:nvPr/>
        </p:nvSpPr>
        <p:spPr>
          <a:xfrm>
            <a:off x="951723" y="2248677"/>
            <a:ext cx="1912776" cy="1800808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/>
          <p:cNvSpPr txBox="1"/>
          <p:nvPr/>
        </p:nvSpPr>
        <p:spPr>
          <a:xfrm>
            <a:off x="1698759" y="213475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600" i="1" dirty="0"/>
              <a:t>2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98145" y="2517529"/>
            <a:ext cx="1977655" cy="10845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7061" y="3172073"/>
            <a:ext cx="6200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The event “even number” has occurred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5800" y="2556810"/>
            <a:ext cx="4666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The event “{2}” has occurred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5800" y="3914774"/>
            <a:ext cx="5549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800" dirty="0"/>
              <a:t>The event “{1,2,…,6}” has occurred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425" y="5519059"/>
            <a:ext cx="1105431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SG" sz="2800" dirty="0"/>
              <a:t>Event is a flexible notation to describe the outcomes of interests</a:t>
            </a:r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8A9E38A8-E7D8-4406-9A33-0B34622CFD78}"/>
              </a:ext>
            </a:extLst>
          </p:cNvPr>
          <p:cNvSpPr/>
          <p:nvPr/>
        </p:nvSpPr>
        <p:spPr>
          <a:xfrm>
            <a:off x="930462" y="2271669"/>
            <a:ext cx="1912776" cy="1800808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571CC4-C333-53F2-3410-3530BD633AB0}"/>
                  </a:ext>
                </a:extLst>
              </p:cNvPr>
              <p:cNvSpPr txBox="1"/>
              <p:nvPr/>
            </p:nvSpPr>
            <p:spPr>
              <a:xfrm>
                <a:off x="4802505" y="1419100"/>
                <a:ext cx="25869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={1,2,3,4,5,6}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7571CC4-C333-53F2-3410-3530BD633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505" y="1419100"/>
                <a:ext cx="258699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FAE5B4B-B82C-9104-66FB-4F0D98EAE42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3737" y="409311"/>
            <a:ext cx="867987" cy="874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955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196"/>
    </mc:Choice>
    <mc:Fallback xmlns="">
      <p:transition spd="slow" advTm="1901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7" grpId="0" animBg="1"/>
      <p:bldP spid="10" grpId="0"/>
      <p:bldP spid="11" grpId="0"/>
      <p:bldP spid="12" grpId="0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B5EC-02A8-BE01-1D0B-0B1B02E7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06B83-B959-117E-39E9-D65B5C5DE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produces one outcome stochastically</a:t>
            </a:r>
          </a:p>
          <a:p>
            <a:r>
              <a:rPr lang="en-US" dirty="0"/>
              <a:t>Sample space is the collection of all probable outcomes</a:t>
            </a:r>
          </a:p>
          <a:p>
            <a:r>
              <a:rPr lang="en-US" dirty="0"/>
              <a:t>We define event(s) to “bag” relevant outcomes according to the purpose of the research</a:t>
            </a:r>
          </a:p>
          <a:p>
            <a:r>
              <a:rPr lang="en-US" dirty="0"/>
              <a:t>Our objective, is thus to calculate the probability of the event of interest</a:t>
            </a:r>
          </a:p>
        </p:txBody>
      </p:sp>
    </p:spTree>
    <p:extLst>
      <p:ext uri="{BB962C8B-B14F-4D97-AF65-F5344CB8AC3E}">
        <p14:creationId xmlns:p14="http://schemas.microsoft.com/office/powerpoint/2010/main" val="412062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08"/>
    </mc:Choice>
    <mc:Fallback xmlns="">
      <p:transition spd="slow" advTm="3640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3|107.6|58.7|2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|13.2|0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5.8|22.8|35.1|23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9.3|10.9|0.4|14|7.4|21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259</Words>
  <Application>Microsoft Office PowerPoint</Application>
  <PresentationFormat>Widescreen</PresentationFormat>
  <Paragraphs>44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Probability basics</vt:lpstr>
      <vt:lpstr>Experiments &amp; sample space</vt:lpstr>
      <vt:lpstr>PowerPoint Presentation</vt:lpstr>
      <vt:lpstr>Events in a sample space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185</cp:revision>
  <dcterms:created xsi:type="dcterms:W3CDTF">2018-07-30T07:45:11Z</dcterms:created>
  <dcterms:modified xsi:type="dcterms:W3CDTF">2023-07-06T06:14:28Z</dcterms:modified>
</cp:coreProperties>
</file>
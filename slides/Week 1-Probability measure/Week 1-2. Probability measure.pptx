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1" r:id="rId2"/>
    <p:sldId id="265" r:id="rId3"/>
    <p:sldId id="285" r:id="rId4"/>
    <p:sldId id="276" r:id="rId5"/>
    <p:sldId id="275" r:id="rId6"/>
    <p:sldId id="286" r:id="rId7"/>
    <p:sldId id="287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21B49-C552-4148-8BE4-F39CC0226C52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B4FB9-629E-4FC1-826D-F05834C2225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2438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41D93-7D99-4328-934B-06F648F9EDCF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C4875-8523-436E-AFC9-E015484AB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40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7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 measure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5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E457-52B1-4FB9-8BF3-87AF3751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measure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8C0E0-AFA4-418D-902C-46E757D5B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Suppose an event A that has m outcomes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TW" dirty="0"/>
                  <a:t>)</a:t>
                </a:r>
                <a:endParaRPr lang="en-US" dirty="0"/>
              </a:p>
              <a:p>
                <a:r>
                  <a:rPr lang="en-US" b="1" i="1" dirty="0"/>
                  <a:t>The probability of an event A </a:t>
                </a:r>
                <a:r>
                  <a:rPr lang="en-US" dirty="0"/>
                  <a:t>is the sum of the probabilities of outcomes in A: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8C0E0-AFA4-418D-902C-46E757D5B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27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55"/>
    </mc:Choice>
    <mc:Fallback xmlns="">
      <p:transition spd="slow" advTm="53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C5A77-7D2A-0BD4-303A-CB6B0F2F3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5672" y="1751162"/>
                <a:ext cx="10515600" cy="3744314"/>
              </a:xfrm>
            </p:spPr>
            <p:txBody>
              <a:bodyPr/>
              <a:lstStyle/>
              <a:p>
                <a:r>
                  <a:rPr lang="en-US" dirty="0"/>
                  <a:t>For a loaded dice, its </a:t>
                </a:r>
                <a:r>
                  <a:rPr lang="en-US" dirty="0" err="1"/>
                  <a:t>Pr</a:t>
                </a:r>
                <a:r>
                  <a:rPr lang="en-US" dirty="0"/>
                  <a:t>({1})= </a:t>
                </a:r>
                <a:r>
                  <a:rPr lang="en-US" dirty="0" err="1"/>
                  <a:t>Pr</a:t>
                </a:r>
                <a:r>
                  <a:rPr lang="en-US" dirty="0"/>
                  <a:t>({2})= </a:t>
                </a:r>
                <a:r>
                  <a:rPr lang="en-US" dirty="0" err="1"/>
                  <a:t>Pr</a:t>
                </a:r>
                <a:r>
                  <a:rPr lang="en-US" dirty="0"/>
                  <a:t>({3})= </a:t>
                </a:r>
                <a:r>
                  <a:rPr lang="en-US" dirty="0" err="1"/>
                  <a:t>Pr</a:t>
                </a:r>
                <a:r>
                  <a:rPr lang="en-US" dirty="0"/>
                  <a:t>({4})=0.2, and </a:t>
                </a:r>
                <a:r>
                  <a:rPr lang="en-US" dirty="0" err="1"/>
                  <a:t>Pr</a:t>
                </a:r>
                <a:r>
                  <a:rPr lang="en-US" dirty="0"/>
                  <a:t>({5})= </a:t>
                </a:r>
                <a:r>
                  <a:rPr lang="en-US" dirty="0" err="1"/>
                  <a:t>Pr</a:t>
                </a:r>
                <a:r>
                  <a:rPr lang="en-US" dirty="0"/>
                  <a:t>({6})=0.1</a:t>
                </a:r>
              </a:p>
              <a:p>
                <a:pPr marL="0" indent="0">
                  <a:buNone/>
                </a:pPr>
                <a:r>
                  <a:rPr lang="en-US" dirty="0"/>
                  <a:t>(1) What is the probability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{2,4,6}?</a:t>
                </a:r>
              </a:p>
              <a:p>
                <a:pPr marL="0" indent="0">
                  <a:buNone/>
                </a:pPr>
                <a:r>
                  <a:rPr lang="en-US" dirty="0"/>
                  <a:t>(2) What is the probability of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C5A77-7D2A-0BD4-303A-CB6B0F2F3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5672" y="1751162"/>
                <a:ext cx="10515600" cy="3744314"/>
              </a:xfrm>
              <a:blipFill>
                <a:blip r:embed="rId5"/>
                <a:stretch>
                  <a:fillRect l="-1159" t="-2606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8D684-63DE-5C92-EE26-B20A879D7CDA}"/>
                  </a:ext>
                </a:extLst>
              </p:cNvPr>
              <p:cNvSpPr txBox="1"/>
              <p:nvPr/>
            </p:nvSpPr>
            <p:spPr>
              <a:xfrm>
                <a:off x="2150768" y="681036"/>
                <a:ext cx="25869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={1,2,3,4,5,6}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8D684-63DE-5C92-EE26-B20A879D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768" y="681036"/>
                <a:ext cx="258699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C280F87-0683-2B73-DF2E-39518BE0EE6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374" y="459054"/>
            <a:ext cx="867987" cy="874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725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507"/>
    </mc:Choice>
    <mc:Fallback xmlns="">
      <p:transition spd="slow" advTm="138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20A7-8F9F-468D-911B-7F24A649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 of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A27F-BBF2-449D-AFAE-13577EE53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probabilities of all outcomes is 1. That is,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func>
                  </m:oMath>
                </a14:m>
                <a:r>
                  <a:rPr lang="en-US" dirty="0"/>
                  <a:t>, where S is the sample space of the experiment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A27F-BBF2-449D-AFAE-13577EE53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5431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74"/>
    </mc:Choice>
    <mc:Fallback xmlns="">
      <p:transition spd="slow" advTm="226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E457-52B1-4FB9-8BF3-87AF3751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sample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C0E0-AFA4-418D-902C-46E757D5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When all outcomes in the sample space has an equal probability, we call this sample space a </a:t>
            </a:r>
            <a:r>
              <a:rPr lang="en-US" b="1" i="1" u="sng" dirty="0"/>
              <a:t>simple</a:t>
            </a:r>
            <a:r>
              <a:rPr lang="en-US" b="1" i="1" dirty="0"/>
              <a:t> sample space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the sample space has n discrete outcomes, any outcome in the sample space will have 1/n probability, making the total probability equal to 1. </a:t>
            </a:r>
          </a:p>
          <a:p>
            <a:pPr marL="0" indent="0">
              <a:buNone/>
            </a:pPr>
            <a:r>
              <a:rPr lang="en-US" dirty="0"/>
              <a:t>E.g., there are 40 students in a class. The professor </a:t>
            </a:r>
            <a:r>
              <a:rPr lang="en-US" i="1" u="sng" dirty="0"/>
              <a:t>randomly</a:t>
            </a:r>
            <a:r>
              <a:rPr lang="en-US" i="1" dirty="0"/>
              <a:t> </a:t>
            </a:r>
            <a:r>
              <a:rPr lang="en-US" dirty="0"/>
              <a:t>picks a student to answer a question. </a:t>
            </a:r>
          </a:p>
          <a:p>
            <a:pPr marL="0" indent="0">
              <a:buNone/>
            </a:pPr>
            <a:r>
              <a:rPr lang="en-US" dirty="0"/>
              <a:t>Then each student has a probability of 1/40 of being picked by the professor.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476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930"/>
    </mc:Choice>
    <mc:Fallback xmlns="">
      <p:transition spd="slow" advTm="1229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D7B4-9B4E-FE96-3772-B31F78E2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sample space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889470-06D5-F6E9-839E-FD3192449E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a simple sample space, calculating the probability of an event is reduced to the problem of “counting” how many outcomes does the event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nary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m is the number of outcomes in event A, and n is the total number of outcomes in the sample 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889470-06D5-F6E9-839E-FD3192449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73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10"/>
    </mc:Choice>
    <mc:Fallback xmlns="">
      <p:transition spd="slow" advTm="12311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C5A77-7D2A-0BD4-303A-CB6B0F2F3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5672" y="1751162"/>
                <a:ext cx="10515600" cy="3744314"/>
              </a:xfrm>
            </p:spPr>
            <p:txBody>
              <a:bodyPr/>
              <a:lstStyle/>
              <a:p>
                <a:r>
                  <a:rPr lang="en-US" dirty="0"/>
                  <a:t>Fair dice has its </a:t>
                </a:r>
                <a:r>
                  <a:rPr lang="en-US" dirty="0" err="1"/>
                  <a:t>Pr</a:t>
                </a:r>
                <a:r>
                  <a:rPr lang="en-US" dirty="0"/>
                  <a:t>({1})= </a:t>
                </a:r>
                <a:r>
                  <a:rPr lang="en-US" dirty="0" err="1"/>
                  <a:t>Pr</a:t>
                </a:r>
                <a:r>
                  <a:rPr lang="en-US" dirty="0"/>
                  <a:t>({2})= </a:t>
                </a:r>
                <a:r>
                  <a:rPr lang="en-US" dirty="0" err="1"/>
                  <a:t>Pr</a:t>
                </a:r>
                <a:r>
                  <a:rPr lang="en-US" dirty="0"/>
                  <a:t>({3})= </a:t>
                </a:r>
                <a:r>
                  <a:rPr lang="en-US" dirty="0" err="1"/>
                  <a:t>Pr</a:t>
                </a:r>
                <a:r>
                  <a:rPr lang="en-US" dirty="0"/>
                  <a:t>({4})=</a:t>
                </a:r>
                <a:r>
                  <a:rPr lang="en-US" dirty="0" err="1"/>
                  <a:t>Pr</a:t>
                </a:r>
                <a:r>
                  <a:rPr lang="en-US" dirty="0"/>
                  <a:t>({5})= </a:t>
                </a:r>
                <a:r>
                  <a:rPr lang="en-US" dirty="0" err="1"/>
                  <a:t>Pr</a:t>
                </a:r>
                <a:r>
                  <a:rPr lang="en-US" dirty="0"/>
                  <a:t>({6})=1/6</a:t>
                </a:r>
              </a:p>
              <a:p>
                <a:pPr marL="0" indent="0">
                  <a:buNone/>
                </a:pPr>
                <a:r>
                  <a:rPr lang="en-US" dirty="0"/>
                  <a:t>(1) What is the probability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{2,4,6}?</a:t>
                </a:r>
              </a:p>
              <a:p>
                <a:pPr marL="0" indent="0">
                  <a:buNone/>
                </a:pPr>
                <a:r>
                  <a:rPr lang="en-US" dirty="0"/>
                  <a:t>(2) What is the probability of the event “greater than or equal to 4”?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C5A77-7D2A-0BD4-303A-CB6B0F2F3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5672" y="1751162"/>
                <a:ext cx="10515600" cy="3744314"/>
              </a:xfrm>
              <a:blipFill>
                <a:blip r:embed="rId5"/>
                <a:stretch>
                  <a:fillRect l="-1159" t="-2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8D684-63DE-5C92-EE26-B20A879D7CDA}"/>
                  </a:ext>
                </a:extLst>
              </p:cNvPr>
              <p:cNvSpPr txBox="1"/>
              <p:nvPr/>
            </p:nvSpPr>
            <p:spPr>
              <a:xfrm>
                <a:off x="2150768" y="681036"/>
                <a:ext cx="25869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={1,2,3,4,5,6}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8D684-63DE-5C92-EE26-B20A879D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768" y="681036"/>
                <a:ext cx="258699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C280F87-0683-2B73-DF2E-39518BE0EE6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374" y="459054"/>
            <a:ext cx="867987" cy="874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321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697"/>
    </mc:Choice>
    <mc:Fallback xmlns="">
      <p:transition spd="slow" advTm="1486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6AC9-EE04-4BCF-88AC-682EDAE0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E889-7317-476F-8169-C92D9F3BF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How do we explain a 0.5 probability of the event “head” ?</a:t>
            </a:r>
          </a:p>
          <a:p>
            <a:pPr marL="514350" indent="-514350">
              <a:buAutoNum type="alphaLcParenBoth"/>
            </a:pPr>
            <a:r>
              <a:rPr lang="en-US" dirty="0"/>
              <a:t>The proportion of observing the event “head,” among any number of experiments, must be 0.5 </a:t>
            </a:r>
          </a:p>
          <a:p>
            <a:pPr marL="514350" indent="-514350">
              <a:buAutoNum type="alphaLcParenBoth"/>
            </a:pPr>
            <a:r>
              <a:rPr lang="en-US" dirty="0"/>
              <a:t>The proportion of observing the event “head,” among any number of experiments, must be close to 0.5 </a:t>
            </a:r>
          </a:p>
          <a:p>
            <a:pPr marL="514350" indent="-514350">
              <a:buAutoNum type="alphaLcParenBoth"/>
            </a:pPr>
            <a:r>
              <a:rPr lang="en-US" dirty="0"/>
              <a:t>The proportion of observing the event “head,” with a higher number of experiments, will get closer to 0.5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27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727628D-FA85-4253-95DF-E6F914B8C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001" y="2529894"/>
            <a:ext cx="8073399" cy="4328106"/>
          </a:xfrm>
          <a:prstGeom prst="rect">
            <a:avLst/>
          </a:prstGeom>
        </p:spPr>
      </p:pic>
      <p:pic>
        <p:nvPicPr>
          <p:cNvPr id="5" name="2020-06-07 19-47-45">
            <a:hlinkClick r:id="" action="ppaction://media"/>
            <a:extLst>
              <a:ext uri="{FF2B5EF4-FFF2-40B4-BE49-F238E27FC236}">
                <a16:creationId xmlns:a16="http://schemas.microsoft.com/office/drawing/2014/main" id="{F972ECD5-177D-4839-8D1B-019AAAD1AAF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6"/>
          <a:srcRect l="13225" r="11949" b="21011"/>
          <a:stretch/>
        </p:blipFill>
        <p:spPr>
          <a:xfrm>
            <a:off x="3530293" y="-1"/>
            <a:ext cx="4628970" cy="27486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7D1E9AF-4FF3-497E-A0F5-4DB0F5EC012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816" t="18810" r="7158" b="21283"/>
          <a:stretch/>
        </p:blipFill>
        <p:spPr>
          <a:xfrm>
            <a:off x="2641600" y="2829640"/>
            <a:ext cx="6718300" cy="3035301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7AE7773-B85A-41AC-B8B2-F787E46006C1}"/>
              </a:ext>
            </a:extLst>
          </p:cNvPr>
          <p:cNvCxnSpPr/>
          <p:nvPr/>
        </p:nvCxnSpPr>
        <p:spPr>
          <a:xfrm>
            <a:off x="2667000" y="4902200"/>
            <a:ext cx="6819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6372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6AC9-EE04-4BCF-88AC-682EDAE0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E889-7317-476F-8169-C92D9F3BF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What does a 0.5 probability of the event “head”?</a:t>
            </a:r>
          </a:p>
          <a:p>
            <a:pPr marL="0" indent="0">
              <a:buNone/>
            </a:pPr>
            <a:r>
              <a:rPr lang="en-US" dirty="0"/>
              <a:t>The proportion of observing the event “head,” with a higher number of experiments, will get closer to 0.5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9F36D5-1792-4AD1-BE06-C47DBF3C1057}"/>
              </a:ext>
            </a:extLst>
          </p:cNvPr>
          <p:cNvSpPr/>
          <p:nvPr/>
        </p:nvSpPr>
        <p:spPr>
          <a:xfrm>
            <a:off x="686920" y="2370240"/>
            <a:ext cx="10515600" cy="9525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261CD64-B107-4F97-8314-B9330C44B1F8}"/>
                  </a:ext>
                </a:extLst>
              </p:cNvPr>
              <p:cNvSpPr txBox="1"/>
              <p:nvPr/>
            </p:nvSpPr>
            <p:spPr>
              <a:xfrm>
                <a:off x="686920" y="4474938"/>
                <a:ext cx="10515600" cy="210698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i="1" dirty="0">
                    <a:solidFill>
                      <a:srgbClr val="FF0000"/>
                    </a:solidFill>
                  </a:rPr>
                  <a:t>LAW of LARGE NUMBERS</a:t>
                </a:r>
                <a:r>
                  <a:rPr lang="en-US" sz="2400" dirty="0"/>
                  <a:t>: As more experiments are performed, the observed probability of an event will tend indefinitely closer to its theoretical probability (p).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𝑜𝑏𝑠𝑒𝑣𝑖𝑛𝑔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r>
                  <a:rPr lang="en-US" sz="2400" dirty="0"/>
                  <a:t>as the number of experiments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gets larger 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261CD64-B107-4F97-8314-B9330C44B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20" y="4474938"/>
                <a:ext cx="10515600" cy="2106987"/>
              </a:xfrm>
              <a:prstGeom prst="rect">
                <a:avLst/>
              </a:prstGeom>
              <a:blipFill>
                <a:blip r:embed="rId5"/>
                <a:stretch>
                  <a:fillRect l="-869" t="-2011"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號: 向下 5">
            <a:extLst>
              <a:ext uri="{FF2B5EF4-FFF2-40B4-BE49-F238E27FC236}">
                <a16:creationId xmlns:a16="http://schemas.microsoft.com/office/drawing/2014/main" id="{32415366-4254-40A8-93C5-A7C048FB96B6}"/>
              </a:ext>
            </a:extLst>
          </p:cNvPr>
          <p:cNvSpPr/>
          <p:nvPr/>
        </p:nvSpPr>
        <p:spPr>
          <a:xfrm>
            <a:off x="5293453" y="3395075"/>
            <a:ext cx="964734" cy="9525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590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22.5|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24.5|31.8|3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35.2|10.9|14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5|23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8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</TotalTime>
  <Words>492</Words>
  <Application>Microsoft Office PowerPoint</Application>
  <PresentationFormat>Widescreen</PresentationFormat>
  <Paragraphs>42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Probability measure</vt:lpstr>
      <vt:lpstr>Probability measure</vt:lpstr>
      <vt:lpstr>PowerPoint Presentation</vt:lpstr>
      <vt:lpstr>Axiom of probability</vt:lpstr>
      <vt:lpstr>Simple sample space</vt:lpstr>
      <vt:lpstr>Simple sample space (contd.)</vt:lpstr>
      <vt:lpstr>PowerPoint Presentation</vt:lpstr>
      <vt:lpstr>Interpreting probabilities</vt:lpstr>
      <vt:lpstr>PowerPoint Presentation</vt:lpstr>
      <vt:lpstr>Interpreting probabilities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156</cp:revision>
  <dcterms:created xsi:type="dcterms:W3CDTF">2018-07-30T07:45:11Z</dcterms:created>
  <dcterms:modified xsi:type="dcterms:W3CDTF">2023-07-06T06:14:40Z</dcterms:modified>
</cp:coreProperties>
</file>
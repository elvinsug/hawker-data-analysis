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2" r:id="rId3"/>
    <p:sldId id="283" r:id="rId4"/>
    <p:sldId id="285" r:id="rId5"/>
    <p:sldId id="281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7BFD1-A917-42E1-991D-F468178E85A9}" v="47" dt="2023-03-03T07:24:32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34" autoAdjust="0"/>
  </p:normalViewPr>
  <p:slideViewPr>
    <p:cSldViewPr snapToGrid="0">
      <p:cViewPr varScale="1">
        <p:scale>
          <a:sx n="110" d="100"/>
          <a:sy n="110" d="100"/>
        </p:scale>
        <p:origin x="606" y="11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21B49-C552-4148-8BE4-F39CC0226C52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B4FB9-629E-4FC1-826D-F05834C2225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2438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41D93-7D99-4328-934B-06F648F9EDCF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C4875-8523-436E-AFC9-E015484AB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40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82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CB41-68CC-A6D9-57B5-E71BD888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6373-8A01-7105-F83A-35335150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46" y="5218487"/>
            <a:ext cx="10515600" cy="90339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Think about the process that produced the numbers (“MEAN”) in this table</a:t>
            </a:r>
          </a:p>
          <a:p>
            <a:r>
              <a:rPr lang="en-US" dirty="0"/>
              <a:t>What does MOE want to know? Do they want the response rate to be high? Why?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EF5BE-BB0A-4A17-D5C8-E7D617246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34" y="209553"/>
            <a:ext cx="11174417" cy="4928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45134A-4E2F-6BA7-BA44-6B1FC050E19B}"/>
              </a:ext>
            </a:extLst>
          </p:cNvPr>
          <p:cNvSpPr/>
          <p:nvPr/>
        </p:nvSpPr>
        <p:spPr>
          <a:xfrm>
            <a:off x="7798609" y="3174191"/>
            <a:ext cx="867806" cy="18986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047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81538"/>
    </mc:Choice>
    <mc:Fallback xmlns="">
      <p:transition advTm="2815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6373-8A01-7105-F83A-35335150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75" y="421023"/>
            <a:ext cx="10515600" cy="3085147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For simplicity, assume the avg monthly salary of NBS graduates is $5k</a:t>
            </a:r>
          </a:p>
          <a:p>
            <a:pPr marL="0" indent="0">
              <a:buNone/>
            </a:pPr>
            <a:r>
              <a:rPr lang="en-US" sz="3200" dirty="0"/>
              <a:t>Do you think this “$5k” is a reliable number?</a:t>
            </a:r>
          </a:p>
          <a:p>
            <a:pPr marL="0" indent="0">
              <a:buNone/>
            </a:pPr>
            <a:r>
              <a:rPr lang="en-US" sz="3200" dirty="0"/>
              <a:t>1) if the response rate is 99%?</a:t>
            </a:r>
          </a:p>
          <a:p>
            <a:pPr marL="0" indent="0">
              <a:buNone/>
            </a:pPr>
            <a:r>
              <a:rPr lang="en-US" sz="3200" dirty="0"/>
              <a:t>2) if the response rate is 1%? </a:t>
            </a:r>
          </a:p>
          <a:p>
            <a:pPr marL="0" indent="0">
              <a:buNone/>
            </a:pPr>
            <a:r>
              <a:rPr lang="en-US" sz="3200" dirty="0"/>
              <a:t>Why?</a:t>
            </a:r>
            <a:endParaRPr lang="en-SG" sz="3200" dirty="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FCB3333-9C8B-DB90-6A08-DBFFAFE529CF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698904" y="4467890"/>
            <a:ext cx="5583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02B368A0-615C-D694-B599-CF7B67E0E940}"/>
              </a:ext>
            </a:extLst>
          </p:cNvPr>
          <p:cNvSpPr txBox="1"/>
          <p:nvPr/>
        </p:nvSpPr>
        <p:spPr>
          <a:xfrm>
            <a:off x="6282841" y="4283224"/>
            <a:ext cx="122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$avg salary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347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849"/>
    </mc:Choice>
    <mc:Fallback xmlns="">
      <p:transition spd="slow" advTm="24384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5C67F-C0BF-0D41-DFFF-A062A75B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statistical analysis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EEA1-ACEF-2D6C-B9A2-162C01D0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objective of statistical analysis: estimate some characteristic(s) of the population based on its data</a:t>
            </a:r>
          </a:p>
          <a:p>
            <a:pPr>
              <a:buFontTx/>
              <a:buChar char="-"/>
            </a:pPr>
            <a:r>
              <a:rPr lang="en-US" dirty="0"/>
              <a:t>In 1), where data of the population is largely available, achieving the objective becomes a non-issue</a:t>
            </a:r>
          </a:p>
          <a:p>
            <a:pPr>
              <a:buFontTx/>
              <a:buChar char="-"/>
            </a:pPr>
            <a:r>
              <a:rPr lang="en-US" dirty="0"/>
              <a:t>In 2), where only a limited amount of data is available, we need a structured way to guide us from data to conclusion</a:t>
            </a:r>
          </a:p>
          <a:p>
            <a:pPr>
              <a:buFontTx/>
              <a:buChar char="-"/>
            </a:pPr>
            <a:r>
              <a:rPr lang="en-US" dirty="0"/>
              <a:t>The problem becomes more complex when we want to know about the relationship among multiple characteristics. Such as how does the salary depend on “schools” &amp; “majors”?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3057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606"/>
    </mc:Choice>
    <mc:Fallback xmlns="">
      <p:transition spd="slow" advTm="2496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A866E077-E819-FB19-D55A-4F796C2E2381}"/>
              </a:ext>
            </a:extLst>
          </p:cNvPr>
          <p:cNvSpPr/>
          <p:nvPr/>
        </p:nvSpPr>
        <p:spPr>
          <a:xfrm>
            <a:off x="209169" y="1214535"/>
            <a:ext cx="2976465" cy="3676261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Population</a:t>
            </a:r>
            <a:endParaRPr lang="en-SG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D491CF-485F-E3D6-005D-5C79709FB822}"/>
              </a:ext>
            </a:extLst>
          </p:cNvPr>
          <p:cNvSpPr/>
          <p:nvPr/>
        </p:nvSpPr>
        <p:spPr>
          <a:xfrm>
            <a:off x="4931229" y="2928257"/>
            <a:ext cx="83976" cy="65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F80F338-E12C-AE8A-6C6F-F76A4ADC80CD}"/>
              </a:ext>
            </a:extLst>
          </p:cNvPr>
          <p:cNvSpPr/>
          <p:nvPr/>
        </p:nvSpPr>
        <p:spPr>
          <a:xfrm>
            <a:off x="5060302" y="2923592"/>
            <a:ext cx="83976" cy="65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F2E92C-BC50-9EF6-C320-6496D5E244A9}"/>
              </a:ext>
            </a:extLst>
          </p:cNvPr>
          <p:cNvSpPr/>
          <p:nvPr/>
        </p:nvSpPr>
        <p:spPr>
          <a:xfrm>
            <a:off x="5122507" y="3052666"/>
            <a:ext cx="83976" cy="65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EAF99D-9FA5-0334-BC18-D397F1F67F9C}"/>
              </a:ext>
            </a:extLst>
          </p:cNvPr>
          <p:cNvSpPr/>
          <p:nvPr/>
        </p:nvSpPr>
        <p:spPr>
          <a:xfrm>
            <a:off x="4907902" y="3117980"/>
            <a:ext cx="83976" cy="65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3C6719E-983F-CC22-05E8-E82B0BA0498F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183154" y="2872403"/>
            <a:ext cx="1808724" cy="1802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33C49C-F36B-AC7B-93A4-D39D098F54B3}"/>
              </a:ext>
            </a:extLst>
          </p:cNvPr>
          <p:cNvSpPr txBox="1"/>
          <p:nvPr/>
        </p:nvSpPr>
        <p:spPr>
          <a:xfrm>
            <a:off x="4315418" y="3343999"/>
            <a:ext cx="1489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Respondents/</a:t>
            </a:r>
          </a:p>
          <a:p>
            <a:r>
              <a:rPr lang="en-US" dirty="0"/>
              <a:t>data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0C22C4-32EE-7D6B-848A-42D964EB71EF}"/>
              </a:ext>
            </a:extLst>
          </p:cNvPr>
          <p:cNvSpPr/>
          <p:nvPr/>
        </p:nvSpPr>
        <p:spPr>
          <a:xfrm>
            <a:off x="5060302" y="3270380"/>
            <a:ext cx="83976" cy="653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C0C140-D393-F74E-FC2D-D8355D2C6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624" y="2143033"/>
            <a:ext cx="3539825" cy="1561118"/>
          </a:xfrm>
          <a:prstGeom prst="rect">
            <a:avLst/>
          </a:prstGeom>
        </p:spPr>
      </p:pic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66F1F06A-8FBE-68D5-1BC1-E5A076E56805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721209" y="2923592"/>
            <a:ext cx="2015415" cy="4245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1095FD-BC6F-DD57-6204-06AD9CD74D0B}"/>
              </a:ext>
            </a:extLst>
          </p:cNvPr>
          <p:cNvSpPr txBox="1"/>
          <p:nvPr/>
        </p:nvSpPr>
        <p:spPr>
          <a:xfrm>
            <a:off x="8761652" y="3832301"/>
            <a:ext cx="2260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Estimates/conclusions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49E4ED-85A2-0F24-0018-DEAA64355950}"/>
              </a:ext>
            </a:extLst>
          </p:cNvPr>
          <p:cNvSpPr txBox="1"/>
          <p:nvPr/>
        </p:nvSpPr>
        <p:spPr>
          <a:xfrm>
            <a:off x="2063921" y="5311203"/>
            <a:ext cx="7442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Statistics use probability theory to describe the </a:t>
            </a:r>
            <a:r>
              <a:rPr lang="en-US" b="1" dirty="0">
                <a:solidFill>
                  <a:srgbClr val="FF0000"/>
                </a:solidFill>
              </a:rPr>
              <a:t>uncertainty</a:t>
            </a:r>
            <a:r>
              <a:rPr lang="en-US" b="1" dirty="0"/>
              <a:t> in the data, and </a:t>
            </a:r>
          </a:p>
          <a:p>
            <a:r>
              <a:rPr lang="en-US" b="1" dirty="0"/>
              <a:t>then methodically incorporate the uncertainty in the estimate/conclusion </a:t>
            </a:r>
            <a:endParaRPr lang="en-SG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0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14"/>
    </mc:Choice>
    <mc:Fallback xmlns="">
      <p:transition spd="slow" advTm="1470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C939-12EE-952E-72C6-4B9628B3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77F4-C046-5AC5-327C-16E1DBB2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Weeks 1-5, we learn basic probability theories, which are the foundation of statistical analysis and beyond</a:t>
            </a:r>
          </a:p>
          <a:p>
            <a:r>
              <a:rPr lang="en-US" dirty="0"/>
              <a:t>The rest of this course is devoted to different statistical methods </a:t>
            </a:r>
          </a:p>
          <a:p>
            <a:pPr marL="0" indent="0">
              <a:buNone/>
            </a:pPr>
            <a:r>
              <a:rPr lang="en-US" dirty="0"/>
              <a:t>R programming is the computational tool that you </a:t>
            </a:r>
            <a:r>
              <a:rPr lang="en-US"/>
              <a:t>will learn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774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673"/>
    </mc:Choice>
    <mc:Fallback xmlns="">
      <p:transition spd="slow" advTm="8767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57.3|22.2|1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9.3|49.9|103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Widescreen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Course introduction</vt:lpstr>
      <vt:lpstr>PowerPoint Presentation</vt:lpstr>
      <vt:lpstr>PowerPoint Presentation</vt:lpstr>
      <vt:lpstr>Objective of statistical analysis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2023-07-06T06:12:37Z</dcterms:created>
  <dcterms:modified xsi:type="dcterms:W3CDTF">2023-07-06T06:14:11Z</dcterms:modified>
</cp:coreProperties>
</file>
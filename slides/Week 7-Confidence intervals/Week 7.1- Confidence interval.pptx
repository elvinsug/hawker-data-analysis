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0" r:id="rId2"/>
    <p:sldId id="288" r:id="rId3"/>
    <p:sldId id="302" r:id="rId4"/>
    <p:sldId id="269" r:id="rId5"/>
    <p:sldId id="303" r:id="rId6"/>
    <p:sldId id="295" r:id="rId7"/>
    <p:sldId id="296" r:id="rId8"/>
    <p:sldId id="270" r:id="rId9"/>
    <p:sldId id="271" r:id="rId10"/>
    <p:sldId id="272" r:id="rId11"/>
    <p:sldId id="268" r:id="rId12"/>
    <p:sldId id="275" r:id="rId13"/>
    <p:sldId id="276" r:id="rId14"/>
    <p:sldId id="299" r:id="rId15"/>
    <p:sldId id="292" r:id="rId16"/>
    <p:sldId id="298" r:id="rId17"/>
    <p:sldId id="284" r:id="rId18"/>
    <p:sldId id="300" r:id="rId19"/>
    <p:sldId id="30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34B25-A0A4-4959-957E-2E6C96BE7F7E}" v="3" dt="2022-10-03T06:04:41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Chien-Ming (Assoc Prof)" userId="eaa76335-e5f0-4758-ac68-e68b30e478da" providerId="ADAL" clId="{E9434B25-A0A4-4959-957E-2E6C96BE7F7E}"/>
    <pc:docChg chg="modSld">
      <pc:chgData name="Chen Chien-Ming (Assoc Prof)" userId="eaa76335-e5f0-4758-ac68-e68b30e478da" providerId="ADAL" clId="{E9434B25-A0A4-4959-957E-2E6C96BE7F7E}" dt="2022-10-03T06:04:41.495" v="2" actId="20577"/>
      <pc:docMkLst>
        <pc:docMk/>
      </pc:docMkLst>
      <pc:sldChg chg="modSp">
        <pc:chgData name="Chen Chien-Ming (Assoc Prof)" userId="eaa76335-e5f0-4758-ac68-e68b30e478da" providerId="ADAL" clId="{E9434B25-A0A4-4959-957E-2E6C96BE7F7E}" dt="2022-10-03T06:04:41.495" v="2" actId="20577"/>
        <pc:sldMkLst>
          <pc:docMk/>
          <pc:sldMk cId="1710896840" sldId="292"/>
        </pc:sldMkLst>
        <pc:spChg chg="mod">
          <ac:chgData name="Chen Chien-Ming (Assoc Prof)" userId="eaa76335-e5f0-4758-ac68-e68b30e478da" providerId="ADAL" clId="{E9434B25-A0A4-4959-957E-2E6C96BE7F7E}" dt="2022-10-03T06:04:41.495" v="2" actId="20577"/>
          <ac:spMkLst>
            <pc:docMk/>
            <pc:sldMk cId="1710896840" sldId="292"/>
            <ac:spMk id="3" creationId="{9BCDFA06-BFD4-4E4E-8389-87CCA55BCC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A40EB-C821-4F9C-B744-6E407C47440E}" type="datetimeFigureOut">
              <a:rPr lang="en-SG" smtClean="0"/>
              <a:t>2/10/2022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697C4-6925-46D2-9384-16E7097D634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162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10/2/2022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Confidence intervals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F6C0867-00A2-4A05-8F1E-319A5F5DCC2D}"/>
              </a:ext>
            </a:extLst>
          </p:cNvPr>
          <p:cNvSpPr txBox="1"/>
          <p:nvPr/>
        </p:nvSpPr>
        <p:spPr>
          <a:xfrm>
            <a:off x="438571" y="515786"/>
            <a:ext cx="116010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/>
              <a:t>Statistical inference is all about using a sample to estimate “something” about the population </a:t>
            </a:r>
          </a:p>
        </p:txBody>
      </p:sp>
      <p:pic>
        <p:nvPicPr>
          <p:cNvPr id="3074" name="Picture 2" descr="The Goal, Target, Archery, The Accuracy Of The, Sho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8" r="15289"/>
          <a:stretch/>
        </p:blipFill>
        <p:spPr bwMode="auto">
          <a:xfrm>
            <a:off x="7338152" y="3135038"/>
            <a:ext cx="3725390" cy="282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6C0867-00A2-4A05-8F1E-319A5F5DCC2D}"/>
              </a:ext>
            </a:extLst>
          </p:cNvPr>
          <p:cNvSpPr txBox="1"/>
          <p:nvPr/>
        </p:nvSpPr>
        <p:spPr>
          <a:xfrm>
            <a:off x="438571" y="2085446"/>
            <a:ext cx="116010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/>
              <a:t>The target parameter can be mean, variance, and many other characteristics about the population</a:t>
            </a:r>
          </a:p>
          <a:p>
            <a:r>
              <a:rPr lang="en-US" sz="3200" i="1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C0867-00A2-4A05-8F1E-319A5F5DCC2D}"/>
              </a:ext>
            </a:extLst>
          </p:cNvPr>
          <p:cNvSpPr txBox="1"/>
          <p:nvPr/>
        </p:nvSpPr>
        <p:spPr>
          <a:xfrm>
            <a:off x="339685" y="3326557"/>
            <a:ext cx="6794031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i="1"/>
              <a:t>In this module, our focus will be on estimating: </a:t>
            </a:r>
          </a:p>
          <a:p>
            <a:pPr algn="ctr"/>
            <a:r>
              <a:rPr lang="en-US" sz="3200" b="1" i="1" u="sng"/>
              <a:t>the population mean</a:t>
            </a:r>
          </a:p>
          <a:p>
            <a:r>
              <a:rPr lang="en-US" sz="3200"/>
              <a:t>To do that, it may sometimes require we estimate population variance as well</a:t>
            </a:r>
            <a:endParaRPr lang="en-US" sz="3200" i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871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E729E1-51F5-4257-B758-8E3A6683792B}"/>
                  </a:ext>
                </a:extLst>
              </p:cNvPr>
              <p:cNvSpPr/>
              <p:nvPr/>
            </p:nvSpPr>
            <p:spPr>
              <a:xfrm>
                <a:off x="1216240" y="4342946"/>
                <a:ext cx="2991775" cy="65603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??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??</m:t>
                          </m:r>
                        </m:e>
                      </m:d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3E729E1-51F5-4257-B758-8E3A668379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240" y="4342946"/>
                <a:ext cx="2991775" cy="656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8338AE2-6437-44B7-B192-EC145FD2C410}"/>
              </a:ext>
            </a:extLst>
          </p:cNvPr>
          <p:cNvSpPr txBox="1"/>
          <p:nvPr/>
        </p:nvSpPr>
        <p:spPr>
          <a:xfrm>
            <a:off x="1216240" y="3194079"/>
            <a:ext cx="32147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Statistical model/population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6C0867-00A2-4A05-8F1E-319A5F5DCC2D}"/>
              </a:ext>
            </a:extLst>
          </p:cNvPr>
          <p:cNvSpPr txBox="1"/>
          <p:nvPr/>
        </p:nvSpPr>
        <p:spPr>
          <a:xfrm>
            <a:off x="366182" y="337755"/>
            <a:ext cx="116010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/>
              <a:t>To proceed, we will assume that the population follows a certain distribution (i.e., the statistical model)</a:t>
            </a:r>
          </a:p>
          <a:p>
            <a:endParaRPr lang="en-US" sz="3200" i="1"/>
          </a:p>
          <a:p>
            <a:r>
              <a:rPr lang="en-US" sz="3200" i="1"/>
              <a:t>Then, a random sample is used to make inference about certain properties of the distribution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34EFD18A-EDDF-482B-B0D4-919873AF3244}"/>
              </a:ext>
            </a:extLst>
          </p:cNvPr>
          <p:cNvSpPr/>
          <p:nvPr/>
        </p:nvSpPr>
        <p:spPr>
          <a:xfrm>
            <a:off x="5595452" y="3820818"/>
            <a:ext cx="2965141" cy="195754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Random sample (</a:t>
            </a:r>
            <a:r>
              <a:rPr lang="en-US" sz="2800" err="1"/>
              <a:t>iid</a:t>
            </a:r>
            <a:r>
              <a:rPr lang="en-US" sz="2800"/>
              <a:t>)</a:t>
            </a:r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3DB33619-B028-4678-A4B2-A2EE4607D39E}"/>
              </a:ext>
            </a:extLst>
          </p:cNvPr>
          <p:cNvSpPr/>
          <p:nvPr/>
        </p:nvSpPr>
        <p:spPr>
          <a:xfrm flipH="1">
            <a:off x="2756077" y="5173303"/>
            <a:ext cx="2991775" cy="114865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43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Interval estimator for E(X)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68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/>
                  <a:t>The interval estimator for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SG"/>
                  <a:t> (based on a random sample of size=n) is of this form: </a:t>
                </a:r>
              </a:p>
              <a:p>
                <a:pPr marL="0" indent="0" algn="ctr">
                  <a:buNone/>
                </a:pPr>
                <a:r>
                  <a:rPr lang="en-SG"/>
                  <a:t>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SG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SG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/>
                  <a:t>]</a:t>
                </a:r>
              </a:p>
              <a:p>
                <a:pPr marL="0" indent="0">
                  <a:buNone/>
                </a:pPr>
                <a:r>
                  <a:rPr lang="en-SG" i="1"/>
                  <a:t>, where the “a” is a pre-determined constant.</a:t>
                </a:r>
              </a:p>
              <a:p>
                <a:pPr marL="0" indent="0">
                  <a:buNone/>
                </a:pPr>
                <a:endParaRPr lang="en-SG" i="1"/>
              </a:p>
              <a:p>
                <a:pPr marL="0" indent="0">
                  <a:buNone/>
                </a:pPr>
                <a:r>
                  <a:rPr lang="en-SG" i="1"/>
                  <a:t>We use the interval as our estimate about the value of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SG" i="1"/>
              </a:p>
              <a:p>
                <a:r>
                  <a:rPr lang="en-SG" i="1"/>
                  <a:t>Observe that the centre point of the interval will shift based on the value of sample mean—and hence </a:t>
                </a:r>
                <a:r>
                  <a:rPr lang="en-SG" b="1" i="1"/>
                  <a:t>the interval may change from sample to sample (just like a statistic)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6845"/>
              </a:xfrm>
              <a:blipFill>
                <a:blip r:embed="rId3"/>
                <a:stretch>
                  <a:fillRect l="-1217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2913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Example: How many steps per day?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/>
                  <a:t>I can design an interval estimator for </a:t>
                </a:r>
                <a:r>
                  <a:rPr lang="en-SG" b="1" i="1"/>
                  <a:t>the average #</a:t>
                </a:r>
                <a:r>
                  <a:rPr lang="en-US" b="1" i="1"/>
                  <a:t> of steps</a:t>
                </a:r>
                <a:r>
                  <a:rPr lang="en-SG" b="1" i="1"/>
                  <a:t> that a NTU student walks per day</a:t>
                </a:r>
                <a:r>
                  <a:rPr lang="en-SG"/>
                  <a:t>, as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-500,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+500],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is the sample mean of 50 students</a:t>
                </a:r>
                <a:endParaRPr lang="en-SG"/>
              </a:p>
              <a:p>
                <a:r>
                  <a:rPr lang="en-SG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=5000, then my estimate of the “</a:t>
                </a:r>
                <a:r>
                  <a:rPr lang="en-SG"/>
                  <a:t>average #</a:t>
                </a:r>
                <a:r>
                  <a:rPr lang="en-US"/>
                  <a:t> of steps</a:t>
                </a:r>
                <a:r>
                  <a:rPr lang="en-SG"/>
                  <a:t>“ will be between [4500,5500]</a:t>
                </a:r>
              </a:p>
              <a:p>
                <a:pPr marL="0" indent="0">
                  <a:buNone/>
                </a:pPr>
                <a:r>
                  <a:rPr lang="en-SG"/>
                  <a:t>Notice the larger the </a:t>
                </a:r>
                <a:r>
                  <a:rPr lang="en-SG" i="1"/>
                  <a:t>“a”</a:t>
                </a:r>
                <a:r>
                  <a:rPr lang="en-US"/>
                  <a:t> is (e.g., </a:t>
                </a:r>
                <a:r>
                  <a:rPr lang="en-US" altLang="zh-TW"/>
                  <a:t>3</a:t>
                </a:r>
                <a:r>
                  <a:rPr lang="en-US"/>
                  <a:t>000), the more likely the estimate is correct. However, </a:t>
                </a:r>
                <a:r>
                  <a:rPr lang="en-SG"/>
                  <a:t>larger </a:t>
                </a:r>
                <a:r>
                  <a:rPr lang="en-SG" i="1"/>
                  <a:t>“a”</a:t>
                </a:r>
                <a:r>
                  <a:rPr lang="en-US"/>
                  <a:t>  makes the interval less informative  </a:t>
                </a:r>
              </a:p>
              <a:p>
                <a:pPr marL="0" indent="0">
                  <a:buNone/>
                </a:pPr>
                <a:r>
                  <a:rPr lang="en-US"/>
                  <a:t>Thus, our goal is to find the shortest interval that meets a given performance criterion—which we refer to as </a:t>
                </a:r>
                <a:r>
                  <a:rPr lang="en-US" i="1" u="sng"/>
                  <a:t>Confidence level </a:t>
                </a:r>
                <a:endParaRPr lang="en-SG" i="1" u="sng"/>
              </a:p>
              <a:p>
                <a:endParaRPr lang="en-SG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Image result for ntu walk student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7" r="7882"/>
          <a:stretch/>
        </p:blipFill>
        <p:spPr bwMode="auto">
          <a:xfrm>
            <a:off x="9240929" y="98108"/>
            <a:ext cx="2210697" cy="1481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376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Confidence level and confidence interval (CI) for E(X)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7179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SG"/>
                  <a:t>When the interval estimator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/>
                  <a:t>] contains the unknown parameter (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SG"/>
                  <a:t>) at least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SG"/>
                  <a:t>% of the time (many random samples), we call this interval estimator</a:t>
                </a:r>
              </a:p>
              <a:p>
                <a:pPr marL="0" indent="0">
                  <a:buNone/>
                </a:pPr>
                <a:endParaRPr lang="en-SG"/>
              </a:p>
              <a:p>
                <a:pPr marL="0" indent="0" algn="ctr">
                  <a:buNone/>
                </a:pPr>
                <a:r>
                  <a:rPr lang="en-SG" sz="5200" i="1"/>
                  <a:t>A </a:t>
                </a:r>
                <a14:m>
                  <m:oMath xmlns:m="http://schemas.openxmlformats.org/officeDocument/2006/math">
                    <m:r>
                      <a:rPr lang="en-SG" sz="5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SG" sz="5200" i="1"/>
                  <a:t>% Confidence Interval for </a:t>
                </a:r>
                <a14:m>
                  <m:oMath xmlns:m="http://schemas.openxmlformats.org/officeDocument/2006/math">
                    <m:r>
                      <a:rPr lang="en-SG" sz="52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SG" sz="5200" i="1"/>
              </a:p>
              <a:p>
                <a:pPr marL="0" indent="0">
                  <a:buNone/>
                </a:pPr>
                <a:endParaRPr lang="en-SG"/>
              </a:p>
              <a:p>
                <a:pPr marL="0" indent="0">
                  <a:buNone/>
                </a:pPr>
                <a:r>
                  <a:rPr lang="en-SG"/>
                  <a:t>This p% is also referred to as the </a:t>
                </a:r>
                <a:r>
                  <a:rPr lang="en-SG" b="1" i="1"/>
                  <a:t>confidence level </a:t>
                </a:r>
                <a:r>
                  <a:rPr lang="en-SG" i="1"/>
                  <a:t>(typically 90%, 95% or 99%)</a:t>
                </a:r>
                <a:endParaRPr lang="en-SG"/>
              </a:p>
              <a:p>
                <a:pPr marL="0" indent="0">
                  <a:buNone/>
                </a:pPr>
                <a:r>
                  <a:rPr lang="en-SG"/>
                  <a:t>If I claim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-500,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+500] is a 95% CI, then it means the true average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will be contained in 95% of </a:t>
                </a:r>
                <a:r>
                  <a:rPr lang="en-US" i="1"/>
                  <a:t>the (many many) CI’s based on this CI formula </a:t>
                </a:r>
                <a:endParaRPr lang="en-SG" i="1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7179"/>
              </a:xfrm>
              <a:blipFill>
                <a:blip r:embed="rId3"/>
                <a:stretch>
                  <a:fillRect l="-1217" t="-2747" b="-1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6677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42BB-1456-4B8E-AEAD-598B9AE8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28" y="1267948"/>
            <a:ext cx="10515600" cy="2467285"/>
          </a:xfrm>
        </p:spPr>
        <p:txBody>
          <a:bodyPr>
            <a:normAutofit fontScale="90000"/>
          </a:bodyPr>
          <a:lstStyle/>
          <a:p>
            <a:r>
              <a:rPr lang="en-US"/>
              <a:t>The learning objective of this week: </a:t>
            </a:r>
            <a:br>
              <a:rPr lang="en-US"/>
            </a:br>
            <a:br>
              <a:rPr lang="en-US"/>
            </a:br>
            <a:r>
              <a:rPr lang="en-US" b="1" i="1"/>
              <a:t>For a given confidence level (90%, 95%, or 99%), Find out the right “a” for the CI formula</a:t>
            </a:r>
            <a:br>
              <a:rPr lang="en-US" b="1" i="1"/>
            </a:br>
            <a:r>
              <a:rPr lang="en-US" b="1" i="1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1924221" y="3980057"/>
                <a:ext cx="7624628" cy="138499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SG" sz="2800"/>
                  <a:t>If I want to have a 95% CI for the average number of steps: </a:t>
                </a:r>
              </a:p>
              <a:p>
                <a:r>
                  <a:rPr lang="en-SG" sz="2800"/>
                  <a:t>What should be the </a:t>
                </a:r>
                <a14:m>
                  <m:oMath xmlns:m="http://schemas.openxmlformats.org/officeDocument/2006/math">
                    <m:r>
                      <a:rPr lang="en-SG" sz="2800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SG" sz="28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sz="2800"/>
                  <a:t>” in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/>
                  <a:t> 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8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800"/>
                  <a:t>]? </a:t>
                </a:r>
                <a:endParaRPr lang="en-SG" sz="280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221" y="3980057"/>
                <a:ext cx="7624628" cy="1384995"/>
              </a:xfrm>
              <a:prstGeom prst="rect">
                <a:avLst/>
              </a:prstGeom>
              <a:blipFill>
                <a:blip r:embed="rId3"/>
                <a:stretch>
                  <a:fillRect l="-1597" t="-3930" b="-11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796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 t="18527" r="5473" b="27008"/>
          <a:stretch/>
        </p:blipFill>
        <p:spPr>
          <a:xfrm>
            <a:off x="0" y="0"/>
            <a:ext cx="11711564" cy="49100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445829" y="888274"/>
                <a:ext cx="22387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/>
                  <a:t>Sampling distribution </a:t>
                </a:r>
                <a:endParaRPr lang="en-SG" i="1"/>
              </a:p>
              <a:p>
                <a:r>
                  <a:rPr lang="en-SG" i="1"/>
                  <a:t>(e.g.,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)</a:t>
                </a:r>
                <a:endParaRPr lang="en-SG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829" y="888274"/>
                <a:ext cx="2238754" cy="646331"/>
              </a:xfrm>
              <a:prstGeom prst="rect">
                <a:avLst/>
              </a:prstGeom>
              <a:blipFill>
                <a:blip r:embed="rId4"/>
                <a:stretch>
                  <a:fillRect l="-2174" t="-5660" r="-135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53992" y="826615"/>
                <a:ext cx="4023602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3200"/>
                  <a:t>the confidence interval</a:t>
                </a:r>
              </a:p>
              <a:p>
                <a:r>
                  <a:rPr lang="en-SG" sz="3200"/>
                  <a:t>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3200"/>
                  <a:t> -500,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3200"/>
                  <a:t> +500</a:t>
                </a:r>
                <a:r>
                  <a:rPr lang="en-SG" sz="3200"/>
                  <a:t>]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92" y="826615"/>
                <a:ext cx="4023602" cy="1077218"/>
              </a:xfrm>
              <a:prstGeom prst="rect">
                <a:avLst/>
              </a:prstGeom>
              <a:blipFill>
                <a:blip r:embed="rId5"/>
                <a:stretch>
                  <a:fillRect l="-3788" t="-7386" r="-2727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49" y="4921226"/>
            <a:ext cx="971006" cy="5871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0B4D99-69B8-4EB9-8D15-92391F21BCD2}"/>
                  </a:ext>
                </a:extLst>
              </p:cNvPr>
              <p:cNvSpPr txBox="1"/>
              <p:nvPr/>
            </p:nvSpPr>
            <p:spPr>
              <a:xfrm>
                <a:off x="1658543" y="5630224"/>
                <a:ext cx="839447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/>
                  <a:t>Question: How does E(X) </a:t>
                </a:r>
                <a:r>
                  <a:rPr lang="en-US" sz="3200" i="1"/>
                  <a:t>(the fish) </a:t>
                </a:r>
                <a:r>
                  <a:rPr lang="en-US" sz="3200"/>
                  <a:t>relate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3200"/>
                  <a:t> 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0B4D99-69B8-4EB9-8D15-92391F21B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543" y="5630224"/>
                <a:ext cx="8394478" cy="584775"/>
              </a:xfrm>
              <a:prstGeom prst="rect">
                <a:avLst/>
              </a:prstGeom>
              <a:blipFill>
                <a:blip r:embed="rId7"/>
                <a:stretch>
                  <a:fillRect l="-1816" t="-12500" r="-726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3226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89 0.00532 L -0.01289 0.00532 C -0.00989 0.00416 -0.0069 0.00324 -0.00377 0.00208 C -0.00286 0.00162 -0.00195 0.00069 -0.00104 0.00046 C 0.0017 -0.00047 0.00443 -0.00116 0.00716 -0.00116 L 0.4599 -0.00278 L 0.48737 -0.00602 C 0.49102 -0.00648 0.49466 -0.00764 0.49831 -0.00764 L 0.61901 -0.00926 L 0.66394 -0.01088 C 0.68373 -0.01181 0.70352 -0.01389 0.72331 -0.01412 C 0.73855 -0.01436 0.75378 -0.0132 0.76914 -0.0125 C 0.76784 -0.01158 0.76654 -0.01042 0.76537 -0.00926 C 0.76446 -0.00834 0.76368 -0.00695 0.76263 -0.00602 C 0.76094 -0.00463 0.75899 -0.00394 0.75716 -0.00278 C 0.75065 0.00115 0.75886 -0.00371 0.75078 0.00046 C 0.74597 0.00277 0.74805 0.00324 0.74076 0.00532 C 0.73737 0.00625 0.73399 0.00625 0.7306 0.00694 C 0.72605 0.00787 0.72058 0.00995 0.71602 0.01018 L 0.63008 0.01342 C 0.62761 0.01389 0.62513 0.01435 0.62279 0.01504 C 0.61966 0.01597 0.61667 0.01782 0.61355 0.01828 L 0.60352 0.0199 C 0.59844 0.02222 0.6 0.02176 0.59349 0.02314 C 0.59076 0.02384 0.58802 0.02407 0.58529 0.02477 C 0.58216 0.02569 0.57917 0.02708 0.57605 0.02801 C 0.5737 0.02893 0.57123 0.02916 0.56875 0.02963 C 0.55443 0.03333 0.57435 0.02916 0.55508 0.0331 L 0.47279 0.02963 C 0.46511 0.02916 0.45873 0.02754 0.4517 0.02477 C 0.44896 0.02384 0.44623 0.02222 0.44349 0.02152 C 0.43959 0.0206 0.43555 0.0206 0.43151 0.0199 C 0.42943 0.01967 0.42735 0.01898 0.42513 0.01828 C 0.42214 0.0162 0.41823 0.01319 0.41511 0.0118 C 0.41394 0.01134 0.41263 0.01064 0.41146 0.01018 C 0.40938 0.00949 0.40716 0.00902 0.40508 0.00856 L 0.39401 0.00208 C 0.3931 0.00162 0.39232 0.00069 0.39128 0.00046 L 0.38581 -0.00116 C 0.38138 -0.00648 0.38438 -0.00394 0.37761 -0.00602 C 0.37605 -0.00648 0.37305 -0.00764 0.37305 -0.00764 " pathEditMode="relative" ptsTypes="AAAAAAAAAAAAAAAAAAAAAAAAAAAAAAAAAAAAAAAAA">
                                      <p:cBhvr>
                                        <p:cTn id="16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 t="18527" r="5473" b="27008"/>
          <a:stretch/>
        </p:blipFill>
        <p:spPr>
          <a:xfrm>
            <a:off x="0" y="0"/>
            <a:ext cx="11711564" cy="49100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379" y="4734171"/>
            <a:ext cx="971006" cy="5871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445829" y="888274"/>
                <a:ext cx="22387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/>
                  <a:t>Sampling distribution </a:t>
                </a:r>
                <a:endParaRPr lang="en-SG" i="1"/>
              </a:p>
              <a:p>
                <a:r>
                  <a:rPr lang="en-SG" i="1"/>
                  <a:t>(e.g.,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)</a:t>
                </a:r>
                <a:endParaRPr lang="en-SG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829" y="888274"/>
                <a:ext cx="2238754" cy="646331"/>
              </a:xfrm>
              <a:prstGeom prst="rect">
                <a:avLst/>
              </a:prstGeom>
              <a:blipFill>
                <a:blip r:embed="rId4"/>
                <a:stretch>
                  <a:fillRect l="-2174" t="-5660" r="-135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072726" y="3955897"/>
                <a:ext cx="66092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3200"/>
                  <a:t>[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/>
                  <a:t>-500,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/>
                  <a:t> +500</a:t>
                </a:r>
                <a:r>
                  <a:rPr lang="en-SG" sz="3200"/>
                  <a:t>]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726" y="3955897"/>
                <a:ext cx="6609227" cy="584775"/>
              </a:xfrm>
              <a:prstGeom prst="rect">
                <a:avLst/>
              </a:prstGeom>
              <a:blipFill>
                <a:blip r:embed="rId5"/>
                <a:stretch>
                  <a:fillRect l="-2306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2489123" y="4779866"/>
                <a:ext cx="145370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SG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23" y="4779866"/>
                <a:ext cx="14537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0443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 t="18527" r="5473" b="27008"/>
          <a:stretch/>
        </p:blipFill>
        <p:spPr>
          <a:xfrm>
            <a:off x="0" y="0"/>
            <a:ext cx="11711564" cy="49100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259" y="4815029"/>
            <a:ext cx="971006" cy="5871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445829" y="888274"/>
                <a:ext cx="22387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/>
                  <a:t>Sampling distribution </a:t>
                </a:r>
                <a:endParaRPr lang="en-SG" i="1"/>
              </a:p>
              <a:p>
                <a:r>
                  <a:rPr lang="en-SG" i="1"/>
                  <a:t>(e.g.,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)</a:t>
                </a:r>
                <a:endParaRPr lang="en-SG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829" y="888274"/>
                <a:ext cx="2238754" cy="646331"/>
              </a:xfrm>
              <a:prstGeom prst="rect">
                <a:avLst/>
              </a:prstGeom>
              <a:blipFill>
                <a:blip r:embed="rId4"/>
                <a:stretch>
                  <a:fillRect l="-2174" t="-5660" r="-1359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743721" y="3926446"/>
                <a:ext cx="356668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3200"/>
                  <a:t>[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3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sz="3200"/>
                  <a:t>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3200"/>
                  <a:t>+500</a:t>
                </a:r>
                <a:r>
                  <a:rPr lang="en-SG" sz="3200"/>
                  <a:t>]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21" y="3926446"/>
                <a:ext cx="3566682" cy="584775"/>
              </a:xfrm>
              <a:prstGeom prst="rect">
                <a:avLst/>
              </a:prstGeom>
              <a:blipFill>
                <a:blip r:embed="rId5"/>
                <a:stretch>
                  <a:fillRect l="-4274" t="-12500" r="-359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8061559" y="4786872"/>
                <a:ext cx="16230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SG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559" y="4786872"/>
                <a:ext cx="16230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643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SG"/>
                  <a:t>CI for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/>
                  <a:t>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/>
                  <a:t> is known</a:t>
                </a:r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b="1" u="sng"/>
                  <a:t>Suppose</a:t>
                </a:r>
                <a:r>
                  <a:rPr lang="en-SG"/>
                  <a:t>  the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/>
                  <a:t> of the number of steps of NTU students is known equal to 1,000,000</a:t>
                </a:r>
                <a:r>
                  <a:rPr lang="en-SG" sz="2400" i="1"/>
                  <a:t> </a:t>
                </a:r>
              </a:p>
              <a:p>
                <a:pPr marL="0" indent="0">
                  <a:buNone/>
                </a:pPr>
                <a:endParaRPr lang="en-SG" sz="2400" i="1"/>
              </a:p>
              <a:p>
                <a:pPr marL="0" indent="0">
                  <a:buNone/>
                </a:pPr>
                <a:r>
                  <a:rPr lang="en-SG"/>
                  <a:t>Now I plan to collect a sample of 50 NTU students and construct a 90% CI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-a,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/>
                  <a:t> +a</a:t>
                </a:r>
                <a:r>
                  <a:rPr lang="en-SG"/>
                  <a:t>] </a:t>
                </a:r>
              </a:p>
              <a:p>
                <a:pPr marL="0" indent="0">
                  <a:buNone/>
                </a:pPr>
                <a:endParaRPr lang="en-SG"/>
              </a:p>
              <a:p>
                <a:pPr marL="0" indent="0">
                  <a:buNone/>
                </a:pPr>
                <a:r>
                  <a:rPr lang="en-SG"/>
                  <a:t>How do I find the right value of “a” to get a 90% CI?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428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 t="18527" r="5473" b="27008"/>
          <a:stretch/>
        </p:blipFill>
        <p:spPr>
          <a:xfrm>
            <a:off x="266700" y="1447799"/>
            <a:ext cx="10033000" cy="42062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96902" y="68518"/>
                <a:ext cx="10515600" cy="55800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SG" b="1"/>
                  <a:t>How to choose the “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b="1"/>
                  <a:t>” for the 90% confidence level? </a:t>
                </a:r>
              </a:p>
              <a:p>
                <a:pPr marL="0" indent="0">
                  <a:buNone/>
                </a:pPr>
                <a:r>
                  <a:rPr lang="en-SG"/>
                  <a:t>Observe that </a:t>
                </a:r>
                <a14:m>
                  <m:oMath xmlns:m="http://schemas.openxmlformats.org/officeDocument/2006/math">
                    <m:r>
                      <a:rPr lang="en-SG" b="1" i="1" u="sng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b="1" u="sng"/>
                  <a:t> will be inside the CI </a:t>
                </a:r>
                <a:r>
                  <a:rPr lang="en-US"/>
                  <a:t>when either 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SG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or {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SG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SG"/>
                  <a:t>, which amounts to this condition: </a:t>
                </a:r>
              </a:p>
              <a:p>
                <a:pPr marL="0" indent="0">
                  <a:buNone/>
                </a:pPr>
                <a:r>
                  <a:rPr lang="en-SG" b="1"/>
                  <a:t>{</a:t>
                </a:r>
                <a14:m>
                  <m:oMath xmlns:m="http://schemas.openxmlformats.org/officeDocument/2006/math">
                    <m:r>
                      <a:rPr lang="en-SG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SG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SG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SG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acc>
                    <m:r>
                      <a:rPr lang="en-SG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SG" b="1"/>
                  <a:t>} </a:t>
                </a:r>
              </a:p>
              <a:p>
                <a:pPr marL="0" indent="0">
                  <a:buNone/>
                </a:pPr>
                <a:endParaRPr lang="en-SG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6902" y="68518"/>
                <a:ext cx="10515600" cy="5580063"/>
              </a:xfrm>
              <a:blipFill>
                <a:blip r:embed="rId4"/>
                <a:stretch>
                  <a:fillRect l="-1217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 flipH="1">
                <a:off x="5601970" y="3753703"/>
                <a:ext cx="91948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SG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01970" y="3753703"/>
                <a:ext cx="919481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248400" y="2176651"/>
                <a:ext cx="3327386" cy="491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>
                    <a:solidFill>
                      <a:srgbClr val="FF0000"/>
                    </a:solidFill>
                  </a:rPr>
                  <a:t>Sampling </a:t>
                </a:r>
                <a:r>
                  <a:rPr lang="en-SG" err="1">
                    <a:solidFill>
                      <a:srgbClr val="FF0000"/>
                    </a:solidFill>
                  </a:rPr>
                  <a:t>dist</a:t>
                </a:r>
                <a:r>
                  <a:rPr lang="en-SG">
                    <a:solidFill>
                      <a:srgbClr val="FF0000"/>
                    </a:solidFill>
                  </a:rPr>
                  <a:t>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SG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SG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176651"/>
                <a:ext cx="3327386" cy="491545"/>
              </a:xfrm>
              <a:prstGeom prst="rect">
                <a:avLst/>
              </a:prstGeom>
              <a:blipFill>
                <a:blip r:embed="rId6"/>
                <a:stretch>
                  <a:fillRect l="-1465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5283200" y="2070100"/>
            <a:ext cx="0" cy="32893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283199" y="4584700"/>
            <a:ext cx="571503" cy="717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2711959" y="5007231"/>
            <a:ext cx="2674643" cy="1317069"/>
            <a:chOff x="2349500" y="4894263"/>
            <a:chExt cx="2674643" cy="1317069"/>
          </a:xfrm>
        </p:grpSpPr>
        <p:grpSp>
          <p:nvGrpSpPr>
            <p:cNvPr id="19" name="Group 18"/>
            <p:cNvGrpSpPr/>
            <p:nvPr/>
          </p:nvGrpSpPr>
          <p:grpSpPr>
            <a:xfrm>
              <a:off x="2349500" y="5842000"/>
              <a:ext cx="2674643" cy="369332"/>
              <a:chOff x="2349500" y="5842000"/>
              <a:chExt cx="2674643" cy="36933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349500" y="5842000"/>
                    <a:ext cx="267464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SG"/>
                      <a:t>[                  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a14:m>
                    <a:r>
                      <a:rPr lang="en-SG"/>
                      <a:t>                   ]</a:t>
                    </a:r>
                  </a:p>
                </p:txBody>
              </p:sp>
            </mc:Choice>
            <mc:Fallback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49500" y="5842000"/>
                    <a:ext cx="267464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50" t="-10000" r="-1139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Rectangle 15"/>
              <p:cNvSpPr/>
              <p:nvPr/>
            </p:nvSpPr>
            <p:spPr>
              <a:xfrm>
                <a:off x="3907791" y="5890934"/>
                <a:ext cx="952500" cy="271463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2800" b="1"/>
                  <a:t>a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2475243" y="5863731"/>
                <a:ext cx="952500" cy="271463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2800" b="1"/>
                  <a:t>a</a:t>
                </a:r>
                <a:endParaRPr lang="en-SG" b="1"/>
              </a:p>
            </p:txBody>
          </p:sp>
        </p:grpSp>
        <p:cxnSp>
          <p:nvCxnSpPr>
            <p:cNvPr id="21" name="Straight Connector 20"/>
            <p:cNvCxnSpPr/>
            <p:nvPr/>
          </p:nvCxnSpPr>
          <p:spPr>
            <a:xfrm flipV="1">
              <a:off x="4860291" y="4894263"/>
              <a:ext cx="0" cy="128270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2475243" y="4972050"/>
              <a:ext cx="0" cy="116314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184129" y="5050065"/>
            <a:ext cx="2674643" cy="1317069"/>
            <a:chOff x="2349500" y="4894263"/>
            <a:chExt cx="2674643" cy="1317069"/>
          </a:xfrm>
        </p:grpSpPr>
        <p:grpSp>
          <p:nvGrpSpPr>
            <p:cNvPr id="26" name="Group 25"/>
            <p:cNvGrpSpPr/>
            <p:nvPr/>
          </p:nvGrpSpPr>
          <p:grpSpPr>
            <a:xfrm>
              <a:off x="2349500" y="5842000"/>
              <a:ext cx="2674643" cy="369332"/>
              <a:chOff x="2349500" y="5842000"/>
              <a:chExt cx="2674643" cy="36933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2349500" y="5842000"/>
                    <a:ext cx="267464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SG"/>
                      <a:t>[                  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a14:m>
                    <a:r>
                      <a:rPr lang="en-SG"/>
                      <a:t>                   ]</a:t>
                    </a:r>
                  </a:p>
                </p:txBody>
              </p:sp>
            </mc:Choice>
            <mc:Fallback>
              <p:sp>
                <p:nvSpPr>
                  <p:cNvPr id="29" name="TextBox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49500" y="5842000"/>
                    <a:ext cx="267464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822" t="-10000" r="-13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Rectangle 29"/>
              <p:cNvSpPr/>
              <p:nvPr/>
            </p:nvSpPr>
            <p:spPr>
              <a:xfrm>
                <a:off x="3907791" y="5890934"/>
                <a:ext cx="952500" cy="271463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2800" b="1"/>
                  <a:t>a</a:t>
                </a: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475243" y="5863731"/>
                <a:ext cx="952500" cy="271463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G" sz="2800" b="1"/>
                  <a:t>a</a:t>
                </a:r>
                <a:endParaRPr lang="en-SG" b="1"/>
              </a:p>
            </p:txBody>
          </p:sp>
        </p:grpSp>
        <p:cxnSp>
          <p:nvCxnSpPr>
            <p:cNvPr id="27" name="Straight Connector 26"/>
            <p:cNvCxnSpPr/>
            <p:nvPr/>
          </p:nvCxnSpPr>
          <p:spPr>
            <a:xfrm flipV="1">
              <a:off x="4860291" y="4894263"/>
              <a:ext cx="0" cy="128270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475243" y="4972050"/>
              <a:ext cx="0" cy="116314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/>
          <p:cNvCxnSpPr/>
          <p:nvPr/>
        </p:nvCxnSpPr>
        <p:spPr>
          <a:xfrm flipH="1">
            <a:off x="9368444" y="1795549"/>
            <a:ext cx="739833" cy="482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47955" y="1605389"/>
            <a:ext cx="781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>
                <a:solidFill>
                  <a:schemeClr val="accent1"/>
                </a:solidFill>
              </a:rPr>
              <a:t>By CLT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461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 t="18527" r="5473" b="27008"/>
          <a:stretch/>
        </p:blipFill>
        <p:spPr>
          <a:xfrm>
            <a:off x="838200" y="1389806"/>
            <a:ext cx="10033000" cy="42062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596900"/>
                <a:ext cx="10515600" cy="55800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SG"/>
                  <a:t>This means, if I can find the “</a:t>
                </a:r>
                <a14:m>
                  <m:oMath xmlns:m="http://schemas.openxmlformats.org/officeDocument/2006/math">
                    <m:r>
                      <a:rPr lang="en-SG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SG"/>
                  <a:t>” to make </a:t>
                </a:r>
                <a:r>
                  <a:rPr lang="en-SG" err="1"/>
                  <a:t>Pr</a:t>
                </a:r>
                <a:r>
                  <a:rPr lang="en-SG" b="1"/>
                  <a:t>{</a:t>
                </a:r>
                <a14:m>
                  <m:oMath xmlns:m="http://schemas.openxmlformats.org/officeDocument/2006/math">
                    <m:r>
                      <a:rPr lang="en-SG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b="1" i="1" dirty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̅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SG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SG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</m:acc>
                    <m:r>
                      <a:rPr lang="en-SG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SG" b="1"/>
                  <a:t>}=0.90,</a:t>
                </a:r>
                <a:r>
                  <a:rPr lang="en-SG"/>
                  <a:t> then this choice of “</a:t>
                </a:r>
                <a14:m>
                  <m:oMath xmlns:m="http://schemas.openxmlformats.org/officeDocument/2006/math">
                    <m:r>
                      <a:rPr lang="en-SG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SG"/>
                  <a:t>” will make this CI a 90% CI</a:t>
                </a:r>
                <a:endParaRPr lang="en-SG" b="1"/>
              </a:p>
              <a:p>
                <a:pPr marL="0" indent="0">
                  <a:buNone/>
                </a:pPr>
                <a:endParaRPr lang="en-SG"/>
              </a:p>
              <a:p>
                <a:pPr marL="0" indent="0">
                  <a:buNone/>
                </a:pPr>
                <a:endParaRPr lang="en-SG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96900"/>
                <a:ext cx="10515600" cy="5580063"/>
              </a:xfrm>
              <a:blipFill>
                <a:blip r:embed="rId4"/>
                <a:stretch>
                  <a:fillRect l="-1217" t="-18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077073" y="2170693"/>
                <a:ext cx="3327386" cy="491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>
                    <a:solidFill>
                      <a:srgbClr val="FF0000"/>
                    </a:solidFill>
                  </a:rPr>
                  <a:t>Sampling </a:t>
                </a:r>
                <a:r>
                  <a:rPr lang="en-SG" err="1">
                    <a:solidFill>
                      <a:srgbClr val="FF0000"/>
                    </a:solidFill>
                  </a:rPr>
                  <a:t>dist</a:t>
                </a:r>
                <a:r>
                  <a:rPr lang="en-SG">
                    <a:solidFill>
                      <a:srgbClr val="FF0000"/>
                    </a:solidFill>
                  </a:rPr>
                  <a:t>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SG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073" y="2170693"/>
                <a:ext cx="3327386" cy="491545"/>
              </a:xfrm>
              <a:prstGeom prst="rect">
                <a:avLst/>
              </a:prstGeom>
              <a:blipFill>
                <a:blip r:embed="rId5"/>
                <a:stretch>
                  <a:fillRect l="-1648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3081615" y="4413729"/>
            <a:ext cx="19050" cy="881063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8517439" y="4413728"/>
            <a:ext cx="19050" cy="881063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88700" y="3539088"/>
            <a:ext cx="15135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90%</a:t>
            </a:r>
            <a:endParaRPr lang="en-SG" sz="6000"/>
          </a:p>
        </p:txBody>
      </p:sp>
      <p:sp>
        <p:nvSpPr>
          <p:cNvPr id="34" name="TextBox 33"/>
          <p:cNvSpPr txBox="1"/>
          <p:nvPr/>
        </p:nvSpPr>
        <p:spPr>
          <a:xfrm>
            <a:off x="8762154" y="4346427"/>
            <a:ext cx="11240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5%</a:t>
            </a:r>
            <a:endParaRPr lang="en-SG" sz="6000"/>
          </a:p>
        </p:txBody>
      </p:sp>
      <p:sp>
        <p:nvSpPr>
          <p:cNvPr id="35" name="TextBox 34"/>
          <p:cNvSpPr txBox="1"/>
          <p:nvPr/>
        </p:nvSpPr>
        <p:spPr>
          <a:xfrm>
            <a:off x="1976639" y="4279129"/>
            <a:ext cx="11240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5%</a:t>
            </a:r>
            <a:endParaRPr lang="en-SG" sz="6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D61418-EB9C-43C0-800E-6C95C057E0AA}"/>
              </a:ext>
            </a:extLst>
          </p:cNvPr>
          <p:cNvSpPr/>
          <p:nvPr/>
        </p:nvSpPr>
        <p:spPr>
          <a:xfrm>
            <a:off x="5930744" y="5645016"/>
            <a:ext cx="2527453" cy="2714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b="1"/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CFCF3F-5BB5-4805-8086-259EF0053783}"/>
              </a:ext>
            </a:extLst>
          </p:cNvPr>
          <p:cNvSpPr/>
          <p:nvPr/>
        </p:nvSpPr>
        <p:spPr>
          <a:xfrm>
            <a:off x="3122826" y="5617813"/>
            <a:ext cx="2807918" cy="2986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b="1"/>
              <a:t>a</a:t>
            </a:r>
            <a:endParaRPr lang="en-SG" b="1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2CB3AE-ED12-497E-AD07-A2F2DA89169D}"/>
              </a:ext>
            </a:extLst>
          </p:cNvPr>
          <p:cNvCxnSpPr/>
          <p:nvPr/>
        </p:nvCxnSpPr>
        <p:spPr>
          <a:xfrm flipV="1">
            <a:off x="8517439" y="5046420"/>
            <a:ext cx="0" cy="12827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A212D8-6929-4073-B56B-006F46D40FA7}"/>
              </a:ext>
            </a:extLst>
          </p:cNvPr>
          <p:cNvCxnSpPr/>
          <p:nvPr/>
        </p:nvCxnSpPr>
        <p:spPr>
          <a:xfrm flipV="1">
            <a:off x="3122826" y="4972125"/>
            <a:ext cx="0" cy="11631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9036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0" t="18527" r="5473" b="27008"/>
          <a:stretch/>
        </p:blipFill>
        <p:spPr>
          <a:xfrm>
            <a:off x="838200" y="1389806"/>
            <a:ext cx="10033000" cy="420627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6900"/>
            <a:ext cx="10515600" cy="5580063"/>
          </a:xfrm>
        </p:spPr>
        <p:txBody>
          <a:bodyPr/>
          <a:lstStyle/>
          <a:p>
            <a:pPr marL="0" indent="0">
              <a:buNone/>
            </a:pPr>
            <a:r>
              <a:rPr lang="en-SG"/>
              <a:t>POP Quiz: If instead we want to get a 95% or 99% CI, what would be corresponding tail probabilities? (verify your answers after the video)</a:t>
            </a:r>
            <a:endParaRPr lang="en-SG" b="1"/>
          </a:p>
          <a:p>
            <a:pPr marL="0" indent="0">
              <a:buNone/>
            </a:pPr>
            <a:endParaRPr lang="en-SG"/>
          </a:p>
          <a:p>
            <a:pPr marL="0" indent="0">
              <a:buNone/>
            </a:pPr>
            <a:endParaRPr lang="en-SG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077073" y="2170693"/>
                <a:ext cx="3327386" cy="491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>
                    <a:solidFill>
                      <a:srgbClr val="FF0000"/>
                    </a:solidFill>
                  </a:rPr>
                  <a:t>Sampling </a:t>
                </a:r>
                <a:r>
                  <a:rPr lang="en-SG" err="1">
                    <a:solidFill>
                      <a:srgbClr val="FF0000"/>
                    </a:solidFill>
                  </a:rPr>
                  <a:t>dist</a:t>
                </a:r>
                <a:r>
                  <a:rPr lang="en-SG">
                    <a:solidFill>
                      <a:srgbClr val="FF0000"/>
                    </a:solidFill>
                  </a:rPr>
                  <a:t>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SG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073" y="2170693"/>
                <a:ext cx="3327386" cy="491545"/>
              </a:xfrm>
              <a:prstGeom prst="rect">
                <a:avLst/>
              </a:prstGeom>
              <a:blipFill>
                <a:blip r:embed="rId4"/>
                <a:stretch>
                  <a:fillRect l="-1648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3081615" y="4413729"/>
            <a:ext cx="19050" cy="881063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8517439" y="4413728"/>
            <a:ext cx="19050" cy="881063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88700" y="3539088"/>
            <a:ext cx="18694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95%?</a:t>
            </a:r>
          </a:p>
          <a:p>
            <a:r>
              <a:rPr lang="en-US" sz="6000"/>
              <a:t>99%?</a:t>
            </a:r>
            <a:endParaRPr lang="en-SG" sz="6000"/>
          </a:p>
        </p:txBody>
      </p:sp>
      <p:sp>
        <p:nvSpPr>
          <p:cNvPr id="34" name="TextBox 33"/>
          <p:cNvSpPr txBox="1"/>
          <p:nvPr/>
        </p:nvSpPr>
        <p:spPr>
          <a:xfrm>
            <a:off x="8762154" y="4346427"/>
            <a:ext cx="11240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?%</a:t>
            </a:r>
            <a:endParaRPr lang="en-SG" sz="6000"/>
          </a:p>
        </p:txBody>
      </p:sp>
      <p:sp>
        <p:nvSpPr>
          <p:cNvPr id="35" name="TextBox 34"/>
          <p:cNvSpPr txBox="1"/>
          <p:nvPr/>
        </p:nvSpPr>
        <p:spPr>
          <a:xfrm>
            <a:off x="1976639" y="4279129"/>
            <a:ext cx="11240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?%</a:t>
            </a:r>
            <a:endParaRPr lang="en-SG" sz="6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D61418-EB9C-43C0-800E-6C95C057E0AA}"/>
              </a:ext>
            </a:extLst>
          </p:cNvPr>
          <p:cNvSpPr/>
          <p:nvPr/>
        </p:nvSpPr>
        <p:spPr>
          <a:xfrm>
            <a:off x="5930744" y="5645016"/>
            <a:ext cx="2527453" cy="2714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b="1"/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CFCF3F-5BB5-4805-8086-259EF0053783}"/>
              </a:ext>
            </a:extLst>
          </p:cNvPr>
          <p:cNvSpPr/>
          <p:nvPr/>
        </p:nvSpPr>
        <p:spPr>
          <a:xfrm>
            <a:off x="3122826" y="5617813"/>
            <a:ext cx="2807918" cy="2986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800" b="1"/>
              <a:t>a</a:t>
            </a:r>
            <a:endParaRPr lang="en-SG" b="1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2CB3AE-ED12-497E-AD07-A2F2DA89169D}"/>
              </a:ext>
            </a:extLst>
          </p:cNvPr>
          <p:cNvCxnSpPr/>
          <p:nvPr/>
        </p:nvCxnSpPr>
        <p:spPr>
          <a:xfrm flipV="1">
            <a:off x="8517439" y="5046420"/>
            <a:ext cx="0" cy="12827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A212D8-6929-4073-B56B-006F46D40FA7}"/>
              </a:ext>
            </a:extLst>
          </p:cNvPr>
          <p:cNvCxnSpPr/>
          <p:nvPr/>
        </p:nvCxnSpPr>
        <p:spPr>
          <a:xfrm flipV="1">
            <a:off x="3122826" y="4972125"/>
            <a:ext cx="0" cy="116314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1016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12F9-652A-4BC7-A92A-2E7E1879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08" y="289718"/>
            <a:ext cx="10515600" cy="1325563"/>
          </a:xfrm>
        </p:spPr>
        <p:txBody>
          <a:bodyPr/>
          <a:lstStyle/>
          <a:p>
            <a:r>
              <a:rPr lang="en-US"/>
              <a:t>Steps to find “a”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CDFA06-BFD4-4E4E-8389-87CCA55BCC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2227" y="1323014"/>
                <a:ext cx="11587545" cy="53825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SG" b="0">
                    <a:solidFill>
                      <a:schemeClr val="tx1"/>
                    </a:solidFill>
                  </a:rPr>
                  <a:t>As noted, </a:t>
                </a:r>
                <a14:m>
                  <m:oMath xmlns:m="http://schemas.openxmlformats.org/officeDocument/2006/math">
                    <m:r>
                      <a:rPr lang="en-SG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SG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SG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by CLT . Now our goal is to find the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b>
                            </m:sSub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which we know amounts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b>
                            </m:sSub>
                          </m:e>
                        </m:acc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SG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SG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SG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𝟗𝟓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>
                    <a:solidFill>
                      <a:schemeClr val="tx1"/>
                    </a:solidFill>
                  </a:rPr>
                  <a:t>Recall from Tut 7, Q1, we can calculate the probability of any normal distribution </a:t>
                </a:r>
                <a14:m>
                  <m:oMath xmlns:m="http://schemas.openxmlformats.org/officeDocument/2006/math">
                    <m:r>
                      <a:rPr lang="en-SG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f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SG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via the standard normal distribution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SG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Z</m:t>
                    </m:r>
                    <m:r>
                      <a:rPr lang="en-SG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SG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SG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SG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rad>
                      </m:den>
                    </m:f>
                    <m:r>
                      <a:rPr lang="en-SG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Thus, we can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SG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SG">
                        <a:latin typeface="Cambria Math" panose="02040503050406030204" pitchFamily="18" charset="0"/>
                      </a:rPr>
                      <m:t>=.</m:t>
                    </m:r>
                    <m:r>
                      <a:rPr lang="en-SG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thru finding a Z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f>
                              <m:fPr>
                                <m:ctrlP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SG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SG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lang="en-US"/>
                  <a:t> = .95 </a:t>
                </a:r>
              </a:p>
              <a:p>
                <a:pPr marL="0" indent="0">
                  <a:buNone/>
                </a:pPr>
                <a:r>
                  <a:rPr lang="en-SG"/>
                  <a:t>Now we can use </a:t>
                </a:r>
                <a:r>
                  <a:rPr lang="en-SG" err="1"/>
                  <a:t>qnorm</a:t>
                </a:r>
                <a:r>
                  <a:rPr lang="en-SG"/>
                  <a:t>(.95,0,1) to find the Z value that gives the desired 90% confidence level</a:t>
                </a:r>
              </a:p>
              <a:p>
                <a:pPr marL="0" indent="0">
                  <a:buNone/>
                </a:pPr>
                <a:r>
                  <a:rPr lang="en-SG">
                    <a:solidFill>
                      <a:schemeClr val="tx1"/>
                    </a:solidFill>
                  </a:rPr>
                  <a:t> 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CDFA06-BFD4-4E4E-8389-87CCA55BC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2227" y="1323014"/>
                <a:ext cx="11587545" cy="5382585"/>
              </a:xfrm>
              <a:blipFill>
                <a:blip r:embed="rId3"/>
                <a:stretch>
                  <a:fillRect l="-947" t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8" r="2464"/>
          <a:stretch/>
        </p:blipFill>
        <p:spPr>
          <a:xfrm>
            <a:off x="7588666" y="3375532"/>
            <a:ext cx="3662551" cy="15698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089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12F9-652A-4BC7-A92A-2E7E1879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to finding “a”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CDFA06-BFD4-4E4E-8389-87CCA55BCC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055" y="1519784"/>
                <a:ext cx="1158754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SG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f>
                              <m:fPr>
                                <m:ctrlP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SG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SG" i="1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lang="en-US"/>
                  <a:t> = .95</a:t>
                </a:r>
                <a:endParaRPr lang="en-SG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SG" err="1">
                    <a:solidFill>
                      <a:srgbClr val="FF0000"/>
                    </a:solidFill>
                  </a:rPr>
                  <a:t>qnorm</a:t>
                </a:r>
                <a:r>
                  <a:rPr lang="en-SG">
                    <a:solidFill>
                      <a:srgbClr val="FF0000"/>
                    </a:solidFill>
                  </a:rPr>
                  <a:t>(.95,0,1)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SG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f>
                          <m:fPr>
                            <m:ctrlP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SG" i="1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</m:oMath>
                </a14:m>
                <a:endParaRPr lang="en-SG"/>
              </a:p>
              <a:p>
                <a:pPr marL="0" indent="0">
                  <a:buNone/>
                </a:pPr>
                <a:r>
                  <a:rPr lang="en-SG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>
                    <a:solidFill>
                      <a:schemeClr val="tx1"/>
                    </a:solidFill>
                  </a:rPr>
                  <a:t> =</a:t>
                </a:r>
                <a:r>
                  <a:rPr lang="en-US"/>
                  <a:t>qnorm(.95,0,1)</a:t>
                </a:r>
                <a14:m>
                  <m:oMath xmlns:m="http://schemas.openxmlformats.org/officeDocument/2006/math">
                    <m:r>
                      <a:rPr lang="en-SG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tx1"/>
                        </a:solidFill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1000</m:t>
                            </m:r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</m:e>
                    </m:rad>
                  </m:oMath>
                </a14:m>
                <a:r>
                  <a:rPr lang="en-US"/>
                  <a:t>)=232.6174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CDFA06-BFD4-4E4E-8389-87CCA55BC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055" y="1519784"/>
                <a:ext cx="11587545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E8E0B5-5BE7-4973-853F-256ED3A51E7E}"/>
                  </a:ext>
                </a:extLst>
              </p:cNvPr>
              <p:cNvSpPr/>
              <p:nvPr/>
            </p:nvSpPr>
            <p:spPr>
              <a:xfrm>
                <a:off x="255570" y="5517179"/>
                <a:ext cx="11980513" cy="101566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/>
                  <a:t> </a:t>
                </a:r>
                <a:r>
                  <a:rPr lang="en-US" sz="2000" i="1"/>
                  <a:t>Thus, the 90% confidence interval for this problem is </a:t>
                </a:r>
                <a:r>
                  <a:rPr lang="en-SG" sz="2000"/>
                  <a:t>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i="1" dirty="0">
                        <a:solidFill>
                          <a:schemeClr val="tx1"/>
                        </a:solidFill>
                      </a:rPr>
                      <m:t>232.6174</m:t>
                    </m:r>
                  </m:oMath>
                </a14:m>
                <a:r>
                  <a:rPr lang="en-US" sz="200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232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6174</m:t>
                    </m:r>
                  </m:oMath>
                </a14:m>
                <a:r>
                  <a:rPr lang="en-SG" sz="2000"/>
                  <a:t>].</a:t>
                </a:r>
              </a:p>
              <a:p>
                <a:r>
                  <a:rPr lang="en-US" sz="2000"/>
                  <a:t>For example, if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SG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SG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/>
                  <a:t>=5000 for a sample, the </a:t>
                </a:r>
                <a:r>
                  <a:rPr lang="en-US" sz="2000" i="1"/>
                  <a:t>90% confidence interval will be [5k-</a:t>
                </a:r>
                <a:r>
                  <a:rPr lang="en-US" sz="2000"/>
                  <a:t>232.6174</a:t>
                </a:r>
                <a:r>
                  <a:rPr lang="en-US" sz="2000" i="1"/>
                  <a:t>,5k+</a:t>
                </a:r>
                <a:r>
                  <a:rPr lang="en-US" sz="2000"/>
                  <a:t>232.6174</a:t>
                </a:r>
              </a:p>
              <a:p>
                <a:r>
                  <a:rPr lang="en-US" sz="2000" i="1"/>
                  <a:t>] = </a:t>
                </a:r>
                <a:r>
                  <a:rPr lang="en-US" sz="2000" b="1" i="1">
                    <a:solidFill>
                      <a:srgbClr val="FF0000"/>
                    </a:solidFill>
                  </a:rPr>
                  <a:t>[4767.3826,5232.6174]</a:t>
                </a: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E8E0B5-5BE7-4973-853F-256ED3A51E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0" y="5517179"/>
                <a:ext cx="11980513" cy="1015663"/>
              </a:xfrm>
              <a:prstGeom prst="rect">
                <a:avLst/>
              </a:prstGeom>
              <a:blipFill>
                <a:blip r:embed="rId4"/>
                <a:stretch>
                  <a:fillRect l="-508" t="-2367" b="-8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4674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7E3F-C65A-4E6D-91F4-72DEE74FD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42060"/>
            <a:ext cx="10515600" cy="5280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# Let’s review how the calculations can be done in R</a:t>
            </a:r>
            <a:endParaRPr lang="en-US"/>
          </a:p>
          <a:p>
            <a:pPr marL="0" indent="0">
              <a:buNone/>
            </a:pPr>
            <a:r>
              <a:rPr lang="en-US"/>
              <a:t>&gt; .90+(1-.90)/2</a:t>
            </a:r>
          </a:p>
          <a:p>
            <a:pPr marL="0" indent="0">
              <a:buNone/>
            </a:pPr>
            <a:r>
              <a:rPr lang="en-US"/>
              <a:t>0.95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# Use “</a:t>
            </a:r>
            <a:r>
              <a:rPr lang="en-US" err="1">
                <a:solidFill>
                  <a:schemeClr val="accent1"/>
                </a:solidFill>
              </a:rPr>
              <a:t>qnorm</a:t>
            </a:r>
            <a:r>
              <a:rPr lang="en-US">
                <a:solidFill>
                  <a:schemeClr val="accent1"/>
                </a:solidFill>
              </a:rPr>
              <a:t>” to obtain the RV value corresponding to a cumulative probability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# The Lower and Upper Limits of the CI</a:t>
            </a:r>
          </a:p>
          <a:p>
            <a:pPr marL="0" indent="0">
              <a:buNone/>
            </a:pPr>
            <a:r>
              <a:rPr lang="en-US"/>
              <a:t>&gt;X_50=5000</a:t>
            </a:r>
          </a:p>
          <a:p>
            <a:pPr marL="0" indent="0">
              <a:buNone/>
            </a:pPr>
            <a:r>
              <a:rPr lang="en-US"/>
              <a:t>&gt;LL=X_50-qnorm(.95,0,1)*</a:t>
            </a:r>
            <a:r>
              <a:rPr lang="en-US" err="1"/>
              <a:t>sqrt</a:t>
            </a:r>
            <a:r>
              <a:rPr lang="en-US"/>
              <a:t>(1000000/50)</a:t>
            </a:r>
          </a:p>
          <a:p>
            <a:pPr marL="0" indent="0">
              <a:buNone/>
            </a:pPr>
            <a:r>
              <a:rPr lang="en-US"/>
              <a:t>&gt;UL=X_50+qnorm(.95,0,1)*</a:t>
            </a:r>
            <a:r>
              <a:rPr lang="en-US" err="1"/>
              <a:t>sqrt</a:t>
            </a:r>
            <a:r>
              <a:rPr lang="en-US"/>
              <a:t>(1000000/50)</a:t>
            </a:r>
          </a:p>
          <a:p>
            <a:pPr marL="0" indent="0">
              <a:buNone/>
            </a:pPr>
            <a:r>
              <a:rPr lang="en-US" b="1" i="1">
                <a:solidFill>
                  <a:srgbClr val="FF0000"/>
                </a:solidFill>
              </a:rPr>
              <a:t>[4767.383,5232.617]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83A92-9B39-47F9-8D37-D475D634D2DF}"/>
                  </a:ext>
                </a:extLst>
              </p:cNvPr>
              <p:cNvSpPr txBox="1"/>
              <p:nvPr/>
            </p:nvSpPr>
            <p:spPr>
              <a:xfrm>
                <a:off x="838199" y="517285"/>
                <a:ext cx="10772775" cy="70878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/>
                  <a:t>The p% CI is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/>
                  <a:t>], p’=p+(100-p)/2 (%)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83A92-9B39-47F9-8D37-D475D634D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17285"/>
                <a:ext cx="10772775" cy="708784"/>
              </a:xfrm>
              <a:prstGeom prst="rect">
                <a:avLst/>
              </a:prstGeom>
              <a:blipFill>
                <a:blip r:embed="rId3"/>
                <a:stretch>
                  <a:fillRect l="-1073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7882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7E3F-C65A-4E6D-91F4-72DEE74FD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42060"/>
            <a:ext cx="10515600" cy="5280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# For a 99% CI</a:t>
            </a:r>
            <a:endParaRPr lang="en-US"/>
          </a:p>
          <a:p>
            <a:pPr marL="0" indent="0">
              <a:buNone/>
            </a:pPr>
            <a:r>
              <a:rPr lang="en-US"/>
              <a:t>&gt; .99+(1-.99)/2</a:t>
            </a:r>
          </a:p>
          <a:p>
            <a:pPr marL="0" indent="0">
              <a:buNone/>
            </a:pPr>
            <a:r>
              <a:rPr lang="en-US"/>
              <a:t>0.995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# Use “</a:t>
            </a:r>
            <a:r>
              <a:rPr lang="en-US" err="1">
                <a:solidFill>
                  <a:schemeClr val="accent1"/>
                </a:solidFill>
              </a:rPr>
              <a:t>qnorm</a:t>
            </a:r>
            <a:r>
              <a:rPr lang="en-US">
                <a:solidFill>
                  <a:schemeClr val="accent1"/>
                </a:solidFill>
              </a:rPr>
              <a:t>” to obtain the RV value corresponding to a cumulative probability</a:t>
            </a:r>
          </a:p>
          <a:p>
            <a:pPr marL="0" indent="0">
              <a:buNone/>
            </a:pPr>
            <a:r>
              <a:rPr lang="en-US">
                <a:solidFill>
                  <a:schemeClr val="accent1"/>
                </a:solidFill>
              </a:rPr>
              <a:t># The Lower and Upper Limits of the CI</a:t>
            </a:r>
          </a:p>
          <a:p>
            <a:pPr marL="0" indent="0">
              <a:buNone/>
            </a:pPr>
            <a:r>
              <a:rPr lang="en-US"/>
              <a:t>&gt;X_50=5000</a:t>
            </a:r>
          </a:p>
          <a:p>
            <a:pPr marL="0" indent="0">
              <a:buNone/>
            </a:pPr>
            <a:r>
              <a:rPr lang="en-US"/>
              <a:t>&gt;LL=X_50-qnorm(.995,0,1)*</a:t>
            </a:r>
            <a:r>
              <a:rPr lang="en-US" err="1"/>
              <a:t>sqrt</a:t>
            </a:r>
            <a:r>
              <a:rPr lang="en-US"/>
              <a:t>(1000000/50)</a:t>
            </a:r>
          </a:p>
          <a:p>
            <a:pPr marL="0" indent="0">
              <a:buNone/>
            </a:pPr>
            <a:r>
              <a:rPr lang="en-US"/>
              <a:t>&gt;UL=X_50+qnorm(.995,0,1)*</a:t>
            </a:r>
            <a:r>
              <a:rPr lang="en-US" err="1"/>
              <a:t>sqrt</a:t>
            </a:r>
            <a:r>
              <a:rPr lang="en-US"/>
              <a:t>(1000000/50)</a:t>
            </a:r>
          </a:p>
          <a:p>
            <a:pPr marL="0" indent="0">
              <a:buNone/>
            </a:pPr>
            <a:r>
              <a:rPr lang="en-US" b="1" i="1">
                <a:solidFill>
                  <a:srgbClr val="FF0000"/>
                </a:solidFill>
              </a:rPr>
              <a:t>[4635.723, 5364.277]</a:t>
            </a:r>
          </a:p>
          <a:p>
            <a:pPr marL="0" indent="0">
              <a:buNone/>
            </a:pP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83A92-9B39-47F9-8D37-D475D634D2DF}"/>
                  </a:ext>
                </a:extLst>
              </p:cNvPr>
              <p:cNvSpPr txBox="1"/>
              <p:nvPr/>
            </p:nvSpPr>
            <p:spPr>
              <a:xfrm>
                <a:off x="838199" y="517285"/>
                <a:ext cx="10772775" cy="70878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800"/>
                  <a:t>The p% CI is 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2800"/>
                  <a:t>], p’=p+(100-p)/2 (%)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E83A92-9B39-47F9-8D37-D475D634D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17285"/>
                <a:ext cx="10772775" cy="708784"/>
              </a:xfrm>
              <a:prstGeom prst="rect">
                <a:avLst/>
              </a:prstGeom>
              <a:blipFill>
                <a:blip r:embed="rId3"/>
                <a:stretch>
                  <a:fillRect l="-1073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4788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Some important facts from this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666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/>
                  <a:t>For the sample where sample mean=5000:</a:t>
                </a:r>
              </a:p>
              <a:p>
                <a:pPr marL="0" indent="0">
                  <a:buNone/>
                </a:pPr>
                <a:r>
                  <a:rPr lang="en-US" b="1" i="1">
                    <a:solidFill>
                      <a:srgbClr val="FF0000"/>
                    </a:solidFill>
                  </a:rPr>
                  <a:t>90% CI is [4767.383,5232.617], and</a:t>
                </a:r>
              </a:p>
              <a:p>
                <a:pPr marL="0" indent="0">
                  <a:buNone/>
                </a:pPr>
                <a:r>
                  <a:rPr lang="en-US" b="1" i="1">
                    <a:solidFill>
                      <a:srgbClr val="FF0000"/>
                    </a:solidFill>
                  </a:rPr>
                  <a:t>99% CI is [4635.723, 5364.277]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i="1">
                    <a:solidFill>
                      <a:schemeClr val="accent6">
                        <a:lumMod val="50000"/>
                      </a:schemeClr>
                    </a:solidFill>
                  </a:rPr>
                  <a:t>Notice that the 90% CI is contained in the 99% CI: based on the same sample size, we will need a wider “arm” to get higher probability of correctness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i="1">
                    <a:solidFill>
                      <a:schemeClr val="accent6">
                        <a:lumMod val="50000"/>
                      </a:schemeClr>
                    </a:solidFill>
                  </a:rPr>
                  <a:t> To get a shorter CI, one would need to have a larger sample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i="1">
                    <a:solidFill>
                      <a:schemeClr val="accent6">
                        <a:lumMod val="50000"/>
                      </a:schemeClr>
                    </a:solidFill>
                  </a:rPr>
                  <a:t>Don’t interpret them as “There is a 90% chance that the population mean is in [4767.383,5232.617] interval.” The population mean is either in it or not in it (not probability). We just don’t know it. We only know if you get many CI’s, 90% of them will catch the (invisible) big fish!</a:t>
                </a:r>
                <a:endParaRPr lang="en-US" b="1" i="1">
                  <a:solidFill>
                    <a:srgbClr val="FF0000"/>
                  </a:solidFill>
                </a:endParaRPr>
              </a:p>
              <a:p>
                <a:endParaRPr lang="en-SG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6669"/>
              </a:xfrm>
              <a:blipFill>
                <a:blip r:embed="rId3"/>
                <a:stretch>
                  <a:fillRect l="-1043" t="-190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8867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19.3|7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22|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5|20.5|2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29.1|30|37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26.1|63|16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41.9|24.3|4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8|12|14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4.8|12.8|56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1|16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8.2|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|68|27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6.8|63.4|70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8|1|8.9|19.2|4.2|4|4.6|14.9|4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7.3|6.9|24.4|0.8|5.1|4.9|4|3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21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Confidence intervals</vt:lpstr>
      <vt:lpstr>PowerPoint Presentation</vt:lpstr>
      <vt:lpstr>PowerPoint Presentation</vt:lpstr>
      <vt:lpstr>Interval estimator for E(X)</vt:lpstr>
      <vt:lpstr>Example: How many steps per day?</vt:lpstr>
      <vt:lpstr>Confidence level and confidence interval (CI) for E(X)</vt:lpstr>
      <vt:lpstr>The learning objective of this week:   For a given confidence level (90%, 95%, or 99%), Find out the right “a” for the CI formula  </vt:lpstr>
      <vt:lpstr>PowerPoint Presentation</vt:lpstr>
      <vt:lpstr>PowerPoint Presentation</vt:lpstr>
      <vt:lpstr>PowerPoint Presentation</vt:lpstr>
      <vt:lpstr>CI for μ when 〖 σ〗^2 is known</vt:lpstr>
      <vt:lpstr>PowerPoint Presentation</vt:lpstr>
      <vt:lpstr>PowerPoint Presentation</vt:lpstr>
      <vt:lpstr>PowerPoint Presentation</vt:lpstr>
      <vt:lpstr>Steps to find “a”</vt:lpstr>
      <vt:lpstr>Steps to finding “a”</vt:lpstr>
      <vt:lpstr>PowerPoint Presentation</vt:lpstr>
      <vt:lpstr>PowerPoint Presentation</vt:lpstr>
      <vt:lpstr>Some important facts from this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revision>1</cp:revision>
  <dcterms:created xsi:type="dcterms:W3CDTF">2018-07-30T07:45:11Z</dcterms:created>
  <dcterms:modified xsi:type="dcterms:W3CDTF">2022-10-03T06:04:51Z</dcterms:modified>
</cp:coreProperties>
</file>
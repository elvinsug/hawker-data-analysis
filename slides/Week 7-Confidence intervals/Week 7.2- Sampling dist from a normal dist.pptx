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9" r:id="rId2"/>
    <p:sldId id="265" r:id="rId3"/>
    <p:sldId id="266" r:id="rId4"/>
    <p:sldId id="267" r:id="rId5"/>
    <p:sldId id="268" r:id="rId6"/>
    <p:sldId id="269" r:id="rId7"/>
    <p:sldId id="275" r:id="rId8"/>
    <p:sldId id="277" r:id="rId9"/>
    <p:sldId id="276" r:id="rId10"/>
    <p:sldId id="272" r:id="rId11"/>
    <p:sldId id="274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A40EB-C821-4F9C-B744-6E407C47440E}" type="datetimeFigureOut">
              <a:rPr lang="en-SG" smtClean="0"/>
              <a:t>10/7/2021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697C4-6925-46D2-9384-16E7097D63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162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141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Applications of </a:t>
            </a:r>
            <a:r>
              <a:rPr lang="en-US"/>
              <a:t>confidence intervals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6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A420-E45B-44A9-9D2D-6788633F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687AD-2282-449F-B98D-53B1C74585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assumption we made is: we want use the CI to estimate the unknown population mean and yet the population variance is known to us---an unlikely situation in most applications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is not known, we can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with its sample counterpart, the sample standard deviation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(use </a:t>
                </a:r>
                <a:r>
                  <a:rPr lang="en-US" dirty="0" err="1"/>
                  <a:t>sd</a:t>
                </a:r>
                <a:r>
                  <a:rPr lang="en-US" dirty="0"/>
                  <a:t>() in R)</a:t>
                </a:r>
              </a:p>
              <a:p>
                <a:pPr marL="0" indent="0">
                  <a:buNone/>
                </a:pPr>
                <a:r>
                  <a:rPr lang="en-US" dirty="0"/>
                  <a:t>Corresponding to this change, we must adjust the above formula by replacing the z-score (in the CI) with a score from a similar distribution, called </a:t>
                </a:r>
                <a:r>
                  <a:rPr lang="en-US" i="1" dirty="0"/>
                  <a:t>t-distribution.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687AD-2282-449F-B98D-53B1C7458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 r="-16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D993E49-52F8-41C3-A33F-0C340C652834}"/>
                  </a:ext>
                </a:extLst>
              </p:cNvPr>
              <p:cNvSpPr/>
              <p:nvPr/>
            </p:nvSpPr>
            <p:spPr>
              <a:xfrm>
                <a:off x="838200" y="551017"/>
                <a:ext cx="10138182" cy="113967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The p% CI is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],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sz="2800" dirty="0"/>
                  <a:t> is the standardized Z score and p’=p+(100-p)/2 (%))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D993E49-52F8-41C3-A33F-0C340C652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1017"/>
                <a:ext cx="10138182" cy="1139671"/>
              </a:xfrm>
              <a:prstGeom prst="rect">
                <a:avLst/>
              </a:prstGeom>
              <a:blipFill>
                <a:blip r:embed="rId6"/>
                <a:stretch>
                  <a:fillRect l="-1201" b="-13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8597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6420740" y="3488991"/>
            <a:ext cx="5257800" cy="3275301"/>
            <a:chOff x="6420740" y="3488991"/>
            <a:chExt cx="5257800" cy="32753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849E69-731D-45BE-8DFF-F3CEE4065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16" r="3572" b="4663"/>
            <a:stretch/>
          </p:blipFill>
          <p:spPr>
            <a:xfrm>
              <a:off x="6420740" y="3488991"/>
              <a:ext cx="5257800" cy="327530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651BF5-D8D7-47CB-85FE-80BB7D435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1465" y="3666544"/>
              <a:ext cx="923277" cy="994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51B0A9-CB7A-4A7F-915E-F7DA8BF304B5}"/>
                </a:ext>
              </a:extLst>
            </p:cNvPr>
            <p:cNvSpPr txBox="1"/>
            <p:nvPr/>
          </p:nvSpPr>
          <p:spPr>
            <a:xfrm>
              <a:off x="10533042" y="3488991"/>
              <a:ext cx="766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N(0,1)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9C7B86E-2103-485B-AE86-DB908D29A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80141" y="4243055"/>
              <a:ext cx="923277" cy="9941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23F088-6452-4D53-A907-F376FEF9C468}"/>
                    </a:ext>
                  </a:extLst>
                </p:cNvPr>
                <p:cNvSpPr txBox="1"/>
                <p:nvPr/>
              </p:nvSpPr>
              <p:spPr>
                <a:xfrm>
                  <a:off x="10614523" y="4065502"/>
                  <a:ext cx="655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23F088-6452-4D53-A907-F376FEF9C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4523" y="4065502"/>
                  <a:ext cx="65517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579A88E-FD5F-4226-BF46-A0F4FE95F00B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9985809" y="4565848"/>
              <a:ext cx="824318" cy="5365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9F4D642-83F1-4C02-98F4-BA334752F398}"/>
                    </a:ext>
                  </a:extLst>
                </p:cNvPr>
                <p:cNvSpPr txBox="1"/>
                <p:nvPr/>
              </p:nvSpPr>
              <p:spPr>
                <a:xfrm>
                  <a:off x="10810127" y="4434834"/>
                  <a:ext cx="655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9F4D642-83F1-4C02-98F4-BA334752F3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0127" y="4434834"/>
                  <a:ext cx="65517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01E35-6281-4C64-BDA7-D64BB97F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F28FD-F340-4558-A606-293CFAFCB3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t-distribution, in relation to the standard normal, has one parameter</a:t>
                </a:r>
                <a:r>
                  <a:rPr lang="en-US" b="1" i="1" dirty="0"/>
                  <a:t>, the degree of freedom (df)</a:t>
                </a:r>
                <a:r>
                  <a:rPr lang="en-US" dirty="0"/>
                  <a:t>, which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-the n is the sample size of a random sample drawn from N(0,1)</a:t>
                </a:r>
              </a:p>
              <a:p>
                <a:pPr marL="0" indent="0">
                  <a:buNone/>
                </a:pPr>
                <a:r>
                  <a:rPr lang="en-US" dirty="0"/>
                  <a:t>-We will denote the t score with cumulative probability of “q” and n-1 df as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-When n is large (n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30),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Is very close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F28FD-F340-4558-A606-293CFAFCB3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8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3412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5269-D8F9-4C68-815D-DE1209A3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 when the population variance is not 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5882F75-C221-4CFC-AF4D-6DBE6892A6AE}"/>
                  </a:ext>
                </a:extLst>
              </p:cNvPr>
              <p:cNvSpPr/>
              <p:nvPr/>
            </p:nvSpPr>
            <p:spPr>
              <a:xfrm>
                <a:off x="903198" y="1906270"/>
                <a:ext cx="10138182" cy="204190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The p% CI is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] 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+(100−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)/2 </m:t>
                    </m:r>
                  </m:oMath>
                </a14:m>
                <a:r>
                  <a:rPr lang="en-US" sz="2800" dirty="0"/>
                  <a:t>(%)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is the sample standard deviation from a sample </a:t>
                </a:r>
                <a:r>
                  <a:rPr lang="en-US" sz="2800"/>
                  <a:t>with size n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5882F75-C221-4CFC-AF4D-6DBE6892A6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98" y="1906270"/>
                <a:ext cx="10138182" cy="2041906"/>
              </a:xfrm>
              <a:prstGeom prst="rect">
                <a:avLst/>
              </a:prstGeom>
              <a:blipFill>
                <a:blip r:embed="rId5"/>
                <a:stretch>
                  <a:fillRect l="-1141" b="-7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8895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A817-539F-43B3-ACF9-4B8320AA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weight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5395-4C43-4577-BE54-0DEC2FB55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measure the weights (in gram) of 25 tomatoes randomly picked from a lot (CI_t_ex1.csv). </a:t>
            </a:r>
          </a:p>
          <a:p>
            <a:pPr marL="0" indent="0">
              <a:buNone/>
            </a:pPr>
            <a:r>
              <a:rPr lang="en-US" dirty="0"/>
              <a:t>Assuming that the weight distribution is normal, construct a 95% CI for the average weight of the entire lot.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1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3326"/>
            <a:ext cx="10515600" cy="610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load data</a:t>
            </a:r>
          </a:p>
          <a:p>
            <a:pPr marL="0" indent="0">
              <a:buNone/>
            </a:pPr>
            <a:r>
              <a:rPr lang="en-SG" dirty="0"/>
              <a:t>&gt; x&lt;-read.csv(</a:t>
            </a:r>
            <a:r>
              <a:rPr lang="en-SG" dirty="0" err="1"/>
              <a:t>file.choose</a:t>
            </a:r>
            <a:r>
              <a:rPr lang="en-SG" dirty="0"/>
              <a:t>(),header=T)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get sample size</a:t>
            </a:r>
          </a:p>
          <a:p>
            <a:pPr marL="0" indent="0">
              <a:buNone/>
            </a:pPr>
            <a:r>
              <a:rPr lang="en-SG" dirty="0"/>
              <a:t>&gt;n&lt;-length(</a:t>
            </a:r>
            <a:r>
              <a:rPr lang="en-SG" dirty="0" err="1"/>
              <a:t>x$weight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/>
              <a:t>25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sample mean</a:t>
            </a:r>
          </a:p>
          <a:p>
            <a:pPr marL="0" indent="0">
              <a:buNone/>
            </a:pPr>
            <a:r>
              <a:rPr lang="en-SG" dirty="0"/>
              <a:t>&gt; </a:t>
            </a:r>
            <a:r>
              <a:rPr lang="en-SG" dirty="0" err="1"/>
              <a:t>X_bar</a:t>
            </a:r>
            <a:r>
              <a:rPr lang="en-SG" dirty="0"/>
              <a:t>&lt;-mean(</a:t>
            </a:r>
            <a:r>
              <a:rPr lang="en-SG" dirty="0" err="1"/>
              <a:t>x$weight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sample standard deviation </a:t>
            </a:r>
          </a:p>
          <a:p>
            <a:pPr marL="0" indent="0">
              <a:buNone/>
            </a:pPr>
            <a:r>
              <a:rPr lang="en-SG" dirty="0"/>
              <a:t>&gt; S&lt;-</a:t>
            </a:r>
            <a:r>
              <a:rPr lang="en-SG" dirty="0" err="1"/>
              <a:t>sd</a:t>
            </a:r>
            <a:r>
              <a:rPr lang="en-SG" dirty="0"/>
              <a:t>(</a:t>
            </a:r>
            <a:r>
              <a:rPr lang="en-SG" dirty="0" err="1"/>
              <a:t>x$weight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/>
              <a:t>12.67307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lower and upper limits of CI</a:t>
            </a:r>
          </a:p>
          <a:p>
            <a:pPr marL="0" indent="0">
              <a:buNone/>
            </a:pPr>
            <a:r>
              <a:rPr lang="en-SG" dirty="0"/>
              <a:t>&gt;LL&lt;-</a:t>
            </a:r>
            <a:r>
              <a:rPr lang="en-SG" dirty="0" err="1"/>
              <a:t>X_bar</a:t>
            </a:r>
            <a:r>
              <a:rPr lang="en-SG" dirty="0"/>
              <a:t>-S/sqrt(n)*qt(.975,n-1)</a:t>
            </a:r>
          </a:p>
          <a:p>
            <a:pPr marL="0" indent="0">
              <a:buNone/>
            </a:pPr>
            <a:r>
              <a:rPr lang="en-SG" dirty="0"/>
              <a:t>&gt; UL&lt;-</a:t>
            </a:r>
            <a:r>
              <a:rPr lang="en-SG" dirty="0" err="1"/>
              <a:t>X_bar+S</a:t>
            </a:r>
            <a:r>
              <a:rPr lang="en-SG" dirty="0"/>
              <a:t>/sqrt(n)*qt(.975, n-1)</a:t>
            </a:r>
          </a:p>
          <a:p>
            <a:pPr marL="0" indent="0">
              <a:buNone/>
            </a:pPr>
            <a:r>
              <a:rPr lang="en-SG" dirty="0"/>
              <a:t>c(LL,UL)</a:t>
            </a:r>
          </a:p>
          <a:p>
            <a:pPr marL="0" indent="0">
              <a:buNone/>
            </a:pPr>
            <a:r>
              <a:rPr lang="en-SG" dirty="0"/>
              <a:t>95.00881 105.47119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023799D-A8FF-4824-BFB6-9E447E9642A4}"/>
                  </a:ext>
                </a:extLst>
              </p:cNvPr>
              <p:cNvSpPr/>
              <p:nvPr/>
            </p:nvSpPr>
            <p:spPr>
              <a:xfrm>
                <a:off x="5343753" y="1477645"/>
                <a:ext cx="6892062" cy="140615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The p% CI is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SG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SG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]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023799D-A8FF-4824-BFB6-9E447E964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753" y="1477645"/>
                <a:ext cx="6892062" cy="1406154"/>
              </a:xfrm>
              <a:prstGeom prst="rect">
                <a:avLst/>
              </a:prstGeom>
              <a:blipFill>
                <a:blip r:embed="rId5"/>
                <a:stretch>
                  <a:fillRect l="-1767" b="-171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9642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181E83-3CC9-4015-86E6-C54C95EA38A1}"/>
                  </a:ext>
                </a:extLst>
              </p:cNvPr>
              <p:cNvSpPr/>
              <p:nvPr/>
            </p:nvSpPr>
            <p:spPr>
              <a:xfrm>
                <a:off x="1148716" y="2008821"/>
                <a:ext cx="2937510" cy="15916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X is normally distributed N(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181E83-3CC9-4015-86E6-C54C95EA3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716" y="2008821"/>
                <a:ext cx="2937510" cy="1591629"/>
              </a:xfrm>
              <a:prstGeom prst="rect">
                <a:avLst/>
              </a:prstGeom>
              <a:blipFill>
                <a:blip r:embed="rId5"/>
                <a:stretch>
                  <a:fillRect b="-3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8867FF-D8FC-4112-8601-1EA1EAF359E0}"/>
                  </a:ext>
                </a:extLst>
              </p:cNvPr>
              <p:cNvSpPr/>
              <p:nvPr/>
            </p:nvSpPr>
            <p:spPr>
              <a:xfrm>
                <a:off x="6833236" y="1254442"/>
                <a:ext cx="3461384" cy="121894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1. Estimate E(X) by the CI based on z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8867FF-D8FC-4112-8601-1EA1EAF35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236" y="1254442"/>
                <a:ext cx="3461384" cy="1218947"/>
              </a:xfrm>
              <a:prstGeom prst="rect">
                <a:avLst/>
              </a:prstGeom>
              <a:blipFill>
                <a:blip r:embed="rId6"/>
                <a:stretch>
                  <a:fillRect l="-2977" r="-5079" b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E907D2-C41E-4B83-95F7-5419822AC2E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086226" y="1863916"/>
            <a:ext cx="2747010" cy="9407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2193C0-AF96-4B90-A7B5-84C3A5782E9B}"/>
                  </a:ext>
                </a:extLst>
              </p:cNvPr>
              <p:cNvSpPr/>
              <p:nvPr/>
            </p:nvSpPr>
            <p:spPr>
              <a:xfrm>
                <a:off x="6757035" y="3023235"/>
                <a:ext cx="3461385" cy="134137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2. Estimate E(X) by CI based on t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2193C0-AF96-4B90-A7B5-84C3A5782E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035" y="3023235"/>
                <a:ext cx="3461385" cy="1341374"/>
              </a:xfrm>
              <a:prstGeom prst="rect">
                <a:avLst/>
              </a:prstGeom>
              <a:blipFill>
                <a:blip r:embed="rId7"/>
                <a:stretch>
                  <a:fillRect r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233643-B3CC-45D7-A1E2-A882CBB42CD7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4086226" y="2804636"/>
            <a:ext cx="2670809" cy="8892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8AE3FF-B695-45B5-A9CA-ACC150D035BC}"/>
                  </a:ext>
                </a:extLst>
              </p:cNvPr>
              <p:cNvSpPr/>
              <p:nvPr/>
            </p:nvSpPr>
            <p:spPr>
              <a:xfrm rot="1164315">
                <a:off x="4148486" y="3167835"/>
                <a:ext cx="242662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 is unknown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8AE3FF-B695-45B5-A9CA-ACC150D03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64315">
                <a:off x="4148486" y="3167835"/>
                <a:ext cx="2426626" cy="523220"/>
              </a:xfrm>
              <a:prstGeom prst="rect">
                <a:avLst/>
              </a:prstGeom>
              <a:blipFill>
                <a:blip r:embed="rId8"/>
                <a:stretch>
                  <a:fillRect l="-6914" t="-6977" r="-3951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48AE3FF-B695-45B5-A9CA-ACC150D035BC}"/>
                  </a:ext>
                </a:extLst>
              </p:cNvPr>
              <p:cNvSpPr/>
              <p:nvPr/>
            </p:nvSpPr>
            <p:spPr>
              <a:xfrm rot="20549794">
                <a:off x="4393463" y="1847280"/>
                <a:ext cx="20563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 is known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48AE3FF-B695-45B5-A9CA-ACC150D03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49794">
                <a:off x="4393463" y="1847280"/>
                <a:ext cx="2056332" cy="523220"/>
              </a:xfrm>
              <a:prstGeom prst="rect">
                <a:avLst/>
              </a:prstGeom>
              <a:blipFill>
                <a:blip r:embed="rId9"/>
                <a:stretch>
                  <a:fillRect l="-6304" t="-7065" r="-6304" b="-179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0019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DF23-FEDD-4423-A487-D7E67D5F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766218"/>
            <a:ext cx="10515600" cy="1325563"/>
          </a:xfrm>
        </p:spPr>
        <p:txBody>
          <a:bodyPr/>
          <a:lstStyle/>
          <a:p>
            <a:r>
              <a:rPr lang="en-US" dirty="0"/>
              <a:t>What if X is not normal?</a:t>
            </a:r>
          </a:p>
        </p:txBody>
      </p:sp>
    </p:spTree>
    <p:extLst>
      <p:ext uri="{BB962C8B-B14F-4D97-AF65-F5344CB8AC3E}">
        <p14:creationId xmlns:p14="http://schemas.microsoft.com/office/powerpoint/2010/main" val="346615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181E83-3CC9-4015-86E6-C54C95EA38A1}"/>
                  </a:ext>
                </a:extLst>
              </p:cNvPr>
              <p:cNvSpPr/>
              <p:nvPr/>
            </p:nvSpPr>
            <p:spPr>
              <a:xfrm>
                <a:off x="779712" y="302044"/>
                <a:ext cx="2937510" cy="15916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X (not normal) but sample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≥30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4181E83-3CC9-4015-86E6-C54C95EA3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12" y="302044"/>
                <a:ext cx="2937510" cy="1591629"/>
              </a:xfrm>
              <a:prstGeom prst="rect">
                <a:avLst/>
              </a:prstGeom>
              <a:blipFill>
                <a:blip r:embed="rId5"/>
                <a:stretch>
                  <a:fillRect l="-2479" r="-5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8867FF-D8FC-4112-8601-1EA1EAF359E0}"/>
                  </a:ext>
                </a:extLst>
              </p:cNvPr>
              <p:cNvSpPr/>
              <p:nvPr/>
            </p:nvSpPr>
            <p:spPr>
              <a:xfrm>
                <a:off x="7217994" y="488384"/>
                <a:ext cx="3743375" cy="121894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2. Estimate E(X) by the CI based on t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8867FF-D8FC-4112-8601-1EA1EAF35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994" y="488384"/>
                <a:ext cx="3743375" cy="1218947"/>
              </a:xfrm>
              <a:prstGeom prst="rect">
                <a:avLst/>
              </a:prstGeom>
              <a:blipFill>
                <a:blip r:embed="rId6"/>
                <a:stretch>
                  <a:fillRect r="-1135" b="-2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E907D2-C41E-4B83-95F7-5419822AC2E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717222" y="1097858"/>
            <a:ext cx="350077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loud 14">
                <a:extLst>
                  <a:ext uri="{FF2B5EF4-FFF2-40B4-BE49-F238E27FC236}">
                    <a16:creationId xmlns:a16="http://schemas.microsoft.com/office/drawing/2014/main" id="{4833248D-B27A-4162-9EF4-3F25B21CFED1}"/>
                  </a:ext>
                </a:extLst>
              </p:cNvPr>
              <p:cNvSpPr/>
              <p:nvPr/>
            </p:nvSpPr>
            <p:spPr>
              <a:xfrm>
                <a:off x="779712" y="2813830"/>
                <a:ext cx="4280535" cy="2023110"/>
              </a:xfrm>
              <a:prstGeom prst="cloud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i="1" dirty="0"/>
                  <a:t>By CLT, large samples make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i="1" dirty="0"/>
                  <a:t> normal</a:t>
                </a:r>
              </a:p>
            </p:txBody>
          </p:sp>
        </mc:Choice>
        <mc:Fallback xmlns="">
          <p:sp>
            <p:nvSpPr>
              <p:cNvPr id="15" name="Cloud 14">
                <a:extLst>
                  <a:ext uri="{FF2B5EF4-FFF2-40B4-BE49-F238E27FC236}">
                    <a16:creationId xmlns:a16="http://schemas.microsoft.com/office/drawing/2014/main" id="{4833248D-B27A-4162-9EF4-3F25B21CF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12" y="2813830"/>
                <a:ext cx="4280535" cy="2023110"/>
              </a:xfrm>
              <a:prstGeom prst="cloud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loud 15">
            <a:extLst>
              <a:ext uri="{FF2B5EF4-FFF2-40B4-BE49-F238E27FC236}">
                <a16:creationId xmlns:a16="http://schemas.microsoft.com/office/drawing/2014/main" id="{78A2B65C-A933-4B85-A729-06732E24EBFF}"/>
              </a:ext>
            </a:extLst>
          </p:cNvPr>
          <p:cNvSpPr/>
          <p:nvPr/>
        </p:nvSpPr>
        <p:spPr>
          <a:xfrm>
            <a:off x="6931808" y="2890158"/>
            <a:ext cx="4280535" cy="2023110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Can still use this CI formula to estimate E(X)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276DDE-8F8F-4F52-88E4-DB61D7CD0C1A}"/>
              </a:ext>
            </a:extLst>
          </p:cNvPr>
          <p:cNvCxnSpPr>
            <a:cxnSpLocks/>
          </p:cNvCxnSpPr>
          <p:nvPr/>
        </p:nvCxnSpPr>
        <p:spPr>
          <a:xfrm flipV="1">
            <a:off x="5060247" y="3713648"/>
            <a:ext cx="204862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8471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EEE7-1C8D-455A-B2FB-6A4CA1FF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F755F-1000-4FC7-88E8-0D72A5C3E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CI_t_ex2.csv contains the number of calls that a call </a:t>
            </a:r>
            <a:r>
              <a:rPr lang="en-US" dirty="0" err="1"/>
              <a:t>centre</a:t>
            </a:r>
            <a:r>
              <a:rPr lang="en-US" dirty="0"/>
              <a:t> receive on different working days</a:t>
            </a:r>
          </a:p>
          <a:p>
            <a:r>
              <a:rPr lang="en-US" dirty="0"/>
              <a:t>Calculate the 95% CI for the average number of calls per day.</a:t>
            </a:r>
          </a:p>
        </p:txBody>
      </p:sp>
    </p:spTree>
    <p:extLst>
      <p:ext uri="{BB962C8B-B14F-4D97-AF65-F5344CB8AC3E}">
        <p14:creationId xmlns:p14="http://schemas.microsoft.com/office/powerpoint/2010/main" val="36211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3326"/>
            <a:ext cx="10515600" cy="610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load data</a:t>
            </a:r>
          </a:p>
          <a:p>
            <a:pPr marL="0" indent="0">
              <a:buNone/>
            </a:pPr>
            <a:r>
              <a:rPr lang="en-SG" dirty="0"/>
              <a:t>&gt;y&lt;-read.csv(</a:t>
            </a:r>
            <a:r>
              <a:rPr lang="en-SG" dirty="0" err="1"/>
              <a:t>file.choose</a:t>
            </a:r>
            <a:r>
              <a:rPr lang="en-SG" dirty="0"/>
              <a:t>(),header=T)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get sample size</a:t>
            </a:r>
          </a:p>
          <a:p>
            <a:pPr marL="0" indent="0">
              <a:buNone/>
            </a:pPr>
            <a:r>
              <a:rPr lang="en-SG" dirty="0"/>
              <a:t>&gt;n&lt;-length(</a:t>
            </a:r>
            <a:r>
              <a:rPr lang="en-SG" dirty="0" err="1"/>
              <a:t>y$calls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sample mean</a:t>
            </a:r>
          </a:p>
          <a:p>
            <a:pPr marL="0" indent="0">
              <a:buNone/>
            </a:pPr>
            <a:r>
              <a:rPr lang="en-SG" dirty="0"/>
              <a:t>&gt;</a:t>
            </a:r>
            <a:r>
              <a:rPr lang="en-SG" dirty="0" err="1"/>
              <a:t>x_bar</a:t>
            </a:r>
            <a:r>
              <a:rPr lang="en-SG" dirty="0"/>
              <a:t>&lt;-</a:t>
            </a:r>
            <a:r>
              <a:rPr lang="en-US" dirty="0"/>
              <a:t>mean(</a:t>
            </a:r>
            <a:r>
              <a:rPr lang="en-US" dirty="0" err="1"/>
              <a:t>y$calls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lower and upper limits of CI</a:t>
            </a:r>
          </a:p>
          <a:p>
            <a:pPr marL="0" indent="0">
              <a:buNone/>
            </a:pPr>
            <a:r>
              <a:rPr lang="en-SG" dirty="0"/>
              <a:t>&gt;</a:t>
            </a:r>
            <a:r>
              <a:rPr lang="en-SG" dirty="0" err="1"/>
              <a:t>LL_x</a:t>
            </a:r>
            <a:r>
              <a:rPr lang="en-SG" dirty="0"/>
              <a:t>&lt;-</a:t>
            </a:r>
            <a:r>
              <a:rPr lang="en-SG" dirty="0" err="1"/>
              <a:t>x_bar</a:t>
            </a:r>
            <a:r>
              <a:rPr lang="en-SG" dirty="0"/>
              <a:t> - </a:t>
            </a:r>
            <a:r>
              <a:rPr lang="en-SG" dirty="0" err="1"/>
              <a:t>sd</a:t>
            </a:r>
            <a:r>
              <a:rPr lang="en-SG" dirty="0"/>
              <a:t>(</a:t>
            </a:r>
            <a:r>
              <a:rPr lang="en-SG" dirty="0" err="1"/>
              <a:t>y$calls</a:t>
            </a:r>
            <a:r>
              <a:rPr lang="en-SG" dirty="0"/>
              <a:t>)/sqrt(n)*qt(.975,n-1)</a:t>
            </a:r>
          </a:p>
          <a:p>
            <a:pPr marL="0" indent="0">
              <a:buNone/>
            </a:pPr>
            <a:r>
              <a:rPr lang="en-SG" dirty="0"/>
              <a:t>&gt;</a:t>
            </a:r>
            <a:r>
              <a:rPr lang="en-SG" dirty="0" err="1"/>
              <a:t>UL_x</a:t>
            </a:r>
            <a:r>
              <a:rPr lang="en-SG" dirty="0"/>
              <a:t>&lt;-</a:t>
            </a:r>
            <a:r>
              <a:rPr lang="en-SG" dirty="0" err="1"/>
              <a:t>x_bar</a:t>
            </a:r>
            <a:r>
              <a:rPr lang="en-SG" dirty="0"/>
              <a:t> +</a:t>
            </a:r>
            <a:r>
              <a:rPr lang="en-SG" dirty="0" err="1"/>
              <a:t>sd</a:t>
            </a:r>
            <a:r>
              <a:rPr lang="en-SG" dirty="0"/>
              <a:t>(</a:t>
            </a:r>
            <a:r>
              <a:rPr lang="en-SG" dirty="0" err="1"/>
              <a:t>y$calls</a:t>
            </a:r>
            <a:r>
              <a:rPr lang="en-SG" dirty="0"/>
              <a:t>)/sqrt(n)*qt(.975,n-1) </a:t>
            </a:r>
          </a:p>
          <a:p>
            <a:pPr marL="0" indent="0">
              <a:buNone/>
            </a:pPr>
            <a:r>
              <a:rPr lang="en-SG" dirty="0"/>
              <a:t>&gt;c(</a:t>
            </a:r>
            <a:r>
              <a:rPr lang="en-SG" dirty="0" err="1"/>
              <a:t>LL_x,UL_x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/>
              <a:t>[97.63304 103.62886] </a:t>
            </a:r>
            <a:r>
              <a:rPr lang="en-SG" i="1" dirty="0">
                <a:solidFill>
                  <a:srgbClr val="FF0000"/>
                </a:solidFill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7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DF23-FEDD-4423-A487-D7E67D5F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766218"/>
            <a:ext cx="10515600" cy="1325563"/>
          </a:xfrm>
        </p:spPr>
        <p:txBody>
          <a:bodyPr/>
          <a:lstStyle/>
          <a:p>
            <a:r>
              <a:rPr lang="en-US" dirty="0"/>
              <a:t>What if X is not normal and the sample size </a:t>
            </a:r>
            <a:r>
              <a:rPr lang="en-US"/>
              <a:t>is small?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639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5|68|6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47.3|7.9|7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3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758</Words>
  <Application>Microsoft Office PowerPoint</Application>
  <PresentationFormat>寬螢幕</PresentationFormat>
  <Paragraphs>66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Applications of confidence intervals</vt:lpstr>
      <vt:lpstr>PowerPoint 簡報</vt:lpstr>
      <vt:lpstr>t-distribution</vt:lpstr>
      <vt:lpstr>The CI when the population variance is not known</vt:lpstr>
      <vt:lpstr>Example: weight distribution</vt:lpstr>
      <vt:lpstr>PowerPoint 簡報</vt:lpstr>
      <vt:lpstr>PowerPoint 簡報</vt:lpstr>
      <vt:lpstr>What if X is not normal?</vt:lpstr>
      <vt:lpstr>PowerPoint 簡報</vt:lpstr>
      <vt:lpstr>Example</vt:lpstr>
      <vt:lpstr>PowerPoint 簡報</vt:lpstr>
      <vt:lpstr>What if X is not normal and the sample size is small?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121</cp:revision>
  <dcterms:created xsi:type="dcterms:W3CDTF">2018-07-30T07:45:11Z</dcterms:created>
  <dcterms:modified xsi:type="dcterms:W3CDTF">2021-07-10T11:54:32Z</dcterms:modified>
</cp:coreProperties>
</file>
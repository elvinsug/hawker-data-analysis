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7" r:id="rId2"/>
    <p:sldId id="529" r:id="rId3"/>
    <p:sldId id="537" r:id="rId4"/>
    <p:sldId id="530" r:id="rId5"/>
    <p:sldId id="538" r:id="rId6"/>
    <p:sldId id="534" r:id="rId7"/>
    <p:sldId id="265" r:id="rId8"/>
    <p:sldId id="266" r:id="rId9"/>
    <p:sldId id="283" r:id="rId10"/>
    <p:sldId id="286" r:id="rId11"/>
    <p:sldId id="296" r:id="rId12"/>
    <p:sldId id="295" r:id="rId13"/>
    <p:sldId id="294" r:id="rId14"/>
    <p:sldId id="53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B4FCEA-E540-C343-BC70-AD245886B93D}" v="80" dt="2022-05-12T14:50:58.5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05" autoAdjust="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Chien-Ming (Assoc Prof)" userId="S::cmchen@staff.main.ntu.edu.sg::eaa76335-e5f0-4758-ac68-e68b30e478da" providerId="AD" clId="Web-{4CB4FCEA-E540-C343-BC70-AD245886B93D}"/>
    <pc:docChg chg="modSld">
      <pc:chgData name="Chen Chien-Ming (Assoc Prof)" userId="S::cmchen@staff.main.ntu.edu.sg::eaa76335-e5f0-4758-ac68-e68b30e478da" providerId="AD" clId="Web-{4CB4FCEA-E540-C343-BC70-AD245886B93D}" dt="2022-05-12T14:50:58.501" v="87" actId="20577"/>
      <pc:docMkLst>
        <pc:docMk/>
      </pc:docMkLst>
      <pc:sldChg chg="modSp">
        <pc:chgData name="Chen Chien-Ming (Assoc Prof)" userId="S::cmchen@staff.main.ntu.edu.sg::eaa76335-e5f0-4758-ac68-e68b30e478da" providerId="AD" clId="Web-{4CB4FCEA-E540-C343-BC70-AD245886B93D}" dt="2022-05-12T14:50:58.501" v="87" actId="20577"/>
        <pc:sldMkLst>
          <pc:docMk/>
          <pc:sldMk cId="1291431275" sldId="283"/>
        </pc:sldMkLst>
        <pc:spChg chg="mod">
          <ac:chgData name="Chen Chien-Ming (Assoc Prof)" userId="S::cmchen@staff.main.ntu.edu.sg::eaa76335-e5f0-4758-ac68-e68b30e478da" providerId="AD" clId="Web-{4CB4FCEA-E540-C343-BC70-AD245886B93D}" dt="2022-05-12T14:50:58.501" v="87" actId="20577"/>
          <ac:spMkLst>
            <pc:docMk/>
            <pc:sldMk cId="1291431275" sldId="283"/>
            <ac:spMk id="3" creationId="{DC504955-9E94-4D42-8A6D-22597FAE5DA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23E6A-E656-4670-B7AC-737DB41CF645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ACBB9-2435-4000-BE08-FBE5986CC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20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4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Simulation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Statistical inference problems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Previously, the sample we used includes actual observations from a “real” population</a:t>
            </a:r>
          </a:p>
          <a:p>
            <a:r>
              <a:rPr lang="en-SG" dirty="0"/>
              <a:t>In stating the sample being random, we assume there is a unknown distribution (a.k.a. population) governing the sampling process</a:t>
            </a:r>
          </a:p>
        </p:txBody>
      </p:sp>
      <p:sp>
        <p:nvSpPr>
          <p:cNvPr id="4" name="Oval 3"/>
          <p:cNvSpPr/>
          <p:nvPr/>
        </p:nvSpPr>
        <p:spPr>
          <a:xfrm>
            <a:off x="2061452" y="3592858"/>
            <a:ext cx="3257308" cy="283842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200" dirty="0"/>
              <a:t>Population</a:t>
            </a:r>
          </a:p>
          <a:p>
            <a:pPr algn="ctr"/>
            <a:r>
              <a:rPr lang="en-SG" sz="3200" dirty="0"/>
              <a:t>(students, companies, customers, </a:t>
            </a:r>
            <a:r>
              <a:rPr lang="en-SG" sz="3200" dirty="0" err="1"/>
              <a:t>etc</a:t>
            </a:r>
            <a:r>
              <a:rPr lang="en-SG" sz="3200" dirty="0"/>
              <a:t>)</a:t>
            </a:r>
          </a:p>
        </p:txBody>
      </p:sp>
      <p:sp>
        <p:nvSpPr>
          <p:cNvPr id="5" name="Curved Down Arrow 4"/>
          <p:cNvSpPr/>
          <p:nvPr/>
        </p:nvSpPr>
        <p:spPr>
          <a:xfrm>
            <a:off x="4815740" y="3592858"/>
            <a:ext cx="2351212" cy="1467637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663932" y="4799179"/>
                <a:ext cx="3546868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4400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SG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sz="4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SG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G" sz="44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SG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SG" sz="4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SG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932" y="4799179"/>
                <a:ext cx="3546868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045132" y="4475720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dirty="0"/>
              <a:t>Random sample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581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Consider a study about average monthly spending ($) of NTU students</a:t>
            </a:r>
          </a:p>
          <a:p>
            <a:r>
              <a:rPr lang="en-SG" dirty="0"/>
              <a:t> For a sample of 5 students, you observed ($) [450, 700, 300, 1500, 800] </a:t>
            </a:r>
          </a:p>
          <a:p>
            <a:r>
              <a:rPr lang="en-SG" dirty="0"/>
              <a:t>What can be the problem?</a:t>
            </a:r>
          </a:p>
          <a:p>
            <a:pPr marL="514350" indent="-514350">
              <a:buAutoNum type="arabicParenR"/>
            </a:pPr>
            <a:r>
              <a:rPr lang="en-SG" dirty="0"/>
              <a:t>The sample size is too small to use CLT, so we may get stuck here</a:t>
            </a:r>
          </a:p>
          <a:p>
            <a:pPr marL="514350" indent="-514350">
              <a:buAutoNum type="arabicParenR"/>
            </a:pPr>
            <a:r>
              <a:rPr lang="en-SG" dirty="0"/>
              <a:t>Can‘t analyse the “what-if” question.  For example, if all college students could use public transportation for free in Singapore?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716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Computer simulation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use algorithms to “simulate”  random samples based on distributional assumptions—therefore we can choose a very large sample size</a:t>
            </a:r>
          </a:p>
          <a:p>
            <a:r>
              <a:rPr lang="en-SG" dirty="0"/>
              <a:t>By adjusting the codes, we could easily “simulate” the samples under a hypothetical situation </a:t>
            </a:r>
          </a:p>
        </p:txBody>
      </p:sp>
      <p:sp>
        <p:nvSpPr>
          <p:cNvPr id="4" name="Oval 3"/>
          <p:cNvSpPr/>
          <p:nvPr/>
        </p:nvSpPr>
        <p:spPr>
          <a:xfrm>
            <a:off x="2316480" y="3916680"/>
            <a:ext cx="3002280" cy="2514600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200" dirty="0"/>
              <a:t>Computer algorithm</a:t>
            </a:r>
          </a:p>
        </p:txBody>
      </p:sp>
      <p:sp>
        <p:nvSpPr>
          <p:cNvPr id="5" name="Curved Down Arrow 4"/>
          <p:cNvSpPr/>
          <p:nvPr/>
        </p:nvSpPr>
        <p:spPr>
          <a:xfrm>
            <a:off x="4815740" y="3592858"/>
            <a:ext cx="2351212" cy="1467637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663932" y="4799179"/>
                <a:ext cx="3546868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4400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SG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sz="4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SG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G" sz="44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SG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sz="4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SG" sz="4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SG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932" y="4799179"/>
                <a:ext cx="3546868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045132" y="4475720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dirty="0"/>
              <a:t>Random sample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179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Example: the monthly wage of a working adult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675007"/>
              </p:ext>
            </p:extLst>
          </p:nvPr>
        </p:nvGraphicFramePr>
        <p:xfrm>
          <a:off x="838200" y="1825625"/>
          <a:ext cx="10515600" cy="4990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428419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47040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Traditional</a:t>
                      </a:r>
                      <a:r>
                        <a:rPr lang="en-SG" baseline="0" dirty="0"/>
                        <a:t> (empirical) approach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Computer simulation</a:t>
                      </a:r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187130"/>
                  </a:ext>
                </a:extLst>
              </a:tr>
              <a:tr h="4350918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5562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261080" y="2492684"/>
                <a:ext cx="4518485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SG" sz="3200" dirty="0"/>
                  <a:t>Collect a random sample of 100 working adults. Use the observed sample </a:t>
                </a:r>
                <a14:m>
                  <m:oMath xmlns:m="http://schemas.openxmlformats.org/officeDocument/2006/math">
                    <m:r>
                      <a:rPr lang="en-SG" sz="32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SG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3200" b="0" i="1" smtClean="0">
                            <a:latin typeface="Cambria Math" panose="02040503050406030204" pitchFamily="18" charset="0"/>
                          </a:rPr>
                          <m:t>𝑤𝑎𝑔𝑒</m:t>
                        </m:r>
                      </m:e>
                      <m:sub>
                        <m:r>
                          <a:rPr lang="en-SG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32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SG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3200" b="0" i="1" smtClean="0">
                            <a:latin typeface="Cambria Math" panose="02040503050406030204" pitchFamily="18" charset="0"/>
                          </a:rPr>
                          <m:t>𝑤𝑎𝑔𝑒</m:t>
                        </m:r>
                      </m:e>
                      <m:sub>
                        <m:r>
                          <a:rPr lang="en-SG" sz="3200" i="1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en-SG" sz="32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SG" sz="3200" dirty="0"/>
                  <a:t> to make statistical inference (CI, hypothesis testing)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080" y="2492684"/>
                <a:ext cx="4518485" cy="3046988"/>
              </a:xfrm>
              <a:prstGeom prst="rect">
                <a:avLst/>
              </a:prstGeom>
              <a:blipFill>
                <a:blip r:embed="rId5"/>
                <a:stretch>
                  <a:fillRect l="-3509" t="-2600" r="-1889" b="-56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096000" y="2620177"/>
            <a:ext cx="477209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1. Building a mental model</a:t>
            </a:r>
          </a:p>
          <a:p>
            <a:r>
              <a:rPr lang="en-SG" dirty="0"/>
              <a:t>(In my brain) Let me “assume” that the wage is a function of Years of Edu and Exp. And for a good reason a believe the wage of a person “</a:t>
            </a:r>
            <a:r>
              <a:rPr lang="en-SG" dirty="0" err="1"/>
              <a:t>i</a:t>
            </a:r>
            <a:r>
              <a:rPr lang="en-SG" dirty="0"/>
              <a:t>” is given by:</a:t>
            </a:r>
          </a:p>
          <a:p>
            <a:r>
              <a:rPr lang="en-SG" i="1" dirty="0" err="1">
                <a:solidFill>
                  <a:schemeClr val="accent2">
                    <a:lumMod val="75000"/>
                  </a:schemeClr>
                </a:solidFill>
              </a:rPr>
              <a:t>wage_i</a:t>
            </a:r>
            <a:r>
              <a:rPr lang="en-SG" i="1" dirty="0">
                <a:solidFill>
                  <a:schemeClr val="accent2">
                    <a:lumMod val="75000"/>
                  </a:schemeClr>
                </a:solidFill>
              </a:rPr>
              <a:t> = 500 + 600 </a:t>
            </a:r>
            <a:r>
              <a:rPr lang="en-SG" i="1" dirty="0" err="1">
                <a:solidFill>
                  <a:schemeClr val="accent2">
                    <a:lumMod val="75000"/>
                  </a:schemeClr>
                </a:solidFill>
              </a:rPr>
              <a:t>EDU_i</a:t>
            </a:r>
            <a:r>
              <a:rPr lang="en-SG" i="1" dirty="0">
                <a:solidFill>
                  <a:schemeClr val="accent2">
                    <a:lumMod val="75000"/>
                  </a:schemeClr>
                </a:solidFill>
              </a:rPr>
              <a:t> + 300 </a:t>
            </a:r>
            <a:r>
              <a:rPr lang="en-SG" i="1" dirty="0" err="1">
                <a:solidFill>
                  <a:schemeClr val="accent2">
                    <a:lumMod val="75000"/>
                  </a:schemeClr>
                </a:solidFill>
              </a:rPr>
              <a:t>Exp_i</a:t>
            </a:r>
            <a:endParaRPr lang="en-SG" i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SG" dirty="0"/>
              <a:t>2. Making distribution assumptions</a:t>
            </a:r>
          </a:p>
          <a:p>
            <a:r>
              <a:rPr lang="en-SG" dirty="0"/>
              <a:t>Well, let me further “assume” again EDU in a random sample should follow N(15,2) and </a:t>
            </a:r>
            <a:r>
              <a:rPr lang="en-SG" dirty="0" err="1"/>
              <a:t>Exp</a:t>
            </a:r>
            <a:r>
              <a:rPr lang="en-SG" dirty="0"/>
              <a:t> follows a N(5,1)</a:t>
            </a:r>
          </a:p>
          <a:p>
            <a:endParaRPr lang="en-SG" dirty="0"/>
          </a:p>
          <a:p>
            <a:r>
              <a:rPr lang="en-SG" dirty="0"/>
              <a:t>3. Simulate and calculate</a:t>
            </a:r>
          </a:p>
          <a:p>
            <a:r>
              <a:rPr lang="en-SG" dirty="0"/>
              <a:t>Then, I write codes to generate many </a:t>
            </a:r>
            <a:r>
              <a:rPr lang="en-SG" dirty="0" err="1"/>
              <a:t>iid</a:t>
            </a:r>
            <a:r>
              <a:rPr lang="en-SG" dirty="0"/>
              <a:t> </a:t>
            </a:r>
            <a:r>
              <a:rPr lang="en-SG" dirty="0" err="1"/>
              <a:t>EDU_i</a:t>
            </a:r>
            <a:r>
              <a:rPr lang="en-SG" dirty="0"/>
              <a:t> and </a:t>
            </a:r>
            <a:r>
              <a:rPr lang="en-SG" dirty="0" err="1"/>
              <a:t>Female_i</a:t>
            </a:r>
            <a:r>
              <a:rPr lang="en-SG" dirty="0"/>
              <a:t> to calculate many </a:t>
            </a:r>
            <a:r>
              <a:rPr lang="en-SG" dirty="0" err="1"/>
              <a:t>Wage_i</a:t>
            </a:r>
            <a:r>
              <a:rPr lang="en-SG" dirty="0"/>
              <a:t>, whose values will be used as my random sample  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009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7461" y="435912"/>
                <a:ext cx="1097621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4800" b="0" i="1" smtClean="0">
                          <a:latin typeface="Cambria Math" panose="02040503050406030204" pitchFamily="18" charset="0"/>
                        </a:rPr>
                        <m:t>𝑆𝑎𝑚𝑝𝑙𝑒</m:t>
                      </m:r>
                      <m:r>
                        <a:rPr lang="en-SG" sz="4800" b="0" i="1" smtClean="0"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lang="en-SG" sz="4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𝑊𝑎𝑔𝑒</m:t>
                          </m:r>
                        </m:e>
                        <m:sub>
                          <m:r>
                            <a:rPr lang="en-SG" sz="4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sz="4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SG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4800" b="0" i="1" smtClean="0">
                              <a:latin typeface="Cambria Math" panose="02040503050406030204" pitchFamily="18" charset="0"/>
                            </a:rPr>
                            <m:t>𝑊𝑎𝑔𝑒</m:t>
                          </m:r>
                        </m:e>
                        <m:sub>
                          <m:r>
                            <a:rPr lang="en-SG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G" sz="48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SG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4800" b="0" i="1" smtClean="0">
                              <a:latin typeface="Cambria Math" panose="02040503050406030204" pitchFamily="18" charset="0"/>
                            </a:rPr>
                            <m:t>𝑊𝑎𝑔𝑒</m:t>
                          </m:r>
                        </m:e>
                        <m:sub>
                          <m:r>
                            <a:rPr lang="en-SG" sz="4800" i="1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  <m:r>
                        <a:rPr lang="en-SG" sz="48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SG" sz="4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61" y="435912"/>
                <a:ext cx="10976210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505600" y="1427422"/>
            <a:ext cx="2779200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dirty="0"/>
              <a:t>Generate Edu _1 and Exp_1</a:t>
            </a:r>
          </a:p>
          <a:p>
            <a:r>
              <a:rPr lang="en-SG" dirty="0"/>
              <a:t>Calculate Wage_1</a:t>
            </a:r>
          </a:p>
          <a:p>
            <a:r>
              <a:rPr lang="en-SG" dirty="0"/>
              <a:t>Save Wage_1 back to the 1</a:t>
            </a:r>
            <a:r>
              <a:rPr lang="en-SG" baseline="30000" dirty="0"/>
              <a:t>st</a:t>
            </a:r>
            <a:r>
              <a:rPr lang="en-SG" dirty="0"/>
              <a:t> position of the vector Sample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2400" y="1418285"/>
            <a:ext cx="2779200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dirty="0"/>
              <a:t>Generate Edu _2 and Exp_2</a:t>
            </a:r>
          </a:p>
          <a:p>
            <a:r>
              <a:rPr lang="en-SG" dirty="0"/>
              <a:t>Calculate Wage_2</a:t>
            </a:r>
          </a:p>
          <a:p>
            <a:r>
              <a:rPr lang="en-SG" dirty="0"/>
              <a:t>Save Wage_2 back to the 2</a:t>
            </a:r>
            <a:r>
              <a:rPr lang="en-SG" baseline="30000" dirty="0"/>
              <a:t>nd</a:t>
            </a:r>
            <a:r>
              <a:rPr lang="en-SG" dirty="0"/>
              <a:t> position of the vector 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5966" y="4285085"/>
            <a:ext cx="2779200" cy="147732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dirty="0"/>
              <a:t>Generate Edu _</a:t>
            </a:r>
            <a:r>
              <a:rPr lang="en-SG" dirty="0" err="1"/>
              <a:t>i</a:t>
            </a:r>
            <a:r>
              <a:rPr lang="en-SG" dirty="0"/>
              <a:t> and </a:t>
            </a:r>
            <a:r>
              <a:rPr lang="en-SG" dirty="0" err="1"/>
              <a:t>Exp_i</a:t>
            </a:r>
            <a:endParaRPr lang="en-SG" dirty="0"/>
          </a:p>
          <a:p>
            <a:r>
              <a:rPr lang="en-SG" dirty="0"/>
              <a:t>Calculate </a:t>
            </a:r>
            <a:r>
              <a:rPr lang="en-SG" dirty="0" err="1"/>
              <a:t>Wage_i</a:t>
            </a:r>
            <a:endParaRPr lang="en-SG" dirty="0"/>
          </a:p>
          <a:p>
            <a:r>
              <a:rPr lang="en-SG" dirty="0"/>
              <a:t>Save </a:t>
            </a:r>
            <a:r>
              <a:rPr lang="en-SG" dirty="0" err="1"/>
              <a:t>Wage_i</a:t>
            </a:r>
            <a:r>
              <a:rPr lang="en-SG" dirty="0"/>
              <a:t> back to the </a:t>
            </a:r>
            <a:r>
              <a:rPr lang="en-SG" dirty="0" err="1"/>
              <a:t>ith</a:t>
            </a:r>
            <a:r>
              <a:rPr lang="en-SG" dirty="0"/>
              <a:t> position of the vector Sample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297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D1C29-9958-40CA-882E-FD1FD142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Dating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86C4-0502-4A3F-BF59-7CE8FF3C5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Dan and Kelly plan to meet at a restaurant for dinner. They leave from their respective halls at the same time but their travel time is random. They develop a probability model for the time they need.</a:t>
            </a:r>
          </a:p>
          <a:p>
            <a:pPr marL="0" indent="0">
              <a:buNone/>
            </a:pPr>
            <a:r>
              <a:rPr lang="en-US" dirty="0"/>
              <a:t>The total time that Dan needs (in hours) is assumed to follow a Gamma distribution with parameters (</a:t>
            </a:r>
            <a:r>
              <a:rPr lang="sv-SE" dirty="0"/>
              <a:t>0.3,10)</a:t>
            </a:r>
          </a:p>
          <a:p>
            <a:pPr marL="0" indent="0">
              <a:buNone/>
            </a:pPr>
            <a:r>
              <a:rPr lang="en-US" dirty="0"/>
              <a:t>For Kelly, the time she needs is assumed to follow an exponential distribution with the parameter = 10 </a:t>
            </a:r>
          </a:p>
          <a:p>
            <a:pPr marL="0" indent="0">
              <a:buNone/>
            </a:pPr>
            <a:r>
              <a:rPr lang="en-US" sz="1600" dirty="0"/>
              <a:t>(the choice of distributions is immaterial for our purpose, as my point is to show R allows you to simulate different distributions; parameters values correspond to those used in the R commands)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808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6917-CBB5-4F93-B6B3-D41A258C0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DEFA8-243D-4C36-99C9-018CA2FD1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They want to know the expected waiting time for the person that arrives first (due to the randomness, you can’t be certain who might arrive first)</a:t>
            </a:r>
          </a:p>
          <a:p>
            <a:r>
              <a:rPr lang="en-US" dirty="0"/>
              <a:t>In effect, the question is about the expectation of D=|X1-X2|, where X1 and X2 are their respective travel times</a:t>
            </a:r>
          </a:p>
          <a:p>
            <a:r>
              <a:rPr lang="en-US" dirty="0"/>
              <a:t>This problem (i.e., the distribution and expectation of D) can be very difficult to solved analytically; and we don’t have a good random sample for it (supposedly) </a:t>
            </a:r>
          </a:p>
          <a:p>
            <a:r>
              <a:rPr lang="en-US" dirty="0"/>
              <a:t>Instead, we can try simulating the random variable D, namely, use computer to generate a random sample of 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721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04955-9E94-4D42-8A6D-22597FAE5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1413"/>
            <a:ext cx="10515600" cy="572555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sv-SE" dirty="0"/>
              <a:t>&gt; </a:t>
            </a:r>
            <a:r>
              <a:rPr lang="sv-SE" dirty="0" err="1"/>
              <a:t>set.seed</a:t>
            </a:r>
            <a:r>
              <a:rPr lang="sv-SE" dirty="0"/>
              <a:t>(456)     </a:t>
            </a:r>
          </a:p>
          <a:p>
            <a:pPr marL="0" indent="0">
              <a:buNone/>
            </a:pPr>
            <a:r>
              <a:rPr lang="en-SG" dirty="0"/>
              <a:t>&gt; </a:t>
            </a:r>
            <a:r>
              <a:rPr lang="sv-SE" dirty="0" err="1">
                <a:ea typeface="+mn-lt"/>
                <a:cs typeface="+mn-lt"/>
              </a:rPr>
              <a:t>wait_time</a:t>
            </a:r>
            <a:r>
              <a:rPr lang="sv-SE" dirty="0">
                <a:ea typeface="+mn-lt"/>
                <a:cs typeface="+mn-lt"/>
              </a:rPr>
              <a:t> = rep(0,10)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  <a:ea typeface="+mn-lt"/>
                <a:cs typeface="+mn-lt"/>
              </a:rPr>
              <a:t># use a for-loop to generate 10 sample points</a:t>
            </a:r>
            <a:endParaRPr lang="sv-SE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&gt; for (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in 1:10) {</a:t>
            </a:r>
            <a:endParaRPr lang="sv-SE" dirty="0">
              <a:cs typeface="Calibri"/>
            </a:endParaRPr>
          </a:p>
          <a:p>
            <a:pPr marL="0" indent="0">
              <a:buNone/>
            </a:pPr>
            <a:r>
              <a:rPr lang="sv-SE" dirty="0"/>
              <a:t>&gt; </a:t>
            </a:r>
            <a:r>
              <a:rPr lang="sv-SE" dirty="0" err="1"/>
              <a:t>kelly</a:t>
            </a:r>
            <a:r>
              <a:rPr lang="sv-SE" dirty="0"/>
              <a:t>&lt;- </a:t>
            </a:r>
            <a:r>
              <a:rPr lang="sv-SE" dirty="0" err="1"/>
              <a:t>rexp</a:t>
            </a:r>
            <a:r>
              <a:rPr lang="sv-SE" dirty="0"/>
              <a:t>(1,10)</a:t>
            </a:r>
            <a:endParaRPr lang="sv-SE" dirty="0">
              <a:cs typeface="Calibri"/>
            </a:endParaRPr>
          </a:p>
          <a:p>
            <a:pPr marL="0" indent="0">
              <a:buNone/>
            </a:pPr>
            <a:r>
              <a:rPr lang="sv-SE" dirty="0"/>
              <a:t>&gt; dan&lt;-</a:t>
            </a:r>
            <a:r>
              <a:rPr lang="sv-SE" dirty="0" err="1"/>
              <a:t>rgamma</a:t>
            </a:r>
            <a:r>
              <a:rPr lang="sv-SE" dirty="0"/>
              <a:t>(1,0.3,10)</a:t>
            </a:r>
            <a:endParaRPr lang="sv-SE" dirty="0">
              <a:cs typeface="Calibri"/>
            </a:endParaRPr>
          </a:p>
          <a:p>
            <a:pPr marL="0" indent="0">
              <a:buNone/>
            </a:pPr>
            <a:r>
              <a:rPr lang="sv-SE" dirty="0"/>
              <a:t>&gt;</a:t>
            </a:r>
            <a:r>
              <a:rPr lang="sv-SE" dirty="0" err="1"/>
              <a:t>wait_time</a:t>
            </a:r>
            <a:r>
              <a:rPr lang="sv-SE" dirty="0"/>
              <a:t>[i]&lt;-</a:t>
            </a:r>
            <a:r>
              <a:rPr lang="sv-SE" dirty="0" err="1"/>
              <a:t>abs</a:t>
            </a:r>
            <a:r>
              <a:rPr lang="sv-SE" dirty="0"/>
              <a:t>(</a:t>
            </a:r>
            <a:r>
              <a:rPr lang="sv-SE" dirty="0" err="1"/>
              <a:t>kelly</a:t>
            </a:r>
            <a:r>
              <a:rPr lang="sv-SE" dirty="0"/>
              <a:t>-dan)</a:t>
            </a:r>
            <a:endParaRPr lang="sv-SE" dirty="0">
              <a:cs typeface="Calibri"/>
            </a:endParaRPr>
          </a:p>
          <a:p>
            <a:pPr marL="0" indent="0">
              <a:buNone/>
            </a:pPr>
            <a:r>
              <a:rPr lang="sv-SE" dirty="0">
                <a:solidFill>
                  <a:srgbClr val="000000"/>
                </a:solidFill>
                <a:cs typeface="Calibri"/>
              </a:rPr>
              <a:t>&gt;}</a:t>
            </a:r>
            <a:endParaRPr lang="sv-SE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calculate sample mean</a:t>
            </a:r>
          </a:p>
          <a:p>
            <a:pPr marL="0" indent="0">
              <a:buNone/>
            </a:pPr>
            <a:r>
              <a:rPr lang="en-SG" dirty="0"/>
              <a:t>&gt; </a:t>
            </a:r>
            <a:r>
              <a:rPr lang="en-SG" dirty="0" err="1"/>
              <a:t>X_barw</a:t>
            </a:r>
            <a:r>
              <a:rPr lang="en-SG" dirty="0"/>
              <a:t>&lt;-mean(</a:t>
            </a:r>
            <a:r>
              <a:rPr lang="sv-SE" dirty="0"/>
              <a:t>wait_time</a:t>
            </a:r>
            <a:r>
              <a:rPr lang="en-SG" dirty="0"/>
              <a:t>)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calculate sample standard deviation </a:t>
            </a:r>
          </a:p>
          <a:p>
            <a:pPr marL="0" indent="0">
              <a:buNone/>
            </a:pPr>
            <a:r>
              <a:rPr lang="en-SG" dirty="0"/>
              <a:t>&gt; Sw&lt;-</a:t>
            </a:r>
            <a:r>
              <a:rPr lang="en-SG" dirty="0" err="1"/>
              <a:t>sd</a:t>
            </a:r>
            <a:r>
              <a:rPr lang="en-SG" dirty="0"/>
              <a:t>(</a:t>
            </a:r>
            <a:r>
              <a:rPr lang="sv-SE" dirty="0" err="1"/>
              <a:t>wait_time</a:t>
            </a:r>
            <a:r>
              <a:rPr lang="en-SG" dirty="0"/>
              <a:t>)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/>
                </a:solidFill>
              </a:rPr>
              <a:t># calculate the 95% CI</a:t>
            </a:r>
            <a:endParaRPr lang="en-SG" dirty="0">
              <a:solidFill>
                <a:schemeClr val="accent1"/>
              </a:solidFill>
              <a:cs typeface="Calibri"/>
            </a:endParaRPr>
          </a:p>
          <a:p>
            <a:pPr marL="0" indent="0">
              <a:buNone/>
            </a:pPr>
            <a:r>
              <a:rPr lang="en-SG" dirty="0">
                <a:cs typeface="Calibri"/>
              </a:rPr>
              <a:t>&gt; </a:t>
            </a:r>
            <a:r>
              <a:rPr lang="en-SG" dirty="0" err="1">
                <a:cs typeface="Calibri"/>
              </a:rPr>
              <a:t>t.test</a:t>
            </a:r>
            <a:r>
              <a:rPr lang="en-SG" dirty="0">
                <a:cs typeface="Calibri"/>
              </a:rPr>
              <a:t>(</a:t>
            </a:r>
            <a:r>
              <a:rPr lang="sv-SE" dirty="0" err="1">
                <a:ea typeface="+mn-lt"/>
                <a:cs typeface="+mn-lt"/>
              </a:rPr>
              <a:t>wait_time</a:t>
            </a:r>
            <a:r>
              <a:rPr lang="sv-SE" dirty="0">
                <a:ea typeface="+mn-lt"/>
                <a:cs typeface="+mn-lt"/>
              </a:rPr>
              <a:t>)</a:t>
            </a:r>
            <a:endParaRPr lang="en-SG" dirty="0"/>
          </a:p>
          <a:p>
            <a:pPr marL="0" indent="0">
              <a:buNone/>
            </a:pPr>
            <a:r>
              <a:rPr lang="sv-SE" dirty="0">
                <a:ea typeface="+mn-lt"/>
                <a:cs typeface="+mn-lt"/>
              </a:rPr>
              <a:t>0.05630191 0.11626524</a:t>
            </a:r>
            <a:r>
              <a:rPr lang="sv-SE" dirty="0"/>
              <a:t>    </a:t>
            </a:r>
            <a:r>
              <a:rPr lang="sv-SE" dirty="0">
                <a:solidFill>
                  <a:srgbClr val="00B0F0"/>
                </a:solidFill>
              </a:rPr>
              <a:t>#the </a:t>
            </a:r>
            <a:r>
              <a:rPr lang="sv-SE" dirty="0" err="1">
                <a:solidFill>
                  <a:srgbClr val="00B0F0"/>
                </a:solidFill>
              </a:rPr>
              <a:t>waiting</a:t>
            </a:r>
            <a:r>
              <a:rPr lang="sv-SE" dirty="0">
                <a:solidFill>
                  <a:srgbClr val="00B0F0"/>
                </a:solidFill>
              </a:rPr>
              <a:t> </a:t>
            </a:r>
            <a:r>
              <a:rPr lang="sv-SE" dirty="0" err="1">
                <a:solidFill>
                  <a:srgbClr val="00B0F0"/>
                </a:solidFill>
              </a:rPr>
              <a:t>time</a:t>
            </a:r>
            <a:r>
              <a:rPr lang="sv-SE" dirty="0">
                <a:solidFill>
                  <a:srgbClr val="00B0F0"/>
                </a:solidFill>
              </a:rPr>
              <a:t> is </a:t>
            </a:r>
            <a:r>
              <a:rPr lang="sv-SE" dirty="0" err="1">
                <a:solidFill>
                  <a:srgbClr val="00B0F0"/>
                </a:solidFill>
              </a:rPr>
              <a:t>about</a:t>
            </a:r>
            <a:r>
              <a:rPr lang="sv-SE" dirty="0">
                <a:solidFill>
                  <a:srgbClr val="00B0F0"/>
                </a:solidFill>
              </a:rPr>
              <a:t> 3 to 9 </a:t>
            </a:r>
            <a:r>
              <a:rPr lang="sv-SE" dirty="0" err="1">
                <a:solidFill>
                  <a:srgbClr val="00B0F0"/>
                </a:solidFill>
              </a:rPr>
              <a:t>minutes</a:t>
            </a:r>
            <a:endParaRPr lang="en-US" dirty="0" err="1">
              <a:solidFill>
                <a:srgbClr val="00B0F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1431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41CDB-CB18-41F7-AD92-D8256D8E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simple investment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871B-40C9-4C44-8CDE-401C4327A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 are contemplating on an investment scheme, whereby you must make a $5,000 contribution at the beginning of every policy year and for ten consecutive years. The maturity date is the beginning of the 11th policy year</a:t>
            </a:r>
          </a:p>
          <a:p>
            <a:r>
              <a:rPr lang="en-US" dirty="0"/>
              <a:t>The annual return is estimated to be anywhere between -3% and 10% for the next 10 years (</a:t>
            </a:r>
            <a:r>
              <a:rPr lang="en-US" dirty="0" err="1"/>
              <a:t>iid</a:t>
            </a:r>
            <a:r>
              <a:rPr lang="en-US" dirty="0"/>
              <a:t> uniformly distributed). . Any positive return will be reinvested </a:t>
            </a:r>
          </a:p>
          <a:p>
            <a:r>
              <a:rPr lang="en-US" dirty="0"/>
              <a:t>The return rate will be announced at the beginning of each policy year. The rate will be applied to the total value of the policy at the previous year</a:t>
            </a:r>
          </a:p>
          <a:p>
            <a:r>
              <a:rPr lang="en-US" dirty="0"/>
              <a:t>Can we simulate the average amount receivable at the maturity date? and its standard deviation? </a:t>
            </a:r>
          </a:p>
        </p:txBody>
      </p:sp>
    </p:spTree>
    <p:extLst>
      <p:ext uri="{BB962C8B-B14F-4D97-AF65-F5344CB8AC3E}">
        <p14:creationId xmlns:p14="http://schemas.microsoft.com/office/powerpoint/2010/main" val="2237823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CF2C8C-10BD-4F92-869C-55CD84E6264C}"/>
              </a:ext>
            </a:extLst>
          </p:cNvPr>
          <p:cNvSpPr txBox="1"/>
          <p:nvPr/>
        </p:nvSpPr>
        <p:spPr>
          <a:xfrm>
            <a:off x="3787628" y="1631334"/>
            <a:ext cx="655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$5K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DEDB28-B627-4451-AACE-053C2E5B1658}"/>
              </a:ext>
            </a:extLst>
          </p:cNvPr>
          <p:cNvCxnSpPr>
            <a:cxnSpLocks/>
          </p:cNvCxnSpPr>
          <p:nvPr/>
        </p:nvCxnSpPr>
        <p:spPr>
          <a:xfrm>
            <a:off x="2941164" y="2554663"/>
            <a:ext cx="642705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671AE2-9BB9-4FB8-8BFD-AACB96A682BA}"/>
              </a:ext>
            </a:extLst>
          </p:cNvPr>
          <p:cNvCxnSpPr>
            <a:cxnSpLocks/>
          </p:cNvCxnSpPr>
          <p:nvPr/>
        </p:nvCxnSpPr>
        <p:spPr>
          <a:xfrm>
            <a:off x="4111691" y="2055043"/>
            <a:ext cx="0" cy="49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5BCEFC9-BA50-4269-BDA1-AD1BB0EF67A0}"/>
              </a:ext>
            </a:extLst>
          </p:cNvPr>
          <p:cNvSpPr txBox="1"/>
          <p:nvPr/>
        </p:nvSpPr>
        <p:spPr>
          <a:xfrm>
            <a:off x="3774466" y="2535978"/>
            <a:ext cx="640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F36A3B-B8F2-440E-AD67-EB3B39F77FC5}"/>
              </a:ext>
            </a:extLst>
          </p:cNvPr>
          <p:cNvSpPr txBox="1"/>
          <p:nvPr/>
        </p:nvSpPr>
        <p:spPr>
          <a:xfrm>
            <a:off x="1579380" y="3495022"/>
            <a:ext cx="2145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Total 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413EE5-240B-4A5E-A8F2-26EEE76582B8}"/>
              </a:ext>
            </a:extLst>
          </p:cNvPr>
          <p:cNvSpPr txBox="1"/>
          <p:nvPr/>
        </p:nvSpPr>
        <p:spPr>
          <a:xfrm>
            <a:off x="4791975" y="2516707"/>
            <a:ext cx="640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E8480F-2947-4BDF-9DEF-621626199E5C}"/>
              </a:ext>
            </a:extLst>
          </p:cNvPr>
          <p:cNvSpPr txBox="1"/>
          <p:nvPr/>
        </p:nvSpPr>
        <p:spPr>
          <a:xfrm>
            <a:off x="5760186" y="2536895"/>
            <a:ext cx="640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C158F3-B706-4F54-9B57-709B6ACE52C1}"/>
              </a:ext>
            </a:extLst>
          </p:cNvPr>
          <p:cNvSpPr txBox="1"/>
          <p:nvPr/>
        </p:nvSpPr>
        <p:spPr>
          <a:xfrm>
            <a:off x="7962508" y="2508196"/>
            <a:ext cx="640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0E0EFE-45A3-41DA-AB6A-CCE766115ED5}"/>
              </a:ext>
            </a:extLst>
          </p:cNvPr>
          <p:cNvSpPr txBox="1"/>
          <p:nvPr/>
        </p:nvSpPr>
        <p:spPr>
          <a:xfrm>
            <a:off x="8958997" y="2508196"/>
            <a:ext cx="640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460B76-E675-43DF-920D-FDB1A304CDBB}"/>
              </a:ext>
            </a:extLst>
          </p:cNvPr>
          <p:cNvSpPr txBox="1"/>
          <p:nvPr/>
        </p:nvSpPr>
        <p:spPr>
          <a:xfrm>
            <a:off x="4520021" y="3573838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$5k</a:t>
            </a:r>
            <a:r>
              <a:rPr lang="en-US" dirty="0"/>
              <a:t>*R2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D399CB-EE41-4B11-8300-D8A3159E6610}"/>
              </a:ext>
            </a:extLst>
          </p:cNvPr>
          <p:cNvSpPr txBox="1"/>
          <p:nvPr/>
        </p:nvSpPr>
        <p:spPr>
          <a:xfrm>
            <a:off x="4775771" y="1641428"/>
            <a:ext cx="655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$5K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CF7764-B908-41B5-9F6B-6E192DC02FED}"/>
              </a:ext>
            </a:extLst>
          </p:cNvPr>
          <p:cNvCxnSpPr>
            <a:cxnSpLocks/>
          </p:cNvCxnSpPr>
          <p:nvPr/>
        </p:nvCxnSpPr>
        <p:spPr>
          <a:xfrm>
            <a:off x="5112093" y="2055043"/>
            <a:ext cx="0" cy="49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47C410A-FD76-4EFA-8EE6-349F0EB1DF09}"/>
              </a:ext>
            </a:extLst>
          </p:cNvPr>
          <p:cNvSpPr txBox="1"/>
          <p:nvPr/>
        </p:nvSpPr>
        <p:spPr>
          <a:xfrm>
            <a:off x="5625755" y="1631334"/>
            <a:ext cx="655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$5K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C24A50-48B6-4833-81AF-59082B5EEC4C}"/>
              </a:ext>
            </a:extLst>
          </p:cNvPr>
          <p:cNvCxnSpPr>
            <a:cxnSpLocks/>
          </p:cNvCxnSpPr>
          <p:nvPr/>
        </p:nvCxnSpPr>
        <p:spPr>
          <a:xfrm>
            <a:off x="5953730" y="2055043"/>
            <a:ext cx="0" cy="49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721657-B2B4-4937-9406-F5880A0D1E52}"/>
              </a:ext>
            </a:extLst>
          </p:cNvPr>
          <p:cNvSpPr txBox="1"/>
          <p:nvPr/>
        </p:nvSpPr>
        <p:spPr>
          <a:xfrm>
            <a:off x="7940821" y="1584867"/>
            <a:ext cx="655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$5K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DA9253-AB84-4728-AC21-CD80B04FF1EE}"/>
              </a:ext>
            </a:extLst>
          </p:cNvPr>
          <p:cNvCxnSpPr>
            <a:cxnSpLocks/>
          </p:cNvCxnSpPr>
          <p:nvPr/>
        </p:nvCxnSpPr>
        <p:spPr>
          <a:xfrm>
            <a:off x="8268796" y="2008576"/>
            <a:ext cx="0" cy="49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1DA1AAF-7C67-4349-8773-1748AFA21FFD}"/>
              </a:ext>
            </a:extLst>
          </p:cNvPr>
          <p:cNvSpPr txBox="1"/>
          <p:nvPr/>
        </p:nvSpPr>
        <p:spPr>
          <a:xfrm>
            <a:off x="1491967" y="1649102"/>
            <a:ext cx="1768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Contribution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93A53F-064D-4467-A824-0E10689A88DD}"/>
              </a:ext>
            </a:extLst>
          </p:cNvPr>
          <p:cNvSpPr txBox="1"/>
          <p:nvPr/>
        </p:nvSpPr>
        <p:spPr>
          <a:xfrm>
            <a:off x="4987054" y="3963776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[(</a:t>
            </a:r>
            <a:r>
              <a:rPr lang="en-US" dirty="0">
                <a:solidFill>
                  <a:srgbClr val="FF0000"/>
                </a:solidFill>
              </a:rPr>
              <a:t>$5k</a:t>
            </a:r>
            <a:r>
              <a:rPr lang="en-US" dirty="0"/>
              <a:t>*R2)+</a:t>
            </a:r>
            <a:r>
              <a:rPr lang="en-US" dirty="0">
                <a:solidFill>
                  <a:srgbClr val="00B050"/>
                </a:solidFill>
              </a:rPr>
              <a:t>$5k</a:t>
            </a:r>
            <a:r>
              <a:rPr lang="en-US" dirty="0"/>
              <a:t>]*R3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8BB268-166B-4595-9DB9-D7DFF50F1C5B}"/>
              </a:ext>
            </a:extLst>
          </p:cNvPr>
          <p:cNvCxnSpPr>
            <a:cxnSpLocks/>
          </p:cNvCxnSpPr>
          <p:nvPr/>
        </p:nvCxnSpPr>
        <p:spPr>
          <a:xfrm flipH="1" flipV="1">
            <a:off x="5093494" y="2841815"/>
            <a:ext cx="1" cy="834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ED41CE5-0D2A-47E6-8AC4-868411D71223}"/>
              </a:ext>
            </a:extLst>
          </p:cNvPr>
          <p:cNvCxnSpPr>
            <a:cxnSpLocks/>
          </p:cNvCxnSpPr>
          <p:nvPr/>
        </p:nvCxnSpPr>
        <p:spPr>
          <a:xfrm flipH="1" flipV="1">
            <a:off x="5973863" y="2947795"/>
            <a:ext cx="1576" cy="1057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0256A4F-F0AA-43EF-BADB-4A09BEADEC31}"/>
              </a:ext>
            </a:extLst>
          </p:cNvPr>
          <p:cNvCxnSpPr>
            <a:cxnSpLocks/>
          </p:cNvCxnSpPr>
          <p:nvPr/>
        </p:nvCxnSpPr>
        <p:spPr>
          <a:xfrm flipH="1" flipV="1">
            <a:off x="9297392" y="2884771"/>
            <a:ext cx="1576" cy="1057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12A1DA2-82FF-4957-9663-C3287D973FFC}"/>
              </a:ext>
            </a:extLst>
          </p:cNvPr>
          <p:cNvSpPr txBox="1"/>
          <p:nvPr/>
        </p:nvSpPr>
        <p:spPr>
          <a:xfrm>
            <a:off x="9061082" y="408818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????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9B4A87-9E0C-4C64-B146-E0E007F6EDD0}"/>
              </a:ext>
            </a:extLst>
          </p:cNvPr>
          <p:cNvSpPr txBox="1"/>
          <p:nvPr/>
        </p:nvSpPr>
        <p:spPr>
          <a:xfrm>
            <a:off x="2606563" y="5485335"/>
            <a:ext cx="73502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Note that R2,R3 refer to the return rates </a:t>
            </a:r>
            <a:r>
              <a:rPr lang="en-US" i="1" u="sng" dirty="0"/>
              <a:t>observed</a:t>
            </a:r>
            <a:r>
              <a:rPr lang="en-US" i="1" dirty="0"/>
              <a:t> at Y2 and Y3, respectively</a:t>
            </a:r>
          </a:p>
          <a:p>
            <a:r>
              <a:rPr lang="en-US" i="1" dirty="0"/>
              <a:t>Y1 refers to the time where first $5k is deposited (the start time of the policy)</a:t>
            </a:r>
          </a:p>
          <a:p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6015273-42AF-4AE6-89E6-ABD73C767C3A}"/>
                  </a:ext>
                </a:extLst>
              </p:cNvPr>
              <p:cNvSpPr/>
              <p:nvPr/>
            </p:nvSpPr>
            <p:spPr>
              <a:xfrm>
                <a:off x="3797646" y="4723720"/>
                <a:ext cx="5615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u="sng" dirty="0"/>
                  <a:t>Total value at Year t+1 = (Total value at Year t +$5k)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u="sng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SG" b="0" i="1" u="sng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SG" b="0" i="1" u="sng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u="sng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6015273-42AF-4AE6-89E6-ABD73C767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646" y="4723720"/>
                <a:ext cx="5615063" cy="369332"/>
              </a:xfrm>
              <a:prstGeom prst="rect">
                <a:avLst/>
              </a:prstGeom>
              <a:blipFill>
                <a:blip r:embed="rId5"/>
                <a:stretch>
                  <a:fillRect l="-977" t="-10000" b="-2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FE8480F-2947-4BDF-9DEF-621626199E5C}"/>
              </a:ext>
            </a:extLst>
          </p:cNvPr>
          <p:cNvSpPr txBox="1"/>
          <p:nvPr/>
        </p:nvSpPr>
        <p:spPr>
          <a:xfrm>
            <a:off x="6356976" y="2464711"/>
            <a:ext cx="1680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………………..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569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  <p:bldP spid="20" grpId="0"/>
      <p:bldP spid="22" grpId="0"/>
      <p:bldP spid="24" grpId="0"/>
      <p:bldP spid="29" grpId="0"/>
      <p:bldP spid="39" grpId="0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2CFB7-0330-4D15-8D2F-269E215F0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564"/>
            <a:ext cx="10515600" cy="62734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## we create this </a:t>
            </a:r>
            <a:r>
              <a:rPr lang="en-US" dirty="0" err="1">
                <a:solidFill>
                  <a:srgbClr val="00B0F0"/>
                </a:solidFill>
              </a:rPr>
              <a:t>total_value</a:t>
            </a:r>
            <a:r>
              <a:rPr lang="en-US" dirty="0">
                <a:solidFill>
                  <a:srgbClr val="00B0F0"/>
                </a:solidFill>
              </a:rPr>
              <a:t> variable for us to store the random sample generated from simulation</a:t>
            </a:r>
          </a:p>
          <a:p>
            <a:pPr marL="0" indent="0">
              <a:buNone/>
            </a:pPr>
            <a:r>
              <a:rPr lang="en-US" dirty="0" err="1"/>
              <a:t>total_value</a:t>
            </a:r>
            <a:r>
              <a:rPr lang="en-US" dirty="0"/>
              <a:t> &lt;-0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# this outer for-loop is for us to generate 1000 </a:t>
            </a:r>
            <a:r>
              <a:rPr lang="en-US" dirty="0" err="1">
                <a:solidFill>
                  <a:srgbClr val="00B0F0"/>
                </a:solidFill>
              </a:rPr>
              <a:t>iid</a:t>
            </a:r>
            <a:r>
              <a:rPr lang="en-US" dirty="0">
                <a:solidFill>
                  <a:srgbClr val="00B0F0"/>
                </a:solidFill>
              </a:rPr>
              <a:t> instances of such investments (i.e., sample size is 1000)</a:t>
            </a:r>
          </a:p>
          <a:p>
            <a:pPr marL="0" indent="0">
              <a:buNone/>
            </a:pPr>
            <a:r>
              <a:rPr lang="en-US" dirty="0"/>
              <a:t>for (</a:t>
            </a:r>
            <a:r>
              <a:rPr lang="en-US" dirty="0" err="1"/>
              <a:t>sample_size</a:t>
            </a:r>
            <a:r>
              <a:rPr lang="en-US" dirty="0"/>
              <a:t> in 1:1000)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# store the final value of this instance of investment in the </a:t>
            </a:r>
            <a:r>
              <a:rPr lang="en-US" dirty="0" err="1">
                <a:solidFill>
                  <a:srgbClr val="00B0F0"/>
                </a:solidFill>
              </a:rPr>
              <a:t>total_value</a:t>
            </a:r>
            <a:r>
              <a:rPr lang="en-US" dirty="0">
                <a:solidFill>
                  <a:srgbClr val="00B0F0"/>
                </a:solidFill>
              </a:rPr>
              <a:t> vector</a:t>
            </a:r>
          </a:p>
          <a:p>
            <a:pPr marL="0" indent="0">
              <a:buNone/>
            </a:pPr>
            <a:r>
              <a:rPr lang="en-US" dirty="0" err="1"/>
              <a:t>total_value</a:t>
            </a:r>
            <a:r>
              <a:rPr lang="en-US" dirty="0"/>
              <a:t>[</a:t>
            </a:r>
            <a:r>
              <a:rPr lang="en-US" dirty="0" err="1"/>
              <a:t>sample_size</a:t>
            </a:r>
            <a:r>
              <a:rPr lang="en-US" dirty="0"/>
              <a:t>]= </a:t>
            </a:r>
            <a:r>
              <a:rPr lang="en-US" dirty="0" err="1"/>
              <a:t>value_by_year</a:t>
            </a:r>
            <a:r>
              <a:rPr lang="en-US" dirty="0"/>
              <a:t>[11]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B1168F-9EC2-4C90-B2F0-2047BB4CF740}"/>
              </a:ext>
            </a:extLst>
          </p:cNvPr>
          <p:cNvSpPr/>
          <p:nvPr/>
        </p:nvSpPr>
        <p:spPr>
          <a:xfrm>
            <a:off x="894262" y="2740870"/>
            <a:ext cx="7374988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# this inner for-loop is used to generate one single instance of the investment</a:t>
            </a:r>
          </a:p>
          <a:p>
            <a:r>
              <a:rPr lang="en-US" dirty="0"/>
              <a:t>contribution &lt;- 5000</a:t>
            </a:r>
          </a:p>
          <a:p>
            <a:r>
              <a:rPr lang="en-US" dirty="0" err="1"/>
              <a:t>value_by_year</a:t>
            </a:r>
            <a:r>
              <a:rPr lang="en-US" dirty="0"/>
              <a:t> &lt;- 0  </a:t>
            </a:r>
            <a:r>
              <a:rPr lang="en-US" dirty="0">
                <a:solidFill>
                  <a:srgbClr val="00B0F0"/>
                </a:solidFill>
              </a:rPr>
              <a:t># manually set the initial value = $0k</a:t>
            </a:r>
            <a:endParaRPr lang="en-US" dirty="0"/>
          </a:p>
          <a:p>
            <a:r>
              <a:rPr lang="en-US" dirty="0"/>
              <a:t>for (year in 1:10){</a:t>
            </a:r>
          </a:p>
          <a:p>
            <a:r>
              <a:rPr lang="en-US" dirty="0"/>
              <a:t>return&lt;-</a:t>
            </a:r>
            <a:r>
              <a:rPr lang="en-US" dirty="0" err="1"/>
              <a:t>runif</a:t>
            </a:r>
            <a:r>
              <a:rPr lang="en-US" dirty="0"/>
              <a:t>(1,min=-.03,max=.10)</a:t>
            </a:r>
          </a:p>
          <a:p>
            <a:r>
              <a:rPr lang="en-US" dirty="0">
                <a:solidFill>
                  <a:srgbClr val="00B0F0"/>
                </a:solidFill>
              </a:rPr>
              <a:t># calculate the total value at “year+1”</a:t>
            </a:r>
          </a:p>
          <a:p>
            <a:r>
              <a:rPr lang="en-US" dirty="0" err="1"/>
              <a:t>value_by_year</a:t>
            </a:r>
            <a:r>
              <a:rPr lang="en-US" dirty="0"/>
              <a:t>[year+1]&lt;-(</a:t>
            </a:r>
            <a:r>
              <a:rPr lang="en-US" dirty="0" err="1"/>
              <a:t>value_by_year</a:t>
            </a:r>
            <a:r>
              <a:rPr lang="en-US" dirty="0"/>
              <a:t>[year]+contribution)*(1+return)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E01B649C-5354-443A-86D5-F5001F492CF3}"/>
              </a:ext>
            </a:extLst>
          </p:cNvPr>
          <p:cNvSpPr/>
          <p:nvPr/>
        </p:nvSpPr>
        <p:spPr>
          <a:xfrm>
            <a:off x="284205" y="2507530"/>
            <a:ext cx="624017" cy="3331037"/>
          </a:xfrm>
          <a:prstGeom prst="lef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2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9F593-871F-4BAC-ABFB-13146E58B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6692"/>
            <a:ext cx="10515600" cy="54602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 generate the 95% CI of the mean</a:t>
            </a:r>
          </a:p>
          <a:p>
            <a:pPr marL="0" indent="0">
              <a:buNone/>
            </a:pPr>
            <a:r>
              <a:rPr lang="en-US" dirty="0"/>
              <a:t>&gt;</a:t>
            </a:r>
            <a:r>
              <a:rPr lang="en-US" dirty="0" err="1"/>
              <a:t>mean_total</a:t>
            </a:r>
            <a:r>
              <a:rPr lang="en-US" dirty="0"/>
              <a:t> &lt;- mean(</a:t>
            </a:r>
            <a:r>
              <a:rPr lang="en-US" dirty="0" err="1"/>
              <a:t>total_value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&gt;</a:t>
            </a:r>
            <a:r>
              <a:rPr lang="en-US" dirty="0" err="1"/>
              <a:t>sd_total</a:t>
            </a:r>
            <a:r>
              <a:rPr lang="en-US" dirty="0"/>
              <a:t> &lt;- </a:t>
            </a:r>
            <a:r>
              <a:rPr lang="en-US" dirty="0" err="1"/>
              <a:t>sd</a:t>
            </a:r>
            <a:r>
              <a:rPr lang="en-US" dirty="0"/>
              <a:t>(</a:t>
            </a:r>
            <a:r>
              <a:rPr lang="en-US" dirty="0" err="1"/>
              <a:t>total_value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SG" dirty="0"/>
              <a:t>&gt;LL&lt;-</a:t>
            </a:r>
            <a:r>
              <a:rPr lang="en-US" dirty="0"/>
              <a:t> </a:t>
            </a:r>
            <a:r>
              <a:rPr lang="en-US" dirty="0" err="1"/>
              <a:t>mean_total</a:t>
            </a:r>
            <a:r>
              <a:rPr lang="en-US" dirty="0"/>
              <a:t> </a:t>
            </a:r>
            <a:r>
              <a:rPr lang="en-SG" dirty="0"/>
              <a:t>- </a:t>
            </a:r>
            <a:r>
              <a:rPr lang="en-SG" dirty="0" err="1"/>
              <a:t>sd_total</a:t>
            </a:r>
            <a:r>
              <a:rPr lang="en-SG" dirty="0"/>
              <a:t>/</a:t>
            </a:r>
            <a:r>
              <a:rPr lang="en-SG" dirty="0" err="1"/>
              <a:t>sqrt</a:t>
            </a:r>
            <a:r>
              <a:rPr lang="en-SG" dirty="0"/>
              <a:t>(1000)*qt(.975,999)</a:t>
            </a:r>
          </a:p>
          <a:p>
            <a:pPr marL="0" indent="0">
              <a:buNone/>
            </a:pPr>
            <a:r>
              <a:rPr lang="en-SG" dirty="0"/>
              <a:t>&gt; UL&lt;-</a:t>
            </a:r>
            <a:r>
              <a:rPr lang="en-US" dirty="0"/>
              <a:t> </a:t>
            </a:r>
            <a:r>
              <a:rPr lang="en-US" dirty="0" err="1"/>
              <a:t>mean_total</a:t>
            </a:r>
            <a:r>
              <a:rPr lang="en-US" dirty="0"/>
              <a:t> </a:t>
            </a:r>
            <a:r>
              <a:rPr lang="en-SG" dirty="0"/>
              <a:t>+ </a:t>
            </a:r>
            <a:r>
              <a:rPr lang="en-SG" dirty="0" err="1"/>
              <a:t>sd_total</a:t>
            </a:r>
            <a:r>
              <a:rPr lang="en-SG" dirty="0"/>
              <a:t> /</a:t>
            </a:r>
            <a:r>
              <a:rPr lang="en-SG" dirty="0" err="1"/>
              <a:t>sqrt</a:t>
            </a:r>
            <a:r>
              <a:rPr lang="en-SG"/>
              <a:t>(1000)*</a:t>
            </a:r>
            <a:r>
              <a:rPr lang="en-SG" dirty="0"/>
              <a:t>qt(.975, 999)</a:t>
            </a:r>
          </a:p>
          <a:p>
            <a:pPr marL="0" indent="0">
              <a:buNone/>
            </a:pPr>
            <a:r>
              <a:rPr lang="en-SG" dirty="0"/>
              <a:t># your answer may be different slightly up to a few hundred $</a:t>
            </a:r>
          </a:p>
          <a:p>
            <a:pPr marL="0" indent="0">
              <a:buNone/>
            </a:pPr>
            <a:r>
              <a:rPr lang="en-US" dirty="0"/>
              <a:t>60386.68 60925.97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633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Advantages </a:t>
            </a:r>
            <a:r>
              <a:rPr lang="en-SG"/>
              <a:t>and disadvantages </a:t>
            </a:r>
            <a:r>
              <a:rPr lang="en-SG" dirty="0"/>
              <a:t>of computer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Advantages</a:t>
            </a:r>
          </a:p>
          <a:p>
            <a:pPr marL="0" indent="0">
              <a:buNone/>
            </a:pPr>
            <a:r>
              <a:rPr lang="en-SG" dirty="0"/>
              <a:t>-Cheap and require little sampling efforts</a:t>
            </a:r>
          </a:p>
          <a:p>
            <a:pPr marL="0" indent="0">
              <a:buNone/>
            </a:pPr>
            <a:r>
              <a:rPr lang="en-SG" dirty="0"/>
              <a:t>-Able to conduct “what-if” analysis --- making statistical inference on hypothetical scenarios</a:t>
            </a:r>
          </a:p>
          <a:p>
            <a:r>
              <a:rPr lang="en-SG" dirty="0"/>
              <a:t>Disadvantage (or caveat)</a:t>
            </a:r>
          </a:p>
          <a:p>
            <a:pPr marL="0" indent="0">
              <a:buNone/>
            </a:pPr>
            <a:r>
              <a:rPr lang="en-SG" dirty="0"/>
              <a:t>-The inference or conclusion is valid wholly on the basis of the modelling assumptions being realistic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173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6|35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8.2|29.8|0.9|53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4.1|1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|4.2|55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3|36.8|50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20.5|43.3|17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9.5|30.2|22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9.7|15.4|22.4|8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3.4|8|18.8|4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1413</TotalTime>
  <Words>1380</Words>
  <Application>Microsoft Office PowerPoint</Application>
  <PresentationFormat>Widescreen</PresentationFormat>
  <Paragraphs>125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Simulation analysis</vt:lpstr>
      <vt:lpstr>Statistical inference problems </vt:lpstr>
      <vt:lpstr>Example</vt:lpstr>
      <vt:lpstr>Computer simulation </vt:lpstr>
      <vt:lpstr>Example: the monthly wage of a working adult </vt:lpstr>
      <vt:lpstr>PowerPoint Presentation</vt:lpstr>
      <vt:lpstr>Example: Dating problems</vt:lpstr>
      <vt:lpstr>Example</vt:lpstr>
      <vt:lpstr>PowerPoint Presentation</vt:lpstr>
      <vt:lpstr>Example: simple investment problem</vt:lpstr>
      <vt:lpstr>PowerPoint Presentation</vt:lpstr>
      <vt:lpstr>PowerPoint Presentation</vt:lpstr>
      <vt:lpstr>PowerPoint Presentation</vt:lpstr>
      <vt:lpstr>Advantages and disadvantages of computer simulation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10. Simulation analysis</dc:title>
  <dc:creator>Chien-Ming Chen</dc:creator>
  <cp:lastModifiedBy>Chen Chien-Ming (Assoc Prof)</cp:lastModifiedBy>
  <cp:revision>197</cp:revision>
  <dcterms:created xsi:type="dcterms:W3CDTF">2019-04-09T07:21:28Z</dcterms:created>
  <dcterms:modified xsi:type="dcterms:W3CDTF">2022-05-12T14:51:02Z</dcterms:modified>
</cp:coreProperties>
</file>
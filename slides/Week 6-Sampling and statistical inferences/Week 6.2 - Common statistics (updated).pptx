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1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2" r:id="rId2"/>
    <p:sldId id="283" r:id="rId3"/>
    <p:sldId id="277" r:id="rId4"/>
    <p:sldId id="284" r:id="rId5"/>
    <p:sldId id="290" r:id="rId6"/>
    <p:sldId id="286" r:id="rId7"/>
    <p:sldId id="292" r:id="rId8"/>
    <p:sldId id="258" r:id="rId9"/>
    <p:sldId id="289" r:id="rId10"/>
    <p:sldId id="265" r:id="rId11"/>
    <p:sldId id="267" r:id="rId12"/>
    <p:sldId id="288" r:id="rId13"/>
    <p:sldId id="293" r:id="rId14"/>
    <p:sldId id="271" r:id="rId15"/>
    <p:sldId id="294" r:id="rId16"/>
    <p:sldId id="295" r:id="rId17"/>
    <p:sldId id="299" r:id="rId18"/>
    <p:sldId id="273" r:id="rId19"/>
    <p:sldId id="302" r:id="rId20"/>
    <p:sldId id="304" r:id="rId21"/>
    <p:sldId id="305" r:id="rId22"/>
    <p:sldId id="297" r:id="rId23"/>
    <p:sldId id="306" r:id="rId24"/>
    <p:sldId id="287" r:id="rId25"/>
    <p:sldId id="307" r:id="rId26"/>
    <p:sldId id="29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FE9017-5AEB-D043-A8B5-6A162B35336F}" v="1" dt="2024-05-20T07:26:12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5313"/>
  </p:normalViewPr>
  <p:slideViewPr>
    <p:cSldViewPr snapToGrid="0">
      <p:cViewPr varScale="1">
        <p:scale>
          <a:sx n="67" d="100"/>
          <a:sy n="67" d="100"/>
        </p:scale>
        <p:origin x="2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Nguyen (Dr)" userId="72917947-4a4e-42ff-b4ec-a414eb8a1970" providerId="ADAL" clId="{20FE9017-5AEB-D043-A8B5-6A162B35336F}"/>
    <pc:docChg chg="custSel addSld delSld modSld">
      <pc:chgData name="Michele Nguyen (Dr)" userId="72917947-4a4e-42ff-b4ec-a414eb8a1970" providerId="ADAL" clId="{20FE9017-5AEB-D043-A8B5-6A162B35336F}" dt="2024-05-20T07:28:32.323" v="35" actId="6549"/>
      <pc:docMkLst>
        <pc:docMk/>
      </pc:docMkLst>
      <pc:sldChg chg="add del">
        <pc:chgData name="Michele Nguyen (Dr)" userId="72917947-4a4e-42ff-b4ec-a414eb8a1970" providerId="ADAL" clId="{20FE9017-5AEB-D043-A8B5-6A162B35336F}" dt="2024-05-20T07:26:12.012" v="1"/>
        <pc:sldMkLst>
          <pc:docMk/>
          <pc:sldMk cId="3290563772" sldId="271"/>
        </pc:sldMkLst>
      </pc:sldChg>
      <pc:sldChg chg="del">
        <pc:chgData name="Michele Nguyen (Dr)" userId="72917947-4a4e-42ff-b4ec-a414eb8a1970" providerId="ADAL" clId="{20FE9017-5AEB-D043-A8B5-6A162B35336F}" dt="2024-05-20T07:24:41.819" v="0" actId="2696"/>
        <pc:sldMkLst>
          <pc:docMk/>
          <pc:sldMk cId="165757870" sldId="272"/>
        </pc:sldMkLst>
      </pc:sldChg>
      <pc:sldChg chg="delSp add del mod delAnim modNotesTx">
        <pc:chgData name="Michele Nguyen (Dr)" userId="72917947-4a4e-42ff-b4ec-a414eb8a1970" providerId="ADAL" clId="{20FE9017-5AEB-D043-A8B5-6A162B35336F}" dt="2024-05-20T07:28:32.323" v="35" actId="6549"/>
        <pc:sldMkLst>
          <pc:docMk/>
          <pc:sldMk cId="1309152514" sldId="273"/>
        </pc:sldMkLst>
        <pc:picChg chg="del">
          <ac:chgData name="Michele Nguyen (Dr)" userId="72917947-4a4e-42ff-b4ec-a414eb8a1970" providerId="ADAL" clId="{20FE9017-5AEB-D043-A8B5-6A162B35336F}" dt="2024-05-20T07:26:31.672" v="8" actId="478"/>
          <ac:picMkLst>
            <pc:docMk/>
            <pc:sldMk cId="1309152514" sldId="273"/>
            <ac:picMk id="9" creationId="{7E7326A7-54EE-E85F-D605-C8F4177D3277}"/>
          </ac:picMkLst>
        </pc:picChg>
      </pc:sldChg>
      <pc:sldChg chg="delSp add mod delAnim modNotesTx">
        <pc:chgData name="Michele Nguyen (Dr)" userId="72917947-4a4e-42ff-b4ec-a414eb8a1970" providerId="ADAL" clId="{20FE9017-5AEB-D043-A8B5-6A162B35336F}" dt="2024-05-20T07:28:04.899" v="26" actId="6549"/>
        <pc:sldMkLst>
          <pc:docMk/>
          <pc:sldMk cId="3774427954" sldId="279"/>
        </pc:sldMkLst>
        <pc:picChg chg="del">
          <ac:chgData name="Michele Nguyen (Dr)" userId="72917947-4a4e-42ff-b4ec-a414eb8a1970" providerId="ADAL" clId="{20FE9017-5AEB-D043-A8B5-6A162B35336F}" dt="2024-05-20T07:27:59.574" v="25" actId="478"/>
          <ac:picMkLst>
            <pc:docMk/>
            <pc:sldMk cId="3774427954" sldId="279"/>
            <ac:picMk id="6" creationId="{282ADE96-6291-D762-E6AC-45759DE10C99}"/>
          </ac:picMkLst>
        </pc:picChg>
      </pc:sldChg>
      <pc:sldChg chg="delSp add del mod delAnim">
        <pc:chgData name="Michele Nguyen (Dr)" userId="72917947-4a4e-42ff-b4ec-a414eb8a1970" providerId="ADAL" clId="{20FE9017-5AEB-D043-A8B5-6A162B35336F}" dt="2024-05-20T07:26:49.633" v="13" actId="2696"/>
        <pc:sldMkLst>
          <pc:docMk/>
          <pc:sldMk cId="2578409529" sldId="281"/>
        </pc:sldMkLst>
        <pc:picChg chg="del">
          <ac:chgData name="Michele Nguyen (Dr)" userId="72917947-4a4e-42ff-b4ec-a414eb8a1970" providerId="ADAL" clId="{20FE9017-5AEB-D043-A8B5-6A162B35336F}" dt="2024-05-20T07:26:35.706" v="9" actId="478"/>
          <ac:picMkLst>
            <pc:docMk/>
            <pc:sldMk cId="2578409529" sldId="281"/>
            <ac:picMk id="12" creationId="{51F3703C-9248-3B49-1086-A6164FB5D40D}"/>
          </ac:picMkLst>
        </pc:picChg>
      </pc:sldChg>
      <pc:sldChg chg="add del">
        <pc:chgData name="Michele Nguyen (Dr)" userId="72917947-4a4e-42ff-b4ec-a414eb8a1970" providerId="ADAL" clId="{20FE9017-5AEB-D043-A8B5-6A162B35336F}" dt="2024-05-20T07:26:55.786" v="14" actId="2696"/>
        <pc:sldMkLst>
          <pc:docMk/>
          <pc:sldMk cId="1409963891" sldId="285"/>
        </pc:sldMkLst>
      </pc:sldChg>
      <pc:sldChg chg="delSp add mod delAnim modNotesTx">
        <pc:chgData name="Michele Nguyen (Dr)" userId="72917947-4a4e-42ff-b4ec-a414eb8a1970" providerId="ADAL" clId="{20FE9017-5AEB-D043-A8B5-6A162B35336F}" dt="2024-05-20T07:28:12.566" v="29" actId="6549"/>
        <pc:sldMkLst>
          <pc:docMk/>
          <pc:sldMk cId="3936791614" sldId="287"/>
        </pc:sldMkLst>
        <pc:picChg chg="del">
          <ac:chgData name="Michele Nguyen (Dr)" userId="72917947-4a4e-42ff-b4ec-a414eb8a1970" providerId="ADAL" clId="{20FE9017-5AEB-D043-A8B5-6A162B35336F}" dt="2024-05-20T07:27:50.494" v="22" actId="478"/>
          <ac:picMkLst>
            <pc:docMk/>
            <pc:sldMk cId="3936791614" sldId="287"/>
            <ac:picMk id="34" creationId="{B96BC6F9-F9F9-E358-A3C7-8BC52F23C8CD}"/>
          </ac:picMkLst>
        </pc:picChg>
      </pc:sldChg>
      <pc:sldChg chg="delSp add del mod delAnim">
        <pc:chgData name="Michele Nguyen (Dr)" userId="72917947-4a4e-42ff-b4ec-a414eb8a1970" providerId="ADAL" clId="{20FE9017-5AEB-D043-A8B5-6A162B35336F}" dt="2024-05-20T07:27:13.523" v="17" actId="2696"/>
        <pc:sldMkLst>
          <pc:docMk/>
          <pc:sldMk cId="429659734" sldId="291"/>
        </pc:sldMkLst>
        <pc:picChg chg="del">
          <ac:chgData name="Michele Nguyen (Dr)" userId="72917947-4a4e-42ff-b4ec-a414eb8a1970" providerId="ADAL" clId="{20FE9017-5AEB-D043-A8B5-6A162B35336F}" dt="2024-05-20T07:26:17.110" v="2" actId="478"/>
          <ac:picMkLst>
            <pc:docMk/>
            <pc:sldMk cId="429659734" sldId="291"/>
            <ac:picMk id="37" creationId="{AFD8A7EA-6C90-3FCA-C18F-6B83C81FAB90}"/>
          </ac:picMkLst>
        </pc:picChg>
      </pc:sldChg>
      <pc:sldChg chg="delSp add mod delAnim">
        <pc:chgData name="Michele Nguyen (Dr)" userId="72917947-4a4e-42ff-b4ec-a414eb8a1970" providerId="ADAL" clId="{20FE9017-5AEB-D043-A8B5-6A162B35336F}" dt="2024-05-20T07:26:21.625" v="3" actId="478"/>
        <pc:sldMkLst>
          <pc:docMk/>
          <pc:sldMk cId="3703191065" sldId="294"/>
        </pc:sldMkLst>
        <pc:picChg chg="del">
          <ac:chgData name="Michele Nguyen (Dr)" userId="72917947-4a4e-42ff-b4ec-a414eb8a1970" providerId="ADAL" clId="{20FE9017-5AEB-D043-A8B5-6A162B35336F}" dt="2024-05-20T07:26:21.625" v="3" actId="478"/>
          <ac:picMkLst>
            <pc:docMk/>
            <pc:sldMk cId="3703191065" sldId="294"/>
            <ac:picMk id="15" creationId="{393C1C76-2B2B-5C47-7D93-4B71FEA93DFD}"/>
          </ac:picMkLst>
        </pc:picChg>
      </pc:sldChg>
      <pc:sldChg chg="delSp add mod delAnim">
        <pc:chgData name="Michele Nguyen (Dr)" userId="72917947-4a4e-42ff-b4ec-a414eb8a1970" providerId="ADAL" clId="{20FE9017-5AEB-D043-A8B5-6A162B35336F}" dt="2024-05-20T07:26:23.928" v="4" actId="478"/>
        <pc:sldMkLst>
          <pc:docMk/>
          <pc:sldMk cId="4017723375" sldId="295"/>
        </pc:sldMkLst>
        <pc:picChg chg="del">
          <ac:chgData name="Michele Nguyen (Dr)" userId="72917947-4a4e-42ff-b4ec-a414eb8a1970" providerId="ADAL" clId="{20FE9017-5AEB-D043-A8B5-6A162B35336F}" dt="2024-05-20T07:26:23.928" v="4" actId="478"/>
          <ac:picMkLst>
            <pc:docMk/>
            <pc:sldMk cId="4017723375" sldId="295"/>
            <ac:picMk id="19" creationId="{CCD6BF68-BAFA-F1E7-D74B-ED733E23073F}"/>
          </ac:picMkLst>
        </pc:picChg>
      </pc:sldChg>
      <pc:sldChg chg="delSp add del mod delAnim">
        <pc:chgData name="Michele Nguyen (Dr)" userId="72917947-4a4e-42ff-b4ec-a414eb8a1970" providerId="ADAL" clId="{20FE9017-5AEB-D043-A8B5-6A162B35336F}" dt="2024-05-20T07:27:05.592" v="16" actId="2696"/>
        <pc:sldMkLst>
          <pc:docMk/>
          <pc:sldMk cId="708484734" sldId="296"/>
        </pc:sldMkLst>
        <pc:picChg chg="del">
          <ac:chgData name="Michele Nguyen (Dr)" userId="72917947-4a4e-42ff-b4ec-a414eb8a1970" providerId="ADAL" clId="{20FE9017-5AEB-D043-A8B5-6A162B35336F}" dt="2024-05-20T07:26:26.272" v="5" actId="478"/>
          <ac:picMkLst>
            <pc:docMk/>
            <pc:sldMk cId="708484734" sldId="296"/>
            <ac:picMk id="22" creationId="{DC93D71F-9E42-733D-3303-90458D9EE6F6}"/>
          </ac:picMkLst>
        </pc:picChg>
      </pc:sldChg>
      <pc:sldChg chg="delSp add mod delAnim modNotesTx">
        <pc:chgData name="Michele Nguyen (Dr)" userId="72917947-4a4e-42ff-b4ec-a414eb8a1970" providerId="ADAL" clId="{20FE9017-5AEB-D043-A8B5-6A162B35336F}" dt="2024-05-20T07:28:18.684" v="31" actId="6549"/>
        <pc:sldMkLst>
          <pc:docMk/>
          <pc:sldMk cId="667258607" sldId="297"/>
        </pc:sldMkLst>
        <pc:picChg chg="del">
          <ac:chgData name="Michele Nguyen (Dr)" userId="72917947-4a4e-42ff-b4ec-a414eb8a1970" providerId="ADAL" clId="{20FE9017-5AEB-D043-A8B5-6A162B35336F}" dt="2024-05-20T07:27:47.374" v="19" actId="478"/>
          <ac:picMkLst>
            <pc:docMk/>
            <pc:sldMk cId="667258607" sldId="297"/>
            <ac:picMk id="8" creationId="{F623FC20-83EC-DAB2-6663-BE221B3CA1C6}"/>
          </ac:picMkLst>
        </pc:picChg>
      </pc:sldChg>
      <pc:sldChg chg="delSp add mod delAnim modNotesTx">
        <pc:chgData name="Michele Nguyen (Dr)" userId="72917947-4a4e-42ff-b4ec-a414eb8a1970" providerId="ADAL" clId="{20FE9017-5AEB-D043-A8B5-6A162B35336F}" dt="2024-05-20T07:28:07.529" v="27" actId="6549"/>
        <pc:sldMkLst>
          <pc:docMk/>
          <pc:sldMk cId="2263399286" sldId="298"/>
        </pc:sldMkLst>
        <pc:picChg chg="del">
          <ac:chgData name="Michele Nguyen (Dr)" userId="72917947-4a4e-42ff-b4ec-a414eb8a1970" providerId="ADAL" clId="{20FE9017-5AEB-D043-A8B5-6A162B35336F}" dt="2024-05-20T07:27:55.898" v="24" actId="478"/>
          <ac:picMkLst>
            <pc:docMk/>
            <pc:sldMk cId="2263399286" sldId="298"/>
            <ac:picMk id="8" creationId="{080337B8-2557-7F00-51C2-F770D6C1C4F0}"/>
          </ac:picMkLst>
        </pc:picChg>
      </pc:sldChg>
      <pc:sldChg chg="delSp modSp add mod delAnim">
        <pc:chgData name="Michele Nguyen (Dr)" userId="72917947-4a4e-42ff-b4ec-a414eb8a1970" providerId="ADAL" clId="{20FE9017-5AEB-D043-A8B5-6A162B35336F}" dt="2024-05-20T07:26:28.459" v="7" actId="478"/>
        <pc:sldMkLst>
          <pc:docMk/>
          <pc:sldMk cId="1130958196" sldId="299"/>
        </pc:sldMkLst>
        <pc:picChg chg="del mod">
          <ac:chgData name="Michele Nguyen (Dr)" userId="72917947-4a4e-42ff-b4ec-a414eb8a1970" providerId="ADAL" clId="{20FE9017-5AEB-D043-A8B5-6A162B35336F}" dt="2024-05-20T07:26:28.459" v="7" actId="478"/>
          <ac:picMkLst>
            <pc:docMk/>
            <pc:sldMk cId="1130958196" sldId="299"/>
            <ac:picMk id="22" creationId="{DC93D71F-9E42-733D-3303-90458D9EE6F6}"/>
          </ac:picMkLst>
        </pc:picChg>
      </pc:sldChg>
      <pc:sldChg chg="delSp add del mod delAnim">
        <pc:chgData name="Michele Nguyen (Dr)" userId="72917947-4a4e-42ff-b4ec-a414eb8a1970" providerId="ADAL" clId="{20FE9017-5AEB-D043-A8B5-6A162B35336F}" dt="2024-05-20T07:26:49.633" v="13" actId="2696"/>
        <pc:sldMkLst>
          <pc:docMk/>
          <pc:sldMk cId="90736184" sldId="300"/>
        </pc:sldMkLst>
        <pc:picChg chg="del">
          <ac:chgData name="Michele Nguyen (Dr)" userId="72917947-4a4e-42ff-b4ec-a414eb8a1970" providerId="ADAL" clId="{20FE9017-5AEB-D043-A8B5-6A162B35336F}" dt="2024-05-20T07:26:37.952" v="10" actId="478"/>
          <ac:picMkLst>
            <pc:docMk/>
            <pc:sldMk cId="90736184" sldId="300"/>
            <ac:picMk id="14" creationId="{0A4453D2-9567-73B6-A0D0-24715A4CA07C}"/>
          </ac:picMkLst>
        </pc:picChg>
      </pc:sldChg>
      <pc:sldChg chg="delSp add del mod delAnim">
        <pc:chgData name="Michele Nguyen (Dr)" userId="72917947-4a4e-42ff-b4ec-a414eb8a1970" providerId="ADAL" clId="{20FE9017-5AEB-D043-A8B5-6A162B35336F}" dt="2024-05-20T07:26:49.633" v="13" actId="2696"/>
        <pc:sldMkLst>
          <pc:docMk/>
          <pc:sldMk cId="465295055" sldId="301"/>
        </pc:sldMkLst>
        <pc:picChg chg="del">
          <ac:chgData name="Michele Nguyen (Dr)" userId="72917947-4a4e-42ff-b4ec-a414eb8a1970" providerId="ADAL" clId="{20FE9017-5AEB-D043-A8B5-6A162B35336F}" dt="2024-05-20T07:26:39.850" v="11" actId="478"/>
          <ac:picMkLst>
            <pc:docMk/>
            <pc:sldMk cId="465295055" sldId="301"/>
            <ac:picMk id="18" creationId="{46C192AE-42A0-FF7D-2572-D033BA0111C9}"/>
          </ac:picMkLst>
        </pc:picChg>
      </pc:sldChg>
      <pc:sldChg chg="delSp add mod delAnim modNotesTx">
        <pc:chgData name="Michele Nguyen (Dr)" userId="72917947-4a4e-42ff-b4ec-a414eb8a1970" providerId="ADAL" clId="{20FE9017-5AEB-D043-A8B5-6A162B35336F}" dt="2024-05-20T07:28:28.773" v="34" actId="6549"/>
        <pc:sldMkLst>
          <pc:docMk/>
          <pc:sldMk cId="607206792" sldId="302"/>
        </pc:sldMkLst>
        <pc:picChg chg="del">
          <ac:chgData name="Michele Nguyen (Dr)" userId="72917947-4a4e-42ff-b4ec-a414eb8a1970" providerId="ADAL" clId="{20FE9017-5AEB-D043-A8B5-6A162B35336F}" dt="2024-05-20T07:26:43.301" v="12" actId="478"/>
          <ac:picMkLst>
            <pc:docMk/>
            <pc:sldMk cId="607206792" sldId="302"/>
            <ac:picMk id="26" creationId="{2B142CB3-59A6-DB60-D8C2-67775DE27DC4}"/>
          </ac:picMkLst>
        </pc:picChg>
      </pc:sldChg>
      <pc:sldChg chg="add del">
        <pc:chgData name="Michele Nguyen (Dr)" userId="72917947-4a4e-42ff-b4ec-a414eb8a1970" providerId="ADAL" clId="{20FE9017-5AEB-D043-A8B5-6A162B35336F}" dt="2024-05-20T07:26:55.786" v="14" actId="2696"/>
        <pc:sldMkLst>
          <pc:docMk/>
          <pc:sldMk cId="2283023563" sldId="303"/>
        </pc:sldMkLst>
      </pc:sldChg>
      <pc:sldChg chg="delSp add mod delAnim modNotesTx">
        <pc:chgData name="Michele Nguyen (Dr)" userId="72917947-4a4e-42ff-b4ec-a414eb8a1970" providerId="ADAL" clId="{20FE9017-5AEB-D043-A8B5-6A162B35336F}" dt="2024-05-20T07:28:26.018" v="33" actId="6549"/>
        <pc:sldMkLst>
          <pc:docMk/>
          <pc:sldMk cId="3160363635" sldId="304"/>
        </pc:sldMkLst>
        <pc:picChg chg="del">
          <ac:chgData name="Michele Nguyen (Dr)" userId="72917947-4a4e-42ff-b4ec-a414eb8a1970" providerId="ADAL" clId="{20FE9017-5AEB-D043-A8B5-6A162B35336F}" dt="2024-05-20T07:26:57.786" v="15" actId="478"/>
          <ac:picMkLst>
            <pc:docMk/>
            <pc:sldMk cId="3160363635" sldId="304"/>
            <ac:picMk id="5" creationId="{0AB7D039-2BD9-BC16-0DA0-6BA12DC22BF4}"/>
          </ac:picMkLst>
        </pc:picChg>
      </pc:sldChg>
      <pc:sldChg chg="delSp add mod delAnim modNotesTx">
        <pc:chgData name="Michele Nguyen (Dr)" userId="72917947-4a4e-42ff-b4ec-a414eb8a1970" providerId="ADAL" clId="{20FE9017-5AEB-D043-A8B5-6A162B35336F}" dt="2024-05-20T07:28:22.198" v="32" actId="6549"/>
        <pc:sldMkLst>
          <pc:docMk/>
          <pc:sldMk cId="3942027166" sldId="305"/>
        </pc:sldMkLst>
        <pc:picChg chg="del">
          <ac:chgData name="Michele Nguyen (Dr)" userId="72917947-4a4e-42ff-b4ec-a414eb8a1970" providerId="ADAL" clId="{20FE9017-5AEB-D043-A8B5-6A162B35336F}" dt="2024-05-20T07:27:45.255" v="18" actId="478"/>
          <ac:picMkLst>
            <pc:docMk/>
            <pc:sldMk cId="3942027166" sldId="305"/>
            <ac:picMk id="9" creationId="{666F57C0-D718-A04C-97D0-A66205C04801}"/>
          </ac:picMkLst>
        </pc:picChg>
      </pc:sldChg>
      <pc:sldChg chg="delSp modSp add mod delAnim modNotesTx">
        <pc:chgData name="Michele Nguyen (Dr)" userId="72917947-4a4e-42ff-b4ec-a414eb8a1970" providerId="ADAL" clId="{20FE9017-5AEB-D043-A8B5-6A162B35336F}" dt="2024-05-20T07:28:14.623" v="30" actId="6549"/>
        <pc:sldMkLst>
          <pc:docMk/>
          <pc:sldMk cId="888599676" sldId="306"/>
        </pc:sldMkLst>
        <pc:picChg chg="del mod">
          <ac:chgData name="Michele Nguyen (Dr)" userId="72917947-4a4e-42ff-b4ec-a414eb8a1970" providerId="ADAL" clId="{20FE9017-5AEB-D043-A8B5-6A162B35336F}" dt="2024-05-20T07:27:49.016" v="21" actId="478"/>
          <ac:picMkLst>
            <pc:docMk/>
            <pc:sldMk cId="888599676" sldId="306"/>
            <ac:picMk id="10" creationId="{CE243F15-5259-6D49-FD15-266AC65AAFFB}"/>
          </ac:picMkLst>
        </pc:picChg>
      </pc:sldChg>
      <pc:sldChg chg="delSp add mod delAnim modNotesTx">
        <pc:chgData name="Michele Nguyen (Dr)" userId="72917947-4a4e-42ff-b4ec-a414eb8a1970" providerId="ADAL" clId="{20FE9017-5AEB-D043-A8B5-6A162B35336F}" dt="2024-05-20T07:28:09.688" v="28" actId="6549"/>
        <pc:sldMkLst>
          <pc:docMk/>
          <pc:sldMk cId="2050762728" sldId="307"/>
        </pc:sldMkLst>
        <pc:picChg chg="del">
          <ac:chgData name="Michele Nguyen (Dr)" userId="72917947-4a4e-42ff-b4ec-a414eb8a1970" providerId="ADAL" clId="{20FE9017-5AEB-D043-A8B5-6A162B35336F}" dt="2024-05-20T07:27:54.075" v="23" actId="478"/>
          <ac:picMkLst>
            <pc:docMk/>
            <pc:sldMk cId="2050762728" sldId="307"/>
            <ac:picMk id="6" creationId="{A67C6CB3-2D96-E5AA-41BC-A81AFE0F21B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392" units="cm"/>
          <inkml:channel name="Y" type="integer" max="692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0-06-16T15:51:39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20237 2923 0,'0'0'2,"0"0"1,0 0 6,0 0 0,0 0 0,0 0 0</inkml:trace>
  <inkml:trace contextRef="#ctx0" brushRef="#br0" timeOffset="115">20448 2869 0,'0'0'8,"0"0"1,0 0 0,0 0 0,0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C1FE4-D279-4E38-A292-ACBE5B93FFB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1C30B-97AD-492E-9479-D05892B60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2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1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26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73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13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79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83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29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46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0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1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4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09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47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1C30B-97AD-492E-9479-D05892B606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6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Descriptive </a:t>
            </a:r>
            <a:r>
              <a:rPr lang="en-US" dirty="0"/>
              <a:t>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8D5B6D-EA75-4630-B7A6-E3B5CFD1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dual role of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67ABA2D-F76C-46A2-BD5B-4687FD8D4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Last video: statistics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described as a way to condense sample information</a:t>
                </a:r>
              </a:p>
              <a:p>
                <a:r>
                  <a:rPr lang="en-US" dirty="0"/>
                  <a:t>They can be used not only to 1) infer the unknown population characteristics (W8 and after), but also to 2) understand the sample itself </a:t>
                </a:r>
                <a:r>
                  <a:rPr lang="en-US" i="1" u="sng" dirty="0"/>
                  <a:t>in terms of its </a:t>
                </a:r>
                <a:r>
                  <a:rPr lang="en-US" b="1" i="1" u="sng" dirty="0"/>
                  <a:t>central location</a:t>
                </a:r>
                <a:r>
                  <a:rPr lang="en-US" i="1" u="sng" dirty="0"/>
                  <a:t> and </a:t>
                </a:r>
                <a:r>
                  <a:rPr lang="en-US" b="1" i="1" u="sng" dirty="0"/>
                  <a:t>level of dispersion</a:t>
                </a:r>
                <a:endParaRPr lang="en-US" b="1" dirty="0"/>
              </a:p>
              <a:p>
                <a:r>
                  <a:rPr lang="en-US" dirty="0"/>
                  <a:t>For the latter, this video introduces the commonly used statistics—which we call descriptive statistics (or summary statistics) of a sample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67ABA2D-F76C-46A2-BD5B-4687FD8D4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4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C748-C053-4771-95EE-5E801CF1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sample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E6EF-04D5-4BEB-958E-3510079B9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Measure of central location</a:t>
            </a:r>
            <a:r>
              <a:rPr lang="en-US" dirty="0"/>
              <a:t>: Sample mean, Sample median</a:t>
            </a:r>
          </a:p>
          <a:p>
            <a:r>
              <a:rPr lang="en-US" b="1" dirty="0"/>
              <a:t>Measure of dispersions</a:t>
            </a:r>
            <a:r>
              <a:rPr lang="en-US" dirty="0"/>
              <a:t>: Sample variance (standard deviations), Sample range (=max-min), &amp; Interquartile range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FA7415-41BC-4252-8AD8-44ED2E10B87A}"/>
              </a:ext>
            </a:extLst>
          </p:cNvPr>
          <p:cNvSpPr txBox="1"/>
          <p:nvPr/>
        </p:nvSpPr>
        <p:spPr>
          <a:xfrm>
            <a:off x="3503956" y="3481636"/>
            <a:ext cx="57674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Sample= [1,3,6,10,12,14,15]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8F2ED78-A151-445B-90A8-71333E3F93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783" r="1499"/>
          <a:stretch/>
        </p:blipFill>
        <p:spPr>
          <a:xfrm>
            <a:off x="2027370" y="5167312"/>
            <a:ext cx="7437993" cy="9176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672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92D09-5347-4AE8-BE93-29EA6C8C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mean vs. sample 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417A5C-6FA2-4FA4-94EA-38D0395D8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Sample mean: the average of </a:t>
                </a:r>
                <a:r>
                  <a:rPr lang="en-US" b="1" u="sng" dirty="0"/>
                  <a:t>all</a:t>
                </a:r>
                <a:r>
                  <a:rPr lang="en-US" dirty="0"/>
                  <a:t> sample points</a:t>
                </a:r>
              </a:p>
              <a:p>
                <a:pPr marL="0" indent="0">
                  <a:buNone/>
                </a:pPr>
                <a:r>
                  <a:rPr lang="en-US" dirty="0"/>
                  <a:t>For a sample [1,3,6,10,12,14,15], its sample mean is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=8.71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417A5C-6FA2-4FA4-94EA-38D0395D8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03B2CE-A762-4AEE-8CDE-526F277513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9783" r="1499"/>
          <a:stretch/>
        </p:blipFill>
        <p:spPr>
          <a:xfrm>
            <a:off x="2097097" y="4424770"/>
            <a:ext cx="7437993" cy="917601"/>
          </a:xfrm>
          <a:prstGeom prst="rect">
            <a:avLst/>
          </a:prstGeom>
        </p:spPr>
      </p:pic>
      <p:sp>
        <p:nvSpPr>
          <p:cNvPr id="6" name="文字方塊 21">
            <a:extLst>
              <a:ext uri="{FF2B5EF4-FFF2-40B4-BE49-F238E27FC236}">
                <a16:creationId xmlns:a16="http://schemas.microsoft.com/office/drawing/2014/main" id="{0411C255-D9D6-458D-BCDB-1303FE063E6C}"/>
              </a:ext>
            </a:extLst>
          </p:cNvPr>
          <p:cNvSpPr txBox="1"/>
          <p:nvPr/>
        </p:nvSpPr>
        <p:spPr>
          <a:xfrm>
            <a:off x="938686" y="5375902"/>
            <a:ext cx="10415114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When using sample mean as a measure of central tendency, we implicitly define the central tendency based on </a:t>
            </a:r>
            <a:r>
              <a:rPr lang="en-US" sz="2800" b="1" i="1" dirty="0"/>
              <a:t>the values of all sample points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8F1AE-6954-433E-85E7-FE1E7821C93B}"/>
              </a:ext>
            </a:extLst>
          </p:cNvPr>
          <p:cNvSpPr/>
          <p:nvPr/>
        </p:nvSpPr>
        <p:spPr>
          <a:xfrm>
            <a:off x="6096000" y="4769116"/>
            <a:ext cx="124110" cy="1368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465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92D09-5347-4AE8-BE93-29EA6C8C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mean vs. sample 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417A5C-6FA2-4FA4-94EA-38D0395D8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Sample median = the middle sample point (only)</a:t>
                </a:r>
              </a:p>
              <a:p>
                <a:pPr marL="0" indent="0">
                  <a:buNone/>
                </a:pPr>
                <a:r>
                  <a:rPr lang="en-US" dirty="0"/>
                  <a:t>For a sample [1,3,6,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10</a:t>
                </a:r>
                <a:r>
                  <a:rPr lang="en-US" dirty="0"/>
                  <a:t>,12,14,15], its sample median is </a:t>
                </a:r>
                <a:r>
                  <a:rPr lang="en-US" i="1" dirty="0"/>
                  <a:t>the sample point right in the middle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417A5C-6FA2-4FA4-94EA-38D0395D8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03B2CE-A762-4AEE-8CDE-526F277513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9783" r="1499"/>
          <a:stretch/>
        </p:blipFill>
        <p:spPr>
          <a:xfrm>
            <a:off x="1872244" y="3614479"/>
            <a:ext cx="7437993" cy="917601"/>
          </a:xfrm>
          <a:prstGeom prst="rect">
            <a:avLst/>
          </a:prstGeom>
        </p:spPr>
      </p:pic>
      <p:sp>
        <p:nvSpPr>
          <p:cNvPr id="6" name="文字方塊 21">
            <a:extLst>
              <a:ext uri="{FF2B5EF4-FFF2-40B4-BE49-F238E27FC236}">
                <a16:creationId xmlns:a16="http://schemas.microsoft.com/office/drawing/2014/main" id="{0411C255-D9D6-458D-BCDB-1303FE063E6C}"/>
              </a:ext>
            </a:extLst>
          </p:cNvPr>
          <p:cNvSpPr txBox="1"/>
          <p:nvPr/>
        </p:nvSpPr>
        <p:spPr>
          <a:xfrm>
            <a:off x="938686" y="5375902"/>
            <a:ext cx="10415114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When using sample median as a measure of central tendency, we implicitly define the central tendency based on </a:t>
            </a:r>
            <a:r>
              <a:rPr lang="en-US" sz="2800" b="1" i="1" dirty="0"/>
              <a:t>the middle value of all sample points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8F1AE-6954-433E-85E7-FE1E7821C93B}"/>
              </a:ext>
            </a:extLst>
          </p:cNvPr>
          <p:cNvSpPr/>
          <p:nvPr/>
        </p:nvSpPr>
        <p:spPr>
          <a:xfrm>
            <a:off x="6425777" y="3958825"/>
            <a:ext cx="124110" cy="1368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458189-9A4C-4535-88DF-BAAB31FB39B1}"/>
              </a:ext>
            </a:extLst>
          </p:cNvPr>
          <p:cNvSpPr/>
          <p:nvPr/>
        </p:nvSpPr>
        <p:spPr>
          <a:xfrm>
            <a:off x="2873114" y="4616367"/>
            <a:ext cx="609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i="1" dirty="0"/>
              <a:t>FYI only: when sample size is even, sample median will be some average of the two sample points in the middle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99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7747E04-2C42-4BC4-A258-0CBF5AFA7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32" y="642059"/>
            <a:ext cx="9477375" cy="43719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67DB5CC-3338-44E9-B7FA-47FD46B00BAB}"/>
              </a:ext>
            </a:extLst>
          </p:cNvPr>
          <p:cNvSpPr txBox="1"/>
          <p:nvPr/>
        </p:nvSpPr>
        <p:spPr>
          <a:xfrm>
            <a:off x="4722404" y="3943281"/>
            <a:ext cx="2239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[6,7,8,9,10]</a:t>
            </a:r>
          </a:p>
          <a:p>
            <a:r>
              <a:rPr lang="en-US" dirty="0"/>
              <a:t>Mean (8)=Median (8)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569F381-ED63-4CA7-B68F-F08468196B4E}"/>
              </a:ext>
            </a:extLst>
          </p:cNvPr>
          <p:cNvSpPr txBox="1"/>
          <p:nvPr/>
        </p:nvSpPr>
        <p:spPr>
          <a:xfrm>
            <a:off x="4571300" y="642059"/>
            <a:ext cx="241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Symmetric distribution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F5F3616-69C5-4E7E-A35C-A730B416A036}"/>
              </a:ext>
            </a:extLst>
          </p:cNvPr>
          <p:cNvSpPr txBox="1"/>
          <p:nvPr/>
        </p:nvSpPr>
        <p:spPr>
          <a:xfrm>
            <a:off x="7270957" y="642059"/>
            <a:ext cx="2671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Right-skewed distribution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0F2B6C-B12F-4F8B-9ADA-32E136980061}"/>
              </a:ext>
            </a:extLst>
          </p:cNvPr>
          <p:cNvSpPr txBox="1"/>
          <p:nvPr/>
        </p:nvSpPr>
        <p:spPr>
          <a:xfrm>
            <a:off x="1485537" y="642059"/>
            <a:ext cx="2546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Left-skewed distribution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D0BF8DB-36B7-45ED-B120-7AFE81CED3DB}"/>
              </a:ext>
            </a:extLst>
          </p:cNvPr>
          <p:cNvSpPr txBox="1"/>
          <p:nvPr/>
        </p:nvSpPr>
        <p:spPr>
          <a:xfrm>
            <a:off x="7616075" y="3943697"/>
            <a:ext cx="2467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[6,7,8,</a:t>
            </a:r>
            <a:r>
              <a:rPr lang="en-US" dirty="0">
                <a:solidFill>
                  <a:srgbClr val="FF0000"/>
                </a:solidFill>
              </a:rPr>
              <a:t>12,14</a:t>
            </a:r>
            <a:r>
              <a:rPr lang="en-US" dirty="0"/>
              <a:t>]</a:t>
            </a:r>
          </a:p>
          <a:p>
            <a:r>
              <a:rPr lang="en-US" dirty="0"/>
              <a:t>Mean (9.4) &gt; Median (8)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42E4C0F-FF44-4D7D-886E-6E20627DA25B}"/>
              </a:ext>
            </a:extLst>
          </p:cNvPr>
          <p:cNvSpPr txBox="1"/>
          <p:nvPr/>
        </p:nvSpPr>
        <p:spPr>
          <a:xfrm>
            <a:off x="1485537" y="3876169"/>
            <a:ext cx="2467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[</a:t>
            </a:r>
            <a:r>
              <a:rPr lang="en-US" dirty="0">
                <a:solidFill>
                  <a:srgbClr val="FF0000"/>
                </a:solidFill>
              </a:rPr>
              <a:t>2,3</a:t>
            </a:r>
            <a:r>
              <a:rPr lang="en-US" dirty="0"/>
              <a:t>,8,9,10]</a:t>
            </a:r>
          </a:p>
          <a:p>
            <a:r>
              <a:rPr lang="en-US" dirty="0"/>
              <a:t>Mean (6.4) &lt; Median (8)</a:t>
            </a:r>
          </a:p>
        </p:txBody>
      </p:sp>
      <p:sp>
        <p:nvSpPr>
          <p:cNvPr id="15" name="文字方塊 21">
            <a:extLst>
              <a:ext uri="{FF2B5EF4-FFF2-40B4-BE49-F238E27FC236}">
                <a16:creationId xmlns:a16="http://schemas.microsoft.com/office/drawing/2014/main" id="{D0811FEB-3D83-4737-A3D6-7CFD9F9EF3BB}"/>
              </a:ext>
            </a:extLst>
          </p:cNvPr>
          <p:cNvSpPr txBox="1"/>
          <p:nvPr/>
        </p:nvSpPr>
        <p:spPr>
          <a:xfrm>
            <a:off x="1346150" y="5284572"/>
            <a:ext cx="992169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Sample mean is much more sensitive to “outliers” so better to use it in conjunction with “max” or “min”</a:t>
            </a:r>
          </a:p>
          <a:p>
            <a:r>
              <a:rPr lang="en-US" dirty="0"/>
              <a:t>But sample means have much nicer statistical tractability; so it’s </a:t>
            </a:r>
            <a:r>
              <a:rPr lang="en-US"/>
              <a:t>more often used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20AA249-0D97-420E-B3BB-3F84C527489F}"/>
                  </a:ext>
                </a:extLst>
              </p14:cNvPr>
              <p14:cNvContentPartPr/>
              <p14:nvPr/>
            </p14:nvContentPartPr>
            <p14:xfrm>
              <a:off x="7285320" y="151297"/>
              <a:ext cx="7632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20AA249-0D97-420E-B3BB-3F84C52748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5960" y="141937"/>
                <a:ext cx="95040" cy="385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14EA2BA5-7D8F-44A9-9052-C67AAA781BE0}"/>
              </a:ext>
            </a:extLst>
          </p:cNvPr>
          <p:cNvSpPr/>
          <p:nvPr/>
        </p:nvSpPr>
        <p:spPr>
          <a:xfrm>
            <a:off x="1062237" y="1916407"/>
            <a:ext cx="257346" cy="1336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23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FC6C-C5EE-470A-84F4-E1513F9C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0" y="30627"/>
            <a:ext cx="10515600" cy="1325563"/>
          </a:xfrm>
        </p:spPr>
        <p:txBody>
          <a:bodyPr/>
          <a:lstStyle/>
          <a:p>
            <a:r>
              <a:rPr lang="en-US" dirty="0"/>
              <a:t>The percentile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8CD34C-CBA2-483A-86B0-17FB5D2C6C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630723"/>
                <a:ext cx="10515600" cy="192107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The 25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= 0.25 quantile = the 1</a:t>
                </a:r>
                <a:r>
                  <a:rPr lang="en-US" baseline="30000" dirty="0"/>
                  <a:t>st</a:t>
                </a:r>
                <a:r>
                  <a:rPr lang="en-US" dirty="0"/>
                  <a:t> quartile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50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=0.50 quantile =  the 2</a:t>
                </a:r>
                <a:r>
                  <a:rPr lang="en-US" baseline="30000" dirty="0"/>
                  <a:t>nd</a:t>
                </a:r>
                <a:r>
                  <a:rPr lang="en-US" dirty="0"/>
                  <a:t>  quartile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Median</a:t>
                </a:r>
              </a:p>
              <a:p>
                <a:r>
                  <a:rPr lang="en-US" dirty="0"/>
                  <a:t>The 75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=0.75 quantile =  the 3</a:t>
                </a:r>
                <a:r>
                  <a:rPr lang="en-US" baseline="30000" dirty="0"/>
                  <a:t>rd</a:t>
                </a:r>
                <a:r>
                  <a:rPr lang="en-US" dirty="0"/>
                  <a:t> quartile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inter-quartile range (IQR). </a:t>
                </a:r>
                <a:r>
                  <a:rPr lang="en-US" i="1" dirty="0"/>
                  <a:t>PS: Can IQR be negative?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8CD34C-CBA2-483A-86B0-17FB5D2C6C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630723"/>
                <a:ext cx="10515600" cy="1921079"/>
              </a:xfrm>
              <a:blipFill>
                <a:blip r:embed="rId5"/>
                <a:stretch>
                  <a:fillRect l="-928" t="-5079" b="-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9F8F1AAC-1DCB-4DB7-BAE1-80689E4E67DA}"/>
              </a:ext>
            </a:extLst>
          </p:cNvPr>
          <p:cNvSpPr txBox="1"/>
          <p:nvPr/>
        </p:nvSpPr>
        <p:spPr>
          <a:xfrm>
            <a:off x="6326474" y="2109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769830-503D-44AA-BA11-3A21B7ED8AD9}"/>
              </a:ext>
            </a:extLst>
          </p:cNvPr>
          <p:cNvSpPr txBox="1"/>
          <p:nvPr/>
        </p:nvSpPr>
        <p:spPr>
          <a:xfrm>
            <a:off x="9089205" y="20567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4175578-FA6E-4F0F-B2DC-9906E647DA9B}"/>
              </a:ext>
            </a:extLst>
          </p:cNvPr>
          <p:cNvCxnSpPr>
            <a:cxnSpLocks/>
          </p:cNvCxnSpPr>
          <p:nvPr/>
        </p:nvCxnSpPr>
        <p:spPr>
          <a:xfrm>
            <a:off x="6557233" y="3041013"/>
            <a:ext cx="266280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F82E522-5C57-48D0-95FF-8C910B8BE6A1}"/>
              </a:ext>
            </a:extLst>
          </p:cNvPr>
          <p:cNvSpPr txBox="1"/>
          <p:nvPr/>
        </p:nvSpPr>
        <p:spPr>
          <a:xfrm>
            <a:off x="6326474" y="2750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35189E8-675C-4578-82DA-B88113B290C7}"/>
              </a:ext>
            </a:extLst>
          </p:cNvPr>
          <p:cNvSpPr txBox="1"/>
          <p:nvPr/>
        </p:nvSpPr>
        <p:spPr>
          <a:xfrm>
            <a:off x="9172818" y="271465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8C1AB2C-4937-4DD5-B89A-ED29530C61EC}"/>
              </a:ext>
            </a:extLst>
          </p:cNvPr>
          <p:cNvSpPr txBox="1"/>
          <p:nvPr/>
        </p:nvSpPr>
        <p:spPr>
          <a:xfrm>
            <a:off x="6298797" y="37686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8E1EB3-ECFB-4667-B892-947CB382EDB4}"/>
              </a:ext>
            </a:extLst>
          </p:cNvPr>
          <p:cNvSpPr txBox="1"/>
          <p:nvPr/>
        </p:nvSpPr>
        <p:spPr>
          <a:xfrm>
            <a:off x="6999288" y="4016243"/>
            <a:ext cx="465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1st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146CC1-C5CC-4AD8-A967-E86E9ADC42A7}"/>
              </a:ext>
            </a:extLst>
          </p:cNvPr>
          <p:cNvSpPr txBox="1"/>
          <p:nvPr/>
        </p:nvSpPr>
        <p:spPr>
          <a:xfrm>
            <a:off x="7579370" y="4016631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980ADC1-8D6C-4CE8-9B9B-E7EE8FED4593}"/>
              </a:ext>
            </a:extLst>
          </p:cNvPr>
          <p:cNvSpPr txBox="1"/>
          <p:nvPr/>
        </p:nvSpPr>
        <p:spPr>
          <a:xfrm>
            <a:off x="8318681" y="4016243"/>
            <a:ext cx="50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AFFD0297-C590-473E-988D-BCCD5A7D864A}"/>
              </a:ext>
            </a:extLst>
          </p:cNvPr>
          <p:cNvCxnSpPr>
            <a:cxnSpLocks/>
          </p:cNvCxnSpPr>
          <p:nvPr/>
        </p:nvCxnSpPr>
        <p:spPr>
          <a:xfrm>
            <a:off x="6566815" y="2410987"/>
            <a:ext cx="266280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F8E9C82-5EF3-4678-9CA9-4AF920B556C1}"/>
              </a:ext>
            </a:extLst>
          </p:cNvPr>
          <p:cNvCxnSpPr>
            <a:cxnSpLocks/>
          </p:cNvCxnSpPr>
          <p:nvPr/>
        </p:nvCxnSpPr>
        <p:spPr>
          <a:xfrm>
            <a:off x="6566815" y="4080792"/>
            <a:ext cx="266280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F05D3EB-966E-4BC9-8978-C5B345DCFE15}"/>
              </a:ext>
            </a:extLst>
          </p:cNvPr>
          <p:cNvCxnSpPr>
            <a:cxnSpLocks/>
          </p:cNvCxnSpPr>
          <p:nvPr/>
        </p:nvCxnSpPr>
        <p:spPr>
          <a:xfrm>
            <a:off x="9229620" y="2410987"/>
            <a:ext cx="25326" cy="168184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28CFC35E-0213-4F54-9735-9E83839037F6}"/>
              </a:ext>
            </a:extLst>
          </p:cNvPr>
          <p:cNvCxnSpPr>
            <a:cxnSpLocks/>
          </p:cNvCxnSpPr>
          <p:nvPr/>
        </p:nvCxnSpPr>
        <p:spPr>
          <a:xfrm>
            <a:off x="6541489" y="2410986"/>
            <a:ext cx="25326" cy="168184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9745699-6C9E-4FDE-AF00-EE53608811B2}"/>
              </a:ext>
            </a:extLst>
          </p:cNvPr>
          <p:cNvSpPr txBox="1"/>
          <p:nvPr/>
        </p:nvSpPr>
        <p:spPr>
          <a:xfrm>
            <a:off x="9184115" y="2245646"/>
            <a:ext cx="110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percentile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3C92ACC-5831-4550-B41C-8B8663E39E77}"/>
              </a:ext>
            </a:extLst>
          </p:cNvPr>
          <p:cNvSpPr txBox="1"/>
          <p:nvPr/>
        </p:nvSpPr>
        <p:spPr>
          <a:xfrm>
            <a:off x="9220038" y="2911358"/>
            <a:ext cx="95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quantile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9A827A4-8432-46F5-A399-4CD046791BE5}"/>
              </a:ext>
            </a:extLst>
          </p:cNvPr>
          <p:cNvSpPr txBox="1"/>
          <p:nvPr/>
        </p:nvSpPr>
        <p:spPr>
          <a:xfrm>
            <a:off x="9097522" y="4012044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quartile</a:t>
            </a: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7F11232-24E9-4571-B167-407C42D33B73}"/>
              </a:ext>
            </a:extLst>
          </p:cNvPr>
          <p:cNvCxnSpPr>
            <a:cxnSpLocks/>
          </p:cNvCxnSpPr>
          <p:nvPr/>
        </p:nvCxnSpPr>
        <p:spPr>
          <a:xfrm>
            <a:off x="6557233" y="1325137"/>
            <a:ext cx="2662805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6335C57-90F5-47D0-82C4-9B31466E27DD}"/>
              </a:ext>
            </a:extLst>
          </p:cNvPr>
          <p:cNvSpPr txBox="1"/>
          <p:nvPr/>
        </p:nvSpPr>
        <p:spPr>
          <a:xfrm>
            <a:off x="7260585" y="93107"/>
            <a:ext cx="867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GPA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5B8DD29-553A-4B2B-A731-334992FA8D42}"/>
              </a:ext>
            </a:extLst>
          </p:cNvPr>
          <p:cNvSpPr txBox="1"/>
          <p:nvPr/>
        </p:nvSpPr>
        <p:spPr>
          <a:xfrm>
            <a:off x="5786030" y="1304603"/>
            <a:ext cx="846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Lowest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00300C0-AD31-4979-A37C-92591F65DF28}"/>
              </a:ext>
            </a:extLst>
          </p:cNvPr>
          <p:cNvSpPr txBox="1"/>
          <p:nvPr/>
        </p:nvSpPr>
        <p:spPr>
          <a:xfrm>
            <a:off x="9097522" y="1322605"/>
            <a:ext cx="892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Highest</a:t>
            </a:r>
          </a:p>
        </p:txBody>
      </p:sp>
      <p:pic>
        <p:nvPicPr>
          <p:cNvPr id="2052" name="Picture 4" descr="Student girl holding a folder | Free SVG">
            <a:extLst>
              <a:ext uri="{FF2B5EF4-FFF2-40B4-BE49-F238E27FC236}">
                <a16:creationId xmlns:a16="http://schemas.microsoft.com/office/drawing/2014/main" id="{4FBFCB06-0B0C-4A20-A719-F40D1E21D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620" y="68445"/>
            <a:ext cx="728528" cy="120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9D875D3B-573B-4CCC-9FDC-D92F3D30AFC0}"/>
              </a:ext>
            </a:extLst>
          </p:cNvPr>
          <p:cNvGrpSpPr/>
          <p:nvPr/>
        </p:nvGrpSpPr>
        <p:grpSpPr>
          <a:xfrm>
            <a:off x="314226" y="1487247"/>
            <a:ext cx="4191350" cy="2381193"/>
            <a:chOff x="768201" y="1496389"/>
            <a:chExt cx="4191350" cy="2381193"/>
          </a:xfrm>
        </p:grpSpPr>
        <p:pic>
          <p:nvPicPr>
            <p:cNvPr id="4" name="Picture 3" descr="Screen Clipping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345" t="-102" r="290" b="21688"/>
            <a:stretch/>
          </p:blipFill>
          <p:spPr>
            <a:xfrm>
              <a:off x="2196680" y="1496389"/>
              <a:ext cx="2762871" cy="2348988"/>
            </a:xfrm>
            <a:prstGeom prst="rect">
              <a:avLst/>
            </a:prstGeom>
          </p:spPr>
        </p:pic>
        <p:pic>
          <p:nvPicPr>
            <p:cNvPr id="38" name="Picture 3" descr="Screen Clipping">
              <a:extLst>
                <a:ext uri="{FF2B5EF4-FFF2-40B4-BE49-F238E27FC236}">
                  <a16:creationId xmlns:a16="http://schemas.microsoft.com/office/drawing/2014/main" id="{5C5EC2D2-4D57-4127-8B62-695FB6C36A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8" t="1703" r="79115" b="19883"/>
            <a:stretch/>
          </p:blipFill>
          <p:spPr>
            <a:xfrm>
              <a:off x="768201" y="1528594"/>
              <a:ext cx="1484561" cy="2348988"/>
            </a:xfrm>
            <a:prstGeom prst="rect">
              <a:avLst/>
            </a:prstGeom>
          </p:spPr>
        </p:pic>
      </p:grpSp>
      <p:pic>
        <p:nvPicPr>
          <p:cNvPr id="2054" name="Picture 6" descr="Vector clip art of nerd giraffe | Public domain vectors">
            <a:extLst>
              <a:ext uri="{FF2B5EF4-FFF2-40B4-BE49-F238E27FC236}">
                <a16:creationId xmlns:a16="http://schemas.microsoft.com/office/drawing/2014/main" id="{F64EB9AE-9223-49A0-A0EF-611ED386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693" y="132989"/>
            <a:ext cx="642246" cy="120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195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6" grpId="0"/>
      <p:bldP spid="17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FE3E-2B7A-422B-BDA9-0EA276C4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forget these are still “statistics”!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30B66-C27C-4933-9335-969E903B9A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the statistics introduced here are statistics…so each has its own sampling distribution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This means that for different samples, </a:t>
                </a:r>
                <a:r>
                  <a:rPr lang="en-US"/>
                  <a:t>you can </a:t>
                </a:r>
                <a:r>
                  <a:rPr lang="en-US" dirty="0"/>
                  <a:t>get different values for them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30B66-C27C-4933-9335-969E903B9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16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R-applications </a:t>
            </a:r>
            <a:br>
              <a:rPr lang="en-US" dirty="0"/>
            </a:br>
            <a:r>
              <a:rPr lang="en-US" dirty="0"/>
              <a:t>Calculating descriptive statistics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1FA4EDD-E351-45AF-BFBE-FC80F6FB2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06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</a:t>
            </a:r>
            <a:r>
              <a:rPr lang="en-SG" dirty="0" err="1"/>
              <a:t>ChickWeight</a:t>
            </a:r>
            <a:r>
              <a:rPr lang="en-SG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&gt;help(</a:t>
            </a:r>
            <a:r>
              <a:rPr lang="en-SG" dirty="0" err="1"/>
              <a:t>ChickWeight</a:t>
            </a:r>
            <a:r>
              <a:rPr lang="en-SG" dirty="0"/>
              <a:t>) </a:t>
            </a:r>
            <a:r>
              <a:rPr lang="en-US" dirty="0">
                <a:solidFill>
                  <a:schemeClr val="accent1"/>
                </a:solidFill>
              </a:rPr>
              <a:t># or ?</a:t>
            </a:r>
            <a:r>
              <a:rPr lang="en-US" dirty="0" err="1">
                <a:solidFill>
                  <a:schemeClr val="accent1"/>
                </a:solidFill>
              </a:rPr>
              <a:t>ChickWeight</a:t>
            </a:r>
            <a:r>
              <a:rPr lang="en-US" dirty="0">
                <a:solidFill>
                  <a:schemeClr val="accent1"/>
                </a:solidFill>
              </a:rPr>
              <a:t>—get descriptions of the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&gt;View(</a:t>
            </a:r>
            <a:r>
              <a:rPr lang="en-SG" dirty="0" err="1"/>
              <a:t>ChickWeight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# spreadsheet view of the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&gt;hist(</a:t>
            </a:r>
            <a:r>
              <a:rPr lang="en-SG" sz="2400" dirty="0" err="1"/>
              <a:t>ChickWeight</a:t>
            </a:r>
            <a:r>
              <a:rPr lang="en-US" sz="2400" dirty="0"/>
              <a:t>$weight)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&gt;mean(</a:t>
            </a:r>
            <a:r>
              <a:rPr lang="en-SG" dirty="0" err="1"/>
              <a:t>ChickWeight</a:t>
            </a:r>
            <a:r>
              <a:rPr lang="en-US" dirty="0"/>
              <a:t>$weight)</a:t>
            </a:r>
          </a:p>
          <a:p>
            <a:pPr marL="0" indent="0">
              <a:buNone/>
            </a:pPr>
            <a:r>
              <a:rPr lang="en-US" dirty="0"/>
              <a:t>&gt;median(</a:t>
            </a:r>
            <a:r>
              <a:rPr lang="en-SG" dirty="0" err="1"/>
              <a:t>ChickWeight</a:t>
            </a:r>
            <a:r>
              <a:rPr lang="en-US" dirty="0"/>
              <a:t>$weight)</a:t>
            </a:r>
          </a:p>
          <a:p>
            <a:pPr marL="0" indent="0">
              <a:buNone/>
            </a:pPr>
            <a:r>
              <a:rPr lang="en-US" dirty="0"/>
              <a:t>&gt;var(</a:t>
            </a:r>
            <a:r>
              <a:rPr lang="en-SG" dirty="0" err="1"/>
              <a:t>ChickWeight</a:t>
            </a:r>
            <a:r>
              <a:rPr lang="en-US" dirty="0"/>
              <a:t>$weight)</a:t>
            </a:r>
          </a:p>
          <a:p>
            <a:pPr marL="0" indent="0">
              <a:buNone/>
            </a:pPr>
            <a:r>
              <a:rPr lang="en-US" dirty="0"/>
              <a:t>&gt;</a:t>
            </a:r>
            <a:r>
              <a:rPr lang="en-US" dirty="0" err="1"/>
              <a:t>sd</a:t>
            </a:r>
            <a:r>
              <a:rPr lang="en-US" dirty="0"/>
              <a:t>(</a:t>
            </a:r>
            <a:r>
              <a:rPr lang="en-SG" dirty="0" err="1"/>
              <a:t>ChickWeight</a:t>
            </a:r>
            <a:r>
              <a:rPr lang="en-US" dirty="0"/>
              <a:t>$weight)</a:t>
            </a:r>
          </a:p>
          <a:p>
            <a:pPr marL="0" indent="0">
              <a:buNone/>
            </a:pPr>
            <a:r>
              <a:rPr lang="en-US" dirty="0"/>
              <a:t>&gt;range(</a:t>
            </a:r>
            <a:r>
              <a:rPr lang="en-SG" dirty="0" err="1"/>
              <a:t>ChickWeight</a:t>
            </a:r>
            <a:r>
              <a:rPr lang="en-US" dirty="0"/>
              <a:t>$weight)    </a:t>
            </a:r>
            <a:r>
              <a:rPr lang="en-US" sz="2400" dirty="0">
                <a:solidFill>
                  <a:schemeClr val="accent1"/>
                </a:solidFill>
              </a:rPr>
              <a:t># returns the minimum and maximum</a:t>
            </a:r>
          </a:p>
          <a:p>
            <a:pPr marL="0" indent="0">
              <a:buNone/>
            </a:pPr>
            <a:r>
              <a:rPr lang="en-US" sz="2400" dirty="0"/>
              <a:t>&gt;summary(</a:t>
            </a:r>
            <a:r>
              <a:rPr lang="en-US" sz="2400" dirty="0" err="1"/>
              <a:t>ChickWeight$weight</a:t>
            </a:r>
            <a:r>
              <a:rPr lang="en-US" sz="2400" dirty="0"/>
              <a:t>) </a:t>
            </a:r>
            <a:r>
              <a:rPr lang="en-US" sz="2400" dirty="0">
                <a:solidFill>
                  <a:schemeClr val="accent1"/>
                </a:solidFill>
              </a:rPr>
              <a:t>#conveniently give you a summary table of many summary statistics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170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&gt;summary(</a:t>
            </a:r>
            <a:r>
              <a:rPr lang="en-US" dirty="0" err="1"/>
              <a:t>ChickWeight$weight</a:t>
            </a:r>
            <a:r>
              <a:rPr lang="en-US" dirty="0"/>
              <a:t>) </a:t>
            </a:r>
            <a:r>
              <a:rPr lang="en-US" sz="2400" dirty="0">
                <a:solidFill>
                  <a:schemeClr val="accent1"/>
                </a:solidFill>
              </a:rPr>
              <a:t>#conveniently give you a summary table of quartiles, median, mean, </a:t>
            </a:r>
            <a:r>
              <a:rPr lang="en-US" sz="2400" dirty="0" err="1">
                <a:solidFill>
                  <a:schemeClr val="accent1"/>
                </a:solidFill>
              </a:rPr>
              <a:t>etc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&gt;quantile(</a:t>
            </a:r>
            <a:r>
              <a:rPr lang="en-US" dirty="0" err="1"/>
              <a:t>ChickWeight$weight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# returns Q1 to Q4 of the sample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&gt;quantile(</a:t>
            </a:r>
            <a:r>
              <a:rPr lang="en-US" dirty="0" err="1"/>
              <a:t>ChickWeight$weight,p</a:t>
            </a:r>
            <a:r>
              <a:rPr lang="en-US" dirty="0"/>
              <a:t>=0.5) </a:t>
            </a:r>
            <a:r>
              <a:rPr lang="en-US" dirty="0">
                <a:solidFill>
                  <a:schemeClr val="accent1"/>
                </a:solidFill>
              </a:rPr>
              <a:t># Q2=median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&gt;quantile(</a:t>
            </a:r>
            <a:r>
              <a:rPr lang="en-US" dirty="0" err="1"/>
              <a:t>ChickWeight$weight,p</a:t>
            </a:r>
            <a:r>
              <a:rPr lang="en-US" dirty="0"/>
              <a:t>=0.25) </a:t>
            </a:r>
            <a:r>
              <a:rPr lang="en-US" dirty="0">
                <a:solidFill>
                  <a:schemeClr val="accent1"/>
                </a:solidFill>
              </a:rPr>
              <a:t># Q1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&gt;quantile(</a:t>
            </a:r>
            <a:r>
              <a:rPr lang="en-US" dirty="0" err="1"/>
              <a:t>ChickWeight$weight,p</a:t>
            </a:r>
            <a:r>
              <a:rPr lang="en-US" dirty="0"/>
              <a:t>=0.75)-quantile(</a:t>
            </a:r>
            <a:r>
              <a:rPr lang="en-US" dirty="0" err="1"/>
              <a:t>ChickWeight$weight,p</a:t>
            </a:r>
            <a:r>
              <a:rPr lang="en-US" dirty="0"/>
              <a:t>=0.25) </a:t>
            </a:r>
            <a:r>
              <a:rPr lang="en-US" dirty="0">
                <a:solidFill>
                  <a:schemeClr val="accent1"/>
                </a:solidFill>
              </a:rPr>
              <a:t># the IQR; also can use IQR(</a:t>
            </a:r>
            <a:r>
              <a:rPr lang="en-US" dirty="0" err="1">
                <a:solidFill>
                  <a:schemeClr val="accent1"/>
                </a:solidFill>
              </a:rPr>
              <a:t>ChickWeight$weight</a:t>
            </a:r>
            <a:r>
              <a:rPr lang="en-US" dirty="0">
                <a:solidFill>
                  <a:schemeClr val="accent1"/>
                </a:solidFill>
              </a:rPr>
              <a:t>) directly 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4202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C312-4C6F-46B9-9C51-35ECCA5B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8038-FCE5-4069-9F57-59D5E8AE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there are more than one RV’s</a:t>
            </a:r>
          </a:p>
          <a:p>
            <a:r>
              <a:rPr lang="en-US" b="1" dirty="0"/>
              <a:t>Measure of association</a:t>
            </a:r>
            <a:r>
              <a:rPr lang="en-US" dirty="0"/>
              <a:t>: Sample correlation coefficient</a:t>
            </a:r>
          </a:p>
          <a:p>
            <a:pPr marL="0" indent="0">
              <a:buNone/>
            </a:pPr>
            <a:r>
              <a:rPr lang="en-US" dirty="0"/>
              <a:t>For example, to calculate the (sample) correlation coefficient between “weight” and “Time”</a:t>
            </a:r>
          </a:p>
          <a:p>
            <a:pPr marL="0" indent="0">
              <a:buNone/>
            </a:pPr>
            <a:r>
              <a:rPr lang="en-US" dirty="0"/>
              <a:t>&gt;</a:t>
            </a:r>
            <a:r>
              <a:rPr lang="en-US" dirty="0" err="1"/>
              <a:t>cor</a:t>
            </a:r>
            <a:r>
              <a:rPr lang="en-US" dirty="0"/>
              <a:t>(</a:t>
            </a:r>
            <a:r>
              <a:rPr lang="en-US" dirty="0" err="1"/>
              <a:t>ChickWeight</a:t>
            </a:r>
            <a:r>
              <a:rPr lang="en-US" dirty="0"/>
              <a:t>[,c("</a:t>
            </a:r>
            <a:r>
              <a:rPr lang="en-US" dirty="0" err="1"/>
              <a:t>weight","Time</a:t>
            </a:r>
            <a:r>
              <a:rPr lang="en-US" dirty="0"/>
              <a:t>")]) </a:t>
            </a:r>
            <a:r>
              <a:rPr lang="en-US" dirty="0">
                <a:solidFill>
                  <a:schemeClr val="accent1"/>
                </a:solidFill>
              </a:rPr>
              <a:t>#</a:t>
            </a:r>
            <a:r>
              <a:rPr lang="en-US" dirty="0" err="1">
                <a:solidFill>
                  <a:schemeClr val="accent1"/>
                </a:solidFill>
              </a:rPr>
              <a:t>ChickWeight</a:t>
            </a:r>
            <a:r>
              <a:rPr lang="en-US" dirty="0">
                <a:solidFill>
                  <a:schemeClr val="accent1"/>
                </a:solidFill>
              </a:rPr>
              <a:t>[,c("</a:t>
            </a:r>
            <a:r>
              <a:rPr lang="en-US" dirty="0" err="1">
                <a:solidFill>
                  <a:schemeClr val="accent1"/>
                </a:solidFill>
              </a:rPr>
              <a:t>weight","Time</a:t>
            </a:r>
            <a:r>
              <a:rPr lang="en-US" dirty="0">
                <a:solidFill>
                  <a:schemeClr val="accent1"/>
                </a:solidFill>
              </a:rPr>
              <a:t>")] form a new </a:t>
            </a:r>
            <a:r>
              <a:rPr lang="en-US" dirty="0" err="1">
                <a:solidFill>
                  <a:schemeClr val="accent1"/>
                </a:solidFill>
              </a:rPr>
              <a:t>dataframe</a:t>
            </a:r>
            <a:r>
              <a:rPr lang="en-US" dirty="0">
                <a:solidFill>
                  <a:schemeClr val="accent1"/>
                </a:solidFill>
              </a:rPr>
              <a:t> with these two columns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#unfortunately, you couldn’t use </a:t>
            </a:r>
            <a:r>
              <a:rPr lang="en-SG" dirty="0" err="1">
                <a:solidFill>
                  <a:schemeClr val="accent1"/>
                </a:solidFill>
              </a:rPr>
              <a:t>cor</a:t>
            </a:r>
            <a:r>
              <a:rPr lang="en-SG" dirty="0">
                <a:solidFill>
                  <a:schemeClr val="accent1"/>
                </a:solidFill>
              </a:rPr>
              <a:t>(</a:t>
            </a:r>
            <a:r>
              <a:rPr lang="en-SG" dirty="0" err="1">
                <a:solidFill>
                  <a:schemeClr val="accent1"/>
                </a:solidFill>
              </a:rPr>
              <a:t>ChickWeight</a:t>
            </a:r>
            <a:r>
              <a:rPr lang="en-SG" dirty="0">
                <a:solidFill>
                  <a:schemeClr val="accent1"/>
                </a:solidFill>
              </a:rPr>
              <a:t>) to get all pairwise correlation coefficients. The chick and diet are not numerical.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918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C312-4C6F-46B9-9C51-35ECCA5B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8038-FCE5-4069-9F57-59D5E8AE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there are more than one RV’s</a:t>
            </a:r>
          </a:p>
          <a:p>
            <a:r>
              <a:rPr lang="en-US" b="1" dirty="0"/>
              <a:t>Measure of association</a:t>
            </a:r>
            <a:r>
              <a:rPr lang="en-US" dirty="0"/>
              <a:t>: Sample correlation coefficient</a:t>
            </a:r>
          </a:p>
          <a:p>
            <a:pPr marL="0" indent="0">
              <a:buNone/>
            </a:pPr>
            <a:r>
              <a:rPr lang="en-US" dirty="0"/>
              <a:t>For example, to calculate the (sample) correlation coefficient between “weight” and “Time”</a:t>
            </a:r>
          </a:p>
          <a:p>
            <a:pPr marL="0" indent="0">
              <a:buNone/>
            </a:pPr>
            <a:r>
              <a:rPr lang="en-US" dirty="0"/>
              <a:t>&gt;</a:t>
            </a:r>
            <a:r>
              <a:rPr lang="en-US" dirty="0" err="1"/>
              <a:t>cor</a:t>
            </a:r>
            <a:r>
              <a:rPr lang="en-US" dirty="0"/>
              <a:t>(</a:t>
            </a:r>
            <a:r>
              <a:rPr lang="en-US" dirty="0" err="1"/>
              <a:t>ChickWeight</a:t>
            </a:r>
            <a:r>
              <a:rPr lang="en-US" dirty="0"/>
              <a:t>[,c("</a:t>
            </a:r>
            <a:r>
              <a:rPr lang="en-US" dirty="0" err="1"/>
              <a:t>weight","Time</a:t>
            </a:r>
            <a:r>
              <a:rPr lang="en-US" dirty="0"/>
              <a:t>")]) </a:t>
            </a:r>
            <a:r>
              <a:rPr lang="en-US" dirty="0">
                <a:solidFill>
                  <a:schemeClr val="accent1"/>
                </a:solidFill>
              </a:rPr>
              <a:t>#</a:t>
            </a:r>
            <a:r>
              <a:rPr lang="en-US" dirty="0" err="1">
                <a:solidFill>
                  <a:schemeClr val="accent1"/>
                </a:solidFill>
              </a:rPr>
              <a:t>ChickWeight</a:t>
            </a:r>
            <a:r>
              <a:rPr lang="en-US" dirty="0">
                <a:solidFill>
                  <a:schemeClr val="accent1"/>
                </a:solidFill>
              </a:rPr>
              <a:t>[,c("</a:t>
            </a:r>
            <a:r>
              <a:rPr lang="en-US" dirty="0" err="1">
                <a:solidFill>
                  <a:schemeClr val="accent1"/>
                </a:solidFill>
              </a:rPr>
              <a:t>weight","Time</a:t>
            </a:r>
            <a:r>
              <a:rPr lang="en-US" dirty="0">
                <a:solidFill>
                  <a:schemeClr val="accent1"/>
                </a:solidFill>
              </a:rPr>
              <a:t>")] form a new </a:t>
            </a:r>
            <a:r>
              <a:rPr lang="en-US" dirty="0" err="1">
                <a:solidFill>
                  <a:schemeClr val="accent1"/>
                </a:solidFill>
              </a:rPr>
              <a:t>dataframe</a:t>
            </a:r>
            <a:r>
              <a:rPr lang="en-US" dirty="0">
                <a:solidFill>
                  <a:schemeClr val="accent1"/>
                </a:solidFill>
              </a:rPr>
              <a:t> with these two columns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#unfortunately, you couldn’t use </a:t>
            </a:r>
            <a:r>
              <a:rPr lang="en-SG" dirty="0" err="1">
                <a:solidFill>
                  <a:schemeClr val="accent1"/>
                </a:solidFill>
              </a:rPr>
              <a:t>cor</a:t>
            </a:r>
            <a:r>
              <a:rPr lang="en-SG" dirty="0">
                <a:solidFill>
                  <a:schemeClr val="accent1"/>
                </a:solidFill>
              </a:rPr>
              <a:t>(</a:t>
            </a:r>
            <a:r>
              <a:rPr lang="en-SG" dirty="0" err="1">
                <a:solidFill>
                  <a:schemeClr val="accent1"/>
                </a:solidFill>
              </a:rPr>
              <a:t>ChickWeight</a:t>
            </a:r>
            <a:r>
              <a:rPr lang="en-SG" dirty="0">
                <a:solidFill>
                  <a:schemeClr val="accent1"/>
                </a:solidFill>
              </a:rPr>
              <a:t>) to get all pairwise correlation coefficients. The chick and diet are not numerical.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723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R-application: Box-plot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1FA4EDD-E351-45AF-BFBE-FC80F6FB2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63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" advClick="0" advTm="50">
        <p159:morph option="byObject"/>
      </p:transition>
    </mc:Choice>
    <mc:Fallback>
      <p:transition advClick="0" advTm="5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965509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669729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08EB0-CD3D-FBB0-F3C4-9655DABBFBB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126602" y="5108509"/>
            <a:ext cx="0" cy="404181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EE61E1-97F9-4592-2BD3-C4AE129B02BB}"/>
              </a:ext>
            </a:extLst>
          </p:cNvPr>
          <p:cNvCxnSpPr>
            <a:cxnSpLocks/>
          </p:cNvCxnSpPr>
          <p:nvPr/>
        </p:nvCxnSpPr>
        <p:spPr>
          <a:xfrm>
            <a:off x="2126602" y="2444620"/>
            <a:ext cx="0" cy="150845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3604B7-2381-D074-9001-84D7A18F8E75}"/>
              </a:ext>
            </a:extLst>
          </p:cNvPr>
          <p:cNvCxnSpPr>
            <a:cxnSpLocks/>
          </p:cNvCxnSpPr>
          <p:nvPr/>
        </p:nvCxnSpPr>
        <p:spPr>
          <a:xfrm flipH="1">
            <a:off x="1482654" y="5512690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3A31C7-1535-0A5C-849A-391E52C87DBA}"/>
              </a:ext>
            </a:extLst>
          </p:cNvPr>
          <p:cNvCxnSpPr>
            <a:cxnSpLocks/>
          </p:cNvCxnSpPr>
          <p:nvPr/>
        </p:nvCxnSpPr>
        <p:spPr>
          <a:xfrm flipH="1">
            <a:off x="1482654" y="2373083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64D913-9F36-AB39-3D44-817672CD2076}"/>
              </a:ext>
            </a:extLst>
          </p:cNvPr>
          <p:cNvSpPr/>
          <p:nvPr/>
        </p:nvSpPr>
        <p:spPr>
          <a:xfrm>
            <a:off x="2037185" y="1966961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5874E-EA82-D372-C59F-4EFC75AEB848}"/>
              </a:ext>
            </a:extLst>
          </p:cNvPr>
          <p:cNvSpPr/>
          <p:nvPr/>
        </p:nvSpPr>
        <p:spPr>
          <a:xfrm>
            <a:off x="2040297" y="1839446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957B1B-D8A3-8689-993B-67A54B2F2446}"/>
              </a:ext>
            </a:extLst>
          </p:cNvPr>
          <p:cNvCxnSpPr/>
          <p:nvPr/>
        </p:nvCxnSpPr>
        <p:spPr>
          <a:xfrm flipH="1" flipV="1">
            <a:off x="3588061" y="4657335"/>
            <a:ext cx="756013" cy="79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82C41D-790C-6F3F-45A7-6D43719BB2F1}"/>
              </a:ext>
            </a:extLst>
          </p:cNvPr>
          <p:cNvSpPr txBox="1"/>
          <p:nvPr/>
        </p:nvSpPr>
        <p:spPr>
          <a:xfrm>
            <a:off x="4386269" y="4397653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Median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DCB7E50-B922-FCB0-456C-5F4CC4EC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10" y="123402"/>
            <a:ext cx="10515600" cy="1325563"/>
          </a:xfrm>
        </p:spPr>
        <p:txBody>
          <a:bodyPr/>
          <a:lstStyle/>
          <a:p>
            <a:r>
              <a:rPr lang="en-US" dirty="0"/>
              <a:t>R-application: Box-whisker plots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0E85F5-CD45-22E4-6A5F-D052B25D65F3}"/>
              </a:ext>
            </a:extLst>
          </p:cNvPr>
          <p:cNvSpPr txBox="1"/>
          <p:nvPr/>
        </p:nvSpPr>
        <p:spPr>
          <a:xfrm>
            <a:off x="6721928" y="2578356"/>
            <a:ext cx="3984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Visualisation</a:t>
            </a:r>
            <a:r>
              <a:rPr lang="en-US" sz="3200" dirty="0"/>
              <a:t> of</a:t>
            </a:r>
            <a:br>
              <a:rPr lang="en-US" sz="3200" dirty="0"/>
            </a:br>
            <a:endParaRPr lang="en-US" sz="3200" dirty="0"/>
          </a:p>
          <a:p>
            <a:pPr marL="342900" indent="-342900">
              <a:buAutoNum type="arabicParenBoth"/>
            </a:pPr>
            <a:r>
              <a:rPr lang="en-US" sz="3200" b="1" dirty="0"/>
              <a:t> Central location</a:t>
            </a:r>
          </a:p>
          <a:p>
            <a:pPr marL="342900" indent="-342900">
              <a:buAutoNum type="arabicParenBoth"/>
            </a:pPr>
            <a:r>
              <a:rPr lang="en-US" sz="3200" dirty="0"/>
              <a:t> Dispersion/spread</a:t>
            </a:r>
          </a:p>
          <a:p>
            <a:pPr marL="342900" indent="-342900">
              <a:buAutoNum type="arabicParenBoth"/>
            </a:pPr>
            <a:r>
              <a:rPr lang="en-US" sz="3200" dirty="0"/>
              <a:t> Outliers</a:t>
            </a:r>
          </a:p>
        </p:txBody>
      </p:sp>
    </p:spTree>
    <p:extLst>
      <p:ext uri="{BB962C8B-B14F-4D97-AF65-F5344CB8AC3E}">
        <p14:creationId xmlns:p14="http://schemas.microsoft.com/office/powerpoint/2010/main" val="3703191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75"/>
    </mc:Choice>
    <mc:Fallback>
      <p:transition spd="slow" advTm="1027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965509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669729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08EB0-CD3D-FBB0-F3C4-9655DABBFBB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126602" y="5108509"/>
            <a:ext cx="0" cy="404181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EE61E1-97F9-4592-2BD3-C4AE129B02BB}"/>
              </a:ext>
            </a:extLst>
          </p:cNvPr>
          <p:cNvCxnSpPr>
            <a:cxnSpLocks/>
          </p:cNvCxnSpPr>
          <p:nvPr/>
        </p:nvCxnSpPr>
        <p:spPr>
          <a:xfrm>
            <a:off x="2126602" y="2444620"/>
            <a:ext cx="0" cy="150845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3604B7-2381-D074-9001-84D7A18F8E75}"/>
              </a:ext>
            </a:extLst>
          </p:cNvPr>
          <p:cNvCxnSpPr>
            <a:cxnSpLocks/>
          </p:cNvCxnSpPr>
          <p:nvPr/>
        </p:nvCxnSpPr>
        <p:spPr>
          <a:xfrm flipH="1">
            <a:off x="1482654" y="5512690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3A31C7-1535-0A5C-849A-391E52C87DBA}"/>
              </a:ext>
            </a:extLst>
          </p:cNvPr>
          <p:cNvCxnSpPr>
            <a:cxnSpLocks/>
          </p:cNvCxnSpPr>
          <p:nvPr/>
        </p:nvCxnSpPr>
        <p:spPr>
          <a:xfrm flipH="1">
            <a:off x="1482654" y="2373083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64D913-9F36-AB39-3D44-817672CD2076}"/>
              </a:ext>
            </a:extLst>
          </p:cNvPr>
          <p:cNvSpPr/>
          <p:nvPr/>
        </p:nvSpPr>
        <p:spPr>
          <a:xfrm>
            <a:off x="2037185" y="1966961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5874E-EA82-D372-C59F-4EFC75AEB848}"/>
              </a:ext>
            </a:extLst>
          </p:cNvPr>
          <p:cNvSpPr/>
          <p:nvPr/>
        </p:nvSpPr>
        <p:spPr>
          <a:xfrm>
            <a:off x="2040297" y="1839446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3B0937-A423-2A6A-F520-3F1D048A5D59}"/>
                  </a:ext>
                </a:extLst>
              </p:cNvPr>
              <p:cNvSpPr txBox="1"/>
              <p:nvPr/>
            </p:nvSpPr>
            <p:spPr>
              <a:xfrm>
                <a:off x="3410699" y="4873930"/>
                <a:ext cx="7226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3B0937-A423-2A6A-F520-3F1D048A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699" y="4873930"/>
                <a:ext cx="722634" cy="584775"/>
              </a:xfrm>
              <a:prstGeom prst="rect">
                <a:avLst/>
              </a:prstGeom>
              <a:blipFill>
                <a:blip r:embed="rId3"/>
                <a:stretch>
                  <a:fillRect l="-517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317279-15F6-EA5F-7151-B5C4E3AFACFE}"/>
                  </a:ext>
                </a:extLst>
              </p:cNvPr>
              <p:cNvSpPr txBox="1"/>
              <p:nvPr/>
            </p:nvSpPr>
            <p:spPr>
              <a:xfrm>
                <a:off x="3414539" y="3604686"/>
                <a:ext cx="7321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317279-15F6-EA5F-7151-B5C4E3AFA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539" y="3604686"/>
                <a:ext cx="732123" cy="584775"/>
              </a:xfrm>
              <a:prstGeom prst="rect">
                <a:avLst/>
              </a:prstGeom>
              <a:blipFill>
                <a:blip r:embed="rId4"/>
                <a:stretch>
                  <a:fillRect l="-5085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908E38BD-0F5D-5B72-4E43-FD176A804DF2}"/>
              </a:ext>
            </a:extLst>
          </p:cNvPr>
          <p:cNvSpPr/>
          <p:nvPr/>
        </p:nvSpPr>
        <p:spPr>
          <a:xfrm>
            <a:off x="4124138" y="3953076"/>
            <a:ext cx="559837" cy="11429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AD6B87-CCDC-DA19-E5ED-4165B3C1FC51}"/>
                  </a:ext>
                </a:extLst>
              </p:cNvPr>
              <p:cNvSpPr txBox="1"/>
              <p:nvPr/>
            </p:nvSpPr>
            <p:spPr>
              <a:xfrm>
                <a:off x="4680439" y="3976665"/>
                <a:ext cx="1960024" cy="1063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eqArr>
                          <m:eqArrPr>
                            <m:ctrlP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𝐼𝑄𝑅</m:t>
                            </m:r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SG" sz="3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3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SG" sz="3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SG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eqArr>
                      </m:e>
                      <m:sub>
                        <m:r>
                          <a:rPr lang="en-SG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320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AD6B87-CCDC-DA19-E5ED-4165B3C1F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439" y="3976665"/>
                <a:ext cx="1960024" cy="1063689"/>
              </a:xfrm>
              <a:prstGeom prst="rect">
                <a:avLst/>
              </a:prstGeom>
              <a:blipFill>
                <a:blip r:embed="rId5"/>
                <a:stretch>
                  <a:fillRect l="-5806" b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>
            <a:extLst>
              <a:ext uri="{FF2B5EF4-FFF2-40B4-BE49-F238E27FC236}">
                <a16:creationId xmlns:a16="http://schemas.microsoft.com/office/drawing/2014/main" id="{4DCB7E50-B922-FCB0-456C-5F4CC4EC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10" y="123402"/>
            <a:ext cx="10515600" cy="1325563"/>
          </a:xfrm>
        </p:spPr>
        <p:txBody>
          <a:bodyPr/>
          <a:lstStyle/>
          <a:p>
            <a:r>
              <a:rPr lang="en-US" dirty="0"/>
              <a:t>R-application: Box-whisker plots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6CF42-D2DC-C15C-26C4-9566440F5639}"/>
              </a:ext>
            </a:extLst>
          </p:cNvPr>
          <p:cNvSpPr txBox="1"/>
          <p:nvPr/>
        </p:nvSpPr>
        <p:spPr>
          <a:xfrm>
            <a:off x="6721928" y="2578356"/>
            <a:ext cx="3984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Visualisation</a:t>
            </a:r>
            <a:r>
              <a:rPr lang="en-US" sz="3200" dirty="0"/>
              <a:t> of</a:t>
            </a:r>
            <a:br>
              <a:rPr lang="en-US" sz="3200" dirty="0"/>
            </a:br>
            <a:endParaRPr lang="en-US" sz="3200" dirty="0"/>
          </a:p>
          <a:p>
            <a:pPr marL="342900" indent="-342900">
              <a:buAutoNum type="arabicParenBoth"/>
            </a:pPr>
            <a:r>
              <a:rPr lang="en-US" sz="3200" dirty="0"/>
              <a:t> Central location</a:t>
            </a:r>
          </a:p>
          <a:p>
            <a:pPr marL="342900" indent="-342900">
              <a:buAutoNum type="arabicParenBoth"/>
            </a:pPr>
            <a:r>
              <a:rPr lang="en-US" sz="3200" b="1" dirty="0"/>
              <a:t> Dispersion/spread</a:t>
            </a:r>
          </a:p>
          <a:p>
            <a:pPr marL="342900" indent="-342900">
              <a:buAutoNum type="arabicParenBoth"/>
            </a:pPr>
            <a:r>
              <a:rPr lang="en-US" sz="3200" dirty="0"/>
              <a:t> Outliers</a:t>
            </a:r>
          </a:p>
        </p:txBody>
      </p:sp>
    </p:spTree>
    <p:extLst>
      <p:ext uri="{BB962C8B-B14F-4D97-AF65-F5344CB8AC3E}">
        <p14:creationId xmlns:p14="http://schemas.microsoft.com/office/powerpoint/2010/main" val="4017723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02"/>
    </mc:Choice>
    <mc:Fallback>
      <p:transition spd="slow" advTm="2620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965509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669729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08EB0-CD3D-FBB0-F3C4-9655DABBFBB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126602" y="5108509"/>
            <a:ext cx="0" cy="404181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EE61E1-97F9-4592-2BD3-C4AE129B02BB}"/>
              </a:ext>
            </a:extLst>
          </p:cNvPr>
          <p:cNvCxnSpPr>
            <a:cxnSpLocks/>
          </p:cNvCxnSpPr>
          <p:nvPr/>
        </p:nvCxnSpPr>
        <p:spPr>
          <a:xfrm>
            <a:off x="2126602" y="2444620"/>
            <a:ext cx="0" cy="150845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3604B7-2381-D074-9001-84D7A18F8E75}"/>
              </a:ext>
            </a:extLst>
          </p:cNvPr>
          <p:cNvCxnSpPr>
            <a:cxnSpLocks/>
          </p:cNvCxnSpPr>
          <p:nvPr/>
        </p:nvCxnSpPr>
        <p:spPr>
          <a:xfrm flipH="1">
            <a:off x="1482654" y="5512690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3A31C7-1535-0A5C-849A-391E52C87DBA}"/>
              </a:ext>
            </a:extLst>
          </p:cNvPr>
          <p:cNvCxnSpPr>
            <a:cxnSpLocks/>
          </p:cNvCxnSpPr>
          <p:nvPr/>
        </p:nvCxnSpPr>
        <p:spPr>
          <a:xfrm flipH="1">
            <a:off x="1482654" y="2373083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64D913-9F36-AB39-3D44-817672CD2076}"/>
              </a:ext>
            </a:extLst>
          </p:cNvPr>
          <p:cNvSpPr/>
          <p:nvPr/>
        </p:nvSpPr>
        <p:spPr>
          <a:xfrm>
            <a:off x="2037185" y="1966961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5874E-EA82-D372-C59F-4EFC75AEB848}"/>
              </a:ext>
            </a:extLst>
          </p:cNvPr>
          <p:cNvSpPr/>
          <p:nvPr/>
        </p:nvSpPr>
        <p:spPr>
          <a:xfrm>
            <a:off x="2040297" y="1839446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DCB7E50-B922-FCB0-456C-5F4CC4EC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10" y="123402"/>
            <a:ext cx="10515600" cy="1325563"/>
          </a:xfrm>
        </p:spPr>
        <p:txBody>
          <a:bodyPr/>
          <a:lstStyle/>
          <a:p>
            <a:r>
              <a:rPr lang="en-US" dirty="0"/>
              <a:t>R-application: Box-whisker plots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6CF42-D2DC-C15C-26C4-9566440F5639}"/>
              </a:ext>
            </a:extLst>
          </p:cNvPr>
          <p:cNvSpPr txBox="1"/>
          <p:nvPr/>
        </p:nvSpPr>
        <p:spPr>
          <a:xfrm>
            <a:off x="6721928" y="2578356"/>
            <a:ext cx="3984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Visualisation</a:t>
            </a:r>
            <a:r>
              <a:rPr lang="en-US" sz="3200" dirty="0"/>
              <a:t> of</a:t>
            </a:r>
            <a:br>
              <a:rPr lang="en-US" sz="3200" dirty="0"/>
            </a:br>
            <a:endParaRPr lang="en-US" sz="3200" dirty="0"/>
          </a:p>
          <a:p>
            <a:pPr marL="342900" indent="-342900">
              <a:buAutoNum type="arabicParenBoth"/>
            </a:pPr>
            <a:r>
              <a:rPr lang="en-US" sz="3200" dirty="0"/>
              <a:t> Central location</a:t>
            </a:r>
          </a:p>
          <a:p>
            <a:pPr marL="342900" indent="-342900">
              <a:buAutoNum type="arabicParenBoth"/>
            </a:pPr>
            <a:r>
              <a:rPr lang="en-US" sz="3200" dirty="0"/>
              <a:t> Dispersion/spread</a:t>
            </a:r>
          </a:p>
          <a:p>
            <a:pPr marL="342900" indent="-342900">
              <a:buAutoNum type="arabicParenBoth"/>
            </a:pPr>
            <a:r>
              <a:rPr lang="en-US" sz="3200" b="1" dirty="0"/>
              <a:t> Outliers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31A5A0-B913-9D41-5085-A30F337CBBAA}"/>
              </a:ext>
            </a:extLst>
          </p:cNvPr>
          <p:cNvCxnSpPr/>
          <p:nvPr/>
        </p:nvCxnSpPr>
        <p:spPr>
          <a:xfrm>
            <a:off x="856861" y="6606071"/>
            <a:ext cx="271003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843DD7-6B21-74A3-E20B-80DCDB064108}"/>
              </a:ext>
            </a:extLst>
          </p:cNvPr>
          <p:cNvCxnSpPr/>
          <p:nvPr/>
        </p:nvCxnSpPr>
        <p:spPr>
          <a:xfrm>
            <a:off x="726232" y="2279777"/>
            <a:ext cx="271003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F79973-DF8B-5523-F479-62015EA0E199}"/>
              </a:ext>
            </a:extLst>
          </p:cNvPr>
          <p:cNvSpPr txBox="1"/>
          <p:nvPr/>
        </p:nvSpPr>
        <p:spPr>
          <a:xfrm>
            <a:off x="3592086" y="6198987"/>
            <a:ext cx="3989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SG" sz="3200" b="0" dirty="0">
                <a:solidFill>
                  <a:schemeClr val="accent1"/>
                </a:solidFill>
              </a:rPr>
              <a:t>Lower inner fence (LIF)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90719-432B-DE75-D0C4-A2EB79AB2249}"/>
              </a:ext>
            </a:extLst>
          </p:cNvPr>
          <p:cNvSpPr txBox="1"/>
          <p:nvPr/>
        </p:nvSpPr>
        <p:spPr>
          <a:xfrm>
            <a:off x="3538194" y="1704962"/>
            <a:ext cx="40970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SG" sz="3200" b="0" dirty="0">
                <a:solidFill>
                  <a:schemeClr val="accent1"/>
                </a:solidFill>
              </a:rPr>
              <a:t>Upper inner fence (UIF)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A6FAA-1DAC-BEEC-6180-2571E05C387C}"/>
              </a:ext>
            </a:extLst>
          </p:cNvPr>
          <p:cNvSpPr txBox="1"/>
          <p:nvPr/>
        </p:nvSpPr>
        <p:spPr>
          <a:xfrm>
            <a:off x="1482654" y="1228113"/>
            <a:ext cx="1745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b="0" dirty="0">
                <a:solidFill>
                  <a:schemeClr val="accent1"/>
                </a:solidFill>
              </a:rPr>
              <a:t>Outliers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F2140-6053-8EB5-9916-91339783A76F}"/>
              </a:ext>
            </a:extLst>
          </p:cNvPr>
          <p:cNvSpPr txBox="1"/>
          <p:nvPr/>
        </p:nvSpPr>
        <p:spPr>
          <a:xfrm>
            <a:off x="3682358" y="3028401"/>
            <a:ext cx="2603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Upper whisker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157B9D-0F96-6096-9A1D-8BFB422C6CB0}"/>
              </a:ext>
            </a:extLst>
          </p:cNvPr>
          <p:cNvCxnSpPr>
            <a:cxnSpLocks/>
          </p:cNvCxnSpPr>
          <p:nvPr/>
        </p:nvCxnSpPr>
        <p:spPr>
          <a:xfrm flipH="1" flipV="1">
            <a:off x="2854087" y="2405406"/>
            <a:ext cx="828271" cy="80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70DAC8-3BA2-8295-7431-748F9DF1FFA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892697" y="5369770"/>
            <a:ext cx="805631" cy="129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0A0BAF-5B26-502D-0B06-980C80C48453}"/>
              </a:ext>
            </a:extLst>
          </p:cNvPr>
          <p:cNvSpPr txBox="1"/>
          <p:nvPr/>
        </p:nvSpPr>
        <p:spPr>
          <a:xfrm>
            <a:off x="3698328" y="5077382"/>
            <a:ext cx="2585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Lower whisker</a:t>
            </a:r>
          </a:p>
        </p:txBody>
      </p:sp>
    </p:spTree>
    <p:extLst>
      <p:ext uri="{BB962C8B-B14F-4D97-AF65-F5344CB8AC3E}">
        <p14:creationId xmlns:p14="http://schemas.microsoft.com/office/powerpoint/2010/main" val="1130958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66"/>
    </mc:Choice>
    <mc:Fallback>
      <p:transition spd="slow" advTm="966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&gt;library(“datasets”)     </a:t>
            </a:r>
            <a:r>
              <a:rPr lang="en-US" sz="2400" dirty="0">
                <a:solidFill>
                  <a:schemeClr val="accent1"/>
                </a:solidFill>
              </a:rPr>
              <a:t># Load the package for illustrative datasets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SG" dirty="0"/>
              <a:t>&gt;chick&lt;-</a:t>
            </a:r>
            <a:r>
              <a:rPr lang="en-SG" dirty="0" err="1"/>
              <a:t>ChickWeight</a:t>
            </a:r>
            <a:r>
              <a:rPr lang="en-SG" dirty="0"/>
              <a:t>   </a:t>
            </a:r>
            <a:r>
              <a:rPr lang="en-US" sz="2400" dirty="0">
                <a:solidFill>
                  <a:schemeClr val="accent1"/>
                </a:solidFill>
              </a:rPr>
              <a:t># For detail, ?</a:t>
            </a:r>
            <a:r>
              <a:rPr lang="en-US" sz="2400" dirty="0" err="1">
                <a:solidFill>
                  <a:schemeClr val="accent1"/>
                </a:solidFill>
              </a:rPr>
              <a:t>ChickWeight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&gt;summary(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 </a:t>
            </a:r>
            <a:r>
              <a:rPr lang="en-US" sz="2400" dirty="0">
                <a:solidFill>
                  <a:schemeClr val="accent1"/>
                </a:solidFill>
              </a:rPr>
              <a:t># Summary statistics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497B-3BC8-10EA-E932-F4782F571715}"/>
              </a:ext>
            </a:extLst>
          </p:cNvPr>
          <p:cNvSpPr txBox="1"/>
          <p:nvPr/>
        </p:nvSpPr>
        <p:spPr>
          <a:xfrm>
            <a:off x="838199" y="3777360"/>
            <a:ext cx="78206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Min.      1st Qu.   Median    Mean     3rd Qu.    Max. </a:t>
            </a:r>
          </a:p>
          <a:p>
            <a:r>
              <a:rPr lang="en-US" sz="2800" dirty="0"/>
              <a:t>39.0       65.5       104.5        122.6     163.0        331.0</a:t>
            </a:r>
          </a:p>
        </p:txBody>
      </p:sp>
    </p:spTree>
    <p:extLst>
      <p:ext uri="{BB962C8B-B14F-4D97-AF65-F5344CB8AC3E}">
        <p14:creationId xmlns:p14="http://schemas.microsoft.com/office/powerpoint/2010/main" val="130915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000"/>
    </mc:Choice>
    <mc:Fallback>
      <p:transition spd="slow" advTm="36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573624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1B369B-B4DB-9AD5-1885-65121F91D558}"/>
              </a:ext>
            </a:extLst>
          </p:cNvPr>
          <p:cNvCxnSpPr/>
          <p:nvPr/>
        </p:nvCxnSpPr>
        <p:spPr>
          <a:xfrm flipH="1" flipV="1">
            <a:off x="3396343" y="4747607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556B69-3B78-BD9A-6E5D-54035F09D921}"/>
              </a:ext>
            </a:extLst>
          </p:cNvPr>
          <p:cNvCxnSpPr/>
          <p:nvPr/>
        </p:nvCxnSpPr>
        <p:spPr>
          <a:xfrm flipH="1" flipV="1">
            <a:off x="3396343" y="3603144"/>
            <a:ext cx="1225731" cy="6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4BF225-FAC8-AEE7-E208-1D0D307EA84B}"/>
                  </a:ext>
                </a:extLst>
              </p:cNvPr>
              <p:cNvSpPr txBox="1"/>
              <p:nvPr/>
            </p:nvSpPr>
            <p:spPr>
              <a:xfrm>
                <a:off x="4622409" y="3342089"/>
                <a:ext cx="251671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SG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=163.0</m:t>
                      </m:r>
                    </m:oMath>
                  </m:oMathPara>
                </a14:m>
                <a:endParaRPr lang="en-SG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4BF225-FAC8-AEE7-E208-1D0D307E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409" y="3342089"/>
                <a:ext cx="2516715" cy="646331"/>
              </a:xfrm>
              <a:prstGeom prst="rect">
                <a:avLst/>
              </a:prstGeom>
              <a:blipFill>
                <a:blip r:embed="rId3"/>
                <a:stretch>
                  <a:fillRect l="-1500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3F2E57-976D-C80D-6CE0-F66C042D9F23}"/>
              </a:ext>
            </a:extLst>
          </p:cNvPr>
          <p:cNvCxnSpPr/>
          <p:nvPr/>
        </p:nvCxnSpPr>
        <p:spPr>
          <a:xfrm flipH="1" flipV="1">
            <a:off x="3436268" y="4277844"/>
            <a:ext cx="756013" cy="79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01798F-69A0-BEE0-AFFF-79ADDC91E4EA}"/>
              </a:ext>
            </a:extLst>
          </p:cNvPr>
          <p:cNvSpPr txBox="1"/>
          <p:nvPr/>
        </p:nvSpPr>
        <p:spPr>
          <a:xfrm>
            <a:off x="4213482" y="4070293"/>
            <a:ext cx="3110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dirty="0">
                <a:solidFill>
                  <a:schemeClr val="accent1"/>
                </a:solidFill>
              </a:rPr>
              <a:t>Median = 104.5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277844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F1EE2D-B1CE-2CC8-7579-21FDDC4AF04F}"/>
                  </a:ext>
                </a:extLst>
              </p:cNvPr>
              <p:cNvSpPr txBox="1"/>
              <p:nvPr/>
            </p:nvSpPr>
            <p:spPr>
              <a:xfrm>
                <a:off x="4274610" y="4685642"/>
                <a:ext cx="2251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SG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=65.5</m:t>
                      </m:r>
                    </m:oMath>
                  </m:oMathPara>
                </a14:m>
                <a:endParaRPr lang="en-SG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F1EE2D-B1CE-2CC8-7579-21FDDC4A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610" y="4685642"/>
                <a:ext cx="2251129" cy="646331"/>
              </a:xfrm>
              <a:prstGeom prst="rect">
                <a:avLst/>
              </a:prstGeom>
              <a:blipFill>
                <a:blip r:embed="rId4"/>
                <a:stretch>
                  <a:fillRect l="-1685" r="-562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4E864B-A832-40B4-42DB-9941007624AE}"/>
              </a:ext>
            </a:extLst>
          </p:cNvPr>
          <p:cNvCxnSpPr/>
          <p:nvPr/>
        </p:nvCxnSpPr>
        <p:spPr>
          <a:xfrm>
            <a:off x="856861" y="6214187"/>
            <a:ext cx="271003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80524D-FF06-7E56-2024-1A8B4C89E8D5}"/>
              </a:ext>
            </a:extLst>
          </p:cNvPr>
          <p:cNvCxnSpPr/>
          <p:nvPr/>
        </p:nvCxnSpPr>
        <p:spPr>
          <a:xfrm>
            <a:off x="726232" y="1887893"/>
            <a:ext cx="271003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e 15">
            <a:extLst>
              <a:ext uri="{FF2B5EF4-FFF2-40B4-BE49-F238E27FC236}">
                <a16:creationId xmlns:a16="http://schemas.microsoft.com/office/drawing/2014/main" id="{AD89FF59-34CF-916B-F0D8-AFAE06464772}"/>
              </a:ext>
            </a:extLst>
          </p:cNvPr>
          <p:cNvSpPr/>
          <p:nvPr/>
        </p:nvSpPr>
        <p:spPr>
          <a:xfrm>
            <a:off x="7189801" y="3593358"/>
            <a:ext cx="559837" cy="15274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F5F8AD-77A2-7A09-4E17-13618A3855DD}"/>
                  </a:ext>
                </a:extLst>
              </p:cNvPr>
              <p:cNvSpPr txBox="1"/>
              <p:nvPr/>
            </p:nvSpPr>
            <p:spPr>
              <a:xfrm>
                <a:off x="7703437" y="4093075"/>
                <a:ext cx="23766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SG" sz="3600" dirty="0">
                    <a:solidFill>
                      <a:schemeClr val="accent1"/>
                    </a:solidFill>
                  </a:rPr>
                  <a:t> 97.5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F5F8AD-77A2-7A09-4E17-13618A385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437" y="4093075"/>
                <a:ext cx="2376676" cy="646331"/>
              </a:xfrm>
              <a:prstGeom prst="rect">
                <a:avLst/>
              </a:prstGeom>
              <a:blipFill>
                <a:blip r:embed="rId5"/>
                <a:stretch>
                  <a:fillRect l="-4255" t="-15686" r="-6915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89A3D2-CA79-2E31-2D3A-850552799622}"/>
              </a:ext>
            </a:extLst>
          </p:cNvPr>
          <p:cNvCxnSpPr>
            <a:cxnSpLocks/>
          </p:cNvCxnSpPr>
          <p:nvPr/>
        </p:nvCxnSpPr>
        <p:spPr>
          <a:xfrm flipH="1" flipV="1">
            <a:off x="3635047" y="6209155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680732-AC2E-9F06-795E-3380F288BDB4}"/>
                  </a:ext>
                </a:extLst>
              </p:cNvPr>
              <p:cNvSpPr txBox="1"/>
              <p:nvPr/>
            </p:nvSpPr>
            <p:spPr>
              <a:xfrm>
                <a:off x="4571320" y="5703670"/>
                <a:ext cx="502983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SG" sz="3600" b="0" dirty="0">
                    <a:solidFill>
                      <a:schemeClr val="accent1"/>
                    </a:solidFill>
                  </a:rPr>
                  <a:t>Lower inner fence (LIF)</a:t>
                </a:r>
              </a:p>
              <a:p>
                <a:pPr/>
                <a:r>
                  <a:rPr lang="en-SG" sz="3600" b="0" dirty="0">
                    <a:solidFill>
                      <a:schemeClr val="accent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−1.5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=−80.75</m:t>
                    </m:r>
                  </m:oMath>
                </a14:m>
                <a:endParaRPr lang="en-SG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680732-AC2E-9F06-795E-3380F288B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20" y="5703670"/>
                <a:ext cx="5029838" cy="1200329"/>
              </a:xfrm>
              <a:prstGeom prst="rect">
                <a:avLst/>
              </a:prstGeom>
              <a:blipFill>
                <a:blip r:embed="rId6"/>
                <a:stretch>
                  <a:fillRect l="-3788" t="-8421" r="-505" b="-1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566147-EFD2-FC7A-29F5-67EE5BE94A3A}"/>
                  </a:ext>
                </a:extLst>
              </p:cNvPr>
              <p:cNvSpPr txBox="1"/>
              <p:nvPr/>
            </p:nvSpPr>
            <p:spPr>
              <a:xfrm>
                <a:off x="4529424" y="1395304"/>
                <a:ext cx="495077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SG" sz="3600" b="0" dirty="0">
                    <a:solidFill>
                      <a:schemeClr val="accent1"/>
                    </a:solidFill>
                  </a:rPr>
                  <a:t>Upper inner fence (UIF)</a:t>
                </a:r>
              </a:p>
              <a:p>
                <a:pPr/>
                <a:r>
                  <a:rPr lang="en-SG" sz="3600" b="0" dirty="0">
                    <a:solidFill>
                      <a:schemeClr val="accent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+1.5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=309.25</m:t>
                    </m:r>
                  </m:oMath>
                </a14:m>
                <a:endParaRPr lang="en-SG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566147-EFD2-FC7A-29F5-67EE5B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424" y="1395304"/>
                <a:ext cx="4950779" cy="1200329"/>
              </a:xfrm>
              <a:prstGeom prst="rect">
                <a:avLst/>
              </a:prstGeom>
              <a:blipFill>
                <a:blip r:embed="rId7"/>
                <a:stretch>
                  <a:fillRect l="-3581" t="-7292" r="-51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A98363-98E6-26BF-AED1-AF7D1381F286}"/>
              </a:ext>
            </a:extLst>
          </p:cNvPr>
          <p:cNvCxnSpPr>
            <a:cxnSpLocks/>
          </p:cNvCxnSpPr>
          <p:nvPr/>
        </p:nvCxnSpPr>
        <p:spPr>
          <a:xfrm flipH="1" flipV="1">
            <a:off x="3635047" y="1887893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D8A9DC-BC5F-949C-469C-B6A3D4AC6A66}"/>
              </a:ext>
            </a:extLst>
          </p:cNvPr>
          <p:cNvSpPr txBox="1"/>
          <p:nvPr/>
        </p:nvSpPr>
        <p:spPr>
          <a:xfrm>
            <a:off x="2070033" y="306373"/>
            <a:ext cx="78206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Min.      1st Qu.   Median    Mean     3rd Qu.    Max. </a:t>
            </a:r>
          </a:p>
          <a:p>
            <a:r>
              <a:rPr lang="en-US" sz="2800" dirty="0"/>
              <a:t>39.0       65.5       104.5        122.6     163.0        331.0</a:t>
            </a:r>
          </a:p>
        </p:txBody>
      </p:sp>
    </p:spTree>
    <p:extLst>
      <p:ext uri="{BB962C8B-B14F-4D97-AF65-F5344CB8AC3E}">
        <p14:creationId xmlns:p14="http://schemas.microsoft.com/office/powerpoint/2010/main" val="607206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00"/>
    </mc:Choice>
    <mc:Fallback>
      <p:transition spd="slow" advTm="79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573624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1B369B-B4DB-9AD5-1885-65121F91D558}"/>
              </a:ext>
            </a:extLst>
          </p:cNvPr>
          <p:cNvCxnSpPr/>
          <p:nvPr/>
        </p:nvCxnSpPr>
        <p:spPr>
          <a:xfrm flipH="1" flipV="1">
            <a:off x="2987422" y="5120805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277844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F1EE2D-B1CE-2CC8-7579-21FDDC4AF04F}"/>
              </a:ext>
            </a:extLst>
          </p:cNvPr>
          <p:cNvSpPr txBox="1"/>
          <p:nvPr/>
        </p:nvSpPr>
        <p:spPr>
          <a:xfrm>
            <a:off x="3903256" y="4858603"/>
            <a:ext cx="5437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0" dirty="0">
                <a:solidFill>
                  <a:schemeClr val="accent1"/>
                </a:solidFill>
              </a:rPr>
              <a:t>Lower </a:t>
            </a:r>
            <a:r>
              <a:rPr lang="en-US" sz="3600" dirty="0">
                <a:solidFill>
                  <a:schemeClr val="accent1"/>
                </a:solidFill>
              </a:rPr>
              <a:t>whisker = Min. = 39.0</a:t>
            </a:r>
            <a:endParaRPr lang="en-SG" sz="3600" dirty="0">
              <a:solidFill>
                <a:schemeClr val="accent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4E864B-A832-40B4-42DB-9941007624AE}"/>
              </a:ext>
            </a:extLst>
          </p:cNvPr>
          <p:cNvCxnSpPr/>
          <p:nvPr/>
        </p:nvCxnSpPr>
        <p:spPr>
          <a:xfrm>
            <a:off x="856861" y="6214187"/>
            <a:ext cx="271003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80524D-FF06-7E56-2024-1A8B4C89E8D5}"/>
              </a:ext>
            </a:extLst>
          </p:cNvPr>
          <p:cNvCxnSpPr/>
          <p:nvPr/>
        </p:nvCxnSpPr>
        <p:spPr>
          <a:xfrm>
            <a:off x="726232" y="1887893"/>
            <a:ext cx="271003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89A3D2-CA79-2E31-2D3A-850552799622}"/>
              </a:ext>
            </a:extLst>
          </p:cNvPr>
          <p:cNvCxnSpPr>
            <a:cxnSpLocks/>
          </p:cNvCxnSpPr>
          <p:nvPr/>
        </p:nvCxnSpPr>
        <p:spPr>
          <a:xfrm flipH="1" flipV="1">
            <a:off x="3635047" y="6209155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680732-AC2E-9F06-795E-3380F288BDB4}"/>
                  </a:ext>
                </a:extLst>
              </p:cNvPr>
              <p:cNvSpPr txBox="1"/>
              <p:nvPr/>
            </p:nvSpPr>
            <p:spPr>
              <a:xfrm>
                <a:off x="4571320" y="5703670"/>
                <a:ext cx="502983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3600" b="0" dirty="0">
                    <a:solidFill>
                      <a:schemeClr val="accent1"/>
                    </a:solidFill>
                  </a:rPr>
                  <a:t>Lower inner fence (LIF)</a:t>
                </a:r>
              </a:p>
              <a:p>
                <a:r>
                  <a:rPr lang="en-SG" sz="3600" b="0" dirty="0">
                    <a:solidFill>
                      <a:schemeClr val="accent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−1.5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=−80.75</m:t>
                    </m:r>
                  </m:oMath>
                </a14:m>
                <a:endParaRPr lang="en-SG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680732-AC2E-9F06-795E-3380F288B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20" y="5703670"/>
                <a:ext cx="5029838" cy="1200329"/>
              </a:xfrm>
              <a:prstGeom prst="rect">
                <a:avLst/>
              </a:prstGeom>
              <a:blipFill>
                <a:blip r:embed="rId3"/>
                <a:stretch>
                  <a:fillRect l="-3788" t="-8421" r="-505" b="-1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566147-EFD2-FC7A-29F5-67EE5BE94A3A}"/>
                  </a:ext>
                </a:extLst>
              </p:cNvPr>
              <p:cNvSpPr txBox="1"/>
              <p:nvPr/>
            </p:nvSpPr>
            <p:spPr>
              <a:xfrm>
                <a:off x="4529424" y="1395304"/>
                <a:ext cx="495077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3600" b="0" dirty="0">
                    <a:solidFill>
                      <a:schemeClr val="accent1"/>
                    </a:solidFill>
                  </a:rPr>
                  <a:t>Upper inner fence (UIF)</a:t>
                </a:r>
              </a:p>
              <a:p>
                <a:r>
                  <a:rPr lang="en-SG" sz="3600" b="0" dirty="0">
                    <a:solidFill>
                      <a:schemeClr val="accent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+1.5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=309.25</m:t>
                    </m:r>
                  </m:oMath>
                </a14:m>
                <a:endParaRPr lang="en-SG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566147-EFD2-FC7A-29F5-67EE5B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424" y="1395304"/>
                <a:ext cx="4950779" cy="1200329"/>
              </a:xfrm>
              <a:prstGeom prst="rect">
                <a:avLst/>
              </a:prstGeom>
              <a:blipFill>
                <a:blip r:embed="rId4"/>
                <a:stretch>
                  <a:fillRect l="-3581" t="-7292" r="-51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08EB0-CD3D-FBB0-F3C4-9655DABBFBB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126602" y="4716624"/>
            <a:ext cx="0" cy="404181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3604B7-2381-D074-9001-84D7A18F8E75}"/>
              </a:ext>
            </a:extLst>
          </p:cNvPr>
          <p:cNvCxnSpPr>
            <a:cxnSpLocks/>
          </p:cNvCxnSpPr>
          <p:nvPr/>
        </p:nvCxnSpPr>
        <p:spPr>
          <a:xfrm flipH="1">
            <a:off x="1482654" y="5120805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474C23-D023-E05D-A0DD-D7F5A4AC4A75}"/>
              </a:ext>
            </a:extLst>
          </p:cNvPr>
          <p:cNvCxnSpPr>
            <a:cxnSpLocks/>
          </p:cNvCxnSpPr>
          <p:nvPr/>
        </p:nvCxnSpPr>
        <p:spPr>
          <a:xfrm flipH="1" flipV="1">
            <a:off x="3635047" y="1887893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77864A-BBBE-6BF1-684C-00D5089C728E}"/>
              </a:ext>
            </a:extLst>
          </p:cNvPr>
          <p:cNvSpPr txBox="1"/>
          <p:nvPr/>
        </p:nvSpPr>
        <p:spPr>
          <a:xfrm>
            <a:off x="2070033" y="306373"/>
            <a:ext cx="78206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Min.      1st Qu.   Median    Mean     3rd Qu.    </a:t>
            </a:r>
            <a:r>
              <a:rPr lang="en-US" sz="2800" b="1" dirty="0"/>
              <a:t>Max. </a:t>
            </a:r>
          </a:p>
          <a:p>
            <a:r>
              <a:rPr lang="en-US" sz="2800" dirty="0"/>
              <a:t>39.0       65.5       104.5        122.6     163.0        </a:t>
            </a:r>
            <a:r>
              <a:rPr lang="en-US" sz="2800" b="1" dirty="0"/>
              <a:t>331.0</a:t>
            </a:r>
          </a:p>
        </p:txBody>
      </p:sp>
    </p:spTree>
    <p:extLst>
      <p:ext uri="{BB962C8B-B14F-4D97-AF65-F5344CB8AC3E}">
        <p14:creationId xmlns:p14="http://schemas.microsoft.com/office/powerpoint/2010/main" val="3160363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33"/>
    </mc:Choice>
    <mc:Fallback>
      <p:transition spd="slow" advTm="1423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&gt;library(“datasets”)     </a:t>
            </a:r>
            <a:r>
              <a:rPr lang="en-US" sz="2400" dirty="0">
                <a:solidFill>
                  <a:schemeClr val="accent1"/>
                </a:solidFill>
              </a:rPr>
              <a:t># Load the package for illustrative datasets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SG" dirty="0"/>
              <a:t>&gt;chick&lt;-</a:t>
            </a:r>
            <a:r>
              <a:rPr lang="en-SG" dirty="0" err="1"/>
              <a:t>ChickWeight</a:t>
            </a:r>
            <a:r>
              <a:rPr lang="en-SG" dirty="0"/>
              <a:t>   </a:t>
            </a:r>
            <a:r>
              <a:rPr lang="en-US" sz="2400" dirty="0">
                <a:solidFill>
                  <a:schemeClr val="accent1"/>
                </a:solidFill>
              </a:rPr>
              <a:t># For detail, ?</a:t>
            </a:r>
            <a:r>
              <a:rPr lang="en-US" sz="2400" dirty="0" err="1">
                <a:solidFill>
                  <a:schemeClr val="accent1"/>
                </a:solidFill>
              </a:rPr>
              <a:t>ChickWeight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&gt;summary(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 </a:t>
            </a:r>
            <a:r>
              <a:rPr lang="en-US" sz="2400" dirty="0">
                <a:solidFill>
                  <a:schemeClr val="accent1"/>
                </a:solidFill>
              </a:rPr>
              <a:t># Summary statistics</a:t>
            </a:r>
          </a:p>
          <a:p>
            <a:pPr marL="0" indent="0">
              <a:buNone/>
            </a:pPr>
            <a:r>
              <a:rPr lang="en-US" dirty="0"/>
              <a:t>&gt;tail(sort(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==2])) </a:t>
            </a:r>
            <a:r>
              <a:rPr lang="en-US" sz="2400" dirty="0">
                <a:solidFill>
                  <a:schemeClr val="accent1"/>
                </a:solidFill>
              </a:rPr>
              <a:t># Check largest 6 data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497B-3BC8-10EA-E932-F4782F571715}"/>
              </a:ext>
            </a:extLst>
          </p:cNvPr>
          <p:cNvSpPr txBox="1"/>
          <p:nvPr/>
        </p:nvSpPr>
        <p:spPr>
          <a:xfrm>
            <a:off x="968828" y="4355858"/>
            <a:ext cx="7820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275 279 307 309 318 331</a:t>
            </a:r>
          </a:p>
        </p:txBody>
      </p:sp>
    </p:spTree>
    <p:extLst>
      <p:ext uri="{BB962C8B-B14F-4D97-AF65-F5344CB8AC3E}">
        <p14:creationId xmlns:p14="http://schemas.microsoft.com/office/powerpoint/2010/main" val="3942027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400"/>
    </mc:Choice>
    <mc:Fallback>
      <p:transition spd="slow" advTm="204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&gt;library(“datasets”)     </a:t>
            </a:r>
            <a:r>
              <a:rPr lang="en-US" sz="2400" dirty="0">
                <a:solidFill>
                  <a:schemeClr val="accent1"/>
                </a:solidFill>
              </a:rPr>
              <a:t># Load the package for illustrative datasets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SG" dirty="0"/>
              <a:t>&gt;chick&lt;-</a:t>
            </a:r>
            <a:r>
              <a:rPr lang="en-SG" dirty="0" err="1"/>
              <a:t>ChickWeight</a:t>
            </a:r>
            <a:r>
              <a:rPr lang="en-SG" dirty="0"/>
              <a:t>   </a:t>
            </a:r>
            <a:r>
              <a:rPr lang="en-US" sz="2400" dirty="0">
                <a:solidFill>
                  <a:schemeClr val="accent1"/>
                </a:solidFill>
              </a:rPr>
              <a:t># For detail, ?</a:t>
            </a:r>
            <a:r>
              <a:rPr lang="en-US" sz="2400" dirty="0" err="1">
                <a:solidFill>
                  <a:schemeClr val="accent1"/>
                </a:solidFill>
              </a:rPr>
              <a:t>ChickWeight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&gt;summary(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 </a:t>
            </a:r>
            <a:r>
              <a:rPr lang="en-US" sz="2400" dirty="0">
                <a:solidFill>
                  <a:schemeClr val="accent1"/>
                </a:solidFill>
              </a:rPr>
              <a:t># Summary statistics</a:t>
            </a:r>
          </a:p>
          <a:p>
            <a:pPr marL="0" indent="0">
              <a:buNone/>
            </a:pPr>
            <a:r>
              <a:rPr lang="en-US" dirty="0"/>
              <a:t>&gt;tail(sort(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==2])) </a:t>
            </a:r>
            <a:r>
              <a:rPr lang="en-US" sz="2400" dirty="0">
                <a:solidFill>
                  <a:schemeClr val="accent1"/>
                </a:solidFill>
              </a:rPr>
              <a:t># Check largest 6 data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497B-3BC8-10EA-E932-F4782F571715}"/>
              </a:ext>
            </a:extLst>
          </p:cNvPr>
          <p:cNvSpPr txBox="1"/>
          <p:nvPr/>
        </p:nvSpPr>
        <p:spPr>
          <a:xfrm>
            <a:off x="968828" y="4355858"/>
            <a:ext cx="7820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275 279 307 </a:t>
            </a:r>
            <a:r>
              <a:rPr lang="en-US" sz="2800" b="1" dirty="0"/>
              <a:t>309</a:t>
            </a:r>
            <a:r>
              <a:rPr lang="en-US" sz="2800" dirty="0"/>
              <a:t> 318 331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EEBECD-9F0A-CDF5-01DF-5DC17A816F51}"/>
                  </a:ext>
                </a:extLst>
              </p:cNvPr>
              <p:cNvSpPr txBox="1"/>
              <p:nvPr/>
            </p:nvSpPr>
            <p:spPr>
              <a:xfrm>
                <a:off x="2505105" y="5106496"/>
                <a:ext cx="19613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400" b="0" dirty="0">
                    <a:solidFill>
                      <a:schemeClr val="accent1"/>
                    </a:solidFill>
                  </a:rPr>
                  <a:t>UIF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309.25</m:t>
                    </m:r>
                  </m:oMath>
                </a14:m>
                <a:endParaRPr lang="en-SG" sz="24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EEBECD-9F0A-CDF5-01DF-5DC17A816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105" y="5106496"/>
                <a:ext cx="1961306" cy="461665"/>
              </a:xfrm>
              <a:prstGeom prst="rect">
                <a:avLst/>
              </a:prstGeom>
              <a:blipFill>
                <a:blip r:embed="rId3"/>
                <a:stretch>
                  <a:fillRect l="-5161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54E89B-0508-BEE1-2F2D-84452FD254B6}"/>
              </a:ext>
            </a:extLst>
          </p:cNvPr>
          <p:cNvCxnSpPr>
            <a:cxnSpLocks/>
          </p:cNvCxnSpPr>
          <p:nvPr/>
        </p:nvCxnSpPr>
        <p:spPr>
          <a:xfrm flipV="1">
            <a:off x="3485758" y="4649422"/>
            <a:ext cx="0" cy="472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258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00"/>
    </mc:Choice>
    <mc:Fallback>
      <p:transition spd="slow" advTm="167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&gt;library(“datasets”)     </a:t>
            </a:r>
            <a:r>
              <a:rPr lang="en-US" sz="2400" dirty="0">
                <a:solidFill>
                  <a:schemeClr val="accent1"/>
                </a:solidFill>
              </a:rPr>
              <a:t># Load the package for illustrative datasets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SG" dirty="0"/>
              <a:t>&gt;chick&lt;-</a:t>
            </a:r>
            <a:r>
              <a:rPr lang="en-SG" dirty="0" err="1"/>
              <a:t>ChickWeight</a:t>
            </a:r>
            <a:r>
              <a:rPr lang="en-SG" dirty="0"/>
              <a:t>   </a:t>
            </a:r>
            <a:r>
              <a:rPr lang="en-US" sz="2400" dirty="0">
                <a:solidFill>
                  <a:schemeClr val="accent1"/>
                </a:solidFill>
              </a:rPr>
              <a:t># For detail, ?</a:t>
            </a:r>
            <a:r>
              <a:rPr lang="en-US" sz="2400" dirty="0" err="1">
                <a:solidFill>
                  <a:schemeClr val="accent1"/>
                </a:solidFill>
              </a:rPr>
              <a:t>ChickWeight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&gt;summary(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 </a:t>
            </a:r>
            <a:r>
              <a:rPr lang="en-US" sz="2400" dirty="0">
                <a:solidFill>
                  <a:schemeClr val="accent1"/>
                </a:solidFill>
              </a:rPr>
              <a:t># Summary statistics</a:t>
            </a:r>
          </a:p>
          <a:p>
            <a:pPr marL="0" indent="0">
              <a:buNone/>
            </a:pPr>
            <a:r>
              <a:rPr lang="en-US" dirty="0"/>
              <a:t>&gt;tail(sort(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US" dirty="0" err="1"/>
              <a:t>chick$Diet</a:t>
            </a:r>
            <a:r>
              <a:rPr lang="en-US" dirty="0"/>
              <a:t> ==2])) </a:t>
            </a:r>
            <a:r>
              <a:rPr lang="en-US" sz="2400" dirty="0">
                <a:solidFill>
                  <a:schemeClr val="accent1"/>
                </a:solidFill>
              </a:rPr>
              <a:t># Check largest 6 data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497B-3BC8-10EA-E932-F4782F571715}"/>
              </a:ext>
            </a:extLst>
          </p:cNvPr>
          <p:cNvSpPr txBox="1"/>
          <p:nvPr/>
        </p:nvSpPr>
        <p:spPr>
          <a:xfrm>
            <a:off x="968828" y="4355858"/>
            <a:ext cx="7820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275 279 307 </a:t>
            </a:r>
            <a:r>
              <a:rPr lang="en-US" sz="2800" b="1" dirty="0"/>
              <a:t>309</a:t>
            </a:r>
            <a:r>
              <a:rPr lang="en-US" sz="2800" dirty="0"/>
              <a:t> 318 331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EBECD-9F0A-CDF5-01DF-5DC17A816F51}"/>
              </a:ext>
            </a:extLst>
          </p:cNvPr>
          <p:cNvSpPr txBox="1"/>
          <p:nvPr/>
        </p:nvSpPr>
        <p:spPr>
          <a:xfrm>
            <a:off x="5225143" y="4713005"/>
            <a:ext cx="1170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chemeClr val="accent1"/>
                </a:solidFill>
              </a:rPr>
              <a:t>Outliers</a:t>
            </a:r>
            <a:endParaRPr lang="en-SG" sz="2400" dirty="0">
              <a:solidFill>
                <a:schemeClr val="accent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54E89B-0508-BEE1-2F2D-84452FD254B6}"/>
              </a:ext>
            </a:extLst>
          </p:cNvPr>
          <p:cNvCxnSpPr>
            <a:cxnSpLocks/>
          </p:cNvCxnSpPr>
          <p:nvPr/>
        </p:nvCxnSpPr>
        <p:spPr>
          <a:xfrm flipH="1" flipV="1">
            <a:off x="4739951" y="4642952"/>
            <a:ext cx="485192" cy="236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92AFF30-486E-AEE0-F33B-5E0E7AF54A18}"/>
              </a:ext>
            </a:extLst>
          </p:cNvPr>
          <p:cNvSpPr/>
          <p:nvPr/>
        </p:nvSpPr>
        <p:spPr>
          <a:xfrm>
            <a:off x="3485759" y="4218961"/>
            <a:ext cx="1254192" cy="7248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99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00"/>
    </mc:Choice>
    <mc:Fallback>
      <p:transition spd="slow" advTm="67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573624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277844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566147-EFD2-FC7A-29F5-67EE5BE94A3A}"/>
              </a:ext>
            </a:extLst>
          </p:cNvPr>
          <p:cNvSpPr txBox="1"/>
          <p:nvPr/>
        </p:nvSpPr>
        <p:spPr>
          <a:xfrm>
            <a:off x="4529424" y="1395304"/>
            <a:ext cx="59106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dirty="0">
                <a:solidFill>
                  <a:schemeClr val="accent1"/>
                </a:solidFill>
              </a:rPr>
              <a:t>Upper whisker</a:t>
            </a:r>
            <a:endParaRPr lang="en-SG" sz="3600" b="0" dirty="0">
              <a:solidFill>
                <a:schemeClr val="accent1"/>
              </a:solidFill>
            </a:endParaRPr>
          </a:p>
          <a:p>
            <a:r>
              <a:rPr lang="en-SG" sz="3600" b="0" dirty="0">
                <a:solidFill>
                  <a:schemeClr val="accent1"/>
                </a:solidFill>
              </a:rPr>
              <a:t>= Largest data value within UIF</a:t>
            </a:r>
          </a:p>
          <a:p>
            <a:r>
              <a:rPr lang="en-SG" sz="3600" dirty="0">
                <a:solidFill>
                  <a:schemeClr val="accent1"/>
                </a:solidFill>
              </a:rPr>
              <a:t>= 309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08EB0-CD3D-FBB0-F3C4-9655DABBFBB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126602" y="4716624"/>
            <a:ext cx="0" cy="404181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EE61E1-97F9-4592-2BD3-C4AE129B02BB}"/>
              </a:ext>
            </a:extLst>
          </p:cNvPr>
          <p:cNvCxnSpPr>
            <a:cxnSpLocks/>
          </p:cNvCxnSpPr>
          <p:nvPr/>
        </p:nvCxnSpPr>
        <p:spPr>
          <a:xfrm>
            <a:off x="2126602" y="2052735"/>
            <a:ext cx="0" cy="150845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3604B7-2381-D074-9001-84D7A18F8E75}"/>
              </a:ext>
            </a:extLst>
          </p:cNvPr>
          <p:cNvCxnSpPr>
            <a:cxnSpLocks/>
          </p:cNvCxnSpPr>
          <p:nvPr/>
        </p:nvCxnSpPr>
        <p:spPr>
          <a:xfrm flipH="1">
            <a:off x="1482654" y="5120805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3A31C7-1535-0A5C-849A-391E52C87DBA}"/>
              </a:ext>
            </a:extLst>
          </p:cNvPr>
          <p:cNvCxnSpPr>
            <a:cxnSpLocks/>
          </p:cNvCxnSpPr>
          <p:nvPr/>
        </p:nvCxnSpPr>
        <p:spPr>
          <a:xfrm flipH="1">
            <a:off x="1482654" y="1981198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64D913-9F36-AB39-3D44-817672CD2076}"/>
              </a:ext>
            </a:extLst>
          </p:cNvPr>
          <p:cNvSpPr/>
          <p:nvPr/>
        </p:nvSpPr>
        <p:spPr>
          <a:xfrm>
            <a:off x="2037185" y="1575076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5874E-EA82-D372-C59F-4EFC75AEB848}"/>
              </a:ext>
            </a:extLst>
          </p:cNvPr>
          <p:cNvSpPr/>
          <p:nvPr/>
        </p:nvSpPr>
        <p:spPr>
          <a:xfrm>
            <a:off x="2040297" y="1447561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F39BB2-71FC-AA56-434F-DD33EA9538E1}"/>
              </a:ext>
            </a:extLst>
          </p:cNvPr>
          <p:cNvSpPr txBox="1"/>
          <p:nvPr/>
        </p:nvSpPr>
        <p:spPr>
          <a:xfrm>
            <a:off x="2394568" y="1074118"/>
            <a:ext cx="66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solidFill>
                  <a:schemeClr val="accent1"/>
                </a:solidFill>
              </a:rPr>
              <a:t>331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D1CDB3-D573-1105-3FF9-65C161C50C79}"/>
              </a:ext>
            </a:extLst>
          </p:cNvPr>
          <p:cNvSpPr txBox="1"/>
          <p:nvPr/>
        </p:nvSpPr>
        <p:spPr>
          <a:xfrm>
            <a:off x="2394568" y="1472881"/>
            <a:ext cx="66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solidFill>
                  <a:schemeClr val="accent1"/>
                </a:solidFill>
              </a:rPr>
              <a:t>318</a:t>
            </a:r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B7D71E-DA0D-81C9-611C-8A41B88A9B57}"/>
              </a:ext>
            </a:extLst>
          </p:cNvPr>
          <p:cNvSpPr txBox="1"/>
          <p:nvPr/>
        </p:nvSpPr>
        <p:spPr>
          <a:xfrm>
            <a:off x="1867487" y="455105"/>
            <a:ext cx="3137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Outliers</a:t>
            </a:r>
            <a:endParaRPr lang="en-SG" sz="3200" b="0" dirty="0">
              <a:solidFill>
                <a:schemeClr val="accent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CCE752-C6F5-33CE-A8A6-74EBCFAAD7C4}"/>
              </a:ext>
            </a:extLst>
          </p:cNvPr>
          <p:cNvCxnSpPr>
            <a:cxnSpLocks/>
          </p:cNvCxnSpPr>
          <p:nvPr/>
        </p:nvCxnSpPr>
        <p:spPr>
          <a:xfrm flipH="1">
            <a:off x="3061704" y="1794587"/>
            <a:ext cx="1249039" cy="186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791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00"/>
    </mc:Choice>
    <mc:Fallback>
      <p:transition spd="slow" advTm="223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9A003-5BC4-E79E-2B02-CDE32E2CF633}"/>
              </a:ext>
            </a:extLst>
          </p:cNvPr>
          <p:cNvSpPr/>
          <p:nvPr/>
        </p:nvSpPr>
        <p:spPr>
          <a:xfrm>
            <a:off x="856861" y="3965509"/>
            <a:ext cx="2539482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E5459-A706-18E6-0503-60EDB9F54315}"/>
              </a:ext>
            </a:extLst>
          </p:cNvPr>
          <p:cNvCxnSpPr/>
          <p:nvPr/>
        </p:nvCxnSpPr>
        <p:spPr>
          <a:xfrm>
            <a:off x="856861" y="4669729"/>
            <a:ext cx="253948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566147-EFD2-FC7A-29F5-67EE5BE94A3A}"/>
              </a:ext>
            </a:extLst>
          </p:cNvPr>
          <p:cNvSpPr txBox="1"/>
          <p:nvPr/>
        </p:nvSpPr>
        <p:spPr>
          <a:xfrm>
            <a:off x="3820298" y="1906011"/>
            <a:ext cx="52906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Upper whisker</a:t>
            </a:r>
          </a:p>
          <a:p>
            <a:r>
              <a:rPr lang="en-SG" sz="3200" b="0" dirty="0">
                <a:solidFill>
                  <a:schemeClr val="accent1"/>
                </a:solidFill>
              </a:rPr>
              <a:t>= Largest data value within UIF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08EB0-CD3D-FBB0-F3C4-9655DABBFBB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126602" y="5108509"/>
            <a:ext cx="0" cy="404181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EE61E1-97F9-4592-2BD3-C4AE129B02BB}"/>
              </a:ext>
            </a:extLst>
          </p:cNvPr>
          <p:cNvCxnSpPr>
            <a:cxnSpLocks/>
          </p:cNvCxnSpPr>
          <p:nvPr/>
        </p:nvCxnSpPr>
        <p:spPr>
          <a:xfrm>
            <a:off x="2126602" y="2444620"/>
            <a:ext cx="0" cy="150845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3604B7-2381-D074-9001-84D7A18F8E75}"/>
              </a:ext>
            </a:extLst>
          </p:cNvPr>
          <p:cNvCxnSpPr>
            <a:cxnSpLocks/>
          </p:cNvCxnSpPr>
          <p:nvPr/>
        </p:nvCxnSpPr>
        <p:spPr>
          <a:xfrm flipH="1">
            <a:off x="1482654" y="5512690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3A31C7-1535-0A5C-849A-391E52C87DBA}"/>
              </a:ext>
            </a:extLst>
          </p:cNvPr>
          <p:cNvCxnSpPr>
            <a:cxnSpLocks/>
          </p:cNvCxnSpPr>
          <p:nvPr/>
        </p:nvCxnSpPr>
        <p:spPr>
          <a:xfrm flipH="1">
            <a:off x="1482654" y="2373083"/>
            <a:ext cx="128789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64D913-9F36-AB39-3D44-817672CD2076}"/>
              </a:ext>
            </a:extLst>
          </p:cNvPr>
          <p:cNvSpPr/>
          <p:nvPr/>
        </p:nvSpPr>
        <p:spPr>
          <a:xfrm>
            <a:off x="2037185" y="1966961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5874E-EA82-D372-C59F-4EFC75AEB848}"/>
              </a:ext>
            </a:extLst>
          </p:cNvPr>
          <p:cNvSpPr/>
          <p:nvPr/>
        </p:nvSpPr>
        <p:spPr>
          <a:xfrm>
            <a:off x="2040297" y="1839446"/>
            <a:ext cx="223934" cy="219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B7D71E-DA0D-81C9-611C-8A41B88A9B57}"/>
              </a:ext>
            </a:extLst>
          </p:cNvPr>
          <p:cNvSpPr txBox="1"/>
          <p:nvPr/>
        </p:nvSpPr>
        <p:spPr>
          <a:xfrm>
            <a:off x="3049000" y="1366626"/>
            <a:ext cx="3137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Outliers</a:t>
            </a:r>
            <a:endParaRPr lang="en-SG" sz="3200" b="0" dirty="0">
              <a:solidFill>
                <a:schemeClr val="accent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B1CC88-B0C4-1F19-CA72-400BA56D0E58}"/>
              </a:ext>
            </a:extLst>
          </p:cNvPr>
          <p:cNvCxnSpPr>
            <a:cxnSpLocks/>
          </p:cNvCxnSpPr>
          <p:nvPr/>
        </p:nvCxnSpPr>
        <p:spPr>
          <a:xfrm flipH="1">
            <a:off x="2376198" y="1842120"/>
            <a:ext cx="566317" cy="211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09488E-05A5-67F4-271C-00216A8FB7EE}"/>
              </a:ext>
            </a:extLst>
          </p:cNvPr>
          <p:cNvCxnSpPr>
            <a:cxnSpLocks/>
          </p:cNvCxnSpPr>
          <p:nvPr/>
        </p:nvCxnSpPr>
        <p:spPr>
          <a:xfrm flipH="1">
            <a:off x="2980065" y="2363842"/>
            <a:ext cx="725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6413A2-73A3-52C7-850B-61781F6E2763}"/>
              </a:ext>
            </a:extLst>
          </p:cNvPr>
          <p:cNvCxnSpPr/>
          <p:nvPr/>
        </p:nvCxnSpPr>
        <p:spPr>
          <a:xfrm flipH="1" flipV="1">
            <a:off x="3547313" y="5108509"/>
            <a:ext cx="894377" cy="12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3B0937-A423-2A6A-F520-3F1D048A5D59}"/>
                  </a:ext>
                </a:extLst>
              </p:cNvPr>
              <p:cNvSpPr txBox="1"/>
              <p:nvPr/>
            </p:nvSpPr>
            <p:spPr>
              <a:xfrm>
                <a:off x="4493048" y="4985896"/>
                <a:ext cx="7226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3B0937-A423-2A6A-F520-3F1D048A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048" y="4985896"/>
                <a:ext cx="722634" cy="584775"/>
              </a:xfrm>
              <a:prstGeom prst="rect">
                <a:avLst/>
              </a:prstGeom>
              <a:blipFill>
                <a:blip r:embed="rId3"/>
                <a:stretch>
                  <a:fillRect l="-5172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DA285F-E28A-1D20-33AE-E3F1D7EB06F2}"/>
              </a:ext>
            </a:extLst>
          </p:cNvPr>
          <p:cNvCxnSpPr>
            <a:cxnSpLocks/>
          </p:cNvCxnSpPr>
          <p:nvPr/>
        </p:nvCxnSpPr>
        <p:spPr>
          <a:xfrm flipH="1" flipV="1">
            <a:off x="3558812" y="3981731"/>
            <a:ext cx="934236" cy="11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317279-15F6-EA5F-7151-B5C4E3AFACFE}"/>
                  </a:ext>
                </a:extLst>
              </p:cNvPr>
              <p:cNvSpPr txBox="1"/>
              <p:nvPr/>
            </p:nvSpPr>
            <p:spPr>
              <a:xfrm>
                <a:off x="4496888" y="3716652"/>
                <a:ext cx="7321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SG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317279-15F6-EA5F-7151-B5C4E3AFA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888" y="3716652"/>
                <a:ext cx="732123" cy="584775"/>
              </a:xfrm>
              <a:prstGeom prst="rect">
                <a:avLst/>
              </a:prstGeom>
              <a:blipFill>
                <a:blip r:embed="rId4"/>
                <a:stretch>
                  <a:fillRect l="-6897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957B1B-D8A3-8689-993B-67A54B2F2446}"/>
              </a:ext>
            </a:extLst>
          </p:cNvPr>
          <p:cNvCxnSpPr/>
          <p:nvPr/>
        </p:nvCxnSpPr>
        <p:spPr>
          <a:xfrm flipH="1" flipV="1">
            <a:off x="3588061" y="4657335"/>
            <a:ext cx="756013" cy="79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82C41D-790C-6F3F-45A7-6D43719BB2F1}"/>
              </a:ext>
            </a:extLst>
          </p:cNvPr>
          <p:cNvSpPr txBox="1"/>
          <p:nvPr/>
        </p:nvSpPr>
        <p:spPr>
          <a:xfrm>
            <a:off x="4386269" y="4397653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Median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08E38BD-0F5D-5B72-4E43-FD176A804DF2}"/>
              </a:ext>
            </a:extLst>
          </p:cNvPr>
          <p:cNvSpPr/>
          <p:nvPr/>
        </p:nvSpPr>
        <p:spPr>
          <a:xfrm>
            <a:off x="5840952" y="3965509"/>
            <a:ext cx="559837" cy="15274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AD6B87-CCDC-DA19-E5ED-4165B3C1FC51}"/>
                  </a:ext>
                </a:extLst>
              </p:cNvPr>
              <p:cNvSpPr txBox="1"/>
              <p:nvPr/>
            </p:nvSpPr>
            <p:spPr>
              <a:xfrm>
                <a:off x="6342047" y="4304080"/>
                <a:ext cx="1960024" cy="1063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eqArr>
                          <m:eqArrPr>
                            <m:ctrlP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𝐼𝑄𝑅</m:t>
                            </m:r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SG" sz="3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3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SG" sz="3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SG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eqArr>
                      </m:e>
                      <m:sub>
                        <m:r>
                          <a:rPr lang="en-SG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320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AD6B87-CCDC-DA19-E5ED-4165B3C1F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047" y="4304080"/>
                <a:ext cx="1960024" cy="1063689"/>
              </a:xfrm>
              <a:prstGeom prst="rect">
                <a:avLst/>
              </a:prstGeom>
              <a:blipFill>
                <a:blip r:embed="rId5"/>
                <a:stretch>
                  <a:fillRect l="-5806" b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D738AE-8F34-38FB-917F-1A9D5BD5EA83}"/>
              </a:ext>
            </a:extLst>
          </p:cNvPr>
          <p:cNvCxnSpPr>
            <a:cxnSpLocks/>
          </p:cNvCxnSpPr>
          <p:nvPr/>
        </p:nvCxnSpPr>
        <p:spPr>
          <a:xfrm flipH="1" flipV="1">
            <a:off x="2910813" y="5512690"/>
            <a:ext cx="794406" cy="514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8FC417-B0AC-FBC9-7581-C3C0E8D48495}"/>
              </a:ext>
            </a:extLst>
          </p:cNvPr>
          <p:cNvSpPr txBox="1"/>
          <p:nvPr/>
        </p:nvSpPr>
        <p:spPr>
          <a:xfrm>
            <a:off x="3820298" y="5807309"/>
            <a:ext cx="549682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>
                <a:solidFill>
                  <a:schemeClr val="accent1"/>
                </a:solidFill>
              </a:rPr>
              <a:t>Lower whisker</a:t>
            </a:r>
          </a:p>
          <a:p>
            <a:r>
              <a:rPr lang="en-SG" sz="3200" b="0" dirty="0">
                <a:solidFill>
                  <a:schemeClr val="accent1"/>
                </a:solidFill>
              </a:rPr>
              <a:t>= Smallest data value within LIF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DCB7E50-B922-FCB0-456C-5F4CC4EC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10" y="123402"/>
            <a:ext cx="10515600" cy="1325563"/>
          </a:xfrm>
        </p:spPr>
        <p:txBody>
          <a:bodyPr/>
          <a:lstStyle/>
          <a:p>
            <a:r>
              <a:rPr lang="en-US" dirty="0"/>
              <a:t>R-application: Box-whisker plots</a:t>
            </a:r>
          </a:p>
        </p:txBody>
      </p:sp>
    </p:spTree>
    <p:extLst>
      <p:ext uri="{BB962C8B-B14F-4D97-AF65-F5344CB8AC3E}">
        <p14:creationId xmlns:p14="http://schemas.microsoft.com/office/powerpoint/2010/main" val="205076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700"/>
    </mc:Choice>
    <mc:Fallback>
      <p:transition spd="slow" advTm="667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&gt;library(“datasets”)     </a:t>
            </a:r>
            <a:r>
              <a:rPr lang="en-US" sz="2400" dirty="0">
                <a:solidFill>
                  <a:schemeClr val="accent1"/>
                </a:solidFill>
              </a:rPr>
              <a:t># Load the package for illustrative datasets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SG" dirty="0"/>
              <a:t>&gt;chick&lt;-</a:t>
            </a:r>
            <a:r>
              <a:rPr lang="en-SG" dirty="0" err="1"/>
              <a:t>ChickWeight</a:t>
            </a:r>
            <a:r>
              <a:rPr lang="en-SG" dirty="0"/>
              <a:t>   </a:t>
            </a:r>
            <a:r>
              <a:rPr lang="en-US" sz="2400" dirty="0">
                <a:solidFill>
                  <a:schemeClr val="accent1"/>
                </a:solidFill>
              </a:rPr>
              <a:t># For detail, ?</a:t>
            </a:r>
            <a:r>
              <a:rPr lang="en-US" sz="2400" dirty="0" err="1">
                <a:solidFill>
                  <a:schemeClr val="accent1"/>
                </a:solidFill>
              </a:rPr>
              <a:t>ChickWeight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&gt;boxplot(</a:t>
            </a:r>
            <a:r>
              <a:rPr lang="en-SG" dirty="0"/>
              <a:t>chick$</a:t>
            </a:r>
            <a:r>
              <a:rPr lang="en-US" dirty="0"/>
              <a:t>weight[</a:t>
            </a:r>
            <a:r>
              <a:rPr lang="en-SG" dirty="0"/>
              <a:t>chick$</a:t>
            </a:r>
            <a:r>
              <a:rPr lang="en-US" dirty="0"/>
              <a:t>Diet == 2])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 descr="A diagram of a rectangular object&#10;&#10;Description automatically generated">
            <a:extLst>
              <a:ext uri="{FF2B5EF4-FFF2-40B4-BE49-F238E27FC236}">
                <a16:creationId xmlns:a16="http://schemas.microsoft.com/office/drawing/2014/main" id="{3EF07714-B950-7522-593E-6F05C2136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882" y="3429000"/>
            <a:ext cx="5318449" cy="335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99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600"/>
    </mc:Choice>
    <mc:Fallback>
      <p:transition spd="slow" advTm="286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Chick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406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&gt;library(“datasets”)     </a:t>
            </a:r>
            <a:r>
              <a:rPr lang="en-US" sz="2400" dirty="0">
                <a:solidFill>
                  <a:schemeClr val="accent1"/>
                </a:solidFill>
              </a:rPr>
              <a:t># Load the package for illustrative datasets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SG" dirty="0"/>
              <a:t>&gt;chick&lt;-</a:t>
            </a:r>
            <a:r>
              <a:rPr lang="en-SG" dirty="0" err="1"/>
              <a:t>ChickWeight</a:t>
            </a:r>
            <a:r>
              <a:rPr lang="en-SG" dirty="0"/>
              <a:t>   </a:t>
            </a:r>
            <a:r>
              <a:rPr lang="en-US" sz="2400" dirty="0">
                <a:solidFill>
                  <a:schemeClr val="accent1"/>
                </a:solidFill>
              </a:rPr>
              <a:t># For detail, ?</a:t>
            </a:r>
            <a:r>
              <a:rPr lang="en-US" sz="2400" dirty="0" err="1">
                <a:solidFill>
                  <a:schemeClr val="accent1"/>
                </a:solidFill>
              </a:rPr>
              <a:t>ChickWeight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&gt;boxplot(</a:t>
            </a:r>
            <a:r>
              <a:rPr lang="en-SG" dirty="0"/>
              <a:t>chick$</a:t>
            </a:r>
            <a:r>
              <a:rPr lang="en-US" dirty="0"/>
              <a:t>weight~</a:t>
            </a:r>
            <a:r>
              <a:rPr lang="en-SG" dirty="0"/>
              <a:t>chick$</a:t>
            </a:r>
            <a:r>
              <a:rPr lang="en-US" dirty="0"/>
              <a:t>Diet) </a:t>
            </a:r>
            <a:r>
              <a:rPr lang="en-US" sz="2400" dirty="0">
                <a:solidFill>
                  <a:schemeClr val="accent1"/>
                </a:solidFill>
              </a:rPr>
              <a:t># Boxplot of weights by Diet groups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# “Y~X” for making the boxplot of Y according to the groups in 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12" y="3847680"/>
            <a:ext cx="4887007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27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600"/>
    </mc:Choice>
    <mc:Fallback>
      <p:transition spd="slow" advTm="706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9.2|32.6|3.6|9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6.3|34.2|4.3|19.4|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8.6|90.8|41.5|4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30.2|9.2|12.7|4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5.3|25.6|7.8|55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5.3|25.6|7.8|55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1465</Words>
  <Application>Microsoft Macintosh PowerPoint</Application>
  <PresentationFormat>Widescreen</PresentationFormat>
  <Paragraphs>207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Descriptive statistics</vt:lpstr>
      <vt:lpstr>The dual role of statistics</vt:lpstr>
      <vt:lpstr>Common sample statistics</vt:lpstr>
      <vt:lpstr>Sample mean vs. sample median</vt:lpstr>
      <vt:lpstr>Sample mean vs. sample median</vt:lpstr>
      <vt:lpstr>PowerPoint Presentation</vt:lpstr>
      <vt:lpstr>The percentile function </vt:lpstr>
      <vt:lpstr>Don’t forget these are still “statistics”!</vt:lpstr>
      <vt:lpstr>R-applications  Calculating descriptive statistics</vt:lpstr>
      <vt:lpstr>Example: ChickWeight data</vt:lpstr>
      <vt:lpstr>Example: Chick weight</vt:lpstr>
      <vt:lpstr>Measure of association</vt:lpstr>
      <vt:lpstr>Measure of association</vt:lpstr>
      <vt:lpstr>R-application: Box-plot</vt:lpstr>
      <vt:lpstr>R-application: Box-whisker plots</vt:lpstr>
      <vt:lpstr>R-application: Box-whisker plots</vt:lpstr>
      <vt:lpstr>R-application: Box-whisker plots</vt:lpstr>
      <vt:lpstr>Example: Chick weight</vt:lpstr>
      <vt:lpstr>PowerPoint Presentation</vt:lpstr>
      <vt:lpstr>PowerPoint Presentation</vt:lpstr>
      <vt:lpstr>Example: Chick weight</vt:lpstr>
      <vt:lpstr>Example: Chick weight</vt:lpstr>
      <vt:lpstr>Example: Chick weight</vt:lpstr>
      <vt:lpstr>PowerPoint Presentation</vt:lpstr>
      <vt:lpstr>R-application: Box-whisker plots</vt:lpstr>
      <vt:lpstr>Example: Chick weight</vt:lpstr>
      <vt:lpstr>Example: Chick weight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Michele Nguyen (Dr)</cp:lastModifiedBy>
  <cp:revision>167</cp:revision>
  <dcterms:created xsi:type="dcterms:W3CDTF">2018-07-30T07:45:11Z</dcterms:created>
  <dcterms:modified xsi:type="dcterms:W3CDTF">2024-05-20T07:28:36Z</dcterms:modified>
</cp:coreProperties>
</file>
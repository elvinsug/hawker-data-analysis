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8" r:id="rId3"/>
    <p:sldId id="284" r:id="rId4"/>
    <p:sldId id="297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353" autoAdjust="0"/>
  </p:normalViewPr>
  <p:slideViewPr>
    <p:cSldViewPr snapToGrid="0">
      <p:cViewPr varScale="1">
        <p:scale>
          <a:sx n="88" d="100"/>
          <a:sy n="88" d="100"/>
        </p:scale>
        <p:origin x="14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2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392" units="cm"/>
          <inkml:channel name="Y" type="integer" max="692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0-06-14T15:37:32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6038 5965 0,'0'0'8,"0"0"1,0 0 0,0 0 0,0 0 0</inkml:trace>
  <inkml:trace contextRef="#ctx0" brushRef="#br0" timeOffset="145">5966 6030 0,'0'0'9,"0"0"-2,0 0 4,0 0-4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392" units="cm"/>
          <inkml:channel name="Y" type="integer" max="692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0-06-14T15:53:35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23824 9024 0,'0'0'1,"0"0"5,0 0 3,0 0 1,0 0-2,0 0 1,0 0 0</inkml:trace>
  <inkml:trace contextRef="#ctx0" brushRef="#br0" timeOffset="136">24035 8926 0,'0'0'8,"0"0"0,0 0 2,0 0-3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019A8-D0CC-4CFA-831D-816751671584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07AE2-CC5F-492B-9DEA-37E8836E6F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388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07AE2-CC5F-492B-9DEA-37E8836E6F64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0412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Sampling distributions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E690-6256-40F3-940F-1316F179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distributions &amp;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93249-8A80-4413-A45C-437634608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5122" y="1569360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distribution of a statistic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sampling distribution</a:t>
                </a:r>
              </a:p>
              <a:p>
                <a:pPr marL="0" indent="0">
                  <a:buNone/>
                </a:pPr>
                <a:r>
                  <a:rPr lang="en-US" b="1" i="1" dirty="0"/>
                  <a:t>Remember: 1) T is a random variable, 2) its </a:t>
                </a:r>
                <a:r>
                  <a:rPr lang="en-US" b="1" i="1" dirty="0" err="1"/>
                  <a:t>dist</a:t>
                </a:r>
                <a:r>
                  <a:rPr lang="en-US" b="1" i="1" dirty="0"/>
                  <a:t> depends on how these sample points are collected (i.e., how these points are related)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93249-8A80-4413-A45C-437634608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5122" y="1569360"/>
                <a:ext cx="10515600" cy="4351338"/>
              </a:xfrm>
              <a:blipFill>
                <a:blip r:embed="rId5"/>
                <a:stretch>
                  <a:fillRect l="-1217" t="-2241" r="-17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B5D8AEEF-98F4-FFFC-0292-A1010269BE9C}"/>
              </a:ext>
            </a:extLst>
          </p:cNvPr>
          <p:cNvSpPr/>
          <p:nvPr/>
        </p:nvSpPr>
        <p:spPr>
          <a:xfrm>
            <a:off x="1454686" y="3416487"/>
            <a:ext cx="2021212" cy="175880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Population of NTU graduates </a:t>
            </a:r>
          </a:p>
          <a:p>
            <a:pPr algn="ctr"/>
            <a:r>
              <a:rPr lang="en-US" dirty="0"/>
              <a:t>(X)</a:t>
            </a:r>
          </a:p>
          <a:p>
            <a:pPr algn="ctr"/>
            <a:endParaRPr lang="en-SG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A5B7F8FA-6E84-A718-7F8A-7D7147ABB331}"/>
              </a:ext>
            </a:extLst>
          </p:cNvPr>
          <p:cNvSpPr/>
          <p:nvPr/>
        </p:nvSpPr>
        <p:spPr>
          <a:xfrm rot="16200000">
            <a:off x="5872817" y="3338600"/>
            <a:ext cx="390221" cy="148517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7052E6-AFE3-796C-B720-74B8C7F8A48D}"/>
                  </a:ext>
                </a:extLst>
              </p:cNvPr>
              <p:cNvSpPr txBox="1"/>
              <p:nvPr/>
            </p:nvSpPr>
            <p:spPr>
              <a:xfrm>
                <a:off x="5222708" y="3886077"/>
                <a:ext cx="1862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SG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7052E6-AFE3-796C-B720-74B8C7F8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708" y="3886077"/>
                <a:ext cx="18622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CC5C582-4CB5-08E1-E320-410CF389CA25}"/>
              </a:ext>
            </a:extLst>
          </p:cNvPr>
          <p:cNvSpPr txBox="1"/>
          <p:nvPr/>
        </p:nvSpPr>
        <p:spPr>
          <a:xfrm>
            <a:off x="5497156" y="336076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A sample</a:t>
            </a:r>
            <a:endParaRPr lang="en-SG" i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8C5CA-2CC5-1985-7C25-0FB8596C93ED}"/>
              </a:ext>
            </a:extLst>
          </p:cNvPr>
          <p:cNvSpPr txBox="1"/>
          <p:nvPr/>
        </p:nvSpPr>
        <p:spPr>
          <a:xfrm>
            <a:off x="4803094" y="4440238"/>
            <a:ext cx="2433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“Collect info about the monthly salary from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NTU graduates”</a:t>
            </a:r>
            <a:endParaRPr lang="en-SG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239442-F275-5640-F347-D8CCE79CD8BE}"/>
              </a:ext>
            </a:extLst>
          </p:cNvPr>
          <p:cNvCxnSpPr>
            <a:cxnSpLocks/>
          </p:cNvCxnSpPr>
          <p:nvPr/>
        </p:nvCxnSpPr>
        <p:spPr>
          <a:xfrm>
            <a:off x="3750380" y="4069538"/>
            <a:ext cx="1521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B01F0F-1D6E-CA46-C8F3-D54A042F117E}"/>
              </a:ext>
            </a:extLst>
          </p:cNvPr>
          <p:cNvCxnSpPr/>
          <p:nvPr/>
        </p:nvCxnSpPr>
        <p:spPr>
          <a:xfrm>
            <a:off x="6912499" y="4011616"/>
            <a:ext cx="1521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E98D65-5903-87A0-4359-CFB76EDE6656}"/>
                  </a:ext>
                </a:extLst>
              </p:cNvPr>
              <p:cNvSpPr txBox="1"/>
              <p:nvPr/>
            </p:nvSpPr>
            <p:spPr>
              <a:xfrm>
                <a:off x="6344319" y="3545427"/>
                <a:ext cx="6095028" cy="87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E98D65-5903-87A0-4359-CFB76EDE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319" y="3545427"/>
                <a:ext cx="6095028" cy="875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84D21B5-09EC-38BD-7D4F-357DAE164D2A}"/>
              </a:ext>
            </a:extLst>
          </p:cNvPr>
          <p:cNvSpPr txBox="1"/>
          <p:nvPr/>
        </p:nvSpPr>
        <p:spPr>
          <a:xfrm>
            <a:off x="8303165" y="4364523"/>
            <a:ext cx="2433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“Avg salary of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NTU graduates”</a:t>
            </a:r>
            <a:endParaRPr lang="en-SG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948A6F-0806-965B-CA0F-8815A454977C}"/>
                  </a:ext>
                </a:extLst>
              </p:cNvPr>
              <p:cNvSpPr txBox="1"/>
              <p:nvPr/>
            </p:nvSpPr>
            <p:spPr>
              <a:xfrm>
                <a:off x="7779397" y="5175291"/>
                <a:ext cx="4256315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A </a:t>
                </a:r>
                <a:r>
                  <a:rPr lang="en-US" b="1" i="1" dirty="0"/>
                  <a:t>statistic</a:t>
                </a:r>
                <a:r>
                  <a:rPr lang="en-US" dirty="0"/>
                  <a:t> is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of a sample: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r>
                  <a:rPr lang="en-US" b="1" i="1" dirty="0"/>
                  <a:t>A statistic is a random variable, because it is a function of random variables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948A6F-0806-965B-CA0F-8815A4549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397" y="5175291"/>
                <a:ext cx="4256315" cy="1200329"/>
              </a:xfrm>
              <a:prstGeom prst="rect">
                <a:avLst/>
              </a:prstGeom>
              <a:blipFill>
                <a:blip r:embed="rId8"/>
                <a:stretch>
                  <a:fillRect l="-1000" t="-2513" r="-571" b="-6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96B1AA4-56D8-D9CE-304C-9BE59F391BA4}"/>
              </a:ext>
            </a:extLst>
          </p:cNvPr>
          <p:cNvSpPr txBox="1"/>
          <p:nvPr/>
        </p:nvSpPr>
        <p:spPr>
          <a:xfrm>
            <a:off x="8556641" y="3278543"/>
            <a:ext cx="118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A statistics</a:t>
            </a:r>
            <a:endParaRPr lang="en-SG" i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21EFFE-5710-6714-1257-93F6CBEA5929}"/>
              </a:ext>
            </a:extLst>
          </p:cNvPr>
          <p:cNvSpPr txBox="1"/>
          <p:nvPr/>
        </p:nvSpPr>
        <p:spPr>
          <a:xfrm>
            <a:off x="1454686" y="5175290"/>
            <a:ext cx="2433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“We want to find out E(X), the avg monthly salary of all NTU graduates”</a:t>
            </a:r>
            <a:endParaRPr lang="en-S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9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1540"/>
    </mc:Choice>
    <mc:Fallback xmlns="">
      <p:transition spd="slow" advTm="441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3628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Sampling is the process of obtaining samples from the population</a:t>
                </a:r>
              </a:p>
              <a:p>
                <a:r>
                  <a:rPr lang="en-SG" dirty="0"/>
                  <a:t>Random sampling requires that each sample point </a:t>
                </a:r>
                <a:r>
                  <a:rPr lang="en-SG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chemeClr val="tx1"/>
                    </a:solidFill>
                  </a:rPr>
                  <a:t> </a:t>
                </a:r>
                <a:r>
                  <a:rPr lang="en-SG" dirty="0"/>
                  <a:t>has the same distribution as the population X and is independent with other sample points</a:t>
                </a:r>
              </a:p>
              <a:p>
                <a:pPr marL="0" indent="0">
                  <a:buNone/>
                </a:pPr>
                <a:r>
                  <a:rPr lang="en-US" dirty="0"/>
                  <a:t>This condition is called </a:t>
                </a:r>
                <a:r>
                  <a:rPr lang="en-SG" b="1" i="1" dirty="0"/>
                  <a:t>independently and identically distributed </a:t>
                </a:r>
                <a:r>
                  <a:rPr lang="en-SG" dirty="0"/>
                  <a:t>(</a:t>
                </a:r>
                <a:r>
                  <a:rPr lang="en-SG" b="1" i="1" dirty="0" err="1">
                    <a:solidFill>
                      <a:srgbClr val="FF0000"/>
                    </a:solidFill>
                  </a:rPr>
                  <a:t>iid</a:t>
                </a:r>
                <a:r>
                  <a:rPr lang="en-SG" dirty="0"/>
                  <a:t>)</a:t>
                </a:r>
              </a:p>
              <a:p>
                <a:pPr marL="0" indent="0">
                  <a:buNone/>
                </a:pPr>
                <a:r>
                  <a:rPr lang="en-SG" i="1" dirty="0"/>
                  <a:t>  </a:t>
                </a:r>
              </a:p>
              <a:p>
                <a:pPr marL="0" indent="0">
                  <a:buNone/>
                </a:pPr>
                <a:r>
                  <a:rPr lang="en-US" b="1" u="sng" dirty="0"/>
                  <a:t> </a:t>
                </a: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362826"/>
              </a:xfrm>
              <a:blipFill>
                <a:blip r:embed="rId3"/>
                <a:stretch>
                  <a:fillRect l="-1217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099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iid</a:t>
            </a:r>
            <a:r>
              <a:rPr lang="en-US" dirty="0"/>
              <a:t> or not?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79655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do we verify whether a sample is </a:t>
            </a:r>
            <a:r>
              <a:rPr lang="en-SG" b="1" i="1" dirty="0"/>
              <a:t>independently and identically distributed </a:t>
            </a:r>
            <a:r>
              <a:rPr lang="en-SG" dirty="0"/>
              <a:t>(</a:t>
            </a:r>
            <a:r>
              <a:rPr lang="en-SG" b="1" i="1" dirty="0" err="1">
                <a:solidFill>
                  <a:srgbClr val="FF0000"/>
                </a:solidFill>
              </a:rPr>
              <a:t>iid</a:t>
            </a:r>
            <a:r>
              <a:rPr lang="en-SG" dirty="0"/>
              <a:t>)?</a:t>
            </a:r>
          </a:p>
          <a:p>
            <a:pPr marL="0" indent="0">
              <a:buNone/>
            </a:pPr>
            <a:r>
              <a:rPr lang="en-SG" b="1" i="1" dirty="0"/>
              <a:t>Independence: </a:t>
            </a:r>
            <a:r>
              <a:rPr lang="en-SG" dirty="0"/>
              <a:t>each pair of </a:t>
            </a:r>
            <a:r>
              <a:rPr lang="en-US" dirty="0"/>
              <a:t>sample points are statistically independent; one point does not tell you the information of another point</a:t>
            </a:r>
          </a:p>
          <a:p>
            <a:pPr marL="0" indent="0">
              <a:buNone/>
            </a:pPr>
            <a:r>
              <a:rPr lang="en-US" b="1" i="1" dirty="0"/>
              <a:t>Identically distributed: </a:t>
            </a:r>
            <a:r>
              <a:rPr lang="en-US" dirty="0"/>
              <a:t>each sample point follows the distribution of population (model); each should be representative of the population  </a:t>
            </a:r>
            <a:endParaRPr lang="en-US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b="0" i="1" dirty="0">
                <a:latin typeface="Cambria Math" panose="02040503050406030204" pitchFamily="18" charset="0"/>
              </a:rPr>
              <a:t>When your sample points are systematically “clustered” in an undesirable way, </a:t>
            </a:r>
            <a:r>
              <a:rPr lang="en-US" b="0" i="1" dirty="0" err="1">
                <a:latin typeface="Cambria Math" panose="02040503050406030204" pitchFamily="18" charset="0"/>
              </a:rPr>
              <a:t>iid</a:t>
            </a:r>
            <a:r>
              <a:rPr lang="en-US" b="0" i="1" dirty="0">
                <a:latin typeface="Cambria Math" panose="02040503050406030204" pitchFamily="18" charset="0"/>
              </a:rPr>
              <a:t> may not hold.</a:t>
            </a:r>
          </a:p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</a:rPr>
              <a:t> </a:t>
            </a:r>
            <a:endParaRPr lang="en-US" b="0" i="1" dirty="0">
              <a:latin typeface="Cambria Math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679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C319-539B-403E-9060-4C2BDD62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DEBF-6AD8-4353-8B1C-7A9FC846C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159"/>
            <a:ext cx="10515600" cy="45398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</a:rPr>
              <a:t>Suppose the male-female ratio in the population is about 50:50.  My sample points will be clustered if the sample tends to include more females (e.g., male-female is 10:90). When would a clustered sample be a concern?</a:t>
            </a:r>
          </a:p>
          <a:p>
            <a:pPr marL="514350" indent="-514350">
              <a:buAutoNum type="alphaLcParenR"/>
            </a:pPr>
            <a:r>
              <a:rPr lang="en-US" i="1" dirty="0">
                <a:latin typeface="Cambria Math" panose="02040503050406030204" pitchFamily="18" charset="0"/>
              </a:rPr>
              <a:t>$ on cosmetic products (suppose male-female clusters aren’t independent with the $ cosmetic products) </a:t>
            </a:r>
          </a:p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</a:rPr>
              <a:t>- &gt; could be problematic. </a:t>
            </a:r>
            <a:r>
              <a:rPr lang="en-SG" i="1" dirty="0"/>
              <a:t>When I vary the ratio, I expect to see systematic changes</a:t>
            </a:r>
            <a:endParaRPr lang="en-US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SG" i="1" dirty="0"/>
              <a:t>b) $ on books </a:t>
            </a:r>
            <a:r>
              <a:rPr lang="en-US" i="1" dirty="0">
                <a:latin typeface="Cambria Math" panose="02040503050406030204" pitchFamily="18" charset="0"/>
              </a:rPr>
              <a:t>(suppose male-female clusters are independent with the $ hair products; i.e., avg spending is the same for both genders) </a:t>
            </a:r>
          </a:p>
          <a:p>
            <a:pPr marL="0" indent="0">
              <a:buNone/>
            </a:pPr>
            <a:r>
              <a:rPr lang="en-US" dirty="0"/>
              <a:t>-&gt;not a real concern. </a:t>
            </a:r>
            <a:r>
              <a:rPr lang="en-SG" i="1" dirty="0"/>
              <a:t>When I vary the ratio, I won’t expect to see systematic changes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30701AF-F37E-4BC2-8035-D8A91311EFBB}"/>
                  </a:ext>
                </a:extLst>
              </p14:cNvPr>
              <p14:cNvContentPartPr/>
              <p14:nvPr/>
            </p14:nvContentPartPr>
            <p14:xfrm>
              <a:off x="2147760" y="2147400"/>
              <a:ext cx="26280" cy="23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30701AF-F37E-4BC2-8035-D8A91311EF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8400" y="2138040"/>
                <a:ext cx="45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FD90A2E-BB01-4711-8877-76A7D0F80FF1}"/>
                  </a:ext>
                </a:extLst>
              </p14:cNvPr>
              <p14:cNvContentPartPr/>
              <p14:nvPr/>
            </p14:nvContentPartPr>
            <p14:xfrm>
              <a:off x="8576640" y="3213360"/>
              <a:ext cx="76320" cy="35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FD90A2E-BB01-4711-8877-76A7D0F80F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7280" y="3204000"/>
                <a:ext cx="95040" cy="543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794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2.6|2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6.4|19.2|19.7|13.8|1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|21.4|31.7|39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8|64.3|43.4|11.7|23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410</Words>
  <Application>Microsoft Office PowerPoint</Application>
  <PresentationFormat>Widescreen</PresentationFormat>
  <Paragraphs>38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Sampling distributions</vt:lpstr>
      <vt:lpstr>Sampling distributions &amp; statistics</vt:lpstr>
      <vt:lpstr>Random samples</vt:lpstr>
      <vt:lpstr>iid or not?</vt:lpstr>
      <vt:lpstr>Example: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6. Statistical inferences</dc:title>
  <dc:creator>Chien-Ming Chen</dc:creator>
  <cp:lastModifiedBy>Chen Chien-Ming (Assoc Prof)</cp:lastModifiedBy>
  <cp:revision>219</cp:revision>
  <dcterms:created xsi:type="dcterms:W3CDTF">2019-03-11T07:12:32Z</dcterms:created>
  <dcterms:modified xsi:type="dcterms:W3CDTF">2023-07-06T06:22:00Z</dcterms:modified>
</cp:coreProperties>
</file>
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3" r:id="rId2"/>
    <p:sldId id="273" r:id="rId3"/>
    <p:sldId id="268" r:id="rId4"/>
    <p:sldId id="286" r:id="rId5"/>
    <p:sldId id="285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63251" autoAdjust="0"/>
  </p:normalViewPr>
  <p:slideViewPr>
    <p:cSldViewPr snapToGrid="0">
      <p:cViewPr varScale="1">
        <p:scale>
          <a:sx n="70" d="100"/>
          <a:sy n="70" d="100"/>
        </p:scale>
        <p:origin x="20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3083B-D244-4A16-9AB1-8BEFD573DA5F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6057C-0823-42CD-BAA0-9BF4CDA13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0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Properties of expected values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4315091"/>
                <a:ext cx="10042557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2: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are statistically independent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5091"/>
                <a:ext cx="10042557" cy="461665"/>
              </a:xfrm>
              <a:prstGeom prst="rect">
                <a:avLst/>
              </a:prstGeom>
              <a:blipFill>
                <a:blip r:embed="rId5"/>
                <a:stretch>
                  <a:fillRect l="-424" t="-8974" r="-546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704E606-94C8-480C-8B14-88F0215C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expected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C3673-93F9-460E-8E76-EC67E6F6E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 two random variables.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C3673-93F9-460E-8E76-EC67E6F6E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31972" y="2586829"/>
                <a:ext cx="7177927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1: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72" y="2586829"/>
                <a:ext cx="7177927" cy="461665"/>
              </a:xfrm>
              <a:prstGeom prst="rect">
                <a:avLst/>
              </a:prstGeom>
              <a:blipFill>
                <a:blip r:embed="rId7"/>
                <a:stretch>
                  <a:fillRect l="-59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101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463"/>
    </mc:Choice>
    <mc:Fallback xmlns="">
      <p:transition spd="slow" advTm="1814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CEBF-8CFD-4A16-9413-8A27FF72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of independence RV’s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5989C-277F-4D6D-8D6C-9BB0DC34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1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define the number of customers / hour as a random variable X, whose distribution is shown below.</a:t>
            </a:r>
          </a:p>
          <a:p>
            <a:pPr marL="514350" indent="-514350">
              <a:buAutoNum type="arabicParenR"/>
            </a:pPr>
            <a:r>
              <a:rPr lang="en-US" dirty="0"/>
              <a:t>If we charge each customer $10. E(hourly $) = ?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DDAD3AF4-9AD8-1C83-99BB-5434103E1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77" y="2831246"/>
            <a:ext cx="3696478" cy="2320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EB14F4-09CB-D2A5-E928-07B914CAE5BA}"/>
              </a:ext>
            </a:extLst>
          </p:cNvPr>
          <p:cNvSpPr txBox="1"/>
          <p:nvPr/>
        </p:nvSpPr>
        <p:spPr>
          <a:xfrm>
            <a:off x="350377" y="3381978"/>
            <a:ext cx="9204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f(1)=0.3</a:t>
            </a:r>
          </a:p>
          <a:p>
            <a:r>
              <a:rPr lang="en-US" dirty="0"/>
              <a:t>f(2)=0.4</a:t>
            </a:r>
          </a:p>
          <a:p>
            <a:r>
              <a:rPr lang="en-US" dirty="0"/>
              <a:t>f(3)=0.1</a:t>
            </a:r>
          </a:p>
          <a:p>
            <a:r>
              <a:rPr lang="en-US" dirty="0"/>
              <a:t>f(5)=0.2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985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001"/>
    </mc:Choice>
    <mc:Fallback xmlns="">
      <p:transition spd="slow" advTm="17900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4315091"/>
                <a:ext cx="10042557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2: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are statistically independent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5091"/>
                <a:ext cx="10042557" cy="461665"/>
              </a:xfrm>
              <a:prstGeom prst="rect">
                <a:avLst/>
              </a:prstGeom>
              <a:blipFill>
                <a:blip r:embed="rId5"/>
                <a:stretch>
                  <a:fillRect l="-424" t="-8974" r="-546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704E606-94C8-480C-8B14-88F0215C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expected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C3673-93F9-460E-8E76-EC67E6F6E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 two random variables.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C3673-93F9-460E-8E76-EC67E6F6E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31972" y="2586829"/>
                <a:ext cx="7177927" cy="46166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𝑃𝑟𝑜𝑝𝑒𝑟𝑡𝑦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1: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𝑏𝐸</m:t>
                    </m:r>
                    <m:d>
                      <m:dPr>
                        <m:ctrlPr>
                          <a:rPr lang="en-SG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72" y="2586829"/>
                <a:ext cx="7177927" cy="461665"/>
              </a:xfrm>
              <a:prstGeom prst="rect">
                <a:avLst/>
              </a:prstGeom>
              <a:blipFill>
                <a:blip r:embed="rId7"/>
                <a:stretch>
                  <a:fillRect l="-59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0592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41"/>
    </mc:Choice>
    <mc:Fallback xmlns="">
      <p:transition spd="slow" advTm="5484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Independent events (week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6427"/>
            <a:ext cx="10515600" cy="4351338"/>
          </a:xfrm>
        </p:spPr>
        <p:txBody>
          <a:bodyPr/>
          <a:lstStyle/>
          <a:p>
            <a:r>
              <a:rPr lang="en-US" dirty="0"/>
              <a:t>Two events are called independent events, if their conditional probabilities are equal to their unconditional probabilities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2F3E9-7E51-49B5-B7CD-F4DD15F788E2}"/>
                  </a:ext>
                </a:extLst>
              </p:cNvPr>
              <p:cNvSpPr/>
              <p:nvPr/>
            </p:nvSpPr>
            <p:spPr>
              <a:xfrm>
                <a:off x="2271290" y="2736435"/>
                <a:ext cx="6096000" cy="5847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lang="en-SG" sz="32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2F3E9-7E51-49B5-B7CD-F4DD15F78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290" y="2736435"/>
                <a:ext cx="60960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3B8D4D-1725-A0CD-2E49-059904A67D7F}"/>
              </a:ext>
            </a:extLst>
          </p:cNvPr>
          <p:cNvSpPr txBox="1">
            <a:spLocks/>
          </p:cNvSpPr>
          <p:nvPr/>
        </p:nvSpPr>
        <p:spPr>
          <a:xfrm>
            <a:off x="5044720" y="3783987"/>
            <a:ext cx="10515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Pr</a:t>
            </a:r>
            <a:r>
              <a:rPr lang="en-US" dirty="0"/>
              <a:t>({Red object})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C553CD-0C7C-4D43-53B7-10F07379C655}"/>
              </a:ext>
            </a:extLst>
          </p:cNvPr>
          <p:cNvSpPr/>
          <p:nvPr/>
        </p:nvSpPr>
        <p:spPr>
          <a:xfrm>
            <a:off x="7804249" y="3507665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3C33B5-BCFD-5FD0-80D2-04C1966EBCCF}"/>
              </a:ext>
            </a:extLst>
          </p:cNvPr>
          <p:cNvSpPr/>
          <p:nvPr/>
        </p:nvSpPr>
        <p:spPr>
          <a:xfrm>
            <a:off x="9556852" y="3608699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3F3EAA-2AB2-AAAD-9DA1-21F2FF0700D3}"/>
              </a:ext>
            </a:extLst>
          </p:cNvPr>
          <p:cNvSpPr/>
          <p:nvPr/>
        </p:nvSpPr>
        <p:spPr>
          <a:xfrm>
            <a:off x="8383914" y="391894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F80221-0FCA-4A15-3643-CF30AF1E0573}"/>
              </a:ext>
            </a:extLst>
          </p:cNvPr>
          <p:cNvSpPr/>
          <p:nvPr/>
        </p:nvSpPr>
        <p:spPr>
          <a:xfrm>
            <a:off x="8617956" y="4247894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937849-7DA2-3C32-B4CF-DC980CF3E39D}"/>
              </a:ext>
            </a:extLst>
          </p:cNvPr>
          <p:cNvSpPr/>
          <p:nvPr/>
        </p:nvSpPr>
        <p:spPr>
          <a:xfrm>
            <a:off x="8465556" y="3289951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2BBDF5-0049-361D-5502-77CB0B2C157E}"/>
              </a:ext>
            </a:extLst>
          </p:cNvPr>
          <p:cNvSpPr/>
          <p:nvPr/>
        </p:nvSpPr>
        <p:spPr>
          <a:xfrm>
            <a:off x="8811178" y="310489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5CDB60-70FB-02BB-B8F4-503293D07C24}"/>
              </a:ext>
            </a:extLst>
          </p:cNvPr>
          <p:cNvSpPr/>
          <p:nvPr/>
        </p:nvSpPr>
        <p:spPr>
          <a:xfrm>
            <a:off x="10302520" y="3872447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C286EF-F652-B385-EA54-28CCD9A167AA}"/>
              </a:ext>
            </a:extLst>
          </p:cNvPr>
          <p:cNvSpPr/>
          <p:nvPr/>
        </p:nvSpPr>
        <p:spPr>
          <a:xfrm>
            <a:off x="9238440" y="4093112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35CFED4-40BB-982A-5F1D-C3194F986FC5}"/>
              </a:ext>
            </a:extLst>
          </p:cNvPr>
          <p:cNvSpPr/>
          <p:nvPr/>
        </p:nvSpPr>
        <p:spPr>
          <a:xfrm>
            <a:off x="10327012" y="3230084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9AEFD7F2-623C-404E-9EBC-D9ABAF4D345C}"/>
              </a:ext>
            </a:extLst>
          </p:cNvPr>
          <p:cNvSpPr/>
          <p:nvPr/>
        </p:nvSpPr>
        <p:spPr>
          <a:xfrm>
            <a:off x="8869686" y="3555583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E96A0B-AB4E-052C-EE6B-4E7F06EE33BF}"/>
              </a:ext>
            </a:extLst>
          </p:cNvPr>
          <p:cNvSpPr/>
          <p:nvPr/>
        </p:nvSpPr>
        <p:spPr>
          <a:xfrm>
            <a:off x="7627355" y="2869148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1D49498-5C41-CB2E-AC6D-ABFF2943CA15}"/>
              </a:ext>
            </a:extLst>
          </p:cNvPr>
          <p:cNvSpPr/>
          <p:nvPr/>
        </p:nvSpPr>
        <p:spPr>
          <a:xfrm>
            <a:off x="9690199" y="3025979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CDD2046-1EDC-5A89-BABA-58D119FBB63B}"/>
              </a:ext>
            </a:extLst>
          </p:cNvPr>
          <p:cNvSpPr/>
          <p:nvPr/>
        </p:nvSpPr>
        <p:spPr>
          <a:xfrm>
            <a:off x="7864119" y="3016621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079764-9FB9-485C-54FE-808E4BC739BF}"/>
              </a:ext>
            </a:extLst>
          </p:cNvPr>
          <p:cNvSpPr/>
          <p:nvPr/>
        </p:nvSpPr>
        <p:spPr>
          <a:xfrm>
            <a:off x="3005555" y="5714833"/>
            <a:ext cx="4408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Pr</a:t>
            </a:r>
            <a:r>
              <a:rPr lang="en-US" sz="2800" dirty="0"/>
              <a:t>({Red object}|{Ball object})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8CD5DE-B39C-F13E-6368-3EC5E584D08C}"/>
              </a:ext>
            </a:extLst>
          </p:cNvPr>
          <p:cNvSpPr/>
          <p:nvPr/>
        </p:nvSpPr>
        <p:spPr>
          <a:xfrm>
            <a:off x="7929975" y="551928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998BA2-0EA9-34D1-C14B-1462053FDAA2}"/>
              </a:ext>
            </a:extLst>
          </p:cNvPr>
          <p:cNvSpPr/>
          <p:nvPr/>
        </p:nvSpPr>
        <p:spPr>
          <a:xfrm>
            <a:off x="9682578" y="5620317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FE69AC8-7008-52DA-AD2D-8A16BDF817F6}"/>
              </a:ext>
            </a:extLst>
          </p:cNvPr>
          <p:cNvSpPr/>
          <p:nvPr/>
        </p:nvSpPr>
        <p:spPr>
          <a:xfrm>
            <a:off x="8509640" y="593055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AF976D8-77D1-FB4F-E2FA-7E1A13256725}"/>
              </a:ext>
            </a:extLst>
          </p:cNvPr>
          <p:cNvSpPr/>
          <p:nvPr/>
        </p:nvSpPr>
        <p:spPr>
          <a:xfrm>
            <a:off x="8743682" y="6259512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63B7D55-073A-A743-B1C7-FCBA6A86D0B2}"/>
              </a:ext>
            </a:extLst>
          </p:cNvPr>
          <p:cNvSpPr/>
          <p:nvPr/>
        </p:nvSpPr>
        <p:spPr>
          <a:xfrm>
            <a:off x="8591282" y="5301569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E0C31A-9C24-50FF-FCFE-10385BD2A690}"/>
              </a:ext>
            </a:extLst>
          </p:cNvPr>
          <p:cNvSpPr/>
          <p:nvPr/>
        </p:nvSpPr>
        <p:spPr>
          <a:xfrm>
            <a:off x="8936904" y="511651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B94A37-0F0C-C88D-956D-C0FD32CA1A2E}"/>
              </a:ext>
            </a:extLst>
          </p:cNvPr>
          <p:cNvSpPr/>
          <p:nvPr/>
        </p:nvSpPr>
        <p:spPr>
          <a:xfrm>
            <a:off x="10428246" y="5884065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391EE0-E395-93E0-6C6A-18C992E3F47A}"/>
              </a:ext>
            </a:extLst>
          </p:cNvPr>
          <p:cNvSpPr/>
          <p:nvPr/>
        </p:nvSpPr>
        <p:spPr>
          <a:xfrm>
            <a:off x="9364166" y="6104730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F8B251-C03F-CF56-B5D3-A2BE749D82BA}"/>
              </a:ext>
            </a:extLst>
          </p:cNvPr>
          <p:cNvSpPr/>
          <p:nvPr/>
        </p:nvSpPr>
        <p:spPr>
          <a:xfrm>
            <a:off x="7753081" y="4880766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8AF5E9E-100C-F91A-EE79-A3D29B793F55}"/>
              </a:ext>
            </a:extLst>
          </p:cNvPr>
          <p:cNvSpPr/>
          <p:nvPr/>
        </p:nvSpPr>
        <p:spPr>
          <a:xfrm>
            <a:off x="8154601" y="3461822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445882C-C010-34DB-FEC1-FEED3EEEF08B}"/>
              </a:ext>
            </a:extLst>
          </p:cNvPr>
          <p:cNvSpPr/>
          <p:nvPr/>
        </p:nvSpPr>
        <p:spPr>
          <a:xfrm>
            <a:off x="7857020" y="4287031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8597CB4-29A7-3245-126F-4011972EFD0C}"/>
              </a:ext>
            </a:extLst>
          </p:cNvPr>
          <p:cNvSpPr/>
          <p:nvPr/>
        </p:nvSpPr>
        <p:spPr>
          <a:xfrm>
            <a:off x="8942068" y="4346082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C09D4FC-2889-1304-4B5D-B36EFAC2FAEB}"/>
              </a:ext>
            </a:extLst>
          </p:cNvPr>
          <p:cNvSpPr/>
          <p:nvPr/>
        </p:nvSpPr>
        <p:spPr>
          <a:xfrm>
            <a:off x="9905192" y="4115803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72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104"/>
    </mc:Choice>
    <mc:Fallback xmlns="">
      <p:transition spd="slow" advTm="174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CEBF-8CFD-4A16-9413-8A27FF72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of independence RV’s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5989C-277F-4D6D-8D6C-9BB0DC34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1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define the number of customers / hour as a random variable X, whose distribution is shown below.</a:t>
            </a:r>
          </a:p>
          <a:p>
            <a:pPr marL="514350" indent="-514350">
              <a:buAutoNum type="arabicParenR"/>
            </a:pPr>
            <a:r>
              <a:rPr lang="en-US" dirty="0"/>
              <a:t>If we charge each customer $10. E(hourly $) = ?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dirty="0"/>
              <a:t>If each customer has a 50% random chance to be charged either $0 or $10. Knowing the chance is independent of X, E(hourly $) = ?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DDAD3AF4-9AD8-1C83-99BB-5434103E1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78932"/>
            <a:ext cx="3696478" cy="2320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EB14F4-09CB-D2A5-E928-07B914CAE5BA}"/>
              </a:ext>
            </a:extLst>
          </p:cNvPr>
          <p:cNvSpPr txBox="1"/>
          <p:nvPr/>
        </p:nvSpPr>
        <p:spPr>
          <a:xfrm>
            <a:off x="0" y="4629664"/>
            <a:ext cx="9204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f(1)=0.3</a:t>
            </a:r>
          </a:p>
          <a:p>
            <a:r>
              <a:rPr lang="en-US" dirty="0"/>
              <a:t>f(2)=0.4</a:t>
            </a:r>
          </a:p>
          <a:p>
            <a:r>
              <a:rPr lang="en-US" dirty="0"/>
              <a:t>f(3)=0.1</a:t>
            </a:r>
          </a:p>
          <a:p>
            <a:r>
              <a:rPr lang="en-US" dirty="0"/>
              <a:t>f(5)=0.2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511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275"/>
    </mc:Choice>
    <mc:Fallback xmlns="">
      <p:transition spd="slow" advTm="46027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2EB5-2406-4B2C-BF2C-F580C28B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non-independent RV’s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35" y="2390941"/>
            <a:ext cx="5518165" cy="346400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1B777D-C9AD-8CC8-24C9-EB04FF87B6FD}"/>
                  </a:ext>
                </a:extLst>
              </p:cNvPr>
              <p:cNvSpPr txBox="1"/>
              <p:nvPr/>
            </p:nvSpPr>
            <p:spPr>
              <a:xfrm>
                <a:off x="5663962" y="1564082"/>
                <a:ext cx="6097554" cy="983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1B777D-C9AD-8CC8-24C9-EB04FF87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62" y="1564082"/>
                <a:ext cx="6097554" cy="9839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2F4570D-A042-4D71-18FB-6EE1B43CBC18}"/>
              </a:ext>
            </a:extLst>
          </p:cNvPr>
          <p:cNvSpPr txBox="1"/>
          <p:nvPr/>
        </p:nvSpPr>
        <p:spPr>
          <a:xfrm>
            <a:off x="2982483" y="2914030"/>
            <a:ext cx="9204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f(1)=0.3</a:t>
            </a:r>
          </a:p>
          <a:p>
            <a:r>
              <a:rPr lang="en-US" dirty="0"/>
              <a:t>f(2)=0.4</a:t>
            </a:r>
          </a:p>
          <a:p>
            <a:r>
              <a:rPr lang="en-US" dirty="0"/>
              <a:t>f(3)=0.1</a:t>
            </a:r>
          </a:p>
          <a:p>
            <a:r>
              <a:rPr lang="en-US" dirty="0"/>
              <a:t>f(5)=0.2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329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763"/>
    </mc:Choice>
    <mc:Fallback xmlns="">
      <p:transition spd="slow" advTm="40076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|3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|3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6|0.5|30.5|12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315</Words>
  <Application>Microsoft Office PowerPoint</Application>
  <PresentationFormat>Widescreen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Properties of expected values</vt:lpstr>
      <vt:lpstr>Properties of expected values</vt:lpstr>
      <vt:lpstr>Expectation of independence RV’s</vt:lpstr>
      <vt:lpstr>Properties of expected values</vt:lpstr>
      <vt:lpstr>Independent events (week 2)</vt:lpstr>
      <vt:lpstr>Expectation of independence RV’s</vt:lpstr>
      <vt:lpstr>Example of non-independent RV’s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111</cp:revision>
  <dcterms:created xsi:type="dcterms:W3CDTF">2018-07-30T07:45:11Z</dcterms:created>
  <dcterms:modified xsi:type="dcterms:W3CDTF">2023-07-06T06:18:22Z</dcterms:modified>
</cp:coreProperties>
</file>
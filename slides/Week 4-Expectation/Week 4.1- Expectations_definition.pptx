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4" r:id="rId3"/>
    <p:sldId id="260" r:id="rId4"/>
    <p:sldId id="262" r:id="rId5"/>
    <p:sldId id="281" r:id="rId6"/>
    <p:sldId id="280" r:id="rId7"/>
    <p:sldId id="286" r:id="rId8"/>
    <p:sldId id="268" r:id="rId9"/>
    <p:sldId id="28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D66E9-705A-4E2F-8060-8C7E5582CB4C}" type="datetimeFigureOut">
              <a:rPr lang="en-SG" smtClean="0"/>
              <a:t>6/7/2023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FAB1B-D257-4917-98D5-7A7A69267D6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852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Expected value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D718-B5EF-6CAB-D408-3C740CBD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A9E9-3101-6074-9E38-184D1B82A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expected value of a random variable</a:t>
            </a:r>
          </a:p>
          <a:p>
            <a:pPr>
              <a:buFontTx/>
              <a:buChar char="-"/>
            </a:pPr>
            <a:r>
              <a:rPr lang="en-SG" dirty="0"/>
              <a:t>Concept &amp; calculations </a:t>
            </a:r>
          </a:p>
          <a:p>
            <a:r>
              <a:rPr lang="en-SG" dirty="0"/>
              <a:t>Expected values of a function of a random variable(s)</a:t>
            </a:r>
          </a:p>
        </p:txBody>
      </p:sp>
    </p:spTree>
    <p:extLst>
      <p:ext uri="{BB962C8B-B14F-4D97-AF65-F5344CB8AC3E}">
        <p14:creationId xmlns:p14="http://schemas.microsoft.com/office/powerpoint/2010/main" val="15227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557"/>
    </mc:Choice>
    <mc:Fallback xmlns="">
      <p:transition spd="slow" advTm="3655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2DB9-114F-4F98-8511-82F9B114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the expected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74922-ECD7-4600-BD95-574A363B6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random variable take different </a:t>
            </a:r>
            <a:r>
              <a:rPr lang="en-US" i="1" dirty="0">
                <a:solidFill>
                  <a:srgbClr val="FF0000"/>
                </a:solidFill>
              </a:rPr>
              <a:t>values</a:t>
            </a:r>
            <a:r>
              <a:rPr lang="en-US" dirty="0"/>
              <a:t> with </a:t>
            </a:r>
            <a:r>
              <a:rPr lang="en-US" i="1" dirty="0">
                <a:solidFill>
                  <a:srgbClr val="FF0000"/>
                </a:solidFill>
              </a:rPr>
              <a:t>probabilities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Expected value can be understood as the “long-term” average of the value of the random variable 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If X is a number we observe from throwing a fair dice, what is the expected value of X? </a:t>
            </a:r>
          </a:p>
          <a:p>
            <a:pPr marL="0" indent="0">
              <a:buNone/>
            </a:pPr>
            <a:r>
              <a:rPr lang="en-US" dirty="0"/>
              <a:t>1,3,4,2,1,5,6……….. Expected value is the avg over this infinite sequence of RV values.</a:t>
            </a:r>
          </a:p>
          <a:p>
            <a:r>
              <a:rPr lang="en-US" dirty="0"/>
              <a:t>As these values reflect the underlying distribution, EV represents the </a:t>
            </a:r>
            <a:r>
              <a:rPr lang="en-US" i="1" dirty="0" err="1"/>
              <a:t>centre</a:t>
            </a:r>
            <a:r>
              <a:rPr lang="en-US" i="1" dirty="0"/>
              <a:t> </a:t>
            </a:r>
            <a:r>
              <a:rPr lang="en-US" dirty="0"/>
              <a:t>of the mass of the distribution and can serve as a prediction of the RV’s value</a:t>
            </a:r>
          </a:p>
          <a:p>
            <a:pPr marL="0" indent="0">
              <a:buNone/>
            </a:pPr>
            <a:r>
              <a:rPr lang="en-US" dirty="0"/>
              <a:t>It is also called the “mean” or “expectation” of the random variable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712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861"/>
    </mc:Choice>
    <mc:Fallback xmlns="">
      <p:transition spd="slow" advTm="2508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612C-794F-40EC-A575-6797DC7E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value (discrete random variable)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942D8D-3696-43BC-B1A0-CEB3D5B195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Expected value of a random variable X (denoted by E(X)) is the weighted average (sum of its values weighted by probabilities)</a:t>
                </a:r>
              </a:p>
              <a:p>
                <a:pPr marL="0" indent="0">
                  <a:buNone/>
                </a:pPr>
                <a:r>
                  <a:rPr lang="en-US" dirty="0"/>
                  <a:t>X is a discrete random variable and its </a:t>
                </a:r>
                <a:r>
                  <a:rPr lang="en-US" dirty="0" err="1"/>
                  <a:t>p.m.f</a:t>
                </a:r>
                <a:r>
                  <a:rPr lang="en-US" dirty="0"/>
                  <a:t>. is f(x). Its expected value is defined as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𝑝𝑟𝑜𝑏𝑎𝑏𝑙𝑒</m:t>
                              </m:r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𝑣𝑎𝑙𝑢𝑒𝑠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942D8D-3696-43BC-B1A0-CEB3D5B195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2241" r="-13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85BDD2D-00E2-654A-DEB7-B97845654D32}"/>
              </a:ext>
            </a:extLst>
          </p:cNvPr>
          <p:cNvSpPr txBox="1"/>
          <p:nvPr/>
        </p:nvSpPr>
        <p:spPr>
          <a:xfrm>
            <a:off x="2005200" y="5992297"/>
            <a:ext cx="818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* We will use “expected value,” “expectation,” “mean,” and “average” interchangeably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109363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660"/>
    </mc:Choice>
    <mc:Fallback xmlns="">
      <p:transition spd="slow" advTm="17466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2EB5-2406-4B2C-BF2C-F580C28B9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79" y="2625217"/>
            <a:ext cx="5518165" cy="346400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7942D8D-3696-43BC-B1A0-CEB3D5B195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Suppose X is the number of customers in an hour. What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E7942D8D-3696-43BC-B1A0-CEB3D5B19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5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186774-7208-3C9C-5C10-0C80579836C5}"/>
                  </a:ext>
                </a:extLst>
              </p:cNvPr>
              <p:cNvSpPr txBox="1"/>
              <p:nvPr/>
            </p:nvSpPr>
            <p:spPr>
              <a:xfrm>
                <a:off x="5259324" y="2490280"/>
                <a:ext cx="6094476" cy="1151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𝑝𝑟𝑜𝑏𝑎𝑏𝑙𝑒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𝑣𝑎𝑙𝑢𝑒𝑠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186774-7208-3C9C-5C10-0C8057983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324" y="2490280"/>
                <a:ext cx="6094476" cy="11513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18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461"/>
    </mc:Choice>
    <mc:Fallback xmlns="">
      <p:transition spd="slow" advTm="14046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10front.jpg">
            <a:extLst>
              <a:ext uri="{FF2B5EF4-FFF2-40B4-BE49-F238E27FC236}">
                <a16:creationId xmlns:a16="http://schemas.microsoft.com/office/drawing/2014/main" id="{A379F33B-F8AF-4828-93F5-FCBAED978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872" y="4923862"/>
            <a:ext cx="1574071" cy="76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5dollarsfront.jpg">
            <a:extLst>
              <a:ext uri="{FF2B5EF4-FFF2-40B4-BE49-F238E27FC236}">
                <a16:creationId xmlns:a16="http://schemas.microsoft.com/office/drawing/2014/main" id="{B76496FD-FA30-4224-97A9-FA982B113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810" y="4914290"/>
            <a:ext cx="1573262" cy="77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 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474922-ECD7-4600-BD95-574A363B66D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You play a game with the following possible rewards and winning probabilities.</a:t>
            </a:r>
          </a:p>
          <a:p>
            <a:pPr marL="514350" indent="-514350">
              <a:buAutoNum type="arabicParenBoth"/>
            </a:pPr>
            <a:r>
              <a:rPr lang="en-US" dirty="0"/>
              <a:t>What is the expected reward from playing this game?</a:t>
            </a:r>
          </a:p>
          <a:p>
            <a:pPr marL="514350" indent="-514350">
              <a:buAutoNum type="arabicParenBoth"/>
            </a:pPr>
            <a:r>
              <a:rPr lang="en-US" dirty="0"/>
              <a:t>If you are charged $20 to play this game, what will be your expected “net reward”?</a:t>
            </a:r>
          </a:p>
        </p:txBody>
      </p:sp>
      <p:pic>
        <p:nvPicPr>
          <p:cNvPr id="1026" name="Picture 2" descr="SGD 50 Paper f.jpg">
            <a:extLst>
              <a:ext uri="{FF2B5EF4-FFF2-40B4-BE49-F238E27FC236}">
                <a16:creationId xmlns:a16="http://schemas.microsoft.com/office/drawing/2014/main" id="{223A9B21-A006-4365-8484-EB8C8C26F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334" y="5015257"/>
            <a:ext cx="1469909" cy="67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D1D302-0229-4899-9237-37853914F3FB}"/>
              </a:ext>
            </a:extLst>
          </p:cNvPr>
          <p:cNvSpPr txBox="1"/>
          <p:nvPr/>
        </p:nvSpPr>
        <p:spPr>
          <a:xfrm>
            <a:off x="1748933" y="4288001"/>
            <a:ext cx="1237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P=6/10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4FF80C-A707-42A3-8208-E9DB7939528B}"/>
              </a:ext>
            </a:extLst>
          </p:cNvPr>
          <p:cNvSpPr txBox="1"/>
          <p:nvPr/>
        </p:nvSpPr>
        <p:spPr>
          <a:xfrm>
            <a:off x="3700526" y="4265705"/>
            <a:ext cx="1237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P=3/10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397F5-A63B-4DB8-ABF2-B90CA642CAD1}"/>
              </a:ext>
            </a:extLst>
          </p:cNvPr>
          <p:cNvSpPr txBox="1"/>
          <p:nvPr/>
        </p:nvSpPr>
        <p:spPr>
          <a:xfrm>
            <a:off x="5730370" y="4208283"/>
            <a:ext cx="1237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P=1/10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610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5941"/>
    </mc:Choice>
    <mc:Fallback xmlns="">
      <p:transition spd="slow" advTm="23594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74A1-2B74-97C9-C669-AF1F0F858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B8119-F2A9-DC2E-7F94-AAA171049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any discrete random variable X, verify the following statements:</a:t>
            </a:r>
          </a:p>
          <a:p>
            <a:r>
              <a:rPr lang="en-US" dirty="0"/>
              <a:t>It must hold that </a:t>
            </a:r>
            <a:r>
              <a:rPr lang="en-US" dirty="0" err="1"/>
              <a:t>Pr</a:t>
            </a:r>
            <a:r>
              <a:rPr lang="en-US" dirty="0"/>
              <a:t>(X=E(X))&gt;0</a:t>
            </a:r>
          </a:p>
          <a:p>
            <a:r>
              <a:rPr lang="en-US" dirty="0"/>
              <a:t>E(X) must be the value most frequently seen in the experiment</a:t>
            </a:r>
          </a:p>
          <a:p>
            <a:r>
              <a:rPr lang="en-US" dirty="0"/>
              <a:t>E(X) has a probability distribution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28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420"/>
    </mc:Choice>
    <mc:Fallback xmlns="">
      <p:transition spd="slow" advTm="22642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CEBF-8CFD-4A16-9413-8A27FF72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value </a:t>
            </a:r>
            <a:r>
              <a:rPr lang="en-US" dirty="0"/>
              <a:t>of a function of a RV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5989C-277F-4D6D-8D6C-9BB0DC348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X is a random variable, the function of X will also be random variable </a:t>
            </a:r>
          </a:p>
          <a:p>
            <a:pPr marL="0" indent="0">
              <a:buNone/>
            </a:pPr>
            <a:r>
              <a:rPr lang="en-US" dirty="0"/>
              <a:t>We define the number of customers / hour as a random variable X and we receive $10 from each customer. Then the “$” per hour will be a random variable (Y), with a distribution derived directly from that of X.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DDAD3AF4-9AD8-1C83-99BB-5434103E1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01294"/>
            <a:ext cx="3696478" cy="232044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C9599F9-0719-25FA-5379-CB150BFC66F9}"/>
              </a:ext>
            </a:extLst>
          </p:cNvPr>
          <p:cNvSpPr txBox="1"/>
          <p:nvPr/>
        </p:nvSpPr>
        <p:spPr>
          <a:xfrm>
            <a:off x="4452408" y="4363076"/>
            <a:ext cx="9204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f(1)=0.3</a:t>
            </a:r>
          </a:p>
          <a:p>
            <a:r>
              <a:rPr lang="en-US" dirty="0"/>
              <a:t>f(2)=0.4</a:t>
            </a:r>
          </a:p>
          <a:p>
            <a:r>
              <a:rPr lang="en-US" dirty="0"/>
              <a:t>f(3)=0.1</a:t>
            </a:r>
          </a:p>
          <a:p>
            <a:r>
              <a:rPr lang="en-US" dirty="0"/>
              <a:t>f(5)=0.2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9851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275"/>
    </mc:Choice>
    <mc:Fallback xmlns="">
      <p:transition spd="slow" advTm="19427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CEBF-8CFD-4A16-9413-8A27FF72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Expectation of a function of a RV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B5989C-277F-4D6D-8D6C-9BB0DC348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Suppose X is a discrete random variable. The expectation of g(X)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𝑝𝑟𝑜𝑏𝑎𝑏𝑙𝑒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𝑣𝑎𝑙𝑢𝑒𝑠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B5989C-277F-4D6D-8D6C-9BB0DC348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81D0786-8F52-25D2-CA26-B8626949A49F}"/>
              </a:ext>
            </a:extLst>
          </p:cNvPr>
          <p:cNvSpPr txBox="1"/>
          <p:nvPr/>
        </p:nvSpPr>
        <p:spPr>
          <a:xfrm>
            <a:off x="1496423" y="4486851"/>
            <a:ext cx="9204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  <a:p>
            <a:r>
              <a:rPr lang="en-US" dirty="0"/>
              <a:t>f(1)=0.3</a:t>
            </a:r>
          </a:p>
          <a:p>
            <a:r>
              <a:rPr lang="en-US" dirty="0"/>
              <a:t>f(2)=0.4</a:t>
            </a:r>
          </a:p>
          <a:p>
            <a:r>
              <a:rPr lang="en-US" dirty="0"/>
              <a:t>f(3)=0.1</a:t>
            </a:r>
          </a:p>
          <a:p>
            <a:r>
              <a:rPr lang="en-US" dirty="0"/>
              <a:t>f(5)=0.2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1657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845"/>
    </mc:Choice>
    <mc:Fallback xmlns="">
      <p:transition spd="slow" advTm="10284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7EEE-C749-C517-5F58-DCD80B7B9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3E0B3D-519A-9D52-563E-E9405CE5D9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Expected value represents the “average” of the values of a random variable</a:t>
                </a:r>
              </a:p>
              <a:p>
                <a:r>
                  <a:rPr lang="en-US" dirty="0"/>
                  <a:t>It is therefore a way to represent the “central” value of the probability mass</a:t>
                </a:r>
              </a:p>
              <a:p>
                <a:r>
                  <a:rPr lang="en-US" dirty="0"/>
                  <a:t>It is computed as a weighted average of the values by their probabilities</a:t>
                </a:r>
              </a:p>
              <a:p>
                <a:r>
                  <a:rPr lang="en-US" dirty="0"/>
                  <a:t>FYI, the continuous version is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3E0B3D-519A-9D52-563E-E9405CE5D9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6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071"/>
    </mc:Choice>
    <mc:Fallback xmlns="">
      <p:transition spd="slow" advTm="51071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26.1|25.4|10.3|79.6|8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9|8.6|4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535</Words>
  <Application>Microsoft Office PowerPoint</Application>
  <PresentationFormat>Widescreen</PresentationFormat>
  <Paragraphs>56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Expected value</vt:lpstr>
      <vt:lpstr>Objectives</vt:lpstr>
      <vt:lpstr>Concept of the expected value</vt:lpstr>
      <vt:lpstr>Expected value (discrete random variable)</vt:lpstr>
      <vt:lpstr>Example 1</vt:lpstr>
      <vt:lpstr>Example 2</vt:lpstr>
      <vt:lpstr>Pop quiz</vt:lpstr>
      <vt:lpstr>Expected value of a function of a RV</vt:lpstr>
      <vt:lpstr>Expectation of a function of a RV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130</cp:revision>
  <dcterms:created xsi:type="dcterms:W3CDTF">2018-07-30T07:45:11Z</dcterms:created>
  <dcterms:modified xsi:type="dcterms:W3CDTF">2023-07-06T06:17:45Z</dcterms:modified>
</cp:coreProperties>
</file>
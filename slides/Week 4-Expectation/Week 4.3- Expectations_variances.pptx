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88" r:id="rId2"/>
    <p:sldId id="285" r:id="rId3"/>
    <p:sldId id="272" r:id="rId4"/>
    <p:sldId id="279" r:id="rId5"/>
    <p:sldId id="292" r:id="rId6"/>
    <p:sldId id="273" r:id="rId7"/>
    <p:sldId id="27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19" autoAdjust="0"/>
    <p:restoredTop sz="75754" autoAdjust="0"/>
  </p:normalViewPr>
  <p:slideViewPr>
    <p:cSldViewPr snapToGrid="0">
      <p:cViewPr varScale="1">
        <p:scale>
          <a:sx n="84" d="100"/>
          <a:sy n="84" d="100"/>
        </p:scale>
        <p:origin x="15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35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C07B8A-D066-479A-B728-5DA7DB05C1F0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1BFEC0-0D6F-4C03-97D9-6E2016F0AB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741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2C4875-8523-436E-AFC9-E015484AB16B}" type="slidenum">
              <a:rPr lang="en-SG" smtClean="0"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245413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BFEC0-0D6F-4C03-97D9-6E2016F0ABD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0701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1BFEC0-0D6F-4C03-97D9-6E2016F0ABD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4574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E287C-6EAE-4F9B-8152-585C701A5C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235A4A-B887-407A-9FD1-9ADF72FED0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F6C758-6E36-4CC7-AD9C-7924C0600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E2774-C9E6-46A3-B4D4-6FC942C2D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A94FB-1268-4D52-AA6F-2F9684A8D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735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A12C5-8109-48B9-8119-F85B21AB2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8F51A-3BA6-4632-AE68-9C1A1DE8E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F956D-8726-4A6A-9D35-4F2C01D5D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FBD31-DD74-458D-B814-03DC50BBD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81FF28-DCE7-42D9-8EDF-9B0A2764C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670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A2C4E-CAD6-4055-99F8-FA619B1DA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1B201-80A7-4F9D-BEDD-2BE6B26156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85ECEC-58FD-4CAE-97C9-773374A71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753CC-16AE-4035-BD4B-12E6D0845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55B59E-F555-450A-9286-131E3AD76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978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9EBFE-D223-4DED-AC1D-F2D7CF935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971D2-9257-4381-984E-A14A15AF97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F42838-B118-4A45-93FF-028B31BCDA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F80843-66C6-44BA-8B2A-46A358048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EC76B9-17AA-4E3A-9220-DE416895B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545492-7FA4-4815-80B0-49F45F7A0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68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046FF-8C48-4F51-8F1F-1CF399B57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B1F9CD-B0E5-4031-9728-8B59B6DD4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C74174-581D-470F-90D2-B41676AA15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C52485-4BB2-40B5-824A-F20CF6BFAB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84B6DE-9ED4-4F93-8A42-F7BEB65BE2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F97094-1D50-4864-9623-C47FDE3F8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DFCD70-994A-456B-B41B-23F59E27D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4C2168-5017-45BA-9394-FD8F7F67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866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D3B92-78A0-49FA-B49B-8F7E7874A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D56162-0109-4475-869A-416DFB54F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6FEA20-6220-4E5C-BC71-906692BB5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3F2955-D744-473A-8F58-AEAD31AA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931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A9E777-752A-4291-9DA0-6EFAE03C6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AE8086-5952-4290-8FF4-8C9AC25A3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5B59C3-E89D-42F1-8CD6-8E482A41C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22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8A6B5-B74F-4C68-9069-F05A7DEEB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6C9BE-D42E-49A5-9A42-F7EBA64F4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D7B45-7022-4B45-9816-9A47856DB9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DA92F3-A0A7-48FC-B6A3-AD41339AA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330098-F070-4F88-845A-37ACB4EC1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0FCA4D-CB78-4E7C-9632-EA8AD015C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699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B4986-B049-4D24-AAFD-1C7DFE05E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8B25DD-CE4F-43CD-A0AC-92453E8854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2F6009-31EC-40BA-8D90-28FE6859B2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EC67D9-2599-41B5-A59D-F9C9CED79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7E4D9-296D-43E7-82F5-4686E2609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21FD23-915B-4D30-8605-5803ED605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412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C30D7-86A6-49EE-9EA5-B9E5E72EE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9545C4-A51E-4BE0-A47C-E167937F51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B942C-D828-4C44-9BAD-C0EC6AADE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B08201-9E3E-4389-8730-C064C78A1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9F554-2B8E-4B2E-A0D5-314D690A4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42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887551-C2CF-4AA7-8714-B33707A4DD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95081A-7203-4C78-8ED4-02C523A99E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F6E4FF-7E7D-4760-9EFC-2A1656853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8DC08-84F4-4DEF-856F-16FF4F9C3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ACAC4-EE1E-4011-9015-ABFFF118D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661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D032D6-894C-443C-9F40-6B359B0D5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F04FB6-2E47-43B5-8DCD-E32A06AB21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5056A-AED4-4E62-8EF5-590303868A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62BAC-B842-4A96-8FC9-E83E6D47B4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98408A-BFE4-471F-B3EF-63C5E37DC1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903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31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image" Target="../media/image6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50.png"/><Relationship Id="rId5" Type="http://schemas.openxmlformats.org/officeDocument/2006/relationships/image" Target="../media/image4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7" Type="http://schemas.openxmlformats.org/officeDocument/2006/relationships/image" Target="../media/image9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30.png"/><Relationship Id="rId9" Type="http://schemas.openxmlformats.org/officeDocument/2006/relationships/image" Target="../media/image1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DD1F0B6-3928-44F0-8191-E10BAF4B61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Variances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BAD5BB-EACA-457A-8A70-DAE13AC3E9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 descr="NTU_PP_slide_Footer_sized.png">
            <a:extLst>
              <a:ext uri="{FF2B5EF4-FFF2-40B4-BE49-F238E27FC236}">
                <a16:creationId xmlns:a16="http://schemas.microsoft.com/office/drawing/2014/main" id="{F0BE4941-908B-48D8-94C8-67A52AD2037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327909"/>
            <a:ext cx="12192000" cy="537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949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0B59B-42DA-4CD7-8991-33EB5C633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Spread of a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1D35E-77C2-424A-B523-2E42A6EFC4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5651" y="1814434"/>
            <a:ext cx="10515600" cy="4351338"/>
          </a:xfrm>
        </p:spPr>
        <p:txBody>
          <a:bodyPr/>
          <a:lstStyle/>
          <a:p>
            <a:r>
              <a:rPr lang="en-US" dirty="0"/>
              <a:t>E(X) indicates the average value of X, what we expect to see in the long run – Remember E(X) is a constant, calculated based on X’s distribution </a:t>
            </a:r>
          </a:p>
          <a:p>
            <a:r>
              <a:rPr lang="en-US" dirty="0"/>
              <a:t>It’s often of great practical interest to measure the tendency that X is spreading out relative to E(X) – That number can tell us something about the shape of the distribution </a:t>
            </a:r>
          </a:p>
          <a:p>
            <a:pPr marL="0" indent="0">
              <a:buNone/>
            </a:pPr>
            <a:r>
              <a:rPr lang="en-US" dirty="0"/>
              <a:t>The two investments have the same expected returns but different spreads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2FDA22F-429A-4B2C-8F4A-ADBBDD33FD3D}"/>
              </a:ext>
            </a:extLst>
          </p:cNvPr>
          <p:cNvCxnSpPr>
            <a:cxnSpLocks/>
          </p:cNvCxnSpPr>
          <p:nvPr/>
        </p:nvCxnSpPr>
        <p:spPr>
          <a:xfrm>
            <a:off x="4410395" y="6066922"/>
            <a:ext cx="4334759" cy="0"/>
          </a:xfrm>
          <a:prstGeom prst="straightConnector1">
            <a:avLst/>
          </a:prstGeom>
          <a:ln w="571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0829F3F-3DCE-417E-AC08-44C5DB2806C2}"/>
                  </a:ext>
                </a:extLst>
              </p:cNvPr>
              <p:cNvSpPr/>
              <p:nvPr/>
            </p:nvSpPr>
            <p:spPr>
              <a:xfrm>
                <a:off x="6985473" y="5154290"/>
                <a:ext cx="3519361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mtClean="0"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=3.5%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(</a:t>
                </a:r>
                <a:r>
                  <a:rPr lang="en-US" dirty="0">
                    <a:solidFill>
                      <a:schemeClr val="accent1"/>
                    </a:solidFill>
                  </a:rPr>
                  <a:t>X</a:t>
                </a:r>
                <a:r>
                  <a:rPr lang="en-US" dirty="0"/>
                  <a:t>: shares of a firm, </a:t>
                </a:r>
                <a:r>
                  <a:rPr lang="en-US" dirty="0">
                    <a:solidFill>
                      <a:schemeClr val="accent2">
                        <a:lumMod val="75000"/>
                      </a:schemeClr>
                    </a:solidFill>
                  </a:rPr>
                  <a:t>Y</a:t>
                </a:r>
                <a:r>
                  <a:rPr lang="en-US" dirty="0"/>
                  <a:t>: time deposit)</a:t>
                </a: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0829F3F-3DCE-417E-AC08-44C5DB2806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473" y="5154290"/>
                <a:ext cx="3519361" cy="646331"/>
              </a:xfrm>
              <a:prstGeom prst="rect">
                <a:avLst/>
              </a:prstGeom>
              <a:blipFill>
                <a:blip r:embed="rId6"/>
                <a:stretch>
                  <a:fillRect l="-1560" r="-867" b="-1415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B7C2F81C-835C-4ED3-B4C9-0FCACCA2EEB5}"/>
              </a:ext>
            </a:extLst>
          </p:cNvPr>
          <p:cNvSpPr txBox="1"/>
          <p:nvPr/>
        </p:nvSpPr>
        <p:spPr>
          <a:xfrm>
            <a:off x="8736150" y="5862494"/>
            <a:ext cx="1257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High return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C2F81C-835C-4ED3-B4C9-0FCACCA2EEB5}"/>
              </a:ext>
            </a:extLst>
          </p:cNvPr>
          <p:cNvSpPr txBox="1"/>
          <p:nvPr/>
        </p:nvSpPr>
        <p:spPr>
          <a:xfrm>
            <a:off x="3470910" y="5831560"/>
            <a:ext cx="10672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Negative return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85C9143-B1D8-A9FA-8792-0341342100B5}"/>
              </a:ext>
            </a:extLst>
          </p:cNvPr>
          <p:cNvSpPr/>
          <p:nvPr/>
        </p:nvSpPr>
        <p:spPr>
          <a:xfrm>
            <a:off x="4718685" y="5165079"/>
            <a:ext cx="2754630" cy="878010"/>
          </a:xfrm>
          <a:custGeom>
            <a:avLst/>
            <a:gdLst>
              <a:gd name="connsiteX0" fmla="*/ 0 w 2754630"/>
              <a:gd name="connsiteY0" fmla="*/ 880110 h 1017357"/>
              <a:gd name="connsiteX1" fmla="*/ 57150 w 2754630"/>
              <a:gd name="connsiteY1" fmla="*/ 845820 h 1017357"/>
              <a:gd name="connsiteX2" fmla="*/ 91440 w 2754630"/>
              <a:gd name="connsiteY2" fmla="*/ 765810 h 1017357"/>
              <a:gd name="connsiteX3" fmla="*/ 114300 w 2754630"/>
              <a:gd name="connsiteY3" fmla="*/ 720090 h 1017357"/>
              <a:gd name="connsiteX4" fmla="*/ 137160 w 2754630"/>
              <a:gd name="connsiteY4" fmla="*/ 685800 h 1017357"/>
              <a:gd name="connsiteX5" fmla="*/ 182880 w 2754630"/>
              <a:gd name="connsiteY5" fmla="*/ 525780 h 1017357"/>
              <a:gd name="connsiteX6" fmla="*/ 228600 w 2754630"/>
              <a:gd name="connsiteY6" fmla="*/ 400050 h 1017357"/>
              <a:gd name="connsiteX7" fmla="*/ 274320 w 2754630"/>
              <a:gd name="connsiteY7" fmla="*/ 274320 h 1017357"/>
              <a:gd name="connsiteX8" fmla="*/ 308610 w 2754630"/>
              <a:gd name="connsiteY8" fmla="*/ 171450 h 1017357"/>
              <a:gd name="connsiteX9" fmla="*/ 354330 w 2754630"/>
              <a:gd name="connsiteY9" fmla="*/ 91440 h 1017357"/>
              <a:gd name="connsiteX10" fmla="*/ 388620 w 2754630"/>
              <a:gd name="connsiteY10" fmla="*/ 11430 h 1017357"/>
              <a:gd name="connsiteX11" fmla="*/ 434340 w 2754630"/>
              <a:gd name="connsiteY11" fmla="*/ 0 h 1017357"/>
              <a:gd name="connsiteX12" fmla="*/ 537210 w 2754630"/>
              <a:gd name="connsiteY12" fmla="*/ 11430 h 1017357"/>
              <a:gd name="connsiteX13" fmla="*/ 594360 w 2754630"/>
              <a:gd name="connsiteY13" fmla="*/ 68580 h 1017357"/>
              <a:gd name="connsiteX14" fmla="*/ 628650 w 2754630"/>
              <a:gd name="connsiteY14" fmla="*/ 102870 h 1017357"/>
              <a:gd name="connsiteX15" fmla="*/ 651510 w 2754630"/>
              <a:gd name="connsiteY15" fmla="*/ 137160 h 1017357"/>
              <a:gd name="connsiteX16" fmla="*/ 697230 w 2754630"/>
              <a:gd name="connsiteY16" fmla="*/ 171450 h 1017357"/>
              <a:gd name="connsiteX17" fmla="*/ 765810 w 2754630"/>
              <a:gd name="connsiteY17" fmla="*/ 228600 h 1017357"/>
              <a:gd name="connsiteX18" fmla="*/ 800100 w 2754630"/>
              <a:gd name="connsiteY18" fmla="*/ 274320 h 1017357"/>
              <a:gd name="connsiteX19" fmla="*/ 834390 w 2754630"/>
              <a:gd name="connsiteY19" fmla="*/ 297180 h 1017357"/>
              <a:gd name="connsiteX20" fmla="*/ 880110 w 2754630"/>
              <a:gd name="connsiteY20" fmla="*/ 331470 h 1017357"/>
              <a:gd name="connsiteX21" fmla="*/ 960120 w 2754630"/>
              <a:gd name="connsiteY21" fmla="*/ 400050 h 1017357"/>
              <a:gd name="connsiteX22" fmla="*/ 994410 w 2754630"/>
              <a:gd name="connsiteY22" fmla="*/ 411480 h 1017357"/>
              <a:gd name="connsiteX23" fmla="*/ 1040130 w 2754630"/>
              <a:gd name="connsiteY23" fmla="*/ 457200 h 1017357"/>
              <a:gd name="connsiteX24" fmla="*/ 1074420 w 2754630"/>
              <a:gd name="connsiteY24" fmla="*/ 468630 h 1017357"/>
              <a:gd name="connsiteX25" fmla="*/ 1143000 w 2754630"/>
              <a:gd name="connsiteY25" fmla="*/ 525780 h 1017357"/>
              <a:gd name="connsiteX26" fmla="*/ 1188720 w 2754630"/>
              <a:gd name="connsiteY26" fmla="*/ 560070 h 1017357"/>
              <a:gd name="connsiteX27" fmla="*/ 1223010 w 2754630"/>
              <a:gd name="connsiteY27" fmla="*/ 582930 h 1017357"/>
              <a:gd name="connsiteX28" fmla="*/ 1268730 w 2754630"/>
              <a:gd name="connsiteY28" fmla="*/ 594360 h 1017357"/>
              <a:gd name="connsiteX29" fmla="*/ 1303020 w 2754630"/>
              <a:gd name="connsiteY29" fmla="*/ 605790 h 1017357"/>
              <a:gd name="connsiteX30" fmla="*/ 1405890 w 2754630"/>
              <a:gd name="connsiteY30" fmla="*/ 651510 h 1017357"/>
              <a:gd name="connsiteX31" fmla="*/ 1440180 w 2754630"/>
              <a:gd name="connsiteY31" fmla="*/ 674370 h 1017357"/>
              <a:gd name="connsiteX32" fmla="*/ 1485900 w 2754630"/>
              <a:gd name="connsiteY32" fmla="*/ 697230 h 1017357"/>
              <a:gd name="connsiteX33" fmla="*/ 1520190 w 2754630"/>
              <a:gd name="connsiteY33" fmla="*/ 720090 h 1017357"/>
              <a:gd name="connsiteX34" fmla="*/ 1588770 w 2754630"/>
              <a:gd name="connsiteY34" fmla="*/ 742950 h 1017357"/>
              <a:gd name="connsiteX35" fmla="*/ 1680210 w 2754630"/>
              <a:gd name="connsiteY35" fmla="*/ 788670 h 1017357"/>
              <a:gd name="connsiteX36" fmla="*/ 1737360 w 2754630"/>
              <a:gd name="connsiteY36" fmla="*/ 822960 h 1017357"/>
              <a:gd name="connsiteX37" fmla="*/ 1771650 w 2754630"/>
              <a:gd name="connsiteY37" fmla="*/ 834390 h 1017357"/>
              <a:gd name="connsiteX38" fmla="*/ 1863090 w 2754630"/>
              <a:gd name="connsiteY38" fmla="*/ 880110 h 1017357"/>
              <a:gd name="connsiteX39" fmla="*/ 1920240 w 2754630"/>
              <a:gd name="connsiteY39" fmla="*/ 891540 h 1017357"/>
              <a:gd name="connsiteX40" fmla="*/ 2023110 w 2754630"/>
              <a:gd name="connsiteY40" fmla="*/ 925830 h 1017357"/>
              <a:gd name="connsiteX41" fmla="*/ 2331720 w 2754630"/>
              <a:gd name="connsiteY41" fmla="*/ 948690 h 1017357"/>
              <a:gd name="connsiteX42" fmla="*/ 2514600 w 2754630"/>
              <a:gd name="connsiteY42" fmla="*/ 982980 h 1017357"/>
              <a:gd name="connsiteX43" fmla="*/ 2617470 w 2754630"/>
              <a:gd name="connsiteY43" fmla="*/ 994410 h 1017357"/>
              <a:gd name="connsiteX44" fmla="*/ 2686050 w 2754630"/>
              <a:gd name="connsiteY44" fmla="*/ 1005840 h 1017357"/>
              <a:gd name="connsiteX45" fmla="*/ 2754630 w 2754630"/>
              <a:gd name="connsiteY45" fmla="*/ 1017270 h 1017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2754630" h="1017357">
                <a:moveTo>
                  <a:pt x="0" y="880110"/>
                </a:moveTo>
                <a:cubicBezTo>
                  <a:pt x="19050" y="868680"/>
                  <a:pt x="41441" y="861529"/>
                  <a:pt x="57150" y="845820"/>
                </a:cubicBezTo>
                <a:cubicBezTo>
                  <a:pt x="76104" y="826866"/>
                  <a:pt x="81194" y="789718"/>
                  <a:pt x="91440" y="765810"/>
                </a:cubicBezTo>
                <a:cubicBezTo>
                  <a:pt x="98152" y="750149"/>
                  <a:pt x="105846" y="734884"/>
                  <a:pt x="114300" y="720090"/>
                </a:cubicBezTo>
                <a:cubicBezTo>
                  <a:pt x="121116" y="708163"/>
                  <a:pt x="131876" y="698480"/>
                  <a:pt x="137160" y="685800"/>
                </a:cubicBezTo>
                <a:cubicBezTo>
                  <a:pt x="194708" y="547684"/>
                  <a:pt x="155162" y="627411"/>
                  <a:pt x="182880" y="525780"/>
                </a:cubicBezTo>
                <a:cubicBezTo>
                  <a:pt x="210899" y="423045"/>
                  <a:pt x="197923" y="492081"/>
                  <a:pt x="228600" y="400050"/>
                </a:cubicBezTo>
                <a:cubicBezTo>
                  <a:pt x="293637" y="204939"/>
                  <a:pt x="216022" y="405491"/>
                  <a:pt x="274320" y="274320"/>
                </a:cubicBezTo>
                <a:cubicBezTo>
                  <a:pt x="354367" y="94213"/>
                  <a:pt x="252886" y="320049"/>
                  <a:pt x="308610" y="171450"/>
                </a:cubicBezTo>
                <a:cubicBezTo>
                  <a:pt x="321040" y="138303"/>
                  <a:pt x="335380" y="119864"/>
                  <a:pt x="354330" y="91440"/>
                </a:cubicBezTo>
                <a:cubicBezTo>
                  <a:pt x="360065" y="68499"/>
                  <a:pt x="364940" y="27217"/>
                  <a:pt x="388620" y="11430"/>
                </a:cubicBezTo>
                <a:cubicBezTo>
                  <a:pt x="401691" y="2716"/>
                  <a:pt x="419100" y="3810"/>
                  <a:pt x="434340" y="0"/>
                </a:cubicBezTo>
                <a:cubicBezTo>
                  <a:pt x="468630" y="3810"/>
                  <a:pt x="503739" y="3062"/>
                  <a:pt x="537210" y="11430"/>
                </a:cubicBezTo>
                <a:cubicBezTo>
                  <a:pt x="572503" y="20253"/>
                  <a:pt x="574307" y="44517"/>
                  <a:pt x="594360" y="68580"/>
                </a:cubicBezTo>
                <a:cubicBezTo>
                  <a:pt x="604708" y="80998"/>
                  <a:pt x="618302" y="90452"/>
                  <a:pt x="628650" y="102870"/>
                </a:cubicBezTo>
                <a:cubicBezTo>
                  <a:pt x="637444" y="113423"/>
                  <a:pt x="641796" y="127446"/>
                  <a:pt x="651510" y="137160"/>
                </a:cubicBezTo>
                <a:cubicBezTo>
                  <a:pt x="664980" y="150630"/>
                  <a:pt x="683760" y="157980"/>
                  <a:pt x="697230" y="171450"/>
                </a:cubicBezTo>
                <a:cubicBezTo>
                  <a:pt x="761853" y="236073"/>
                  <a:pt x="667726" y="179558"/>
                  <a:pt x="765810" y="228600"/>
                </a:cubicBezTo>
                <a:cubicBezTo>
                  <a:pt x="777240" y="243840"/>
                  <a:pt x="786630" y="260850"/>
                  <a:pt x="800100" y="274320"/>
                </a:cubicBezTo>
                <a:cubicBezTo>
                  <a:pt x="809814" y="284034"/>
                  <a:pt x="823212" y="289195"/>
                  <a:pt x="834390" y="297180"/>
                </a:cubicBezTo>
                <a:cubicBezTo>
                  <a:pt x="849892" y="308253"/>
                  <a:pt x="865646" y="319072"/>
                  <a:pt x="880110" y="331470"/>
                </a:cubicBezTo>
                <a:cubicBezTo>
                  <a:pt x="920646" y="366215"/>
                  <a:pt x="909983" y="371400"/>
                  <a:pt x="960120" y="400050"/>
                </a:cubicBezTo>
                <a:cubicBezTo>
                  <a:pt x="970581" y="406028"/>
                  <a:pt x="982980" y="407670"/>
                  <a:pt x="994410" y="411480"/>
                </a:cubicBezTo>
                <a:cubicBezTo>
                  <a:pt x="1009650" y="426720"/>
                  <a:pt x="1022592" y="444673"/>
                  <a:pt x="1040130" y="457200"/>
                </a:cubicBezTo>
                <a:cubicBezTo>
                  <a:pt x="1049934" y="464203"/>
                  <a:pt x="1064395" y="461947"/>
                  <a:pt x="1074420" y="468630"/>
                </a:cubicBezTo>
                <a:cubicBezTo>
                  <a:pt x="1099179" y="485136"/>
                  <a:pt x="1119764" y="507191"/>
                  <a:pt x="1143000" y="525780"/>
                </a:cubicBezTo>
                <a:cubicBezTo>
                  <a:pt x="1157876" y="537680"/>
                  <a:pt x="1173218" y="548997"/>
                  <a:pt x="1188720" y="560070"/>
                </a:cubicBezTo>
                <a:cubicBezTo>
                  <a:pt x="1199898" y="568055"/>
                  <a:pt x="1210384" y="577519"/>
                  <a:pt x="1223010" y="582930"/>
                </a:cubicBezTo>
                <a:cubicBezTo>
                  <a:pt x="1237449" y="589118"/>
                  <a:pt x="1253625" y="590044"/>
                  <a:pt x="1268730" y="594360"/>
                </a:cubicBezTo>
                <a:cubicBezTo>
                  <a:pt x="1280315" y="597670"/>
                  <a:pt x="1291590" y="601980"/>
                  <a:pt x="1303020" y="605790"/>
                </a:cubicBezTo>
                <a:cubicBezTo>
                  <a:pt x="1398982" y="677761"/>
                  <a:pt x="1294673" y="609803"/>
                  <a:pt x="1405890" y="651510"/>
                </a:cubicBezTo>
                <a:cubicBezTo>
                  <a:pt x="1418752" y="656333"/>
                  <a:pt x="1428253" y="667554"/>
                  <a:pt x="1440180" y="674370"/>
                </a:cubicBezTo>
                <a:cubicBezTo>
                  <a:pt x="1454974" y="682824"/>
                  <a:pt x="1471106" y="688776"/>
                  <a:pt x="1485900" y="697230"/>
                </a:cubicBezTo>
                <a:cubicBezTo>
                  <a:pt x="1497827" y="704046"/>
                  <a:pt x="1507637" y="714511"/>
                  <a:pt x="1520190" y="720090"/>
                </a:cubicBezTo>
                <a:cubicBezTo>
                  <a:pt x="1542210" y="729877"/>
                  <a:pt x="1567217" y="732174"/>
                  <a:pt x="1588770" y="742950"/>
                </a:cubicBezTo>
                <a:cubicBezTo>
                  <a:pt x="1619250" y="758190"/>
                  <a:pt x="1650989" y="771137"/>
                  <a:pt x="1680210" y="788670"/>
                </a:cubicBezTo>
                <a:cubicBezTo>
                  <a:pt x="1699260" y="800100"/>
                  <a:pt x="1717489" y="813025"/>
                  <a:pt x="1737360" y="822960"/>
                </a:cubicBezTo>
                <a:cubicBezTo>
                  <a:pt x="1748136" y="828348"/>
                  <a:pt x="1760682" y="829404"/>
                  <a:pt x="1771650" y="834390"/>
                </a:cubicBezTo>
                <a:cubicBezTo>
                  <a:pt x="1802673" y="848491"/>
                  <a:pt x="1829674" y="873427"/>
                  <a:pt x="1863090" y="880110"/>
                </a:cubicBezTo>
                <a:cubicBezTo>
                  <a:pt x="1882140" y="883920"/>
                  <a:pt x="1901632" y="885958"/>
                  <a:pt x="1920240" y="891540"/>
                </a:cubicBezTo>
                <a:cubicBezTo>
                  <a:pt x="2020855" y="921724"/>
                  <a:pt x="1935374" y="908283"/>
                  <a:pt x="2023110" y="925830"/>
                </a:cubicBezTo>
                <a:cubicBezTo>
                  <a:pt x="2138415" y="948891"/>
                  <a:pt x="2180129" y="941471"/>
                  <a:pt x="2331720" y="948690"/>
                </a:cubicBezTo>
                <a:cubicBezTo>
                  <a:pt x="2379129" y="958172"/>
                  <a:pt x="2461147" y="975853"/>
                  <a:pt x="2514600" y="982980"/>
                </a:cubicBezTo>
                <a:cubicBezTo>
                  <a:pt x="2548798" y="987540"/>
                  <a:pt x="2583272" y="989850"/>
                  <a:pt x="2617470" y="994410"/>
                </a:cubicBezTo>
                <a:cubicBezTo>
                  <a:pt x="2640442" y="997473"/>
                  <a:pt x="2663325" y="1001295"/>
                  <a:pt x="2686050" y="1005840"/>
                </a:cubicBezTo>
                <a:cubicBezTo>
                  <a:pt x="2752441" y="1019118"/>
                  <a:pt x="2709620" y="1017270"/>
                  <a:pt x="2754630" y="1017270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ADE0B43-5631-AFE7-9916-75D15B6D7CEB}"/>
              </a:ext>
            </a:extLst>
          </p:cNvPr>
          <p:cNvSpPr/>
          <p:nvPr/>
        </p:nvSpPr>
        <p:spPr>
          <a:xfrm>
            <a:off x="5335640" y="4881081"/>
            <a:ext cx="742950" cy="1162008"/>
          </a:xfrm>
          <a:custGeom>
            <a:avLst/>
            <a:gdLst>
              <a:gd name="connsiteX0" fmla="*/ 0 w 742950"/>
              <a:gd name="connsiteY0" fmla="*/ 982984 h 1005844"/>
              <a:gd name="connsiteX1" fmla="*/ 160020 w 742950"/>
              <a:gd name="connsiteY1" fmla="*/ 822964 h 1005844"/>
              <a:gd name="connsiteX2" fmla="*/ 320040 w 742950"/>
              <a:gd name="connsiteY2" fmla="*/ 4 h 1005844"/>
              <a:gd name="connsiteX3" fmla="*/ 468630 w 742950"/>
              <a:gd name="connsiteY3" fmla="*/ 811534 h 1005844"/>
              <a:gd name="connsiteX4" fmla="*/ 640080 w 742950"/>
              <a:gd name="connsiteY4" fmla="*/ 960124 h 1005844"/>
              <a:gd name="connsiteX5" fmla="*/ 742950 w 742950"/>
              <a:gd name="connsiteY5" fmla="*/ 1005844 h 1005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950" h="1005844">
                <a:moveTo>
                  <a:pt x="0" y="982984"/>
                </a:moveTo>
                <a:cubicBezTo>
                  <a:pt x="53340" y="984889"/>
                  <a:pt x="106680" y="986794"/>
                  <a:pt x="160020" y="822964"/>
                </a:cubicBezTo>
                <a:cubicBezTo>
                  <a:pt x="213360" y="659134"/>
                  <a:pt x="268605" y="1909"/>
                  <a:pt x="320040" y="4"/>
                </a:cubicBezTo>
                <a:cubicBezTo>
                  <a:pt x="371475" y="-1901"/>
                  <a:pt x="415290" y="651514"/>
                  <a:pt x="468630" y="811534"/>
                </a:cubicBezTo>
                <a:cubicBezTo>
                  <a:pt x="521970" y="971554"/>
                  <a:pt x="594360" y="927739"/>
                  <a:pt x="640080" y="960124"/>
                </a:cubicBezTo>
                <a:cubicBezTo>
                  <a:pt x="685800" y="992509"/>
                  <a:pt x="714375" y="999176"/>
                  <a:pt x="742950" y="1005844"/>
                </a:cubicBezTo>
              </a:path>
            </a:pathLst>
          </a:cu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6493E98-9785-4941-0C7C-4D74924FDB9B}"/>
              </a:ext>
            </a:extLst>
          </p:cNvPr>
          <p:cNvSpPr txBox="1"/>
          <p:nvPr/>
        </p:nvSpPr>
        <p:spPr>
          <a:xfrm>
            <a:off x="5477679" y="6047160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3.5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9018DC6-9694-0BA9-3BDD-A622F786BB76}"/>
              </a:ext>
            </a:extLst>
          </p:cNvPr>
          <p:cNvSpPr txBox="1"/>
          <p:nvPr/>
        </p:nvSpPr>
        <p:spPr>
          <a:xfrm>
            <a:off x="4962935" y="6036894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89030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7253"/>
    </mc:Choice>
    <mc:Fallback xmlns="">
      <p:transition spd="slow" advTm="207253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34BDB-67EA-4AF3-AEB2-226A7CF8E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Variance of a random variable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E8760A-9311-40D9-9A02-6F3683C24D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97330"/>
                <a:ext cx="10515600" cy="4679633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We define the variance of a RV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as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],</m:t>
                    </m:r>
                    <m:r>
                      <m:rPr>
                        <m:nor/>
                      </m:rPr>
                      <a:rPr lang="en-US" dirty="0"/>
                      <m:t>with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dirty="0"/>
                  <a:t>                      </a:t>
                </a:r>
              </a:p>
              <a:p>
                <a:pPr marL="0" indent="0">
                  <a:buNone/>
                </a:pPr>
                <a:r>
                  <a:rPr lang="en-US" dirty="0"/>
                  <a:t>(or just V(X), which is often denoted as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Let us break this expected value down: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“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d>
                      </m:e>
                      <m:sup>
                        <m: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”: the square implies both positive and negative deviations will add up to V(X)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: Taking the expectation means we will weight all square deviations by their probabilities. This also means variance is a constant for a given X.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E8760A-9311-40D9-9A02-6F3683C24D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97330"/>
                <a:ext cx="10515600" cy="4679633"/>
              </a:xfrm>
              <a:blipFill>
                <a:blip r:embed="rId6"/>
                <a:stretch>
                  <a:fillRect l="-1217" t="-2999" r="-168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550663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2725"/>
    </mc:Choice>
    <mc:Fallback xmlns="">
      <p:transition spd="slow" advTm="19272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A788E-6734-4DB4-AED4-32CC25D2E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variances of a discrete RV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2C26DF-5D99-4912-8858-73795B14B5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50829" y="1537137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Consider a RV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with the following distribution.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b="0" dirty="0"/>
                  <a:t>=?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2C26DF-5D99-4912-8858-73795B14B5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50829" y="1537137"/>
                <a:ext cx="10515600" cy="4351338"/>
              </a:xfrm>
              <a:blipFill>
                <a:blip r:embed="rId5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D0168FD-F9D7-458B-9AB4-4485DFC27DA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94710176"/>
                  </p:ext>
                </p:extLst>
              </p:nvPr>
            </p:nvGraphicFramePr>
            <p:xfrm>
              <a:off x="1044093" y="2086096"/>
              <a:ext cx="7004172" cy="165649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964930">
                      <a:extLst>
                        <a:ext uri="{9D8B030D-6E8A-4147-A177-3AD203B41FA5}">
                          <a16:colId xmlns:a16="http://schemas.microsoft.com/office/drawing/2014/main" val="681083290"/>
                        </a:ext>
                      </a:extLst>
                    </a:gridCol>
                    <a:gridCol w="934832">
                      <a:extLst>
                        <a:ext uri="{9D8B030D-6E8A-4147-A177-3AD203B41FA5}">
                          <a16:colId xmlns:a16="http://schemas.microsoft.com/office/drawing/2014/main" val="3613437360"/>
                        </a:ext>
                      </a:extLst>
                    </a:gridCol>
                    <a:gridCol w="1233535">
                      <a:extLst>
                        <a:ext uri="{9D8B030D-6E8A-4147-A177-3AD203B41FA5}">
                          <a16:colId xmlns:a16="http://schemas.microsoft.com/office/drawing/2014/main" val="3774985682"/>
                        </a:ext>
                      </a:extLst>
                    </a:gridCol>
                    <a:gridCol w="1524876">
                      <a:extLst>
                        <a:ext uri="{9D8B030D-6E8A-4147-A177-3AD203B41FA5}">
                          <a16:colId xmlns:a16="http://schemas.microsoft.com/office/drawing/2014/main" val="3219065341"/>
                        </a:ext>
                      </a:extLst>
                    </a:gridCol>
                    <a:gridCol w="1345999">
                      <a:extLst>
                        <a:ext uri="{9D8B030D-6E8A-4147-A177-3AD203B41FA5}">
                          <a16:colId xmlns:a16="http://schemas.microsoft.com/office/drawing/2014/main" val="917909729"/>
                        </a:ext>
                      </a:extLst>
                    </a:gridCol>
                  </a:tblGrid>
                  <a:tr h="552166">
                    <a:tc>
                      <a:txBody>
                        <a:bodyPr/>
                        <a:lstStyle/>
                        <a:p>
                          <a:r>
                            <a:rPr lang="en-US" sz="2800" dirty="0"/>
                            <a:t>          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i="1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i="1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i="1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i="1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9948697"/>
                      </a:ext>
                    </a:extLst>
                  </a:tr>
                  <a:tr h="55216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32662529"/>
                      </a:ext>
                    </a:extLst>
                  </a:tr>
                  <a:tr h="55216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𝑥𝑓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248185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D0168FD-F9D7-458B-9AB4-4485DFC27DA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94710176"/>
                  </p:ext>
                </p:extLst>
              </p:nvPr>
            </p:nvGraphicFramePr>
            <p:xfrm>
              <a:off x="1044093" y="2086096"/>
              <a:ext cx="7004172" cy="165649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964930">
                      <a:extLst>
                        <a:ext uri="{9D8B030D-6E8A-4147-A177-3AD203B41FA5}">
                          <a16:colId xmlns:a16="http://schemas.microsoft.com/office/drawing/2014/main" val="681083290"/>
                        </a:ext>
                      </a:extLst>
                    </a:gridCol>
                    <a:gridCol w="934832">
                      <a:extLst>
                        <a:ext uri="{9D8B030D-6E8A-4147-A177-3AD203B41FA5}">
                          <a16:colId xmlns:a16="http://schemas.microsoft.com/office/drawing/2014/main" val="3613437360"/>
                        </a:ext>
                      </a:extLst>
                    </a:gridCol>
                    <a:gridCol w="1233535">
                      <a:extLst>
                        <a:ext uri="{9D8B030D-6E8A-4147-A177-3AD203B41FA5}">
                          <a16:colId xmlns:a16="http://schemas.microsoft.com/office/drawing/2014/main" val="3774985682"/>
                        </a:ext>
                      </a:extLst>
                    </a:gridCol>
                    <a:gridCol w="1524876">
                      <a:extLst>
                        <a:ext uri="{9D8B030D-6E8A-4147-A177-3AD203B41FA5}">
                          <a16:colId xmlns:a16="http://schemas.microsoft.com/office/drawing/2014/main" val="3219065341"/>
                        </a:ext>
                      </a:extLst>
                    </a:gridCol>
                    <a:gridCol w="1345999">
                      <a:extLst>
                        <a:ext uri="{9D8B030D-6E8A-4147-A177-3AD203B41FA5}">
                          <a16:colId xmlns:a16="http://schemas.microsoft.com/office/drawing/2014/main" val="917909729"/>
                        </a:ext>
                      </a:extLst>
                    </a:gridCol>
                  </a:tblGrid>
                  <a:tr h="552166">
                    <a:tc>
                      <a:txBody>
                        <a:bodyPr/>
                        <a:lstStyle/>
                        <a:p>
                          <a:r>
                            <a:rPr lang="en-US" sz="2800" dirty="0"/>
                            <a:t>          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i="1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i="1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i="1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i="1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9948697"/>
                      </a:ext>
                    </a:extLst>
                  </a:tr>
                  <a:tr h="55216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310" t="-111111" r="-256656" b="-1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32662529"/>
                      </a:ext>
                    </a:extLst>
                  </a:tr>
                  <a:tr h="55216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310" t="-208791" r="-256656" b="-32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2481850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74FEC669-F10F-42D6-85CA-C1A4E341CD9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13266041"/>
                  </p:ext>
                </p:extLst>
              </p:nvPr>
            </p:nvGraphicFramePr>
            <p:xfrm>
              <a:off x="1044094" y="3781424"/>
              <a:ext cx="7004171" cy="1591671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972876">
                      <a:extLst>
                        <a:ext uri="{9D8B030D-6E8A-4147-A177-3AD203B41FA5}">
                          <a16:colId xmlns:a16="http://schemas.microsoft.com/office/drawing/2014/main" val="681083290"/>
                        </a:ext>
                      </a:extLst>
                    </a:gridCol>
                    <a:gridCol w="922312">
                      <a:extLst>
                        <a:ext uri="{9D8B030D-6E8A-4147-A177-3AD203B41FA5}">
                          <a16:colId xmlns:a16="http://schemas.microsoft.com/office/drawing/2014/main" val="3613437360"/>
                        </a:ext>
                      </a:extLst>
                    </a:gridCol>
                    <a:gridCol w="1242636">
                      <a:extLst>
                        <a:ext uri="{9D8B030D-6E8A-4147-A177-3AD203B41FA5}">
                          <a16:colId xmlns:a16="http://schemas.microsoft.com/office/drawing/2014/main" val="3774985682"/>
                        </a:ext>
                      </a:extLst>
                    </a:gridCol>
                    <a:gridCol w="1474628">
                      <a:extLst>
                        <a:ext uri="{9D8B030D-6E8A-4147-A177-3AD203B41FA5}">
                          <a16:colId xmlns:a16="http://schemas.microsoft.com/office/drawing/2014/main" val="3219065341"/>
                        </a:ext>
                      </a:extLst>
                    </a:gridCol>
                    <a:gridCol w="1391719">
                      <a:extLst>
                        <a:ext uri="{9D8B030D-6E8A-4147-A177-3AD203B41FA5}">
                          <a16:colId xmlns:a16="http://schemas.microsoft.com/office/drawing/2014/main" val="917909729"/>
                        </a:ext>
                      </a:extLst>
                    </a:gridCol>
                  </a:tblGrid>
                  <a:tr h="53055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32662529"/>
                      </a:ext>
                    </a:extLst>
                  </a:tr>
                  <a:tr h="53055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24818501"/>
                      </a:ext>
                    </a:extLst>
                  </a:tr>
                  <a:tr h="53055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  <m:d>
                                      <m:d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5214742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74FEC669-F10F-42D6-85CA-C1A4E341CD9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13266041"/>
                  </p:ext>
                </p:extLst>
              </p:nvPr>
            </p:nvGraphicFramePr>
            <p:xfrm>
              <a:off x="1044094" y="3781424"/>
              <a:ext cx="7004171" cy="1591671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972876">
                      <a:extLst>
                        <a:ext uri="{9D8B030D-6E8A-4147-A177-3AD203B41FA5}">
                          <a16:colId xmlns:a16="http://schemas.microsoft.com/office/drawing/2014/main" val="681083290"/>
                        </a:ext>
                      </a:extLst>
                    </a:gridCol>
                    <a:gridCol w="922312">
                      <a:extLst>
                        <a:ext uri="{9D8B030D-6E8A-4147-A177-3AD203B41FA5}">
                          <a16:colId xmlns:a16="http://schemas.microsoft.com/office/drawing/2014/main" val="3613437360"/>
                        </a:ext>
                      </a:extLst>
                    </a:gridCol>
                    <a:gridCol w="1242636">
                      <a:extLst>
                        <a:ext uri="{9D8B030D-6E8A-4147-A177-3AD203B41FA5}">
                          <a16:colId xmlns:a16="http://schemas.microsoft.com/office/drawing/2014/main" val="3774985682"/>
                        </a:ext>
                      </a:extLst>
                    </a:gridCol>
                    <a:gridCol w="1474628">
                      <a:extLst>
                        <a:ext uri="{9D8B030D-6E8A-4147-A177-3AD203B41FA5}">
                          <a16:colId xmlns:a16="http://schemas.microsoft.com/office/drawing/2014/main" val="3219065341"/>
                        </a:ext>
                      </a:extLst>
                    </a:gridCol>
                    <a:gridCol w="1391719">
                      <a:extLst>
                        <a:ext uri="{9D8B030D-6E8A-4147-A177-3AD203B41FA5}">
                          <a16:colId xmlns:a16="http://schemas.microsoft.com/office/drawing/2014/main" val="917909729"/>
                        </a:ext>
                      </a:extLst>
                    </a:gridCol>
                  </a:tblGrid>
                  <a:tr h="53055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309" t="-1149" r="-255556" b="-20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32662529"/>
                      </a:ext>
                    </a:extLst>
                  </a:tr>
                  <a:tr h="53055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309" t="-100000" r="-255556" b="-1011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24818501"/>
                      </a:ext>
                    </a:extLst>
                  </a:tr>
                  <a:tr h="53055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309" t="-202299" r="-255556" b="-22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5214742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7C55608C-D055-4B13-92F3-F023073C6B11}"/>
              </a:ext>
            </a:extLst>
          </p:cNvPr>
          <p:cNvSpPr txBox="1"/>
          <p:nvPr/>
        </p:nvSpPr>
        <p:spPr>
          <a:xfrm>
            <a:off x="3327175" y="2661090"/>
            <a:ext cx="42867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.25           .25          .15               .35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D40DC8-C674-45CF-8978-92ED76419BEB}"/>
              </a:ext>
            </a:extLst>
          </p:cNvPr>
          <p:cNvSpPr txBox="1"/>
          <p:nvPr/>
        </p:nvSpPr>
        <p:spPr>
          <a:xfrm>
            <a:off x="3255439" y="3203579"/>
            <a:ext cx="47928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-.25           .50       .45                   2.1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560178-37F2-4EAB-A9CA-E3AF4E3865C3}"/>
              </a:ext>
            </a:extLst>
          </p:cNvPr>
          <p:cNvSpPr txBox="1"/>
          <p:nvPr/>
        </p:nvSpPr>
        <p:spPr>
          <a:xfrm>
            <a:off x="3255439" y="3800813"/>
            <a:ext cx="43717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-3.8            -.8            .2                3.2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CD2363-3C14-47C4-82DE-04D13665307B}"/>
              </a:ext>
            </a:extLst>
          </p:cNvPr>
          <p:cNvSpPr txBox="1"/>
          <p:nvPr/>
        </p:nvSpPr>
        <p:spPr>
          <a:xfrm>
            <a:off x="3078541" y="4911430"/>
            <a:ext cx="49697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3.610     .16                 .006           3.584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6D542A-3CE0-4C9D-BE3C-F13ECAE07574}"/>
              </a:ext>
            </a:extLst>
          </p:cNvPr>
          <p:cNvSpPr txBox="1"/>
          <p:nvPr/>
        </p:nvSpPr>
        <p:spPr>
          <a:xfrm>
            <a:off x="3087657" y="4368941"/>
            <a:ext cx="48013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14.44       0.64           .04           10.24	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26185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9279"/>
    </mc:Choice>
    <mc:Fallback xmlns="">
      <p:transition spd="slow" advTm="18927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DA534-563B-905D-51F7-F68D38B72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deviations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521F16-66D1-0477-EBC6-B34AB0520C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Standard deviation of a RV is the square root of its variance</a:t>
                </a:r>
              </a:p>
              <a:p>
                <a:pPr marL="0" indent="0">
                  <a:buNone/>
                </a:pPr>
                <a:r>
                  <a:rPr lang="en-US" dirty="0"/>
                  <a:t>Standard deviation of X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𝑉𝑎𝑟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rad>
                  </m:oMath>
                </a14:m>
                <a:endParaRPr lang="en-US" dirty="0"/>
              </a:p>
              <a:p>
                <a:pPr>
                  <a:buFontTx/>
                  <a:buChar char="-"/>
                </a:pPr>
                <a:r>
                  <a:rPr lang="en-US" dirty="0"/>
                  <a:t>since variance is non-negative, std dev is well-defined </a:t>
                </a:r>
              </a:p>
              <a:p>
                <a:r>
                  <a:rPr lang="en-US" dirty="0"/>
                  <a:t>Std dev is more commonly used than variance as a measure of spread</a:t>
                </a:r>
              </a:p>
              <a:p>
                <a:pPr marL="0" indent="0">
                  <a:buNone/>
                </a:pPr>
                <a:r>
                  <a:rPr lang="en-US" dirty="0"/>
                  <a:t>-</a:t>
                </a:r>
                <a:r>
                  <a:rPr lang="en-US" dirty="0" err="1"/>
                  <a:t>Bc</a:t>
                </a:r>
                <a:r>
                  <a:rPr lang="en-US" dirty="0"/>
                  <a:t> variance is in the unit of </a:t>
                </a:r>
                <a:r>
                  <a:rPr lang="en-US" i="1" dirty="0"/>
                  <a:t>squared</a:t>
                </a:r>
                <a:r>
                  <a:rPr lang="en-US" dirty="0"/>
                  <a:t> distance, its numerical value is harder to comprehend; by contrast, std dev is in the original unit of X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521F16-66D1-0477-EBC6-B34AB0520C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217" t="-2241" r="-52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0011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7040"/>
    </mc:Choice>
    <mc:Fallback xmlns="">
      <p:transition spd="slow" advTm="13704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446" y="101600"/>
            <a:ext cx="10445209" cy="6556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804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1611"/>
    </mc:Choice>
    <mc:Fallback xmlns="">
      <p:transition spd="slow" advTm="12161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4E606-94C8-480C-8B14-88F0215CD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Properties: the expectation of a function of multiple RV’s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C3673-93F9-460E-8E76-EC67E6F6E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5002" y="1575254"/>
            <a:ext cx="10515600" cy="4351338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975002" y="2056612"/>
                <a:ext cx="3442224" cy="461665"/>
              </a:xfrm>
              <a:prstGeom prst="rect">
                <a:avLst/>
              </a:prstGeom>
              <a:solidFill>
                <a:schemeClr val="bg2"/>
              </a:solidFill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𝑃𝑟𝑜𝑝𝑒𝑟𝑡𝑦</m:t>
                      </m:r>
                      <m:r>
                        <a:rPr lang="en-SG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1:</m:t>
                      </m:r>
                      <m:r>
                        <a:rPr lang="en-US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SG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002" y="2056612"/>
                <a:ext cx="3442224" cy="461665"/>
              </a:xfrm>
              <a:prstGeom prst="rect">
                <a:avLst/>
              </a:prstGeom>
              <a:blipFill>
                <a:blip r:embed="rId6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23C1205-17B5-41C9-8C4E-5C818FE4EE3B}"/>
                  </a:ext>
                </a:extLst>
              </p:cNvPr>
              <p:cNvSpPr/>
              <p:nvPr/>
            </p:nvSpPr>
            <p:spPr>
              <a:xfrm>
                <a:off x="5759613" y="2056611"/>
                <a:ext cx="5160559" cy="461665"/>
              </a:xfrm>
              <a:prstGeom prst="rect">
                <a:avLst/>
              </a:prstGeom>
              <a:solidFill>
                <a:schemeClr val="bg2"/>
              </a:solidFill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SG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𝑃𝑟𝑜𝑝𝑒𝑟𝑡𝑦</m:t>
                    </m:r>
                    <m:r>
                      <a:rPr lang="en-SG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2: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𝑎𝑋</m:t>
                        </m:r>
                        <m:r>
                          <a:rPr lang="en-SG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SG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𝑎𝑟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23C1205-17B5-41C9-8C4E-5C818FE4EE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9613" y="2056611"/>
                <a:ext cx="5160559" cy="461665"/>
              </a:xfrm>
              <a:prstGeom prst="rect">
                <a:avLst/>
              </a:prstGeom>
              <a:blipFill>
                <a:blip r:embed="rId7"/>
                <a:stretch>
                  <a:fillRect l="-825" t="-8974" b="-2692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57E0EE4-3A31-4BA3-A210-D84647567B7D}"/>
                  </a:ext>
                </a:extLst>
              </p:cNvPr>
              <p:cNvSpPr/>
              <p:nvPr/>
            </p:nvSpPr>
            <p:spPr>
              <a:xfrm>
                <a:off x="1057994" y="3097768"/>
                <a:ext cx="376987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𝐸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[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</m:d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57E0EE4-3A31-4BA3-A210-D84647567B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7994" y="3097768"/>
                <a:ext cx="3769878" cy="461665"/>
              </a:xfrm>
              <a:prstGeom prst="rect">
                <a:avLst/>
              </a:prstGeom>
              <a:blipFill>
                <a:blip r:embed="rId8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2FFCE36-ADDB-AA35-3BB3-3F23333C94E1}"/>
                  </a:ext>
                </a:extLst>
              </p:cNvPr>
              <p:cNvSpPr/>
              <p:nvPr/>
            </p:nvSpPr>
            <p:spPr>
              <a:xfrm>
                <a:off x="924996" y="3991601"/>
                <a:ext cx="9878786" cy="461665"/>
              </a:xfrm>
              <a:prstGeom prst="rect">
                <a:avLst/>
              </a:prstGeom>
              <a:solidFill>
                <a:schemeClr val="bg2"/>
              </a:solidFill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SG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𝑃𝑟𝑜𝑝𝑒𝑟𝑡𝑦</m:t>
                    </m:r>
                    <m:r>
                      <a:rPr lang="en-SG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3: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SG" sz="24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SG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SG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SG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SG" sz="24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SG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SG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SG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SG" sz="24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SG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SG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 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400" b="1" dirty="0">
                    <a:solidFill>
                      <a:srgbClr val="FF0000"/>
                    </a:solidFill>
                  </a:rPr>
                  <a:t> are independent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2FFCE36-ADDB-AA35-3BB3-3F23333C94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996" y="3991601"/>
                <a:ext cx="9878786" cy="461665"/>
              </a:xfrm>
              <a:prstGeom prst="rect">
                <a:avLst/>
              </a:prstGeom>
              <a:blipFill>
                <a:blip r:embed="rId9"/>
                <a:stretch>
                  <a:fillRect l="-432" t="-8974" r="-863" b="-2692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461010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4341"/>
    </mc:Choice>
    <mc:Fallback xmlns="">
      <p:transition spd="slow" advTm="18434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 animBg="1"/>
      <p:bldP spid="8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8|10.2|18.8|19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10.6|21.3|18.7|2.7|103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2|8.5|30.9|41.4|5.4|1.2|0.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0.3|0.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1155</TotalTime>
  <Words>410</Words>
  <Application>Microsoft Office PowerPoint</Application>
  <PresentationFormat>Widescreen</PresentationFormat>
  <Paragraphs>52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Cambria Math</vt:lpstr>
      <vt:lpstr>Office Theme</vt:lpstr>
      <vt:lpstr>Variances</vt:lpstr>
      <vt:lpstr>Spread of a distribution</vt:lpstr>
      <vt:lpstr>Variance of a random variable</vt:lpstr>
      <vt:lpstr>Example: variances of a discrete RV</vt:lpstr>
      <vt:lpstr>Standard deviations</vt:lpstr>
      <vt:lpstr>PowerPoint Presentation</vt:lpstr>
      <vt:lpstr>Properties: the expectation of a function of multiple RV’s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Chien-Ming Chen</dc:creator>
  <cp:lastModifiedBy>Chen Chien-Ming (Assoc Prof)</cp:lastModifiedBy>
  <cp:revision>123</cp:revision>
  <dcterms:created xsi:type="dcterms:W3CDTF">2018-07-30T07:45:11Z</dcterms:created>
  <dcterms:modified xsi:type="dcterms:W3CDTF">2023-07-06T06:18:38Z</dcterms:modified>
</cp:coreProperties>
</file>
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9" r:id="rId2"/>
    <p:sldId id="276" r:id="rId3"/>
    <p:sldId id="283" r:id="rId4"/>
    <p:sldId id="290" r:id="rId5"/>
    <p:sldId id="287" r:id="rId6"/>
    <p:sldId id="2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88816" autoAdjust="0"/>
  </p:normalViewPr>
  <p:slideViewPr>
    <p:cSldViewPr snapToGrid="0">
      <p:cViewPr varScale="1">
        <p:scale>
          <a:sx n="98" d="100"/>
          <a:sy n="98" d="100"/>
        </p:scale>
        <p:origin x="10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84529-8C8D-4652-A42A-BEA9CC05C12B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6CB58-862D-4606-B96F-F2819168C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2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probabilities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1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Unconditional probability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858" y="181473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Our discussions thus far have focused on the (</a:t>
            </a:r>
            <a:r>
              <a:rPr lang="en-US" b="1" dirty="0">
                <a:solidFill>
                  <a:srgbClr val="FF0000"/>
                </a:solidFill>
              </a:rPr>
              <a:t>un</a:t>
            </a:r>
            <a:r>
              <a:rPr lang="en-US" b="1" dirty="0"/>
              <a:t>conditional) probability</a:t>
            </a:r>
          </a:p>
          <a:p>
            <a:pPr marL="0" indent="0">
              <a:buNone/>
            </a:pPr>
            <a:r>
              <a:rPr lang="en-US" dirty="0"/>
              <a:t>Consider the problem of drawing one random object from a container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40290E-947C-48D5-A16F-ECF568751079}"/>
              </a:ext>
            </a:extLst>
          </p:cNvPr>
          <p:cNvSpPr/>
          <p:nvPr/>
        </p:nvSpPr>
        <p:spPr>
          <a:xfrm>
            <a:off x="1404897" y="4430383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60D5A5-6C76-4570-982F-590C11914197}"/>
              </a:ext>
            </a:extLst>
          </p:cNvPr>
          <p:cNvSpPr/>
          <p:nvPr/>
        </p:nvSpPr>
        <p:spPr>
          <a:xfrm>
            <a:off x="3157500" y="4531417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C09E29-AA53-4E25-81D3-877EF3443D9F}"/>
              </a:ext>
            </a:extLst>
          </p:cNvPr>
          <p:cNvSpPr/>
          <p:nvPr/>
        </p:nvSpPr>
        <p:spPr>
          <a:xfrm>
            <a:off x="1984562" y="4841659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F0F497-B5E2-49CF-B92B-CC053201CB83}"/>
              </a:ext>
            </a:extLst>
          </p:cNvPr>
          <p:cNvSpPr/>
          <p:nvPr/>
        </p:nvSpPr>
        <p:spPr>
          <a:xfrm>
            <a:off x="2218604" y="5170612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D349EB-8BBA-4B69-A57F-99A8739248DB}"/>
              </a:ext>
            </a:extLst>
          </p:cNvPr>
          <p:cNvSpPr/>
          <p:nvPr/>
        </p:nvSpPr>
        <p:spPr>
          <a:xfrm>
            <a:off x="2066204" y="4212669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896B92-ACB5-4646-BD1A-31B3602734D7}"/>
              </a:ext>
            </a:extLst>
          </p:cNvPr>
          <p:cNvSpPr/>
          <p:nvPr/>
        </p:nvSpPr>
        <p:spPr>
          <a:xfrm>
            <a:off x="2411826" y="4027611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BE26EB-908D-4E06-8FB9-3603301B6D83}"/>
              </a:ext>
            </a:extLst>
          </p:cNvPr>
          <p:cNvSpPr/>
          <p:nvPr/>
        </p:nvSpPr>
        <p:spPr>
          <a:xfrm>
            <a:off x="3859626" y="4795391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FC900A-E390-4995-9DFE-12A139FD05D9}"/>
              </a:ext>
            </a:extLst>
          </p:cNvPr>
          <p:cNvSpPr/>
          <p:nvPr/>
        </p:nvSpPr>
        <p:spPr>
          <a:xfrm>
            <a:off x="2839088" y="5015830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8BD3CB8-A175-4C01-B632-54CBA48AF1AD}"/>
              </a:ext>
            </a:extLst>
          </p:cNvPr>
          <p:cNvSpPr/>
          <p:nvPr/>
        </p:nvSpPr>
        <p:spPr>
          <a:xfrm>
            <a:off x="3927660" y="4152802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05846E3-07BF-4B1F-B64A-33E2E07A1829}"/>
              </a:ext>
            </a:extLst>
          </p:cNvPr>
          <p:cNvSpPr/>
          <p:nvPr/>
        </p:nvSpPr>
        <p:spPr>
          <a:xfrm>
            <a:off x="1228003" y="3791866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34C1C-4620-4597-AD28-579342D3A164}"/>
              </a:ext>
            </a:extLst>
          </p:cNvPr>
          <p:cNvSpPr txBox="1"/>
          <p:nvPr/>
        </p:nvSpPr>
        <p:spPr>
          <a:xfrm>
            <a:off x="1791339" y="3429000"/>
            <a:ext cx="2836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sample space (n=12)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537C3-AD46-4B22-9829-8500FDE83080}"/>
              </a:ext>
            </a:extLst>
          </p:cNvPr>
          <p:cNvSpPr txBox="1"/>
          <p:nvPr/>
        </p:nvSpPr>
        <p:spPr>
          <a:xfrm>
            <a:off x="5582290" y="3863620"/>
            <a:ext cx="49545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Pr</a:t>
            </a:r>
            <a:r>
              <a:rPr lang="en-US" sz="2800" b="1" dirty="0"/>
              <a:t>({A red-</a:t>
            </a:r>
            <a:r>
              <a:rPr lang="en-US" sz="2800" b="1" dirty="0" err="1"/>
              <a:t>colour</a:t>
            </a:r>
            <a:r>
              <a:rPr lang="en-US" sz="2800" b="1" dirty="0"/>
              <a:t> object})</a:t>
            </a:r>
          </a:p>
          <a:p>
            <a:r>
              <a:rPr lang="en-US" sz="2800" b="1" dirty="0"/>
              <a:t>= “4 out of a total of 12 objects”</a:t>
            </a:r>
          </a:p>
          <a:p>
            <a:r>
              <a:rPr lang="en-US" sz="2800" b="1" dirty="0"/>
              <a:t>=4/12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B445224-D4BD-4E63-A70A-D95A97184916}"/>
              </a:ext>
            </a:extLst>
          </p:cNvPr>
          <p:cNvSpPr/>
          <p:nvPr/>
        </p:nvSpPr>
        <p:spPr>
          <a:xfrm>
            <a:off x="3290847" y="3948697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A4536969-50F0-430A-A2DE-F58339AF054C}"/>
              </a:ext>
            </a:extLst>
          </p:cNvPr>
          <p:cNvSpPr/>
          <p:nvPr/>
        </p:nvSpPr>
        <p:spPr>
          <a:xfrm>
            <a:off x="1464767" y="3939339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C98B24C-FFE7-55CE-CDE7-AFB76AFF6128}"/>
              </a:ext>
            </a:extLst>
          </p:cNvPr>
          <p:cNvSpPr/>
          <p:nvPr/>
        </p:nvSpPr>
        <p:spPr>
          <a:xfrm>
            <a:off x="2490744" y="4539585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682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629"/>
    </mc:Choice>
    <mc:Fallback xmlns="">
      <p:transition spd="slow" advTm="1196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 animBg="1"/>
      <p:bldP spid="17" grpId="0"/>
      <p:bldP spid="18" grpId="0"/>
      <p:bldP spid="19" grpId="0" animBg="1"/>
      <p:bldP spid="20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Probabilities with “conditions”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858" y="181473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 conditional probabilities, we use the outcomes under a certain condition as the basis of probability calculations </a:t>
            </a:r>
          </a:p>
          <a:p>
            <a:r>
              <a:rPr lang="en-US" dirty="0"/>
              <a:t>If we focus on only those outcomes where a ball is drawn. How would this condition {a ball}, influence the probability of </a:t>
            </a:r>
            <a:r>
              <a:rPr lang="en-US" i="1" dirty="0"/>
              <a:t>{a red-</a:t>
            </a:r>
            <a:r>
              <a:rPr lang="en-US" i="1" dirty="0" err="1"/>
              <a:t>colour</a:t>
            </a:r>
            <a:r>
              <a:rPr lang="en-US" i="1" dirty="0"/>
              <a:t> object}</a:t>
            </a:r>
            <a:r>
              <a:rPr lang="en-US" dirty="0"/>
              <a:t>?</a:t>
            </a:r>
          </a:p>
          <a:p>
            <a:endParaRPr lang="en-US" dirty="0"/>
          </a:p>
          <a:p>
            <a:pPr marL="0" indent="0">
              <a:buNone/>
            </a:pP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34C1C-4620-4597-AD28-579342D3A164}"/>
              </a:ext>
            </a:extLst>
          </p:cNvPr>
          <p:cNvSpPr txBox="1"/>
          <p:nvPr/>
        </p:nvSpPr>
        <p:spPr>
          <a:xfrm>
            <a:off x="1809750" y="3920663"/>
            <a:ext cx="2836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Simple sample space (n=12)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537C3-AD46-4B22-9829-8500FDE83080}"/>
              </a:ext>
            </a:extLst>
          </p:cNvPr>
          <p:cNvSpPr txBox="1"/>
          <p:nvPr/>
        </p:nvSpPr>
        <p:spPr>
          <a:xfrm>
            <a:off x="5037365" y="4727557"/>
            <a:ext cx="6041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is the </a:t>
            </a:r>
            <a:r>
              <a:rPr lang="en-US" sz="2800" b="1" dirty="0" err="1"/>
              <a:t>Pr</a:t>
            </a:r>
            <a:r>
              <a:rPr lang="en-US" sz="2800" b="1" dirty="0"/>
              <a:t>({a red-</a:t>
            </a:r>
            <a:r>
              <a:rPr lang="en-US" sz="2800" b="1" dirty="0" err="1"/>
              <a:t>colour</a:t>
            </a:r>
            <a:r>
              <a:rPr lang="en-US" sz="2800" b="1" dirty="0"/>
              <a:t> object}) conditional on {A ball}?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191B98E-D8A6-4610-B457-C16E98ED8AC1}"/>
              </a:ext>
            </a:extLst>
          </p:cNvPr>
          <p:cNvSpPr/>
          <p:nvPr/>
        </p:nvSpPr>
        <p:spPr>
          <a:xfrm>
            <a:off x="1423308" y="4922046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BD4A8C6-6813-449F-92A6-2DFCC0A64261}"/>
              </a:ext>
            </a:extLst>
          </p:cNvPr>
          <p:cNvSpPr/>
          <p:nvPr/>
        </p:nvSpPr>
        <p:spPr>
          <a:xfrm>
            <a:off x="3175911" y="5023080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EBB7503-A581-4609-950C-5A5658D7092D}"/>
              </a:ext>
            </a:extLst>
          </p:cNvPr>
          <p:cNvSpPr/>
          <p:nvPr/>
        </p:nvSpPr>
        <p:spPr>
          <a:xfrm>
            <a:off x="2002973" y="5333322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B54E0C2-1F78-4B3F-B6CD-EF889AD268A2}"/>
              </a:ext>
            </a:extLst>
          </p:cNvPr>
          <p:cNvSpPr/>
          <p:nvPr/>
        </p:nvSpPr>
        <p:spPr>
          <a:xfrm>
            <a:off x="2237015" y="5662275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98AF44-2CDE-4ACF-BFCE-F108C45E3C4C}"/>
              </a:ext>
            </a:extLst>
          </p:cNvPr>
          <p:cNvSpPr/>
          <p:nvPr/>
        </p:nvSpPr>
        <p:spPr>
          <a:xfrm>
            <a:off x="2084615" y="4704332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386BB58-FD9C-4BDD-AF04-1F75E77051B3}"/>
              </a:ext>
            </a:extLst>
          </p:cNvPr>
          <p:cNvSpPr/>
          <p:nvPr/>
        </p:nvSpPr>
        <p:spPr>
          <a:xfrm>
            <a:off x="2430237" y="4519274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B7126E-7604-4960-9C75-3F54A59596C5}"/>
              </a:ext>
            </a:extLst>
          </p:cNvPr>
          <p:cNvSpPr/>
          <p:nvPr/>
        </p:nvSpPr>
        <p:spPr>
          <a:xfrm>
            <a:off x="3921579" y="5286828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1F3560-867D-4B1A-ACF8-91C1DBC020AF}"/>
              </a:ext>
            </a:extLst>
          </p:cNvPr>
          <p:cNvSpPr/>
          <p:nvPr/>
        </p:nvSpPr>
        <p:spPr>
          <a:xfrm>
            <a:off x="2857499" y="5507493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9CABD08-B664-4C6B-BDF6-E1F755B98796}"/>
              </a:ext>
            </a:extLst>
          </p:cNvPr>
          <p:cNvSpPr/>
          <p:nvPr/>
        </p:nvSpPr>
        <p:spPr>
          <a:xfrm>
            <a:off x="3946071" y="4644465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5732F62-2DEF-4C2D-9D08-85A53237B3B3}"/>
              </a:ext>
            </a:extLst>
          </p:cNvPr>
          <p:cNvSpPr/>
          <p:nvPr/>
        </p:nvSpPr>
        <p:spPr>
          <a:xfrm>
            <a:off x="1246414" y="4283529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B6814EE8-4FC8-4793-B2A0-F8879D76A922}"/>
              </a:ext>
            </a:extLst>
          </p:cNvPr>
          <p:cNvSpPr/>
          <p:nvPr/>
        </p:nvSpPr>
        <p:spPr>
          <a:xfrm>
            <a:off x="3309258" y="4440360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FC4B910-9383-4BBC-8BC4-04B88F082819}"/>
              </a:ext>
            </a:extLst>
          </p:cNvPr>
          <p:cNvSpPr/>
          <p:nvPr/>
        </p:nvSpPr>
        <p:spPr>
          <a:xfrm>
            <a:off x="1483178" y="4431002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E81C5C23-6503-7489-8C4E-52F732CB118C}"/>
              </a:ext>
            </a:extLst>
          </p:cNvPr>
          <p:cNvSpPr/>
          <p:nvPr/>
        </p:nvSpPr>
        <p:spPr>
          <a:xfrm>
            <a:off x="2539092" y="4970352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119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114"/>
    </mc:Choice>
    <mc:Fallback xmlns="">
      <p:transition spd="slow" advTm="1151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7" grpId="0"/>
      <p:bldP spid="18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8" grpId="1" animBg="1"/>
      <p:bldP spid="30" grpId="0" animBg="1"/>
      <p:bldP spid="31" grpId="0" animBg="1"/>
      <p:bldP spid="31" grpId="1" animBg="1"/>
      <p:bldP spid="32" grpId="0" animBg="1"/>
      <p:bldP spid="32" grpId="1" animBg="1"/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46DE58-BCB9-FC97-551A-43B11597361F}"/>
              </a:ext>
            </a:extLst>
          </p:cNvPr>
          <p:cNvSpPr txBox="1"/>
          <p:nvPr/>
        </p:nvSpPr>
        <p:spPr>
          <a:xfrm>
            <a:off x="1213575" y="680638"/>
            <a:ext cx="2511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/>
              <a:t>Pr</a:t>
            </a:r>
            <a:r>
              <a:rPr lang="en-US" sz="1800" b="1" dirty="0"/>
              <a:t>({A red-</a:t>
            </a:r>
            <a:r>
              <a:rPr lang="en-US" sz="1800" b="1" dirty="0" err="1"/>
              <a:t>colour</a:t>
            </a:r>
            <a:r>
              <a:rPr lang="en-US" sz="1800" b="1" dirty="0"/>
              <a:t> object})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2DCF22-D34A-3111-677C-7B83FD85DFE9}"/>
              </a:ext>
            </a:extLst>
          </p:cNvPr>
          <p:cNvSpPr/>
          <p:nvPr/>
        </p:nvSpPr>
        <p:spPr>
          <a:xfrm>
            <a:off x="1079641" y="1945643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FDDDCB-8B3B-3DCD-92CC-DF75C257F19F}"/>
              </a:ext>
            </a:extLst>
          </p:cNvPr>
          <p:cNvSpPr/>
          <p:nvPr/>
        </p:nvSpPr>
        <p:spPr>
          <a:xfrm>
            <a:off x="2832244" y="2046677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189356-5EF5-DCA2-A520-DC9EDB7BCF3C}"/>
              </a:ext>
            </a:extLst>
          </p:cNvPr>
          <p:cNvSpPr/>
          <p:nvPr/>
        </p:nvSpPr>
        <p:spPr>
          <a:xfrm>
            <a:off x="1659306" y="2356919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8E42E1-9046-4E85-DA9F-9D0190E6F105}"/>
              </a:ext>
            </a:extLst>
          </p:cNvPr>
          <p:cNvSpPr/>
          <p:nvPr/>
        </p:nvSpPr>
        <p:spPr>
          <a:xfrm>
            <a:off x="1893348" y="2685872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5ABE33-D42E-9880-8933-62AE32BCFB8D}"/>
              </a:ext>
            </a:extLst>
          </p:cNvPr>
          <p:cNvSpPr/>
          <p:nvPr/>
        </p:nvSpPr>
        <p:spPr>
          <a:xfrm>
            <a:off x="1740948" y="1727929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669F6AF-3911-BB20-A810-A796C3E795EB}"/>
              </a:ext>
            </a:extLst>
          </p:cNvPr>
          <p:cNvSpPr/>
          <p:nvPr/>
        </p:nvSpPr>
        <p:spPr>
          <a:xfrm>
            <a:off x="2086570" y="1542871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F20386-B983-B481-9C20-A825783890A5}"/>
              </a:ext>
            </a:extLst>
          </p:cNvPr>
          <p:cNvSpPr/>
          <p:nvPr/>
        </p:nvSpPr>
        <p:spPr>
          <a:xfrm>
            <a:off x="3534370" y="2310651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F4FB73-E3C1-17E8-3E5E-D86D0FD3197C}"/>
              </a:ext>
            </a:extLst>
          </p:cNvPr>
          <p:cNvSpPr/>
          <p:nvPr/>
        </p:nvSpPr>
        <p:spPr>
          <a:xfrm>
            <a:off x="2513832" y="2531090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DEDD1F6-0F4E-9D1A-CAE9-2207982753DC}"/>
              </a:ext>
            </a:extLst>
          </p:cNvPr>
          <p:cNvSpPr/>
          <p:nvPr/>
        </p:nvSpPr>
        <p:spPr>
          <a:xfrm>
            <a:off x="3602404" y="1668062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CD110BF-68F6-2329-3E0B-4E709037E38E}"/>
              </a:ext>
            </a:extLst>
          </p:cNvPr>
          <p:cNvSpPr/>
          <p:nvPr/>
        </p:nvSpPr>
        <p:spPr>
          <a:xfrm>
            <a:off x="902747" y="1307126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CE94C834-A8E5-7998-76D3-813AB0700238}"/>
              </a:ext>
            </a:extLst>
          </p:cNvPr>
          <p:cNvSpPr/>
          <p:nvPr/>
        </p:nvSpPr>
        <p:spPr>
          <a:xfrm>
            <a:off x="2965591" y="1463957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833D87BD-E492-730D-43E5-58F48E46F221}"/>
              </a:ext>
            </a:extLst>
          </p:cNvPr>
          <p:cNvSpPr/>
          <p:nvPr/>
        </p:nvSpPr>
        <p:spPr>
          <a:xfrm>
            <a:off x="1139511" y="1454599"/>
            <a:ext cx="511629" cy="4082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FA9B73-3BEE-8B5D-0DC7-2A3480E27355}"/>
              </a:ext>
            </a:extLst>
          </p:cNvPr>
          <p:cNvSpPr txBox="1"/>
          <p:nvPr/>
        </p:nvSpPr>
        <p:spPr>
          <a:xfrm>
            <a:off x="1012135" y="3644207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/>
              <a:t>Pr</a:t>
            </a:r>
            <a:r>
              <a:rPr lang="en-US" sz="1800" b="1" dirty="0"/>
              <a:t>({a red-</a:t>
            </a:r>
            <a:r>
              <a:rPr lang="en-US" sz="1800" b="1" dirty="0" err="1"/>
              <a:t>colour</a:t>
            </a:r>
            <a:r>
              <a:rPr lang="en-US" sz="1800" b="1" dirty="0"/>
              <a:t> object}) conditional on {A ball}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7CF66F-B900-D2E5-83AB-E72EC5219721}"/>
              </a:ext>
            </a:extLst>
          </p:cNvPr>
          <p:cNvSpPr/>
          <p:nvPr/>
        </p:nvSpPr>
        <p:spPr>
          <a:xfrm>
            <a:off x="1098362" y="4825155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7714DF-8A01-86C5-FE4E-36585ED4F18A}"/>
              </a:ext>
            </a:extLst>
          </p:cNvPr>
          <p:cNvSpPr/>
          <p:nvPr/>
        </p:nvSpPr>
        <p:spPr>
          <a:xfrm>
            <a:off x="2850965" y="4926189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C8096A-7537-2875-9AE9-10D65411973E}"/>
              </a:ext>
            </a:extLst>
          </p:cNvPr>
          <p:cNvSpPr/>
          <p:nvPr/>
        </p:nvSpPr>
        <p:spPr>
          <a:xfrm>
            <a:off x="1678027" y="5236431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40B180-A925-0151-D6E2-673951E010EE}"/>
              </a:ext>
            </a:extLst>
          </p:cNvPr>
          <p:cNvSpPr/>
          <p:nvPr/>
        </p:nvSpPr>
        <p:spPr>
          <a:xfrm>
            <a:off x="1912069" y="5565384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85759F2-314E-52BD-EE7F-60956211F4F0}"/>
              </a:ext>
            </a:extLst>
          </p:cNvPr>
          <p:cNvSpPr/>
          <p:nvPr/>
        </p:nvSpPr>
        <p:spPr>
          <a:xfrm>
            <a:off x="1759669" y="4607441"/>
            <a:ext cx="386442" cy="348343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100E96C-123D-EAEA-1AAA-84BFC6D9198D}"/>
              </a:ext>
            </a:extLst>
          </p:cNvPr>
          <p:cNvSpPr/>
          <p:nvPr/>
        </p:nvSpPr>
        <p:spPr>
          <a:xfrm>
            <a:off x="2105291" y="4422383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1BBCDF6-44E8-D018-5A3E-41D8AD8BEDA6}"/>
              </a:ext>
            </a:extLst>
          </p:cNvPr>
          <p:cNvSpPr/>
          <p:nvPr/>
        </p:nvSpPr>
        <p:spPr>
          <a:xfrm>
            <a:off x="3553091" y="5190163"/>
            <a:ext cx="386442" cy="348343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41D6FA7-8F64-14E4-9D64-7FF3669A11FE}"/>
              </a:ext>
            </a:extLst>
          </p:cNvPr>
          <p:cNvSpPr/>
          <p:nvPr/>
        </p:nvSpPr>
        <p:spPr>
          <a:xfrm>
            <a:off x="2532553" y="5410602"/>
            <a:ext cx="386442" cy="34834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2D86728-01B2-43E6-21CB-FD662EC21054}"/>
              </a:ext>
            </a:extLst>
          </p:cNvPr>
          <p:cNvSpPr/>
          <p:nvPr/>
        </p:nvSpPr>
        <p:spPr>
          <a:xfrm>
            <a:off x="921468" y="4186638"/>
            <a:ext cx="3516086" cy="20065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CAC7E11-B7AB-FCB1-B3F7-AA081C3270DF}"/>
              </a:ext>
            </a:extLst>
          </p:cNvPr>
          <p:cNvSpPr/>
          <p:nvPr/>
        </p:nvSpPr>
        <p:spPr>
          <a:xfrm>
            <a:off x="2200950" y="1972862"/>
            <a:ext cx="429987" cy="40821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294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7055"/>
    </mc:Choice>
    <mc:Fallback xmlns="">
      <p:transition spd="slow" advTm="2370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1C59-4162-428F-AB7D-575EE470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probabilities </a:t>
            </a:r>
            <a:r>
              <a:rPr lang="en-US" dirty="0"/>
              <a:t>explained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34C3D-7547-4A4B-B3DF-A7E067613E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5627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conditional probability of an event A, given event B, is defined as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D34C3D-7547-4A4B-B3DF-A7E067613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5627"/>
                <a:ext cx="10515600" cy="5032375"/>
              </a:xfrm>
              <a:blipFill>
                <a:blip r:embed="rId5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5445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4821"/>
    </mc:Choice>
    <mc:Fallback xmlns="">
      <p:transition spd="slow" advTm="2348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8B9C4-D813-A46B-38F4-015A38F2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37EF8-8393-0772-65F8-24FF0CBE6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196"/>
            <a:ext cx="10515600" cy="5856580"/>
          </a:xfrm>
        </p:spPr>
        <p:txBody>
          <a:bodyPr/>
          <a:lstStyle/>
          <a:p>
            <a:r>
              <a:rPr lang="en-US" dirty="0"/>
              <a:t>Consider results from a marketing survey about their most frequently visited supermarket. Assuming you select a random customer </a:t>
            </a:r>
          </a:p>
          <a:p>
            <a:pPr marL="0" indent="0">
              <a:buNone/>
            </a:pPr>
            <a:endParaRPr lang="en-S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982CA82-153D-2F9B-0EDE-64482A4F8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383935"/>
              </p:ext>
            </p:extLst>
          </p:nvPr>
        </p:nvGraphicFramePr>
        <p:xfrm>
          <a:off x="945503" y="2396092"/>
          <a:ext cx="881017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2252">
                  <a:extLst>
                    <a:ext uri="{9D8B030D-6E8A-4147-A177-3AD203B41FA5}">
                      <a16:colId xmlns:a16="http://schemas.microsoft.com/office/drawing/2014/main" val="2133356227"/>
                    </a:ext>
                  </a:extLst>
                </a:gridCol>
                <a:gridCol w="1462834">
                  <a:extLst>
                    <a:ext uri="{9D8B030D-6E8A-4147-A177-3AD203B41FA5}">
                      <a16:colId xmlns:a16="http://schemas.microsoft.com/office/drawing/2014/main" val="2684627562"/>
                    </a:ext>
                  </a:extLst>
                </a:gridCol>
                <a:gridCol w="2202543">
                  <a:extLst>
                    <a:ext uri="{9D8B030D-6E8A-4147-A177-3AD203B41FA5}">
                      <a16:colId xmlns:a16="http://schemas.microsoft.com/office/drawing/2014/main" val="1273344366"/>
                    </a:ext>
                  </a:extLst>
                </a:gridCol>
                <a:gridCol w="2202543">
                  <a:extLst>
                    <a:ext uri="{9D8B030D-6E8A-4147-A177-3AD203B41FA5}">
                      <a16:colId xmlns:a16="http://schemas.microsoft.com/office/drawing/2014/main" val="4143341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Satisfied with shopping experience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Giant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NTUC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39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575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3043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C691231-4B1D-05D7-2821-F4924A155F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45503" y="3976687"/>
                <a:ext cx="10515600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:r>
                  <a:rPr lang="en-US" dirty="0" err="1"/>
                  <a:t>Pr</a:t>
                </a:r>
                <a:r>
                  <a:rPr lang="en-US" dirty="0"/>
                  <a:t>({Yes})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:r>
                  <a:rPr lang="en-US" dirty="0" err="1"/>
                  <a:t>Pr</a:t>
                </a:r>
                <a:r>
                  <a:rPr lang="en-US" dirty="0"/>
                  <a:t>({Yes}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dirty="0"/>
                  <a:t>{Giant})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Both"/>
                </a:pPr>
                <a:r>
                  <a:rPr lang="en-US" dirty="0" err="1"/>
                  <a:t>Pr</a:t>
                </a:r>
                <a:r>
                  <a:rPr lang="en-US" dirty="0"/>
                  <a:t>({Yes}|{Giant})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5C691231-4B1D-05D7-2821-F4924A155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03" y="3976687"/>
                <a:ext cx="10515600" cy="5032375"/>
              </a:xfrm>
              <a:prstGeom prst="rect">
                <a:avLst/>
              </a:prstGeom>
              <a:blipFill>
                <a:blip r:embed="rId4"/>
                <a:stretch>
                  <a:fillRect l="-1217" t="-20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814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178"/>
    </mc:Choice>
    <mc:Fallback xmlns="">
      <p:transition spd="slow" advTm="30217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7|10.2|5.7|3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46.5|29.9|16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6|5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227</Words>
  <Application>Microsoft Office PowerPoint</Application>
  <PresentationFormat>Widescreen</PresentationFormat>
  <Paragraphs>50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Conditional probabilities</vt:lpstr>
      <vt:lpstr>Unconditional probability</vt:lpstr>
      <vt:lpstr>Probabilities with “conditions”</vt:lpstr>
      <vt:lpstr>PowerPoint Presentation</vt:lpstr>
      <vt:lpstr>Conditional probabilities explained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166</cp:revision>
  <dcterms:created xsi:type="dcterms:W3CDTF">2018-07-30T07:45:11Z</dcterms:created>
  <dcterms:modified xsi:type="dcterms:W3CDTF">2023-07-06T06:15:22Z</dcterms:modified>
</cp:coreProperties>
</file>
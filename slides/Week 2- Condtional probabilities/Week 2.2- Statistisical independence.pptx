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0" r:id="rId2"/>
    <p:sldId id="288" r:id="rId3"/>
    <p:sldId id="285" r:id="rId4"/>
    <p:sldId id="291" r:id="rId5"/>
    <p:sldId id="292" r:id="rId6"/>
    <p:sldId id="284" r:id="rId7"/>
    <p:sldId id="28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4B35E-1171-437C-84C4-C0B5407757C8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A464C-FAB4-4A87-AEBE-1E42B62BC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744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independence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96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1C59-4162-428F-AB7D-575EE470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Conditional and unconditional probabilities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0745EF-A1AB-48E3-BE0A-DA43C8FFBF5E}"/>
              </a:ext>
            </a:extLst>
          </p:cNvPr>
          <p:cNvSpPr txBox="1"/>
          <p:nvPr/>
        </p:nvSpPr>
        <p:spPr>
          <a:xfrm>
            <a:off x="5625665" y="1215947"/>
            <a:ext cx="1483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Sample space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F5F742-8D5E-45B9-AEC8-B092A34DC6A4}"/>
              </a:ext>
            </a:extLst>
          </p:cNvPr>
          <p:cNvSpPr/>
          <p:nvPr/>
        </p:nvSpPr>
        <p:spPr>
          <a:xfrm>
            <a:off x="4815230" y="2197211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870F8E7-4E86-4CDC-8F58-D9E7C58F4D0C}"/>
              </a:ext>
            </a:extLst>
          </p:cNvPr>
          <p:cNvSpPr/>
          <p:nvPr/>
        </p:nvSpPr>
        <p:spPr>
          <a:xfrm>
            <a:off x="6567833" y="2298245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795EC18-1B3A-416F-9588-A71EA92A975B}"/>
              </a:ext>
            </a:extLst>
          </p:cNvPr>
          <p:cNvSpPr/>
          <p:nvPr/>
        </p:nvSpPr>
        <p:spPr>
          <a:xfrm>
            <a:off x="5394895" y="2608487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ED009CD-EE37-4B07-9A9A-4F88B0A052F1}"/>
              </a:ext>
            </a:extLst>
          </p:cNvPr>
          <p:cNvSpPr/>
          <p:nvPr/>
        </p:nvSpPr>
        <p:spPr>
          <a:xfrm>
            <a:off x="5628937" y="2937440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7CD52AB-D4F4-476D-8CFF-8B39300C31B5}"/>
              </a:ext>
            </a:extLst>
          </p:cNvPr>
          <p:cNvSpPr/>
          <p:nvPr/>
        </p:nvSpPr>
        <p:spPr>
          <a:xfrm>
            <a:off x="5476537" y="1979497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F046D15-6880-4050-B43E-F58780E149C9}"/>
              </a:ext>
            </a:extLst>
          </p:cNvPr>
          <p:cNvSpPr/>
          <p:nvPr/>
        </p:nvSpPr>
        <p:spPr>
          <a:xfrm>
            <a:off x="5822159" y="1794439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EEDF2B9-43E0-40D2-A754-2079BC3CE358}"/>
              </a:ext>
            </a:extLst>
          </p:cNvPr>
          <p:cNvSpPr/>
          <p:nvPr/>
        </p:nvSpPr>
        <p:spPr>
          <a:xfrm>
            <a:off x="7313501" y="2561993"/>
            <a:ext cx="386442" cy="34834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E686553-2A8F-4B45-8FBE-41F2E38B1E18}"/>
              </a:ext>
            </a:extLst>
          </p:cNvPr>
          <p:cNvSpPr/>
          <p:nvPr/>
        </p:nvSpPr>
        <p:spPr>
          <a:xfrm>
            <a:off x="6249421" y="2782658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1F4BEF37-BD5C-404D-9F5C-29F0E2ED01D6}"/>
              </a:ext>
            </a:extLst>
          </p:cNvPr>
          <p:cNvSpPr/>
          <p:nvPr/>
        </p:nvSpPr>
        <p:spPr>
          <a:xfrm>
            <a:off x="7337993" y="1919630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E98F32F-6CE1-43F9-A0D3-52BB9D9DE715}"/>
              </a:ext>
            </a:extLst>
          </p:cNvPr>
          <p:cNvSpPr/>
          <p:nvPr/>
        </p:nvSpPr>
        <p:spPr>
          <a:xfrm>
            <a:off x="5880667" y="2245129"/>
            <a:ext cx="429987" cy="4082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AB40132-3326-40F1-B5A0-62D59C20905B}"/>
              </a:ext>
            </a:extLst>
          </p:cNvPr>
          <p:cNvSpPr/>
          <p:nvPr/>
        </p:nvSpPr>
        <p:spPr>
          <a:xfrm>
            <a:off x="4638336" y="1558694"/>
            <a:ext cx="3516086" cy="200659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0D105EA0-9EA8-484D-9922-A66A78F75A4E}"/>
              </a:ext>
            </a:extLst>
          </p:cNvPr>
          <p:cNvSpPr/>
          <p:nvPr/>
        </p:nvSpPr>
        <p:spPr>
          <a:xfrm>
            <a:off x="6701180" y="1715525"/>
            <a:ext cx="429987" cy="4082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9FCD7B06-E983-4931-9E73-1F330C039C60}"/>
              </a:ext>
            </a:extLst>
          </p:cNvPr>
          <p:cNvSpPr/>
          <p:nvPr/>
        </p:nvSpPr>
        <p:spPr>
          <a:xfrm>
            <a:off x="4875100" y="1706167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52E532-9C15-4A34-9056-624588E97EB3}"/>
              </a:ext>
            </a:extLst>
          </p:cNvPr>
          <p:cNvSpPr/>
          <p:nvPr/>
        </p:nvSpPr>
        <p:spPr>
          <a:xfrm>
            <a:off x="1431967" y="4507062"/>
            <a:ext cx="305711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err="1"/>
              <a:t>Pr</a:t>
            </a:r>
            <a:r>
              <a:rPr lang="en-US" sz="3600" dirty="0"/>
              <a:t>({Red}|{Ball})</a:t>
            </a:r>
          </a:p>
          <a:p>
            <a:r>
              <a:rPr lang="en-US" sz="3600" dirty="0"/>
              <a:t>=2/8=1/4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7EC6C5-578F-4D99-9E29-FA8C03585F24}"/>
              </a:ext>
            </a:extLst>
          </p:cNvPr>
          <p:cNvSpPr txBox="1"/>
          <p:nvPr/>
        </p:nvSpPr>
        <p:spPr>
          <a:xfrm>
            <a:off x="4849486" y="3804039"/>
            <a:ext cx="3201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With the condition of Event “B”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32B43C4-517F-47F0-8711-C02BC122D853}"/>
              </a:ext>
            </a:extLst>
          </p:cNvPr>
          <p:cNvSpPr/>
          <p:nvPr/>
        </p:nvSpPr>
        <p:spPr>
          <a:xfrm>
            <a:off x="5056810" y="4824662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06F698E-37BD-408A-BA0C-3690C133F3AB}"/>
              </a:ext>
            </a:extLst>
          </p:cNvPr>
          <p:cNvSpPr/>
          <p:nvPr/>
        </p:nvSpPr>
        <p:spPr>
          <a:xfrm>
            <a:off x="6809413" y="4925696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A2D0F9-2E81-4778-96B3-68CE7AAAA484}"/>
              </a:ext>
            </a:extLst>
          </p:cNvPr>
          <p:cNvSpPr/>
          <p:nvPr/>
        </p:nvSpPr>
        <p:spPr>
          <a:xfrm>
            <a:off x="5636475" y="5235938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567CC95-315E-4F54-9E10-FE5116017ED7}"/>
              </a:ext>
            </a:extLst>
          </p:cNvPr>
          <p:cNvSpPr/>
          <p:nvPr/>
        </p:nvSpPr>
        <p:spPr>
          <a:xfrm>
            <a:off x="5870517" y="5564891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580C9CC-489F-4C7F-B2F3-7CD6C8CD4D1E}"/>
              </a:ext>
            </a:extLst>
          </p:cNvPr>
          <p:cNvSpPr/>
          <p:nvPr/>
        </p:nvSpPr>
        <p:spPr>
          <a:xfrm>
            <a:off x="5718117" y="4606948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6740D96-4B4D-4ACD-BFE8-9653FB16879F}"/>
              </a:ext>
            </a:extLst>
          </p:cNvPr>
          <p:cNvSpPr/>
          <p:nvPr/>
        </p:nvSpPr>
        <p:spPr>
          <a:xfrm>
            <a:off x="6063739" y="4421890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C0C455E-68F1-42D8-BB1B-5C731839A0DA}"/>
              </a:ext>
            </a:extLst>
          </p:cNvPr>
          <p:cNvSpPr/>
          <p:nvPr/>
        </p:nvSpPr>
        <p:spPr>
          <a:xfrm>
            <a:off x="7555081" y="5189444"/>
            <a:ext cx="386442" cy="34834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B143A43-ACDA-4B37-B181-47EC02F3F33E}"/>
              </a:ext>
            </a:extLst>
          </p:cNvPr>
          <p:cNvSpPr/>
          <p:nvPr/>
        </p:nvSpPr>
        <p:spPr>
          <a:xfrm>
            <a:off x="6491001" y="5410109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3F1FB3F-BAE8-4E10-8E43-CEF242CCAA33}"/>
              </a:ext>
            </a:extLst>
          </p:cNvPr>
          <p:cNvSpPr/>
          <p:nvPr/>
        </p:nvSpPr>
        <p:spPr>
          <a:xfrm>
            <a:off x="4879916" y="4186145"/>
            <a:ext cx="3516086" cy="200659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5A78F0-8953-D9EF-2644-93F5E21929A3}"/>
              </a:ext>
            </a:extLst>
          </p:cNvPr>
          <p:cNvSpPr txBox="1"/>
          <p:nvPr/>
        </p:nvSpPr>
        <p:spPr>
          <a:xfrm>
            <a:off x="1646552" y="1988323"/>
            <a:ext cx="61017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dirty="0" err="1"/>
              <a:t>Pr</a:t>
            </a:r>
            <a:r>
              <a:rPr lang="en-US" sz="3600" dirty="0"/>
              <a:t>({Red})</a:t>
            </a:r>
          </a:p>
          <a:p>
            <a:pPr marL="0" indent="0">
              <a:buNone/>
            </a:pPr>
            <a:r>
              <a:rPr lang="en-US" sz="3600" dirty="0"/>
              <a:t>=4/12=1/3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95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520"/>
    </mc:Choice>
    <mc:Fallback xmlns="">
      <p:transition spd="slow" advTm="565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6" grpId="0"/>
      <p:bldP spid="34" grpId="0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events: when unconditional and conditional probabilities are equal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6427"/>
            <a:ext cx="10515600" cy="4351338"/>
          </a:xfrm>
        </p:spPr>
        <p:txBody>
          <a:bodyPr/>
          <a:lstStyle/>
          <a:p>
            <a:r>
              <a:rPr lang="en-SG" dirty="0"/>
              <a:t>If in a new experiment where we replace the two </a:t>
            </a:r>
            <a:r>
              <a:rPr lang="en-SG" i="1" dirty="0">
                <a:solidFill>
                  <a:srgbClr val="0070C0"/>
                </a:solidFill>
              </a:rPr>
              <a:t>blue balls</a:t>
            </a:r>
            <a:r>
              <a:rPr lang="en-SG" dirty="0">
                <a:solidFill>
                  <a:srgbClr val="0070C0"/>
                </a:solidFill>
              </a:rPr>
              <a:t> </a:t>
            </a:r>
            <a:r>
              <a:rPr lang="en-SG" dirty="0"/>
              <a:t>with two </a:t>
            </a:r>
            <a:r>
              <a:rPr lang="en-SG" i="1" dirty="0">
                <a:solidFill>
                  <a:srgbClr val="FF0000"/>
                </a:solidFill>
              </a:rPr>
              <a:t>red balls</a:t>
            </a:r>
            <a:r>
              <a:rPr lang="en-SG" dirty="0"/>
              <a:t>…THEN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440290E-947C-48D5-A16F-ECF568751079}"/>
              </a:ext>
            </a:extLst>
          </p:cNvPr>
          <p:cNvSpPr/>
          <p:nvPr/>
        </p:nvSpPr>
        <p:spPr>
          <a:xfrm>
            <a:off x="1114964" y="3763097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060D5A5-6C76-4570-982F-590C11914197}"/>
              </a:ext>
            </a:extLst>
          </p:cNvPr>
          <p:cNvSpPr/>
          <p:nvPr/>
        </p:nvSpPr>
        <p:spPr>
          <a:xfrm>
            <a:off x="2867567" y="3864131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C09E29-AA53-4E25-81D3-877EF3443D9F}"/>
              </a:ext>
            </a:extLst>
          </p:cNvPr>
          <p:cNvSpPr/>
          <p:nvPr/>
        </p:nvSpPr>
        <p:spPr>
          <a:xfrm>
            <a:off x="1694629" y="4174373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F0F497-B5E2-49CF-B92B-CC053201CB83}"/>
              </a:ext>
            </a:extLst>
          </p:cNvPr>
          <p:cNvSpPr/>
          <p:nvPr/>
        </p:nvSpPr>
        <p:spPr>
          <a:xfrm>
            <a:off x="1928671" y="4503326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D349EB-8BBA-4B69-A57F-99A8739248DB}"/>
              </a:ext>
            </a:extLst>
          </p:cNvPr>
          <p:cNvSpPr/>
          <p:nvPr/>
        </p:nvSpPr>
        <p:spPr>
          <a:xfrm>
            <a:off x="1776271" y="3545383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896B92-ACB5-4646-BD1A-31B3602734D7}"/>
              </a:ext>
            </a:extLst>
          </p:cNvPr>
          <p:cNvSpPr/>
          <p:nvPr/>
        </p:nvSpPr>
        <p:spPr>
          <a:xfrm>
            <a:off x="2121893" y="3360325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BE26EB-908D-4E06-8FB9-3603301B6D83}"/>
              </a:ext>
            </a:extLst>
          </p:cNvPr>
          <p:cNvSpPr/>
          <p:nvPr/>
        </p:nvSpPr>
        <p:spPr>
          <a:xfrm>
            <a:off x="3569693" y="4128105"/>
            <a:ext cx="386442" cy="34834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EFC900A-E390-4995-9DFE-12A139FD05D9}"/>
              </a:ext>
            </a:extLst>
          </p:cNvPr>
          <p:cNvSpPr/>
          <p:nvPr/>
        </p:nvSpPr>
        <p:spPr>
          <a:xfrm>
            <a:off x="2549155" y="4348544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98BD3CB8-A175-4C01-B632-54CBA48AF1AD}"/>
              </a:ext>
            </a:extLst>
          </p:cNvPr>
          <p:cNvSpPr/>
          <p:nvPr/>
        </p:nvSpPr>
        <p:spPr>
          <a:xfrm>
            <a:off x="3637727" y="3485516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5DA45F9-F13B-4124-A726-B08EB6C67B0E}"/>
              </a:ext>
            </a:extLst>
          </p:cNvPr>
          <p:cNvSpPr/>
          <p:nvPr/>
        </p:nvSpPr>
        <p:spPr>
          <a:xfrm>
            <a:off x="2180401" y="3811015"/>
            <a:ext cx="429987" cy="4082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5">
            <a:extLst>
              <a:ext uri="{FF2B5EF4-FFF2-40B4-BE49-F238E27FC236}">
                <a16:creationId xmlns:a16="http://schemas.microsoft.com/office/drawing/2014/main" id="{B05846E3-07BF-4B1F-B64A-33E2E07A1829}"/>
              </a:ext>
            </a:extLst>
          </p:cNvPr>
          <p:cNvSpPr/>
          <p:nvPr/>
        </p:nvSpPr>
        <p:spPr>
          <a:xfrm>
            <a:off x="938070" y="3124580"/>
            <a:ext cx="3516086" cy="200659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F34C1C-4620-4597-AD28-579342D3A164}"/>
              </a:ext>
            </a:extLst>
          </p:cNvPr>
          <p:cNvSpPr txBox="1"/>
          <p:nvPr/>
        </p:nvSpPr>
        <p:spPr>
          <a:xfrm>
            <a:off x="1501406" y="2761714"/>
            <a:ext cx="2836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Simple sample space (n=12)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E537C3-AD46-4B22-9829-8500FDE83080}"/>
              </a:ext>
            </a:extLst>
          </p:cNvPr>
          <p:cNvSpPr txBox="1"/>
          <p:nvPr/>
        </p:nvSpPr>
        <p:spPr>
          <a:xfrm>
            <a:off x="5121845" y="2540662"/>
            <a:ext cx="609987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Pr</a:t>
            </a:r>
            <a:r>
              <a:rPr lang="en-US" sz="2800" b="1" dirty="0"/>
              <a:t>(R)</a:t>
            </a:r>
          </a:p>
          <a:p>
            <a:r>
              <a:rPr lang="en-US" sz="2800" b="1" dirty="0"/>
              <a:t>= “6 red objects of a total of 12 objects”</a:t>
            </a:r>
          </a:p>
          <a:p>
            <a:r>
              <a:rPr lang="en-US" sz="2800" b="1" dirty="0"/>
              <a:t>= </a:t>
            </a:r>
            <a:r>
              <a:rPr lang="en-US" sz="2800" b="1" u="sng" dirty="0">
                <a:solidFill>
                  <a:srgbClr val="FF0000"/>
                </a:solidFill>
              </a:rPr>
              <a:t>0.5</a:t>
            </a:r>
            <a:r>
              <a:rPr lang="en-US" sz="2800" b="1" dirty="0"/>
              <a:t>, and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4B445224-D4BD-4E63-A70A-D95A97184916}"/>
              </a:ext>
            </a:extLst>
          </p:cNvPr>
          <p:cNvSpPr/>
          <p:nvPr/>
        </p:nvSpPr>
        <p:spPr>
          <a:xfrm>
            <a:off x="3000914" y="3281411"/>
            <a:ext cx="429987" cy="4082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A4536969-50F0-430A-A2DE-F58339AF054C}"/>
              </a:ext>
            </a:extLst>
          </p:cNvPr>
          <p:cNvSpPr/>
          <p:nvPr/>
        </p:nvSpPr>
        <p:spPr>
          <a:xfrm>
            <a:off x="1174834" y="3272053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E537C3-AD46-4B22-9829-8500FDE83080}"/>
              </a:ext>
            </a:extLst>
          </p:cNvPr>
          <p:cNvSpPr txBox="1"/>
          <p:nvPr/>
        </p:nvSpPr>
        <p:spPr>
          <a:xfrm>
            <a:off x="5160277" y="3842823"/>
            <a:ext cx="57359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Pr</a:t>
            </a:r>
            <a:r>
              <a:rPr lang="en-US" sz="2800" b="1" dirty="0"/>
              <a:t>(R|B)</a:t>
            </a:r>
          </a:p>
          <a:p>
            <a:r>
              <a:rPr lang="en-US" sz="2800" b="1" dirty="0"/>
              <a:t>= “4 red balls out of a total of 8 balls”</a:t>
            </a:r>
          </a:p>
          <a:p>
            <a:r>
              <a:rPr lang="en-US" sz="2800" b="1" dirty="0"/>
              <a:t>=</a:t>
            </a:r>
            <a:r>
              <a:rPr lang="en-US" sz="2800" b="1" u="sng" dirty="0">
                <a:solidFill>
                  <a:srgbClr val="FF0000"/>
                </a:solidFill>
              </a:rPr>
              <a:t>0.5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2F0F497-B5E2-49CF-B92B-CC053201CB83}"/>
              </a:ext>
            </a:extLst>
          </p:cNvPr>
          <p:cNvSpPr/>
          <p:nvPr/>
        </p:nvSpPr>
        <p:spPr>
          <a:xfrm>
            <a:off x="3637727" y="4113134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D349EB-8BBA-4B69-A57F-99A8739248DB}"/>
              </a:ext>
            </a:extLst>
          </p:cNvPr>
          <p:cNvSpPr/>
          <p:nvPr/>
        </p:nvSpPr>
        <p:spPr>
          <a:xfrm>
            <a:off x="2945784" y="3831314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E537C3-AD46-4B22-9829-8500FDE83080}"/>
              </a:ext>
            </a:extLst>
          </p:cNvPr>
          <p:cNvSpPr txBox="1"/>
          <p:nvPr/>
        </p:nvSpPr>
        <p:spPr>
          <a:xfrm>
            <a:off x="524539" y="5402617"/>
            <a:ext cx="111429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Now, {B} does not affect the probability of {R}. We call them</a:t>
            </a:r>
            <a:r>
              <a:rPr lang="en-US" altLang="zh-TW" sz="2800" dirty="0"/>
              <a:t> independent events.</a:t>
            </a:r>
            <a:r>
              <a:rPr lang="en-US" sz="2800" dirty="0"/>
              <a:t>  </a:t>
            </a:r>
            <a:r>
              <a:rPr lang="en-US" sz="2800" i="1" dirty="0">
                <a:solidFill>
                  <a:srgbClr val="FF0000"/>
                </a:solidFill>
              </a:rPr>
              <a:t>PS: verify that </a:t>
            </a:r>
            <a:r>
              <a:rPr lang="en-US" sz="2800" i="1" dirty="0" err="1">
                <a:solidFill>
                  <a:srgbClr val="FF0000"/>
                </a:solidFill>
              </a:rPr>
              <a:t>Pr</a:t>
            </a:r>
            <a:r>
              <a:rPr lang="en-US" sz="2800" i="1" dirty="0">
                <a:solidFill>
                  <a:srgbClr val="FF0000"/>
                </a:solidFill>
              </a:rPr>
              <a:t>(B)=</a:t>
            </a:r>
            <a:r>
              <a:rPr lang="en-US" sz="2800" i="1" dirty="0" err="1">
                <a:solidFill>
                  <a:srgbClr val="FF0000"/>
                </a:solidFill>
              </a:rPr>
              <a:t>Pr</a:t>
            </a:r>
            <a:r>
              <a:rPr lang="en-US" sz="2800" i="1" dirty="0">
                <a:solidFill>
                  <a:srgbClr val="FF0000"/>
                </a:solidFill>
              </a:rPr>
              <a:t>(B|R)</a:t>
            </a:r>
            <a:endParaRPr lang="en-US" sz="2800" i="1" u="sng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3727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906"/>
    </mc:Choice>
    <mc:Fallback xmlns="">
      <p:transition spd="slow" advTm="1779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5" grpId="1" animBg="1"/>
      <p:bldP spid="6" grpId="0" animBg="1"/>
      <p:bldP spid="7" grpId="0" animBg="1"/>
      <p:bldP spid="8" grpId="0" animBg="1"/>
      <p:bldP spid="9" grpId="0" animBg="1"/>
      <p:bldP spid="10" grpId="0" animBg="1"/>
      <p:bldP spid="10" grpId="1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 animBg="1"/>
      <p:bldP spid="18" grpId="0" animBg="1"/>
      <p:bldP spid="21" grpId="0"/>
      <p:bldP spid="20" grpId="0" animBg="1"/>
      <p:bldP spid="22" grpId="0" animBg="1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758C-CE2D-7B89-CBF0-3E1649D9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030A8-46D4-C781-48B4-29C78E4B2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10% of NBS students are international students, and the event of {an </a:t>
            </a:r>
            <a:r>
              <a:rPr lang="en-US" dirty="0" err="1"/>
              <a:t>intl</a:t>
            </a:r>
            <a:r>
              <a:rPr lang="en-US" dirty="0"/>
              <a:t> student} is independent to {an NBS student}. Now we randomly select a NTU student.</a:t>
            </a:r>
          </a:p>
          <a:p>
            <a:pPr marL="514350" indent="-514350">
              <a:buAutoNum type="arabicParenBoth"/>
            </a:pPr>
            <a:r>
              <a:rPr lang="en-US" dirty="0" err="1"/>
              <a:t>Pr</a:t>
            </a:r>
            <a:r>
              <a:rPr lang="en-US" dirty="0"/>
              <a:t>({an </a:t>
            </a:r>
            <a:r>
              <a:rPr lang="en-US" dirty="0" err="1"/>
              <a:t>intl</a:t>
            </a:r>
            <a:r>
              <a:rPr lang="en-US" dirty="0"/>
              <a:t> student}|{an NBS student})=?</a:t>
            </a:r>
          </a:p>
          <a:p>
            <a:pPr marL="514350" indent="-514350">
              <a:buAutoNum type="arabicParenBoth"/>
            </a:pPr>
            <a:r>
              <a:rPr lang="en-US" dirty="0" err="1"/>
              <a:t>Pr</a:t>
            </a:r>
            <a:r>
              <a:rPr lang="en-US" dirty="0"/>
              <a:t>({an </a:t>
            </a:r>
            <a:r>
              <a:rPr lang="en-US" dirty="0" err="1"/>
              <a:t>intl</a:t>
            </a:r>
            <a:r>
              <a:rPr lang="en-US" dirty="0"/>
              <a:t> student})=?</a:t>
            </a:r>
          </a:p>
          <a:p>
            <a:pPr marL="514350" indent="-514350">
              <a:buFont typeface="Arial" panose="020B0604020202020204" pitchFamily="34" charset="0"/>
              <a:buAutoNum type="arabicParenBoth"/>
            </a:pPr>
            <a:r>
              <a:rPr lang="en-US" dirty="0" err="1"/>
              <a:t>Pr</a:t>
            </a:r>
            <a:r>
              <a:rPr lang="en-US" dirty="0"/>
              <a:t>({a local student})=?</a:t>
            </a:r>
          </a:p>
          <a:p>
            <a:pPr marL="514350" indent="-514350">
              <a:buFont typeface="Arial" panose="020B0604020202020204" pitchFamily="34" charset="0"/>
              <a:buAutoNum type="arabicParenBoth"/>
            </a:pPr>
            <a:r>
              <a:rPr lang="en-US" dirty="0" err="1"/>
              <a:t>Pr</a:t>
            </a:r>
            <a:r>
              <a:rPr lang="en-US" dirty="0"/>
              <a:t>({a local student}|{an NBS student})=?</a:t>
            </a:r>
            <a:endParaRPr lang="en-SG" dirty="0"/>
          </a:p>
          <a:p>
            <a:pPr marL="514350" indent="-514350">
              <a:buFont typeface="Arial" panose="020B0604020202020204" pitchFamily="34" charset="0"/>
              <a:buAutoNum type="arabicParenBoth"/>
            </a:pPr>
            <a:r>
              <a:rPr lang="en-US" dirty="0" err="1"/>
              <a:t>Pr</a:t>
            </a:r>
            <a:r>
              <a:rPr lang="en-US" dirty="0"/>
              <a:t>({a local student}|{not an NBS student})=?</a:t>
            </a:r>
          </a:p>
          <a:p>
            <a:pPr marL="514350" indent="-514350">
              <a:buAutoNum type="arabicParenBoth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521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4117"/>
    </mc:Choice>
    <mc:Fallback xmlns="">
      <p:transition spd="slow" advTm="23411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758C-CE2D-7B89-CBF0-3E1649D9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030A8-46D4-C781-48B4-29C78E4B2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10% of NBS students are international students, and the event of {an </a:t>
            </a:r>
            <a:r>
              <a:rPr lang="en-US" dirty="0" err="1"/>
              <a:t>intl</a:t>
            </a:r>
            <a:r>
              <a:rPr lang="en-US" dirty="0"/>
              <a:t> student} is independent to {an NBS student}. Now we randomly select a NTU student.</a:t>
            </a:r>
          </a:p>
          <a:p>
            <a:pPr marL="514350" indent="-514350">
              <a:buAutoNum type="arabicParenBoth"/>
            </a:pPr>
            <a:r>
              <a:rPr lang="en-US" dirty="0" err="1"/>
              <a:t>Pr</a:t>
            </a:r>
            <a:r>
              <a:rPr lang="en-US" dirty="0"/>
              <a:t>({an </a:t>
            </a:r>
            <a:r>
              <a:rPr lang="en-US" dirty="0" err="1"/>
              <a:t>intl</a:t>
            </a:r>
            <a:r>
              <a:rPr lang="en-US" dirty="0"/>
              <a:t> student}|{an NBS student})=?</a:t>
            </a:r>
          </a:p>
          <a:p>
            <a:pPr marL="514350" indent="-514350">
              <a:buAutoNum type="arabicParenBoth"/>
            </a:pPr>
            <a:r>
              <a:rPr lang="en-US" dirty="0" err="1"/>
              <a:t>Pr</a:t>
            </a:r>
            <a:r>
              <a:rPr lang="en-US" dirty="0"/>
              <a:t>({an </a:t>
            </a:r>
            <a:r>
              <a:rPr lang="en-US" dirty="0" err="1"/>
              <a:t>intl</a:t>
            </a:r>
            <a:r>
              <a:rPr lang="en-US" dirty="0"/>
              <a:t> student})=?</a:t>
            </a:r>
          </a:p>
          <a:p>
            <a:pPr marL="514350" indent="-514350">
              <a:buFont typeface="Arial" panose="020B0604020202020204" pitchFamily="34" charset="0"/>
              <a:buAutoNum type="arabicParenBoth"/>
            </a:pPr>
            <a:r>
              <a:rPr lang="en-US" dirty="0" err="1"/>
              <a:t>Pr</a:t>
            </a:r>
            <a:r>
              <a:rPr lang="en-US" dirty="0"/>
              <a:t>({a local student})=?</a:t>
            </a:r>
          </a:p>
          <a:p>
            <a:pPr marL="514350" indent="-514350">
              <a:buFont typeface="Arial" panose="020B0604020202020204" pitchFamily="34" charset="0"/>
              <a:buAutoNum type="arabicParenBoth"/>
            </a:pPr>
            <a:r>
              <a:rPr lang="en-US" dirty="0" err="1"/>
              <a:t>Pr</a:t>
            </a:r>
            <a:r>
              <a:rPr lang="en-US" dirty="0"/>
              <a:t>({a local student}|{an NBS student})=?</a:t>
            </a:r>
            <a:endParaRPr lang="en-SG" dirty="0"/>
          </a:p>
          <a:p>
            <a:pPr marL="514350" indent="-514350">
              <a:buFont typeface="Arial" panose="020B0604020202020204" pitchFamily="34" charset="0"/>
              <a:buAutoNum type="arabicParenBoth"/>
            </a:pPr>
            <a:r>
              <a:rPr lang="en-US" dirty="0" err="1"/>
              <a:t>Pr</a:t>
            </a:r>
            <a:r>
              <a:rPr lang="en-US" dirty="0"/>
              <a:t>({a local student}|{not an NBS student})=?</a:t>
            </a:r>
          </a:p>
          <a:p>
            <a:pPr marL="514350" indent="-514350">
              <a:buAutoNum type="arabicParenBoth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2732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8934"/>
    </mc:Choice>
    <mc:Fallback xmlns="">
      <p:transition spd="slow" advTm="24893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Independent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6427"/>
            <a:ext cx="10515600" cy="4351338"/>
          </a:xfrm>
        </p:spPr>
        <p:txBody>
          <a:bodyPr/>
          <a:lstStyle/>
          <a:p>
            <a:r>
              <a:rPr lang="en-US" dirty="0"/>
              <a:t>Two events are independent events when their conditional probabilities are equal to their unconditional probabilities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Observe: Independence is a two-way relationship</a:t>
            </a:r>
          </a:p>
          <a:p>
            <a:pPr marL="0" indent="0">
              <a:buNone/>
            </a:pPr>
            <a:r>
              <a:rPr lang="en-US" dirty="0"/>
              <a:t>When A is independent to B, it implies A &amp; “not A” are also independent to B and “not B.”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282F3E9-7E51-49B5-B7CD-F4DD15F788E2}"/>
                  </a:ext>
                </a:extLst>
              </p:cNvPr>
              <p:cNvSpPr/>
              <p:nvPr/>
            </p:nvSpPr>
            <p:spPr>
              <a:xfrm>
                <a:off x="782128" y="2890391"/>
                <a:ext cx="11151080" cy="20621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3200" dirty="0"/>
                  <a:t> </a:t>
                </a:r>
                <a:r>
                  <a:rPr lang="en-SG" sz="3200" i="1" dirty="0">
                    <a:solidFill>
                      <a:schemeClr val="accent1"/>
                    </a:solidFill>
                  </a:rPr>
                  <a:t>(A is independent to B)</a:t>
                </a:r>
                <a:endParaRPr lang="en-SG" sz="3200" dirty="0">
                  <a:solidFill>
                    <a:schemeClr val="accent1"/>
                  </a:solidFill>
                </a:endParaRPr>
              </a:p>
              <a:p>
                <a:pPr algn="ctr"/>
                <a:r>
                  <a:rPr lang="en-SG" sz="3200" dirty="0"/>
                  <a:t>or equivalently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r>
                  <a:rPr lang="en-SG" sz="3200" dirty="0"/>
                  <a:t> </a:t>
                </a:r>
                <a:r>
                  <a:rPr lang="en-SG" sz="3200" i="1" dirty="0">
                    <a:solidFill>
                      <a:schemeClr val="accent1"/>
                    </a:solidFill>
                  </a:rPr>
                  <a:t>(B is independent to A)</a:t>
                </a:r>
                <a:endParaRPr lang="en-SG" sz="3200" dirty="0">
                  <a:solidFill>
                    <a:schemeClr val="accent1"/>
                  </a:solidFill>
                </a:endParaRPr>
              </a:p>
              <a:p>
                <a:pPr algn="ctr"/>
                <a:endParaRPr lang="en-SG" sz="32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282F3E9-7E51-49B5-B7CD-F4DD15F788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28" y="2890391"/>
                <a:ext cx="11151080" cy="2062103"/>
              </a:xfrm>
              <a:prstGeom prst="rect">
                <a:avLst/>
              </a:prstGeom>
              <a:blipFill>
                <a:blip r:embed="rId5"/>
                <a:stretch>
                  <a:fillRect t="-355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1772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623"/>
    </mc:Choice>
    <mc:Fallback xmlns="">
      <p:transition spd="slow" advTm="8962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SG" dirty="0"/>
                  <a:t>You toss a fair dice twice. Define A={got “3” on the 1</a:t>
                </a:r>
                <a:r>
                  <a:rPr lang="en-SG" baseline="30000" dirty="0"/>
                  <a:t>st</a:t>
                </a:r>
                <a:r>
                  <a:rPr lang="en-SG" dirty="0"/>
                  <a:t> toss} and B ={got “4” on the 2</a:t>
                </a:r>
                <a:r>
                  <a:rPr lang="en-SG" baseline="30000" dirty="0"/>
                  <a:t>nd</a:t>
                </a:r>
                <a:r>
                  <a:rPr lang="en-SG" dirty="0"/>
                  <a:t> toss}. </a:t>
                </a:r>
              </a:p>
              <a:p>
                <a:pPr marL="0" indent="0">
                  <a:buNone/>
                </a:pPr>
                <a:r>
                  <a:rPr lang="en-SG" dirty="0"/>
                  <a:t>Understanding the two events are independent, </a:t>
                </a:r>
              </a:p>
              <a:p>
                <a:pPr marL="0" indent="0">
                  <a:buNone/>
                </a:pPr>
                <a:r>
                  <a:rPr lang="en-SG" dirty="0"/>
                  <a:t>(1)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SG" dirty="0"/>
                  <a:t>?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SG" dirty="0"/>
                  <a:t>?</a:t>
                </a:r>
              </a:p>
              <a:p>
                <a:pPr marL="0" indent="0">
                  <a:buNone/>
                </a:pPr>
                <a:r>
                  <a:rPr lang="en-US" b="0" dirty="0"/>
                  <a:t>(2)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=?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217" t="-2241" r="-87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Example : </a:t>
            </a:r>
            <a:r>
              <a:rPr lang="en-US" dirty="0"/>
              <a:t>Independent events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5782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911"/>
    </mc:Choice>
    <mc:Fallback xmlns="">
      <p:transition spd="slow" advTm="224911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0.2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1|10.1|4.7|1.1|10.3|18.5|49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9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</TotalTime>
  <Words>439</Words>
  <Application>Microsoft Office PowerPoint</Application>
  <PresentationFormat>Widescreen</PresentationFormat>
  <Paragraphs>49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Statistical independence</vt:lpstr>
      <vt:lpstr>Conditional and unconditional probabilities</vt:lpstr>
      <vt:lpstr>Independent events: when unconditional and conditional probabilities are equal</vt:lpstr>
      <vt:lpstr>Example</vt:lpstr>
      <vt:lpstr>Example</vt:lpstr>
      <vt:lpstr>Independent events</vt:lpstr>
      <vt:lpstr>Example : Independent events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143</cp:revision>
  <dcterms:created xsi:type="dcterms:W3CDTF">2018-07-30T07:45:11Z</dcterms:created>
  <dcterms:modified xsi:type="dcterms:W3CDTF">2023-07-06T06:15:47Z</dcterms:modified>
</cp:coreProperties>
</file>
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8" r:id="rId2"/>
    <p:sldId id="270" r:id="rId3"/>
    <p:sldId id="267" r:id="rId4"/>
    <p:sldId id="271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OneDrive\Teaching\Statistics%20-%20S1AY2023\Revamp\course%20materials\Raw\PPT's%20and%20data%20files_raw\Week%202-%20Condtional%20probabilities\distribution%20of%20X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'1'!$B$1:$L$1</c:f>
              <c:numCache>
                <c:formatCode>General</c:formatCode>
                <c:ptCount val="11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</c:numCache>
            </c:numRef>
          </c:cat>
          <c:val>
            <c:numRef>
              <c:f>'1'!$B$7:$L$7</c:f>
              <c:numCache>
                <c:formatCode>General</c:formatCode>
                <c:ptCount val="11"/>
                <c:pt idx="0">
                  <c:v>2.7777777777777776E-2</c:v>
                </c:pt>
                <c:pt idx="1">
                  <c:v>5.5555555555555552E-2</c:v>
                </c:pt>
                <c:pt idx="2">
                  <c:v>8.3333333333333329E-2</c:v>
                </c:pt>
                <c:pt idx="3">
                  <c:v>0.1111111111111111</c:v>
                </c:pt>
                <c:pt idx="4">
                  <c:v>0.1388888888888889</c:v>
                </c:pt>
                <c:pt idx="5">
                  <c:v>0.16666666666666666</c:v>
                </c:pt>
                <c:pt idx="6">
                  <c:v>0.1388888888888889</c:v>
                </c:pt>
                <c:pt idx="7">
                  <c:v>0.1111111111111111</c:v>
                </c:pt>
                <c:pt idx="8">
                  <c:v>8.3333333333333329E-2</c:v>
                </c:pt>
                <c:pt idx="9">
                  <c:v>5.5555555555555552E-2</c:v>
                </c:pt>
                <c:pt idx="10">
                  <c:v>2.7777777777777776E-2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DF-4763-90AD-AA1F974573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39636015"/>
        <c:axId val="1139624495"/>
      </c:barChart>
      <c:catAx>
        <c:axId val="11396360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624495"/>
        <c:crosses val="autoZero"/>
        <c:auto val="1"/>
        <c:lblAlgn val="ctr"/>
        <c:lblOffset val="100"/>
        <c:noMultiLvlLbl val="0"/>
      </c:catAx>
      <c:valAx>
        <c:axId val="1139624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probability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6360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AC9FE0-629E-4AD6-9B9D-F1CB1C78EF4E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37A94-AE67-41C2-93AC-D858C7230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17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image" Target="../media/image8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Random variables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501CB-14F8-4A15-8748-C84FAC31C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F14CCE-B7C9-4B5B-A4E6-FB490972E4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In many experiments, it’s often easier to deal with a variable(s) (i.e., a number) instead of the original sample space and events</a:t>
                </a:r>
              </a:p>
              <a:p>
                <a:pPr marL="0" indent="0">
                  <a:buNone/>
                </a:pPr>
                <a:r>
                  <a:rPr lang="en-US" dirty="0"/>
                  <a:t>For example, 50 students are voting (Yes/No). The sample space would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lang="en-US" dirty="0"/>
                  <a:t> outcomes (!!!), each representing a unique sequence of votes from the 50 students.</a:t>
                </a:r>
              </a:p>
              <a:p>
                <a:r>
                  <a:rPr lang="en-US" dirty="0"/>
                  <a:t>If only the # of YES votes is of interest to us, we can describe the result by a variable X, over the range of 0 to 50.</a:t>
                </a:r>
              </a:p>
              <a:p>
                <a:pPr marL="0" indent="0">
                  <a:buNone/>
                </a:pPr>
                <a:r>
                  <a:rPr lang="en-US" dirty="0"/>
                  <a:t>- </a:t>
                </a:r>
                <a:r>
                  <a:rPr lang="en-US" i="1" dirty="0"/>
                  <a:t>Note that each outcome can be mapped to one of the values of X</a:t>
                </a:r>
                <a:r>
                  <a:rPr lang="en-US" dirty="0"/>
                  <a:t>  </a:t>
                </a:r>
              </a:p>
              <a:p>
                <a:r>
                  <a:rPr lang="en-US" dirty="0"/>
                  <a:t>The rule to map an outcome to a number is called a random variable (RV)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F14CCE-B7C9-4B5B-A4E6-FB490972E4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217" t="-3081" r="-115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31391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7724"/>
    </mc:Choice>
    <mc:Fallback xmlns="">
      <p:transition spd="slow" advTm="4077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501CB-14F8-4A15-8748-C84FAC31C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14CCE-B7C9-4B5B-A4E6-FB490972E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075" y="1541806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 random variable (RV) is a mathematical function mapping </a:t>
            </a:r>
            <a:r>
              <a:rPr lang="en-US" u="sng" dirty="0"/>
              <a:t>each outcome</a:t>
            </a:r>
            <a:r>
              <a:rPr lang="en-US" dirty="0"/>
              <a:t> in the sample space to </a:t>
            </a:r>
            <a:r>
              <a:rPr lang="en-US" u="sng" dirty="0"/>
              <a:t>a number</a:t>
            </a:r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endParaRPr lang="en-US" dirty="0"/>
          </a:p>
          <a:p>
            <a:r>
              <a:rPr lang="en-US" dirty="0"/>
              <a:t>The probabilities for different </a:t>
            </a:r>
            <a:r>
              <a:rPr lang="en-US"/>
              <a:t>values is </a:t>
            </a:r>
            <a:r>
              <a:rPr lang="en-US" dirty="0"/>
              <a:t>its </a:t>
            </a:r>
            <a:r>
              <a:rPr lang="en-US" b="1" i="1" dirty="0"/>
              <a:t>probability</a:t>
            </a:r>
            <a:r>
              <a:rPr lang="en-US" b="1" dirty="0"/>
              <a:t> </a:t>
            </a:r>
            <a:r>
              <a:rPr lang="en-US" b="1" i="1" dirty="0"/>
              <a:t>distribution (=value of RV &amp; the corresponding probabilities)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DB9327BD-3075-5C2D-3B36-C14A4553EC83}"/>
              </a:ext>
            </a:extLst>
          </p:cNvPr>
          <p:cNvSpPr/>
          <p:nvPr/>
        </p:nvSpPr>
        <p:spPr>
          <a:xfrm>
            <a:off x="471340" y="2541300"/>
            <a:ext cx="3537925" cy="2285224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239265-DAE7-E129-89B7-AEF640862AED}"/>
              </a:ext>
            </a:extLst>
          </p:cNvPr>
          <p:cNvSpPr txBox="1"/>
          <p:nvPr/>
        </p:nvSpPr>
        <p:spPr>
          <a:xfrm>
            <a:off x="790787" y="2320850"/>
            <a:ext cx="1483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Sample space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46D105-5F7A-9613-1C56-41274B1820C1}"/>
              </a:ext>
            </a:extLst>
          </p:cNvPr>
          <p:cNvCxnSpPr>
            <a:cxnSpLocks/>
          </p:cNvCxnSpPr>
          <p:nvPr/>
        </p:nvCxnSpPr>
        <p:spPr>
          <a:xfrm>
            <a:off x="5152126" y="3717475"/>
            <a:ext cx="435634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3C1B5F4-4BA5-7F41-16E5-C3A8E4FB63FC}"/>
              </a:ext>
            </a:extLst>
          </p:cNvPr>
          <p:cNvSpPr txBox="1"/>
          <p:nvPr/>
        </p:nvSpPr>
        <p:spPr>
          <a:xfrm>
            <a:off x="5316028" y="3677338"/>
            <a:ext cx="3868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-2   -1   0   1   2   3   4   5   6   7   8   9   10</a:t>
            </a:r>
          </a:p>
        </p:txBody>
      </p:sp>
      <p:sp>
        <p:nvSpPr>
          <p:cNvPr id="12" name="Arrow: Curved Down 11">
            <a:extLst>
              <a:ext uri="{FF2B5EF4-FFF2-40B4-BE49-F238E27FC236}">
                <a16:creationId xmlns:a16="http://schemas.microsoft.com/office/drawing/2014/main" id="{862C121C-EE02-0457-1AE6-1D68671201B3}"/>
              </a:ext>
            </a:extLst>
          </p:cNvPr>
          <p:cNvSpPr/>
          <p:nvPr/>
        </p:nvSpPr>
        <p:spPr>
          <a:xfrm>
            <a:off x="3818046" y="2903659"/>
            <a:ext cx="3160724" cy="71976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0" name="Graphic 19" descr="Slot Machine outline">
            <a:extLst>
              <a:ext uri="{FF2B5EF4-FFF2-40B4-BE49-F238E27FC236}">
                <a16:creationId xmlns:a16="http://schemas.microsoft.com/office/drawing/2014/main" id="{CE8D3CA8-78A2-8B35-8205-64577A880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0143" y="2753923"/>
            <a:ext cx="554999" cy="554999"/>
          </a:xfrm>
          <a:prstGeom prst="rect">
            <a:avLst/>
          </a:prstGeom>
        </p:spPr>
      </p:pic>
      <p:pic>
        <p:nvPicPr>
          <p:cNvPr id="21" name="Graphic 20" descr="Slot Machine outline">
            <a:extLst>
              <a:ext uri="{FF2B5EF4-FFF2-40B4-BE49-F238E27FC236}">
                <a16:creationId xmlns:a16="http://schemas.microsoft.com/office/drawing/2014/main" id="{2B901714-9042-C6FA-82D5-DBA9B37DA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1778" y="3882035"/>
            <a:ext cx="554999" cy="554999"/>
          </a:xfrm>
          <a:prstGeom prst="rect">
            <a:avLst/>
          </a:prstGeom>
        </p:spPr>
      </p:pic>
      <p:pic>
        <p:nvPicPr>
          <p:cNvPr id="22" name="Graphic 21" descr="Slot Machine outline">
            <a:extLst>
              <a:ext uri="{FF2B5EF4-FFF2-40B4-BE49-F238E27FC236}">
                <a16:creationId xmlns:a16="http://schemas.microsoft.com/office/drawing/2014/main" id="{9F958A14-9B71-F39A-ECBB-0110E81B2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98677" y="2919475"/>
            <a:ext cx="554999" cy="554999"/>
          </a:xfrm>
          <a:prstGeom prst="rect">
            <a:avLst/>
          </a:prstGeom>
        </p:spPr>
      </p:pic>
      <p:pic>
        <p:nvPicPr>
          <p:cNvPr id="23" name="Graphic 22" descr="Slot Machine outline">
            <a:extLst>
              <a:ext uri="{FF2B5EF4-FFF2-40B4-BE49-F238E27FC236}">
                <a16:creationId xmlns:a16="http://schemas.microsoft.com/office/drawing/2014/main" id="{EC73CACE-BA04-246E-A318-33A735789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8518" y="3784272"/>
            <a:ext cx="554999" cy="554999"/>
          </a:xfrm>
          <a:prstGeom prst="rect">
            <a:avLst/>
          </a:prstGeom>
        </p:spPr>
      </p:pic>
      <p:sp>
        <p:nvSpPr>
          <p:cNvPr id="24" name="Speech Bubble: Oval 23">
            <a:extLst>
              <a:ext uri="{FF2B5EF4-FFF2-40B4-BE49-F238E27FC236}">
                <a16:creationId xmlns:a16="http://schemas.microsoft.com/office/drawing/2014/main" id="{197FE2C0-BF34-49C5-F06E-8F8AB8752332}"/>
              </a:ext>
            </a:extLst>
          </p:cNvPr>
          <p:cNvSpPr/>
          <p:nvPr/>
        </p:nvSpPr>
        <p:spPr>
          <a:xfrm>
            <a:off x="1086260" y="2919475"/>
            <a:ext cx="1541054" cy="917934"/>
          </a:xfrm>
          <a:prstGeom prst="wedgeEllipse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Hello,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I am an outcome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8819F4-DB9C-6849-012C-A17E41A33E88}"/>
              </a:ext>
            </a:extLst>
          </p:cNvPr>
          <p:cNvSpPr txBox="1"/>
          <p:nvPr/>
        </p:nvSpPr>
        <p:spPr>
          <a:xfrm>
            <a:off x="4961892" y="2652033"/>
            <a:ext cx="708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1" dirty="0">
                <a:solidFill>
                  <a:srgbClr val="00B0F0"/>
                </a:solidFill>
              </a:rPr>
              <a:t>RV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70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9012"/>
    </mc:Choice>
    <mc:Fallback xmlns="">
      <p:transition spd="slow" advTm="2190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448 -0.00972 L 0.02448 -0.00972 C 0.04649 -0.02939 0.03516 -0.02014 0.07891 -0.04629 C 0.1 -0.05879 0.12214 -0.07291 0.14466 -0.07639 C 0.15782 -0.07847 0.1711 -0.07731 0.18438 -0.07754 C 0.19571 -0.07476 0.20729 -0.07407 0.21823 -0.06875 C 0.22513 -0.06551 0.23138 -0.05902 0.23737 -0.05254 C 0.25443 -0.03426 0.27136 -0.01666 0.28477 0.00903 C 0.28998 0.01899 0.2918 0.02338 0.29401 0.03426 C 0.29427 0.03588 0.29453 0.0375 0.29466 0.03936 C 0.29584 0.04977 0.29545 0.04838 0.29545 0.06204 " pathEditMode="relative" ptsTypes="AAAAAAAAAAA">
                                      <p:cBhvr>
                                        <p:cTn id="1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12 -0.0368 L 0.00612 -0.03657 C 0.01146 -0.04375 0.01667 -0.05092 0.02227 -0.05717 C 0.04167 -0.07778 0.05925 -0.09467 0.07891 -0.1125 C 0.09375 -0.12592 0.11953 -0.14907 0.13412 -0.15903 C 0.14571 -0.16713 0.15703 -0.17616 0.16875 -0.1831 C 0.18138 -0.19028 0.19414 -0.19653 0.20703 -0.20185 C 0.2168 -0.20579 0.25834 -0.21967 0.27357 -0.22199 C 0.28568 -0.22407 0.29857 -0.22454 0.31107 -0.22569 C 0.32943 -0.22292 0.34818 -0.22384 0.36628 -0.2169 C 0.37656 -0.21319 0.38581 -0.20254 0.39531 -0.19444 C 0.40391 -0.18657 0.4125 -0.17824 0.42071 -0.16921 C 0.42318 -0.16643 0.42513 -0.16273 0.42709 -0.15903 C 0.43047 -0.15301 0.43477 -0.14421 0.43698 -0.13634 C 0.43998 -0.12639 0.44115 -0.11829 0.44271 -0.10741 C 0.44323 -0.1037 0.44362 -0.09977 0.44401 -0.09606 C 0.44453 -0.09282 0.44492 -0.08935 0.44545 -0.08611 C 0.4461 -0.0831 0.44662 -0.08032 0.44688 -0.07731 C 0.44701 -0.07639 0.44688 -0.07546 0.44688 -0.07477 " pathEditMode="relative" rAng="0" ptsTypes="AAAAAAAAAAAAAAAAAAA">
                                      <p:cBhvr>
                                        <p:cTn id="1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031" y="-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59259E-6 L 2.5E-6 0.00023 C 0.00534 -0.00254 0.01067 -0.00555 0.0164 -0.00764 C 0.01836 -0.00856 0.06588 -0.02338 0.06614 -0.02361 C 0.0776 -0.02778 0.08815 -0.03379 0.10026 -0.03588 C 0.15521 -0.04467 0.13099 -0.04282 0.17278 -0.04375 L 0.22539 -0.04328 C 0.23151 -0.04282 0.23802 -0.0419 0.24375 -0.03958 C 0.26067 -0.03264 0.27747 -0.02453 0.2901 -0.01203 C 0.31067 0.00741 0.3082 0.00579 0.32161 0.02662 C 0.32304 0.02894 0.32474 0.03079 0.32591 0.03334 C 0.33047 0.04283 0.32656 0.03472 0.33125 0.0456 C 0.3319 0.04746 0.33307 0.04954 0.33372 0.05162 C 0.33424 0.05278 0.33437 0.05417 0.33476 0.05533 C 0.33489 0.05648 0.33515 0.05741 0.33554 0.05834 C 0.3358 0.05903 0.33646 0.06088 0.33646 0.06111 " pathEditMode="relative" rAng="0" ptsTypes="AAAAAAAAAAAAAAAA">
                                      <p:cBhvr>
                                        <p:cTn id="1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23" y="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17 0.01736 L 0.02617 0.01759 C 0.03867 0.01111 0.04544 0.00764 0.06094 0.0037 L 0.06627 0.00486 C 0.0707 0.01505 0.075 0.02523 0.07943 0.03518 C 0.08073 0.03796 0.08138 0.04259 0.08333 0.04352 L 0.09023 0.0463 C 0.09857 0.04491 0.10677 0.04421 0.11497 0.04213 C 0.13177 0.03773 0.13411 0.03472 0.14752 0.02963 C 0.15547 0.02685 0.16341 0.02431 0.17148 0.02153 C 0.17578 0.02662 0.18086 0.03009 0.18463 0.03657 C 0.1862 0.03935 0.18476 0.04653 0.18698 0.04768 C 0.19088 0.04977 0.19518 0.04583 0.19935 0.04491 C 0.20794 0.0375 0.22344 0.02268 0.23411 0.01736 C 0.23633 0.0162 0.23867 0.01643 0.24101 0.01597 C 0.24388 0.01875 0.247 0.0206 0.24948 0.02431 C 0.25534 0.03241 0.2582 0.04583 0.26575 0.05046 C 0.26966 0.05278 0.27396 0.05116 0.27812 0.05162 C 0.28203 0.05046 0.2862 0.05069 0.28971 0.04768 C 0.29752 0.04074 0.30937 0.02106 0.31523 0.00903 C 0.33411 -0.0294 0.30924 0.01551 0.3237 -0.01019 C 0.32656 -0.00741 0.32956 -0.00509 0.33229 -0.00185 C 0.33594 0.00231 0.33932 0.00764 0.3431 0.01181 C 0.34531 0.01412 0.34779 0.01551 0.34987 0.01736 C 0.35338 0.0169 0.3569 0.01806 0.36016 0.01597 C 0.36406 0.01343 0.36719 0.00741 0.37096 0.0037 C 0.37578 -0.00139 0.38034 -0.00694 0.38555 -0.01019 C 0.39049 -0.01343 0.39583 -0.01389 0.40104 -0.01574 C 0.40989 -0.01042 0.40325 -0.01574 0.41341 0.00231 C 0.41471 0.00486 0.41614 0.0081 0.4181 0.00903 C 0.42331 0.01157 0.42891 0.01088 0.43437 0.01181 C 0.44258 0.00718 0.45104 0.0037 0.45911 -0.00185 C 0.47656 -0.01389 0.47917 -0.02245 0.49622 -0.02801 C 0.50078 -0.02963 0.50547 -0.02894 0.51002 -0.0294 C 0.51263 -0.02755 0.51549 -0.02662 0.51784 -0.02384 C 0.53893 -0.00023 0.50729 -0.02685 0.53476 0.00093 C 0.54141 0.00741 0.55495 0.00602 0.56029 0.00625 C 0.56224 0.00579 0.58594 -0.00208 0.59049 -0.00185 C 0.597 -0.00162 0.60976 0.00231 0.60976 0.00255 C 0.61471 0.00139 0.61979 0.00185 0.62448 -0.00046 C 0.63034 -0.00347 0.63398 -0.00833 0.63763 -0.01574 C 0.63893 -0.01829 0.64036 -0.02107 0.64154 -0.02384 C 0.64245 -0.02616 0.6431 -0.02847 0.64388 -0.03079 C 0.64414 -0.03264 0.6444 -0.03449 0.64466 -0.03634 C 0.64492 -0.03912 0.64505 -0.0419 0.64544 -0.04444 C 0.64557 -0.04607 0.64583 -0.04722 0.64609 -0.04861 C 0.64661 -0.05046 0.64752 -0.05208 0.64766 -0.05417 C 0.64805 -0.05787 0.64766 -0.06157 0.64766 -0.06505 " pathEditMode="relative" rAng="0" ptsTypes="AAAAAAAAAAAAAAAAAAAAAAAAAAAAAAAAAAAAAAAAAAAAAAAA">
                                      <p:cBhvr>
                                        <p:cTn id="2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081" y="-2407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64892C-ED47-0C0C-5490-C7D5C0415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657316"/>
              </p:ext>
            </p:extLst>
          </p:nvPr>
        </p:nvGraphicFramePr>
        <p:xfrm>
          <a:off x="2169947" y="2037641"/>
          <a:ext cx="7543800" cy="6686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32723941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6381217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9705741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1122867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1344285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4102316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78846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467605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15565466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2650936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5642121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1887432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X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5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7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8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9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10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11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12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245067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Frequency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1400" b="1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</a:rPr>
                        <a:t>2</a:t>
                      </a:r>
                      <a:endParaRPr lang="en-US" sz="1400" b="1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</a:rPr>
                        <a:t>3</a:t>
                      </a:r>
                      <a:endParaRPr lang="en-US" sz="1400" b="1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</a:rPr>
                        <a:t>4</a:t>
                      </a:r>
                      <a:endParaRPr lang="en-US" sz="1400" b="1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</a:rPr>
                        <a:t>5</a:t>
                      </a:r>
                      <a:endParaRPr lang="en-US" sz="1400" b="1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</a:rPr>
                        <a:t>6</a:t>
                      </a:r>
                      <a:endParaRPr lang="en-US" sz="1400" b="1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</a:rPr>
                        <a:t>5</a:t>
                      </a:r>
                      <a:endParaRPr lang="en-US" sz="1400" b="1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</a:rPr>
                        <a:t>4</a:t>
                      </a:r>
                      <a:endParaRPr lang="en-US" sz="1400" b="1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</a:rPr>
                        <a:t>3</a:t>
                      </a:r>
                      <a:endParaRPr lang="en-US" sz="1400" b="1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</a:rPr>
                        <a:t>2</a:t>
                      </a:r>
                      <a:endParaRPr lang="en-US" sz="1400" b="1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1400" b="1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006897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probability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1/36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2/36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3/36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4/36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5/36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6/36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5/36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4/36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3/36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2/36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1/36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7785608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0CEFB63-E036-DA9C-E95A-98BAA16E20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5013372"/>
              </p:ext>
            </p:extLst>
          </p:nvPr>
        </p:nvGraphicFramePr>
        <p:xfrm>
          <a:off x="1192601" y="384964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E15412-5015-81F3-22ED-1AD35312AB58}"/>
                  </a:ext>
                </a:extLst>
              </p:cNvPr>
              <p:cNvSpPr txBox="1"/>
              <p:nvPr/>
            </p:nvSpPr>
            <p:spPr>
              <a:xfrm>
                <a:off x="2763170" y="1200301"/>
                <a:ext cx="60028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,…., 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6,4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6,5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,(6,6)}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E15412-5015-81F3-22ED-1AD35312A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3170" y="1200301"/>
                <a:ext cx="600286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CCEA043-3D4F-EF49-E2DE-53668E09B12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7792" y="313762"/>
            <a:ext cx="604478" cy="6092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84E7AD-741A-7C85-F39E-3B5D17A27907}"/>
              </a:ext>
            </a:extLst>
          </p:cNvPr>
          <p:cNvSpPr txBox="1"/>
          <p:nvPr/>
        </p:nvSpPr>
        <p:spPr>
          <a:xfrm>
            <a:off x="2593965" y="322857"/>
            <a:ext cx="77702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For an experiment of throwing a fair dice twice, define a random variable X = the sum of the two numbers.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ED36E3-5954-640E-2A5E-48235E8BAB17}"/>
              </a:ext>
            </a:extLst>
          </p:cNvPr>
          <p:cNvSpPr txBox="1"/>
          <p:nvPr/>
        </p:nvSpPr>
        <p:spPr>
          <a:xfrm>
            <a:off x="2349479" y="3325725"/>
            <a:ext cx="22582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i="1" u="sng" dirty="0"/>
              <a:t>Distribution plot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9E9FA9-72A8-54EF-7F8D-BC4529559BB4}"/>
              </a:ext>
            </a:extLst>
          </p:cNvPr>
          <p:cNvSpPr txBox="1"/>
          <p:nvPr/>
        </p:nvSpPr>
        <p:spPr>
          <a:xfrm>
            <a:off x="6890254" y="3151627"/>
            <a:ext cx="5646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i="1" u="sng" dirty="0"/>
              <a:t>Distribution of X </a:t>
            </a:r>
            <a:r>
              <a:rPr lang="en-US" sz="1600" dirty="0"/>
              <a:t>(mathematical form)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3C2F5F-B856-6811-AA44-22EB1ABA5E7D}"/>
                  </a:ext>
                </a:extLst>
              </p:cNvPr>
              <p:cNvSpPr txBox="1"/>
              <p:nvPr/>
            </p:nvSpPr>
            <p:spPr>
              <a:xfrm>
                <a:off x="6553138" y="3722011"/>
                <a:ext cx="3160609" cy="37733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lang="en-US" sz="2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lang="en-US" sz="2800" b="0" dirty="0"/>
              </a:p>
              <a:p>
                <a:r>
                  <a:rPr lang="en-US" sz="2800" dirty="0"/>
                  <a:t>      .</a:t>
                </a:r>
              </a:p>
              <a:p>
                <a:r>
                  <a:rPr lang="en-US" sz="2800" dirty="0"/>
                  <a:t>      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=12</m:t>
                              </m:r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=1/36</m:t>
                      </m:r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3C2F5F-B856-6811-AA44-22EB1ABA5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138" y="3722011"/>
                <a:ext cx="3160609" cy="37733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Left Brace 12">
            <a:extLst>
              <a:ext uri="{FF2B5EF4-FFF2-40B4-BE49-F238E27FC236}">
                <a16:creationId xmlns:a16="http://schemas.microsoft.com/office/drawing/2014/main" id="{322EA06C-31FE-64AC-7F22-CB9A4A9E3BBA}"/>
              </a:ext>
            </a:extLst>
          </p:cNvPr>
          <p:cNvSpPr/>
          <p:nvPr/>
        </p:nvSpPr>
        <p:spPr>
          <a:xfrm>
            <a:off x="6278025" y="3787390"/>
            <a:ext cx="402124" cy="294343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99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198"/>
    </mc:Choice>
    <mc:Fallback xmlns="">
      <p:transition spd="slow" advTm="25619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2B50E-E646-4FCA-AE3A-24C6E39DD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the </a:t>
            </a:r>
            <a:r>
              <a:rPr lang="en-US" altLang="zh-TW" dirty="0"/>
              <a:t>d</a:t>
            </a:r>
            <a:r>
              <a:rPr lang="en-US" dirty="0"/>
              <a:t>istribution of an RV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F482F-EB85-4342-9ADA-EED00F1E3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Expectably, a probability distribution must inherit the classical properties of probabilities: </a:t>
            </a:r>
          </a:p>
          <a:p>
            <a:pPr marL="0" indent="0">
              <a:buNone/>
            </a:pPr>
            <a:r>
              <a:rPr lang="en-US" dirty="0"/>
              <a:t>1) The probability for any RV value must be between zero and one</a:t>
            </a:r>
          </a:p>
          <a:p>
            <a:pPr marL="0" indent="0">
              <a:buNone/>
            </a:pPr>
            <a:r>
              <a:rPr lang="en-US" dirty="0"/>
              <a:t>2) The total probability of a distribution is 1.0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1757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884"/>
    </mc:Choice>
    <mc:Fallback xmlns="">
      <p:transition spd="slow" advTm="558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7|46.8|106.7|73.5|5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9|27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1625</TotalTime>
  <Words>335</Words>
  <Application>Microsoft Office PowerPoint</Application>
  <PresentationFormat>Widescreen</PresentationFormat>
  <Paragraphs>73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Random variables</vt:lpstr>
      <vt:lpstr>Random variables</vt:lpstr>
      <vt:lpstr>Random variables</vt:lpstr>
      <vt:lpstr>PowerPoint Presentation</vt:lpstr>
      <vt:lpstr>Properties of the distribution of an RV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Chien-Ming Chen</dc:creator>
  <cp:lastModifiedBy>Chen Chien-Ming (Assoc Prof)</cp:lastModifiedBy>
  <cp:revision>103</cp:revision>
  <dcterms:created xsi:type="dcterms:W3CDTF">2018-07-30T07:45:11Z</dcterms:created>
  <dcterms:modified xsi:type="dcterms:W3CDTF">2023-07-06T06:16:04Z</dcterms:modified>
</cp:coreProperties>
</file>